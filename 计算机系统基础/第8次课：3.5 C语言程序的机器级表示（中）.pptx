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1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  <p:sldMasterId id="2147483808" r:id="rId2"/>
    <p:sldMasterId id="2147483820" r:id="rId3"/>
  </p:sldMasterIdLst>
  <p:notesMasterIdLst>
    <p:notesMasterId r:id="rId42"/>
  </p:notesMasterIdLst>
  <p:sldIdLst>
    <p:sldId id="427" r:id="rId4"/>
    <p:sldId id="448" r:id="rId5"/>
    <p:sldId id="428" r:id="rId6"/>
    <p:sldId id="366" r:id="rId7"/>
    <p:sldId id="431" r:id="rId8"/>
    <p:sldId id="367" r:id="rId9"/>
    <p:sldId id="397" r:id="rId10"/>
    <p:sldId id="429" r:id="rId11"/>
    <p:sldId id="368" r:id="rId12"/>
    <p:sldId id="369" r:id="rId13"/>
    <p:sldId id="370" r:id="rId14"/>
    <p:sldId id="371" r:id="rId15"/>
    <p:sldId id="433" r:id="rId16"/>
    <p:sldId id="372" r:id="rId17"/>
    <p:sldId id="373" r:id="rId18"/>
    <p:sldId id="379" r:id="rId19"/>
    <p:sldId id="380" r:id="rId20"/>
    <p:sldId id="381" r:id="rId21"/>
    <p:sldId id="382" r:id="rId22"/>
    <p:sldId id="432" r:id="rId23"/>
    <p:sldId id="383" r:id="rId24"/>
    <p:sldId id="384" r:id="rId25"/>
    <p:sldId id="404" r:id="rId26"/>
    <p:sldId id="430" r:id="rId27"/>
    <p:sldId id="386" r:id="rId28"/>
    <p:sldId id="387" r:id="rId29"/>
    <p:sldId id="434" r:id="rId30"/>
    <p:sldId id="435" r:id="rId31"/>
    <p:sldId id="436" r:id="rId32"/>
    <p:sldId id="437" r:id="rId33"/>
    <p:sldId id="438" r:id="rId34"/>
    <p:sldId id="440" r:id="rId35"/>
    <p:sldId id="443" r:id="rId36"/>
    <p:sldId id="444" r:id="rId37"/>
    <p:sldId id="445" r:id="rId38"/>
    <p:sldId id="446" r:id="rId39"/>
    <p:sldId id="447" r:id="rId40"/>
    <p:sldId id="439" r:id="rId4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3366CC"/>
    <a:srgbClr val="0066CC"/>
    <a:srgbClr val="FFCC99"/>
    <a:srgbClr val="FF9966"/>
    <a:srgbClr val="FF9933"/>
    <a:srgbClr val="66CC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7" autoAdjust="0"/>
    <p:restoredTop sz="84848" autoAdjust="0"/>
  </p:normalViewPr>
  <p:slideViewPr>
    <p:cSldViewPr>
      <p:cViewPr varScale="1">
        <p:scale>
          <a:sx n="60" d="100"/>
          <a:sy n="60" d="100"/>
        </p:scale>
        <p:origin x="49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50237-17FD-4886-AA58-829F8247E9FF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501D7-E3D2-4920-B1B3-F88593F236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119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501D7-E3D2-4920-B1B3-F88593F2364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734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尊敬的各位评委，早上好，我是来自网络工程专业的徐玉，以下从教学、育人、专业建设、科研四方面介绍我的申报情况。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2501D7-E3D2-4920-B1B3-F88593F236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503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1"/>
          <p:cNvSpPr txBox="1">
            <a:spLocks noChangeArrowheads="1"/>
          </p:cNvSpPr>
          <p:nvPr/>
        </p:nvSpPr>
        <p:spPr bwMode="auto">
          <a:xfrm>
            <a:off x="2127250" y="692150"/>
            <a:ext cx="2603500" cy="3416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630" tIns="43315" rIns="86630" bIns="43315" anchor="ctr"/>
          <a:lstStyle>
            <a:lvl1pPr defTabSz="866775"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03263" indent="-269875" defTabSz="866775"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2675" indent="-215900" defTabSz="866775"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516063" indent="-215900" defTabSz="866775"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949450" indent="-217488" defTabSz="866775"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406650" indent="-217488" defTabSz="8667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863850" indent="-217488" defTabSz="8667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321050" indent="-217488" defTabSz="8667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778250" indent="-217488" defTabSz="8667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endParaRPr lang="en-US" altLang="zh-CN" sz="230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6630" tIns="43315" rIns="86630" bIns="43315" anchor="ctr"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907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1"/>
          <p:cNvSpPr txBox="1">
            <a:spLocks noChangeArrowheads="1"/>
          </p:cNvSpPr>
          <p:nvPr/>
        </p:nvSpPr>
        <p:spPr bwMode="auto">
          <a:xfrm>
            <a:off x="2127250" y="692150"/>
            <a:ext cx="2603500" cy="3416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630" tIns="43315" rIns="86630" bIns="43315" anchor="ctr"/>
          <a:lstStyle>
            <a:lvl1pPr defTabSz="866775"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03263" indent="-269875" defTabSz="866775"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2675" indent="-215900" defTabSz="866775"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516063" indent="-215900" defTabSz="866775"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949450" indent="-217488" defTabSz="866775"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406650" indent="-217488" defTabSz="8667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863850" indent="-217488" defTabSz="8667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321050" indent="-217488" defTabSz="8667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778250" indent="-217488" defTabSz="8667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endParaRPr lang="en-US" altLang="zh-CN" sz="230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6630" tIns="43315" rIns="86630" bIns="43315" anchor="ctr"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263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501D7-E3D2-4920-B1B3-F88593F2364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325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501D7-E3D2-4920-B1B3-F88593F2364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498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2501D7-E3D2-4920-B1B3-F88593F2364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266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2501D7-E3D2-4920-B1B3-F88593F2364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565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2501D7-E3D2-4920-B1B3-F88593F2364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429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2501D7-E3D2-4920-B1B3-F88593F2364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13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2501D7-E3D2-4920-B1B3-F88593F236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127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8FE876-880B-4C1F-BC66-537355EDD5E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086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01DA44-81F2-4E68-A1EE-F8526389590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82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4A1412-DC2F-437C-8390-F8CCE5C7D05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23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3EAE99-3833-4B5E-AE0D-FCB5BC57C3D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588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46889E-6B87-4DB4-9642-747752F2B4F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159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A22C78-66F6-4699-8697-3A70ADF78B0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829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6DF5BA-A695-4F58-9B77-62126E187B8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87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071256-9F59-43FC-AD1A-EF6F9B8616A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519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730785-179E-42C7-AE70-72C42A8D7F4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1694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50C37A-67B2-421A-8B08-7652BA54DC5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99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88913"/>
            <a:ext cx="2058988" cy="58658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29325" cy="58658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E990A5-9F4A-4042-8239-82A4DA48BA5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22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561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836613"/>
            <a:ext cx="8229600" cy="521811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33349B-FD3D-4D76-B793-FA49C58D9448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952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95300" y="228600"/>
            <a:ext cx="8191500" cy="3478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2973640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23787" y="2708920"/>
            <a:ext cx="7772400" cy="147002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2542753" y="1340768"/>
            <a:ext cx="41344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计算机系统基础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2651758" y="5767641"/>
            <a:ext cx="3916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温州大学  计算机与人工智能学院</a:t>
            </a:r>
          </a:p>
        </p:txBody>
      </p:sp>
    </p:spTree>
    <p:extLst>
      <p:ext uri="{BB962C8B-B14F-4D97-AF65-F5344CB8AC3E}">
        <p14:creationId xmlns:p14="http://schemas.microsoft.com/office/powerpoint/2010/main" val="3386890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121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419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9506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017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904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7109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844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5414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9735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1493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23787" y="2708920"/>
            <a:ext cx="7772400" cy="147002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FC00E4-1594-42C3-B88B-78F0B31607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542753" y="1340768"/>
            <a:ext cx="41344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计算机系统基础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2651758" y="5767641"/>
            <a:ext cx="3916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温州大学  计算机与人工智能学院</a:t>
            </a:r>
          </a:p>
        </p:txBody>
      </p:sp>
    </p:spTree>
    <p:extLst>
      <p:ext uri="{BB962C8B-B14F-4D97-AF65-F5344CB8AC3E}">
        <p14:creationId xmlns:p14="http://schemas.microsoft.com/office/powerpoint/2010/main" val="1064354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第</a:t>
            </a:r>
            <a:fld id="{D3F382D2-02D9-4F33-AFB2-E549A8C674D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t>页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4006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B2AD48-2217-45F9-95E0-F1CCFBEA353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72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836613"/>
            <a:ext cx="8229600" cy="521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86AAB20-051B-48A1-99EF-A6B6C72092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4FE782A-8EBA-4DB4-87CC-692C50024E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宋体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BD2B476-6B6F-45FF-AD75-CEAD2B58FD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16C673-1BFE-4D9E-9A3B-3088C546418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323850" y="692150"/>
            <a:ext cx="849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7439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+mj-lt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20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rgbClr val="0066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1600" b="1">
          <a:solidFill>
            <a:srgbClr val="CC3300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27384"/>
            <a:ext cx="9144000" cy="45719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41566"/>
            <a:ext cx="9144000" cy="14402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6766562"/>
            <a:ext cx="9144000" cy="91438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6702050"/>
            <a:ext cx="9144000" cy="28804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98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00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2026/10/26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44ADB1-C9D2-4A0E-B902-E4DF9BB28B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913308-F349-4B6D-A68A-DD1791B4A5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/>
                <a:ea typeface="幼圆" panose="020105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-27384"/>
            <a:ext cx="9144000" cy="45719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41566"/>
            <a:ext cx="9144000" cy="14402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766562"/>
            <a:ext cx="9144000" cy="91438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0" y="6702050"/>
            <a:ext cx="9144000" cy="28804"/>
          </a:xfrm>
          <a:prstGeom prst="rect">
            <a:avLst/>
          </a:prstGeom>
          <a:solidFill>
            <a:schemeClr val="bg2">
              <a:lumMod val="9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幼圆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297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7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7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11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7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7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课程回顾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328592"/>
          </a:xfrm>
        </p:spPr>
        <p:txBody>
          <a:bodyPr>
            <a:normAutofit/>
          </a:bodyPr>
          <a:lstStyle/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IA-32</a:t>
            </a:r>
            <a:r>
              <a:rPr lang="zh-CN" altLang="en-US" dirty="0"/>
              <a:t>常用指令类型及其</a:t>
            </a:r>
            <a:r>
              <a:rPr lang="zh-CN" altLang="en-US" dirty="0" smtClean="0"/>
              <a:t>操作</a:t>
            </a:r>
            <a:endParaRPr lang="en-US" altLang="zh-CN" dirty="0" smtClean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按位运算指令</a:t>
            </a:r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控制转移指令</a:t>
            </a:r>
            <a:endParaRPr lang="en-US" altLang="zh-CN" dirty="0" smtClean="0"/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过程调用</a:t>
            </a:r>
            <a:r>
              <a:rPr lang="zh-CN" altLang="en-US" dirty="0"/>
              <a:t>的机器级表示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过程调用概述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过程调用的栈和栈桢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过程调用的参数传递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3406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第三章 程序的转换与机器级表示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/>
            </a:r>
            <a:b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zh-CN" altLang="en-US" dirty="0" smtClean="0">
                <a:solidFill>
                  <a:schemeClr val="accent6">
                    <a:lumMod val="50000"/>
                  </a:schemeClr>
                </a:solidFill>
              </a:rPr>
              <a:t>第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5</a:t>
            </a:r>
            <a:r>
              <a:rPr lang="zh-CN" altLang="en-US" dirty="0" smtClean="0">
                <a:solidFill>
                  <a:schemeClr val="accent6">
                    <a:lumMod val="50000"/>
                  </a:schemeClr>
                </a:solidFill>
              </a:rPr>
              <a:t>课 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C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语言程序的机器级</a:t>
            </a:r>
            <a:r>
              <a:rPr lang="zh-CN" altLang="en-US" dirty="0" smtClean="0">
                <a:solidFill>
                  <a:schemeClr val="accent6">
                    <a:lumMod val="50000"/>
                  </a:schemeClr>
                </a:solidFill>
              </a:rPr>
              <a:t>表示（中）</a:t>
            </a:r>
            <a:endParaRPr lang="zh-CN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46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1245"/>
    </mc:Choice>
    <mc:Fallback xmlns="">
      <p:transition spd="slow" advTm="124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3816424"/>
          </a:xfrm>
        </p:spPr>
        <p:txBody>
          <a:bodyPr>
            <a:normAutofit lnSpcReduction="10000"/>
          </a:bodyPr>
          <a:lstStyle/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过程调用的机器级表示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递归调用</a:t>
            </a:r>
            <a:endParaRPr lang="en-US" altLang="zh-CN" dirty="0">
              <a:solidFill>
                <a:srgbClr val="FF0000"/>
              </a:solidFill>
            </a:endParaRPr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过程调用举例</a:t>
            </a:r>
            <a:endParaRPr lang="en-US" altLang="zh-CN" dirty="0"/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选择结构的机器级</a:t>
            </a:r>
            <a:r>
              <a:rPr lang="zh-CN" altLang="en-US" dirty="0" smtClean="0"/>
              <a:t>表示</a:t>
            </a:r>
            <a:endParaRPr lang="en-US" altLang="zh-CN" dirty="0" smtClean="0"/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循环结构的机器级表示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353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115888" y="609671"/>
            <a:ext cx="3825875" cy="1877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 err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400" dirty="0" err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nn_sum</a:t>
            </a: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 </a:t>
            </a:r>
            <a:r>
              <a:rPr lang="en-US" altLang="zh-CN" sz="1400" dirty="0" err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n)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400" dirty="0" err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result;	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if  (n&lt;=0 )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result=0;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else	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result=</a:t>
            </a:r>
            <a:r>
              <a:rPr lang="en-US" altLang="zh-CN" sz="1400" dirty="0" err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n+nn_sum</a:t>
            </a: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(n-1);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return  result</a:t>
            </a:r>
            <a:r>
              <a:rPr lang="zh-CN" altLang="en-US" sz="1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2393950"/>
            <a:ext cx="32670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0" name="Rectangle 4"/>
          <p:cNvSpPr>
            <a:spLocks noGrp="1" noChangeArrowheads="1"/>
          </p:cNvSpPr>
          <p:nvPr>
            <p:ph type="title"/>
          </p:nvPr>
        </p:nvSpPr>
        <p:spPr>
          <a:xfrm>
            <a:off x="476250" y="0"/>
            <a:ext cx="8229600" cy="561975"/>
          </a:xfrm>
        </p:spPr>
        <p:txBody>
          <a:bodyPr/>
          <a:lstStyle/>
          <a:p>
            <a:pPr algn="r"/>
            <a:r>
              <a:rPr lang="zh-CN" altLang="en-US" sz="3600"/>
              <a:t>递归过程调用举例</a:t>
            </a:r>
          </a:p>
        </p:txBody>
      </p:sp>
      <p:pic>
        <p:nvPicPr>
          <p:cNvPr id="7864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238" y="90488"/>
            <a:ext cx="3419475" cy="486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86441" name="Group 9"/>
          <p:cNvGrpSpPr>
            <a:grpSpLocks/>
          </p:cNvGrpSpPr>
          <p:nvPr/>
        </p:nvGrpSpPr>
        <p:grpSpPr bwMode="auto">
          <a:xfrm>
            <a:off x="3581400" y="0"/>
            <a:ext cx="1665288" cy="2363788"/>
            <a:chOff x="2171" y="119"/>
            <a:chExt cx="681" cy="1343"/>
          </a:xfrm>
        </p:grpSpPr>
        <p:sp>
          <p:nvSpPr>
            <p:cNvPr id="91178" name="Text Box 10"/>
            <p:cNvSpPr txBox="1">
              <a:spLocks noChangeArrowheads="1"/>
            </p:cNvSpPr>
            <p:nvPr/>
          </p:nvSpPr>
          <p:spPr bwMode="auto">
            <a:xfrm>
              <a:off x="2171" y="119"/>
              <a:ext cx="681" cy="13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25000"/>
                </a:spcBef>
                <a:buFontTx/>
                <a:buNone/>
              </a:pPr>
              <a:r>
                <a:rPr lang="en-US" altLang="zh-CN" sz="17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nn_sum(n-1)</a:t>
              </a:r>
            </a:p>
            <a:p>
              <a:pPr>
                <a:lnSpc>
                  <a:spcPct val="100000"/>
                </a:lnSpc>
                <a:spcBef>
                  <a:spcPct val="25000"/>
                </a:spcBef>
                <a:buFontTx/>
                <a:buNone/>
              </a:pPr>
              <a:endParaRPr lang="en-US" altLang="zh-CN" sz="17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  <a:spcBef>
                  <a:spcPct val="25000"/>
                </a:spcBef>
                <a:buFontTx/>
                <a:buNone/>
              </a:pPr>
              <a:r>
                <a:rPr lang="en-US" altLang="zh-CN" sz="18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nn_sum(n)</a:t>
              </a:r>
            </a:p>
            <a:p>
              <a:pPr>
                <a:lnSpc>
                  <a:spcPct val="100000"/>
                </a:lnSpc>
                <a:spcBef>
                  <a:spcPct val="25000"/>
                </a:spcBef>
                <a:buFontTx/>
                <a:buNone/>
              </a:pPr>
              <a:endParaRPr lang="en-US" altLang="zh-CN" sz="18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  <a:spcBef>
                  <a:spcPct val="65000"/>
                </a:spcBef>
                <a:buFontTx/>
                <a:buNone/>
              </a:pPr>
              <a:r>
                <a:rPr lang="en-US" altLang="zh-CN" sz="18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P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179" name="Line 11"/>
            <p:cNvSpPr>
              <a:spLocks noChangeShapeType="1"/>
            </p:cNvSpPr>
            <p:nvPr/>
          </p:nvSpPr>
          <p:spPr bwMode="auto">
            <a:xfrm flipV="1">
              <a:off x="2370" y="743"/>
              <a:ext cx="0" cy="283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0" name="Line 12"/>
            <p:cNvSpPr>
              <a:spLocks noChangeShapeType="1"/>
            </p:cNvSpPr>
            <p:nvPr/>
          </p:nvSpPr>
          <p:spPr bwMode="auto">
            <a:xfrm flipV="1">
              <a:off x="2370" y="289"/>
              <a:ext cx="0" cy="283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86445" name="Group 13"/>
          <p:cNvGrpSpPr>
            <a:grpSpLocks/>
          </p:cNvGrpSpPr>
          <p:nvPr/>
        </p:nvGrpSpPr>
        <p:grpSpPr bwMode="auto">
          <a:xfrm>
            <a:off x="8604250" y="1584325"/>
            <a:ext cx="539750" cy="1371600"/>
            <a:chOff x="5290" y="1139"/>
            <a:chExt cx="340" cy="864"/>
          </a:xfrm>
        </p:grpSpPr>
        <p:sp>
          <p:nvSpPr>
            <p:cNvPr id="91176" name="AutoShape 14"/>
            <p:cNvSpPr>
              <a:spLocks/>
            </p:cNvSpPr>
            <p:nvPr/>
          </p:nvSpPr>
          <p:spPr bwMode="auto">
            <a:xfrm>
              <a:off x="5290" y="1139"/>
              <a:ext cx="113" cy="794"/>
            </a:xfrm>
            <a:prstGeom prst="rightBrace">
              <a:avLst>
                <a:gd name="adj1" fmla="val 58555"/>
                <a:gd name="adj2" fmla="val 5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177" name="Text Box 15"/>
            <p:cNvSpPr txBox="1">
              <a:spLocks noChangeArrowheads="1"/>
            </p:cNvSpPr>
            <p:nvPr/>
          </p:nvSpPr>
          <p:spPr bwMode="auto">
            <a:xfrm>
              <a:off x="5341" y="1253"/>
              <a:ext cx="289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Sum(n)</a:t>
              </a:r>
            </a:p>
          </p:txBody>
        </p:sp>
      </p:grpSp>
      <p:grpSp>
        <p:nvGrpSpPr>
          <p:cNvPr id="786448" name="Group 16"/>
          <p:cNvGrpSpPr>
            <a:grpSpLocks/>
          </p:cNvGrpSpPr>
          <p:nvPr/>
        </p:nvGrpSpPr>
        <p:grpSpPr bwMode="auto">
          <a:xfrm>
            <a:off x="8623300" y="2933700"/>
            <a:ext cx="539750" cy="1439863"/>
            <a:chOff x="5290" y="1139"/>
            <a:chExt cx="340" cy="864"/>
          </a:xfrm>
        </p:grpSpPr>
        <p:sp>
          <p:nvSpPr>
            <p:cNvPr id="91174" name="AutoShape 17"/>
            <p:cNvSpPr>
              <a:spLocks/>
            </p:cNvSpPr>
            <p:nvPr/>
          </p:nvSpPr>
          <p:spPr bwMode="auto">
            <a:xfrm>
              <a:off x="5290" y="1139"/>
              <a:ext cx="113" cy="794"/>
            </a:xfrm>
            <a:prstGeom prst="rightBrace">
              <a:avLst>
                <a:gd name="adj1" fmla="val 58555"/>
                <a:gd name="adj2" fmla="val 5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175" name="Text Box 18"/>
            <p:cNvSpPr txBox="1">
              <a:spLocks noChangeArrowheads="1"/>
            </p:cNvSpPr>
            <p:nvPr/>
          </p:nvSpPr>
          <p:spPr bwMode="auto">
            <a:xfrm>
              <a:off x="5341" y="1253"/>
              <a:ext cx="289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Sum(n-1)</a:t>
              </a:r>
            </a:p>
          </p:txBody>
        </p:sp>
      </p:grpSp>
      <p:sp>
        <p:nvSpPr>
          <p:cNvPr id="786451" name="Line 19"/>
          <p:cNvSpPr>
            <a:spLocks noChangeShapeType="1"/>
          </p:cNvSpPr>
          <p:nvPr/>
        </p:nvSpPr>
        <p:spPr bwMode="auto">
          <a:xfrm flipV="1">
            <a:off x="2232025" y="1673225"/>
            <a:ext cx="3014663" cy="811213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6452" name="Line 20"/>
          <p:cNvSpPr>
            <a:spLocks noChangeShapeType="1"/>
          </p:cNvSpPr>
          <p:nvPr/>
        </p:nvSpPr>
        <p:spPr bwMode="auto">
          <a:xfrm flipV="1">
            <a:off x="2366963" y="2033588"/>
            <a:ext cx="2879725" cy="990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6453" name="Text Box 21"/>
          <p:cNvSpPr txBox="1">
            <a:spLocks noChangeArrowheads="1"/>
          </p:cNvSpPr>
          <p:nvPr/>
        </p:nvSpPr>
        <p:spPr bwMode="auto">
          <a:xfrm>
            <a:off x="3492500" y="3338513"/>
            <a:ext cx="153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R[ebx]</a:t>
            </a:r>
            <a:r>
              <a:rPr lang="en-US" altLang="zh-CN" sz="180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</a:p>
        </p:txBody>
      </p:sp>
      <p:grpSp>
        <p:nvGrpSpPr>
          <p:cNvPr id="786454" name="Group 22"/>
          <p:cNvGrpSpPr>
            <a:grpSpLocks/>
          </p:cNvGrpSpPr>
          <p:nvPr/>
        </p:nvGrpSpPr>
        <p:grpSpPr bwMode="auto">
          <a:xfrm>
            <a:off x="2636838" y="4111625"/>
            <a:ext cx="2474912" cy="404813"/>
            <a:chOff x="1519" y="2590"/>
            <a:chExt cx="1559" cy="255"/>
          </a:xfrm>
        </p:grpSpPr>
        <p:sp>
          <p:nvSpPr>
            <p:cNvPr id="91172" name="Text Box 23"/>
            <p:cNvSpPr txBox="1">
              <a:spLocks noChangeArrowheads="1"/>
            </p:cNvSpPr>
            <p:nvPr/>
          </p:nvSpPr>
          <p:spPr bwMode="auto">
            <a:xfrm>
              <a:off x="1604" y="2614"/>
              <a:ext cx="14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 (</a:t>
              </a:r>
              <a:r>
                <a:rPr lang="en-US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n≤0</a:t>
              </a:r>
              <a:r>
                <a:rPr lang="zh-CN" altLang="en-US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）转</a:t>
              </a:r>
              <a:r>
                <a:rPr lang="en-US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L2</a:t>
              </a:r>
            </a:p>
          </p:txBody>
        </p:sp>
        <p:sp>
          <p:nvSpPr>
            <p:cNvPr id="91173" name="AutoShape 24"/>
            <p:cNvSpPr>
              <a:spLocks/>
            </p:cNvSpPr>
            <p:nvPr/>
          </p:nvSpPr>
          <p:spPr bwMode="auto">
            <a:xfrm>
              <a:off x="1519" y="2590"/>
              <a:ext cx="57" cy="227"/>
            </a:xfrm>
            <a:prstGeom prst="rightBracket">
              <a:avLst>
                <a:gd name="adj" fmla="val 33187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86457" name="Text Box 25"/>
          <p:cNvSpPr txBox="1">
            <a:spLocks noChangeArrowheads="1"/>
          </p:cNvSpPr>
          <p:nvPr/>
        </p:nvSpPr>
        <p:spPr bwMode="auto">
          <a:xfrm>
            <a:off x="2862263" y="3698875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R[eax]</a:t>
            </a:r>
            <a:r>
              <a:rPr lang="en-US" altLang="zh-CN" sz="180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86458" name="Text Box 26"/>
          <p:cNvSpPr txBox="1">
            <a:spLocks noChangeArrowheads="1"/>
          </p:cNvSpPr>
          <p:nvPr/>
        </p:nvSpPr>
        <p:spPr bwMode="auto">
          <a:xfrm>
            <a:off x="3492500" y="4464050"/>
            <a:ext cx="161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R[eax]</a:t>
            </a:r>
            <a:r>
              <a:rPr lang="en-US" altLang="zh-CN" sz="180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n-1</a:t>
            </a:r>
          </a:p>
        </p:txBody>
      </p:sp>
      <p:sp>
        <p:nvSpPr>
          <p:cNvPr id="786459" name="Line 27"/>
          <p:cNvSpPr>
            <a:spLocks noChangeShapeType="1"/>
          </p:cNvSpPr>
          <p:nvPr/>
        </p:nvSpPr>
        <p:spPr bwMode="auto">
          <a:xfrm flipV="1">
            <a:off x="2232025" y="2393950"/>
            <a:ext cx="3014663" cy="2430463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6460" name="Line 28"/>
          <p:cNvSpPr>
            <a:spLocks noChangeShapeType="1"/>
          </p:cNvSpPr>
          <p:nvPr/>
        </p:nvSpPr>
        <p:spPr bwMode="auto">
          <a:xfrm flipV="1">
            <a:off x="2411413" y="2754313"/>
            <a:ext cx="2835275" cy="2384425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86461" name="Group 29"/>
          <p:cNvGrpSpPr>
            <a:grpSpLocks/>
          </p:cNvGrpSpPr>
          <p:nvPr/>
        </p:nvGrpSpPr>
        <p:grpSpPr bwMode="auto">
          <a:xfrm>
            <a:off x="206375" y="2484438"/>
            <a:ext cx="269875" cy="2700337"/>
            <a:chOff x="130" y="1565"/>
            <a:chExt cx="170" cy="1701"/>
          </a:xfrm>
        </p:grpSpPr>
        <p:sp>
          <p:nvSpPr>
            <p:cNvPr id="91169" name="Line 30"/>
            <p:cNvSpPr>
              <a:spLocks noChangeShapeType="1"/>
            </p:cNvSpPr>
            <p:nvPr/>
          </p:nvSpPr>
          <p:spPr bwMode="auto">
            <a:xfrm>
              <a:off x="130" y="3266"/>
              <a:ext cx="170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0" name="Line 31"/>
            <p:cNvSpPr>
              <a:spLocks noChangeShapeType="1"/>
            </p:cNvSpPr>
            <p:nvPr/>
          </p:nvSpPr>
          <p:spPr bwMode="auto">
            <a:xfrm flipH="1">
              <a:off x="130" y="1565"/>
              <a:ext cx="0" cy="170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1" name="Line 32"/>
            <p:cNvSpPr>
              <a:spLocks noChangeShapeType="1"/>
            </p:cNvSpPr>
            <p:nvPr/>
          </p:nvSpPr>
          <p:spPr bwMode="auto">
            <a:xfrm>
              <a:off x="130" y="1565"/>
              <a:ext cx="17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6465" name="Line 33"/>
          <p:cNvSpPr>
            <a:spLocks noChangeShapeType="1"/>
          </p:cNvSpPr>
          <p:nvPr/>
        </p:nvSpPr>
        <p:spPr bwMode="auto">
          <a:xfrm>
            <a:off x="2232025" y="2484438"/>
            <a:ext cx="3014663" cy="5397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6466" name="Line 34"/>
          <p:cNvSpPr>
            <a:spLocks noChangeShapeType="1"/>
          </p:cNvSpPr>
          <p:nvPr/>
        </p:nvSpPr>
        <p:spPr bwMode="auto">
          <a:xfrm>
            <a:off x="2322513" y="3024188"/>
            <a:ext cx="2924175" cy="4048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6467" name="Line 35"/>
          <p:cNvSpPr>
            <a:spLocks noChangeShapeType="1"/>
          </p:cNvSpPr>
          <p:nvPr/>
        </p:nvSpPr>
        <p:spPr bwMode="auto">
          <a:xfrm flipV="1">
            <a:off x="2232025" y="3698875"/>
            <a:ext cx="2970213" cy="1125538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6468" name="Line 36"/>
          <p:cNvSpPr>
            <a:spLocks noChangeShapeType="1"/>
          </p:cNvSpPr>
          <p:nvPr/>
        </p:nvSpPr>
        <p:spPr bwMode="auto">
          <a:xfrm flipV="1">
            <a:off x="2411413" y="4059238"/>
            <a:ext cx="2881312" cy="10795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6469" name="Text Box 37"/>
          <p:cNvSpPr txBox="1">
            <a:spLocks noChangeArrowheads="1"/>
          </p:cNvSpPr>
          <p:nvPr/>
        </p:nvSpPr>
        <p:spPr bwMode="auto">
          <a:xfrm>
            <a:off x="2997200" y="5267325"/>
            <a:ext cx="3600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R[eax] </a:t>
            </a:r>
            <a:r>
              <a:rPr lang="en-US" altLang="zh-CN" sz="180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 </a:t>
            </a:r>
            <a:r>
              <a:rPr lang="en-US" altLang="zh-CN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0+1+2+…+(n-1)+n</a:t>
            </a:r>
          </a:p>
        </p:txBody>
      </p:sp>
      <p:sp>
        <p:nvSpPr>
          <p:cNvPr id="786470" name="Text Box 38"/>
          <p:cNvSpPr txBox="1">
            <a:spLocks noChangeArrowheads="1"/>
          </p:cNvSpPr>
          <p:nvPr/>
        </p:nvSpPr>
        <p:spPr bwMode="auto">
          <a:xfrm>
            <a:off x="8191500" y="3203575"/>
            <a:ext cx="225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0" rIns="18000" bIns="0"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</p:txBody>
      </p:sp>
      <p:grpSp>
        <p:nvGrpSpPr>
          <p:cNvPr id="786471" name="Group 39"/>
          <p:cNvGrpSpPr>
            <a:grpSpLocks/>
          </p:cNvGrpSpPr>
          <p:nvPr/>
        </p:nvGrpSpPr>
        <p:grpSpPr bwMode="auto">
          <a:xfrm>
            <a:off x="160338" y="5408613"/>
            <a:ext cx="271462" cy="1358900"/>
            <a:chOff x="130" y="1565"/>
            <a:chExt cx="170" cy="1701"/>
          </a:xfrm>
        </p:grpSpPr>
        <p:sp>
          <p:nvSpPr>
            <p:cNvPr id="91166" name="Line 40"/>
            <p:cNvSpPr>
              <a:spLocks noChangeShapeType="1"/>
            </p:cNvSpPr>
            <p:nvPr/>
          </p:nvSpPr>
          <p:spPr bwMode="auto">
            <a:xfrm>
              <a:off x="130" y="3266"/>
              <a:ext cx="170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7" name="Line 41"/>
            <p:cNvSpPr>
              <a:spLocks noChangeShapeType="1"/>
            </p:cNvSpPr>
            <p:nvPr/>
          </p:nvSpPr>
          <p:spPr bwMode="auto">
            <a:xfrm flipH="1">
              <a:off x="130" y="1565"/>
              <a:ext cx="0" cy="170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8" name="Line 42"/>
            <p:cNvSpPr>
              <a:spLocks noChangeShapeType="1"/>
            </p:cNvSpPr>
            <p:nvPr/>
          </p:nvSpPr>
          <p:spPr bwMode="auto">
            <a:xfrm>
              <a:off x="130" y="1565"/>
              <a:ext cx="17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6475" name="Text Box 43"/>
          <p:cNvSpPr txBox="1">
            <a:spLocks noChangeArrowheads="1"/>
          </p:cNvSpPr>
          <p:nvPr/>
        </p:nvSpPr>
        <p:spPr bwMode="auto">
          <a:xfrm>
            <a:off x="6218238" y="5043488"/>
            <a:ext cx="2835275" cy="163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每次递归调用都会增加一个栈帧（该例为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16B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），所以空间开销很大。当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很大时会发生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栈溢出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grpSp>
        <p:nvGrpSpPr>
          <p:cNvPr id="786438" name="Group 6"/>
          <p:cNvGrpSpPr>
            <a:grpSpLocks/>
          </p:cNvGrpSpPr>
          <p:nvPr/>
        </p:nvGrpSpPr>
        <p:grpSpPr bwMode="auto">
          <a:xfrm>
            <a:off x="8596313" y="368300"/>
            <a:ext cx="539750" cy="1125538"/>
            <a:chOff x="5290" y="374"/>
            <a:chExt cx="340" cy="680"/>
          </a:xfrm>
        </p:grpSpPr>
        <p:sp>
          <p:nvSpPr>
            <p:cNvPr id="91164" name="AutoShape 7"/>
            <p:cNvSpPr>
              <a:spLocks/>
            </p:cNvSpPr>
            <p:nvPr/>
          </p:nvSpPr>
          <p:spPr bwMode="auto">
            <a:xfrm>
              <a:off x="5290" y="374"/>
              <a:ext cx="113" cy="680"/>
            </a:xfrm>
            <a:prstGeom prst="rightBrace">
              <a:avLst>
                <a:gd name="adj1" fmla="val 50147"/>
                <a:gd name="adj2" fmla="val 50000"/>
              </a:avLst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165" name="Text Box 8"/>
            <p:cNvSpPr txBox="1">
              <a:spLocks noChangeArrowheads="1"/>
            </p:cNvSpPr>
            <p:nvPr/>
          </p:nvSpPr>
          <p:spPr bwMode="auto">
            <a:xfrm>
              <a:off x="5403" y="601"/>
              <a:ext cx="227" cy="2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990850" y="5780088"/>
            <a:ext cx="31115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操作系统为程序分配的栈会有默认的大小限制</a:t>
            </a:r>
          </a:p>
        </p:txBody>
      </p:sp>
      <p:sp>
        <p:nvSpPr>
          <p:cNvPr id="45" name="Rectangle 2"/>
          <p:cNvSpPr txBox="1">
            <a:spLocks noChangeArrowheads="1"/>
          </p:cNvSpPr>
          <p:nvPr/>
        </p:nvSpPr>
        <p:spPr bwMode="auto">
          <a:xfrm>
            <a:off x="23292" y="34131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3600" kern="0" dirty="0"/>
              <a:t>递归调用</a:t>
            </a:r>
          </a:p>
        </p:txBody>
      </p:sp>
    </p:spTree>
    <p:extLst>
      <p:ext uri="{BB962C8B-B14F-4D97-AF65-F5344CB8AC3E}">
        <p14:creationId xmlns:p14="http://schemas.microsoft.com/office/powerpoint/2010/main" val="115931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8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8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8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8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8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8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8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86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8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8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8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8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8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8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8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8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8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8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8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78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53" grpId="0"/>
      <p:bldP spid="786457" grpId="0"/>
      <p:bldP spid="786458" grpId="0"/>
      <p:bldP spid="786469" grpId="0"/>
      <p:bldP spid="786470" grpId="0"/>
      <p:bldP spid="786475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6900" name="Picture 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484438"/>
            <a:ext cx="3646488" cy="409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5" name="Rectangle 2"/>
          <p:cNvSpPr>
            <a:spLocks noChangeArrowheads="1"/>
          </p:cNvSpPr>
          <p:nvPr/>
        </p:nvSpPr>
        <p:spPr bwMode="auto">
          <a:xfrm>
            <a:off x="5002213" y="1889125"/>
            <a:ext cx="2832100" cy="7254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23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27038" y="0"/>
            <a:ext cx="8716962" cy="617538"/>
          </a:xfrm>
        </p:spPr>
        <p:txBody>
          <a:bodyPr/>
          <a:lstStyle/>
          <a:p>
            <a:pPr marL="119063" indent="-1190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/>
              <a:t>IA-32/Linux</a:t>
            </a:r>
            <a:r>
              <a:rPr lang="zh-CN" altLang="en-GB"/>
              <a:t>的存储映像</a:t>
            </a:r>
          </a:p>
        </p:txBody>
      </p:sp>
      <p:grpSp>
        <p:nvGrpSpPr>
          <p:cNvPr id="95237" name="Group 5"/>
          <p:cNvGrpSpPr>
            <a:grpSpLocks/>
          </p:cNvGrpSpPr>
          <p:nvPr/>
        </p:nvGrpSpPr>
        <p:grpSpPr bwMode="auto">
          <a:xfrm>
            <a:off x="7858125" y="1735138"/>
            <a:ext cx="1138238" cy="620712"/>
            <a:chOff x="4950" y="1093"/>
            <a:chExt cx="717" cy="391"/>
          </a:xfrm>
        </p:grpSpPr>
        <p:sp>
          <p:nvSpPr>
            <p:cNvPr id="95264" name="Text Box 25"/>
            <p:cNvSpPr txBox="1">
              <a:spLocks noChangeArrowheads="1"/>
            </p:cNvSpPr>
            <p:nvPr/>
          </p:nvSpPr>
          <p:spPr bwMode="auto">
            <a:xfrm>
              <a:off x="5206" y="1093"/>
              <a:ext cx="461" cy="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46800" rIns="0" bIns="46800"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4000"/>
                </a:lnSpc>
                <a:spcBef>
                  <a:spcPct val="0"/>
                </a:spcBef>
                <a:buFontTx/>
                <a:buNone/>
              </a:pPr>
              <a:r>
                <a:rPr lang="en-GB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sgothic"/>
                </a:rPr>
                <a:t>ESP </a:t>
              </a:r>
            </a:p>
            <a:p>
              <a:pPr algn="ctr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GB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sgothic"/>
                </a:rPr>
                <a:t>(</a:t>
              </a:r>
              <a:r>
                <a:rPr lang="zh-CN" altLang="en-GB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sgothic"/>
                </a:rPr>
                <a:t>栈顶</a:t>
              </a:r>
              <a:r>
                <a:rPr lang="en-GB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sgothic"/>
                </a:rPr>
                <a:t>)</a:t>
              </a:r>
            </a:p>
          </p:txBody>
        </p:sp>
        <p:sp>
          <p:nvSpPr>
            <p:cNvPr id="95265" name="Line 26"/>
            <p:cNvSpPr>
              <a:spLocks noChangeShapeType="1"/>
            </p:cNvSpPr>
            <p:nvPr/>
          </p:nvSpPr>
          <p:spPr bwMode="auto">
            <a:xfrm flipH="1">
              <a:off x="4950" y="1196"/>
              <a:ext cx="242" cy="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5238" name="Line 28"/>
          <p:cNvSpPr>
            <a:spLocks noChangeShapeType="1"/>
          </p:cNvSpPr>
          <p:nvPr/>
        </p:nvSpPr>
        <p:spPr bwMode="auto">
          <a:xfrm flipV="1">
            <a:off x="7974013" y="830263"/>
            <a:ext cx="1587" cy="460375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39" name="Text Box 29"/>
          <p:cNvSpPr txBox="1">
            <a:spLocks noChangeArrowheads="1"/>
          </p:cNvSpPr>
          <p:nvPr/>
        </p:nvSpPr>
        <p:spPr bwMode="auto">
          <a:xfrm>
            <a:off x="8307388" y="3968750"/>
            <a:ext cx="592127" cy="36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4000"/>
              </a:lnSpc>
              <a:spcBef>
                <a:spcPct val="0"/>
              </a:spcBef>
              <a:buFontTx/>
              <a:buNone/>
            </a:pPr>
            <a:r>
              <a:rPr lang="en-GB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brk</a:t>
            </a:r>
          </a:p>
        </p:txBody>
      </p:sp>
      <p:sp>
        <p:nvSpPr>
          <p:cNvPr id="95240" name="Line 30"/>
          <p:cNvSpPr>
            <a:spLocks noChangeShapeType="1"/>
          </p:cNvSpPr>
          <p:nvPr/>
        </p:nvSpPr>
        <p:spPr bwMode="auto">
          <a:xfrm flipH="1">
            <a:off x="7904163" y="4125913"/>
            <a:ext cx="384175" cy="1587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41" name="Text Box 31"/>
          <p:cNvSpPr txBox="1">
            <a:spLocks noChangeArrowheads="1"/>
          </p:cNvSpPr>
          <p:nvPr/>
        </p:nvSpPr>
        <p:spPr bwMode="auto">
          <a:xfrm>
            <a:off x="3530600" y="1076325"/>
            <a:ext cx="1579576" cy="32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4000"/>
              </a:lnSpc>
              <a:spcBef>
                <a:spcPct val="0"/>
              </a:spcBef>
              <a:buFontTx/>
              <a:buNone/>
            </a:pPr>
            <a:r>
              <a:rPr lang="en-GB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0xC00000000</a:t>
            </a:r>
          </a:p>
        </p:txBody>
      </p:sp>
      <p:sp>
        <p:nvSpPr>
          <p:cNvPr id="95242" name="Text Box 32"/>
          <p:cNvSpPr txBox="1">
            <a:spLocks noChangeArrowheads="1"/>
          </p:cNvSpPr>
          <p:nvPr/>
        </p:nvSpPr>
        <p:spPr bwMode="auto">
          <a:xfrm>
            <a:off x="3649663" y="5916613"/>
            <a:ext cx="1441718" cy="32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4000"/>
              </a:lnSpc>
              <a:spcBef>
                <a:spcPct val="0"/>
              </a:spcBef>
              <a:buFontTx/>
              <a:buNone/>
            </a:pPr>
            <a:r>
              <a:rPr lang="en-GB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0x08048000</a:t>
            </a:r>
          </a:p>
        </p:txBody>
      </p:sp>
      <p:sp>
        <p:nvSpPr>
          <p:cNvPr id="95243" name="Rectangle 14"/>
          <p:cNvSpPr>
            <a:spLocks noChangeArrowheads="1"/>
          </p:cNvSpPr>
          <p:nvPr/>
        </p:nvSpPr>
        <p:spPr bwMode="auto">
          <a:xfrm>
            <a:off x="5003800" y="814388"/>
            <a:ext cx="2830513" cy="517525"/>
          </a:xfrm>
          <a:prstGeom prst="rect">
            <a:avLst/>
          </a:prstGeom>
          <a:solidFill>
            <a:srgbClr val="F1C7C7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内核虚存区</a:t>
            </a:r>
          </a:p>
        </p:txBody>
      </p:sp>
      <p:sp>
        <p:nvSpPr>
          <p:cNvPr id="95244" name="Rectangle 15"/>
          <p:cNvSpPr>
            <a:spLocks noChangeArrowheads="1"/>
          </p:cNvSpPr>
          <p:nvPr/>
        </p:nvSpPr>
        <p:spPr bwMode="auto">
          <a:xfrm>
            <a:off x="5003800" y="2622550"/>
            <a:ext cx="2830513" cy="7112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共享库区域</a:t>
            </a:r>
          </a:p>
        </p:txBody>
      </p:sp>
      <p:sp>
        <p:nvSpPr>
          <p:cNvPr id="33808" name="Rectangle 16">
            <a:extLst>
              <a:ext uri="{FF2B5EF4-FFF2-40B4-BE49-F238E27FC236}">
                <a16:creationId xmlns:a16="http://schemas.microsoft.com/office/drawing/2014/main" id="{D4B0491A-2D8B-4404-9024-04AD023D0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3328988"/>
            <a:ext cx="2830513" cy="768350"/>
          </a:xfrm>
          <a:prstGeom prst="rect">
            <a:avLst/>
          </a:prstGeom>
          <a:solidFill>
            <a:schemeClr val="bg1"/>
          </a:solidFill>
          <a:ln w="3302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2400">
              <a:latin typeface="Arial Narrow" pitchFamily="34" charset="0"/>
              <a:ea typeface="+mn-ea"/>
            </a:endParaRPr>
          </a:p>
        </p:txBody>
      </p:sp>
      <p:sp>
        <p:nvSpPr>
          <p:cNvPr id="95246" name="Rectangle 17"/>
          <p:cNvSpPr>
            <a:spLocks noChangeArrowheads="1"/>
          </p:cNvSpPr>
          <p:nvPr/>
        </p:nvSpPr>
        <p:spPr bwMode="auto">
          <a:xfrm>
            <a:off x="5003800" y="4095750"/>
            <a:ext cx="2830513" cy="7112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堆（</a:t>
            </a:r>
            <a:r>
              <a:rPr lang="en-GB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heap</a:t>
            </a: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）</a:t>
            </a:r>
          </a:p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en-GB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(</a:t>
            </a: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由</a:t>
            </a:r>
            <a:r>
              <a:rPr lang="en-GB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malloc</a:t>
            </a: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动态生成</a:t>
            </a:r>
            <a:r>
              <a:rPr lang="en-GB" altLang="zh-CN" sz="2000"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)</a:t>
            </a:r>
          </a:p>
        </p:txBody>
      </p:sp>
      <p:sp>
        <p:nvSpPr>
          <p:cNvPr id="95247" name="Line 19"/>
          <p:cNvSpPr>
            <a:spLocks noChangeShapeType="1"/>
          </p:cNvSpPr>
          <p:nvPr/>
        </p:nvSpPr>
        <p:spPr bwMode="auto">
          <a:xfrm flipV="1">
            <a:off x="6415088" y="3678238"/>
            <a:ext cx="1587" cy="407987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48" name="Rectangle 20"/>
          <p:cNvSpPr>
            <a:spLocks noChangeArrowheads="1"/>
          </p:cNvSpPr>
          <p:nvPr/>
        </p:nvSpPr>
        <p:spPr bwMode="auto">
          <a:xfrm>
            <a:off x="5003800" y="1300163"/>
            <a:ext cx="2830513" cy="598487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用户栈（</a:t>
            </a:r>
            <a:r>
              <a:rPr lang="en-GB" altLang="zh-CN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User stack</a:t>
            </a:r>
            <a:r>
              <a:rPr lang="zh-CN" altLang="en-GB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）</a:t>
            </a:r>
          </a:p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2000">
                <a:solidFill>
                  <a:srgbClr val="FF33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动态生成</a:t>
            </a:r>
          </a:p>
        </p:txBody>
      </p:sp>
      <p:sp>
        <p:nvSpPr>
          <p:cNvPr id="95249" name="Line 21"/>
          <p:cNvSpPr>
            <a:spLocks noChangeShapeType="1"/>
          </p:cNvSpPr>
          <p:nvPr/>
        </p:nvSpPr>
        <p:spPr bwMode="auto">
          <a:xfrm flipV="1">
            <a:off x="6415088" y="2382838"/>
            <a:ext cx="1587" cy="246062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50" name="Line 22"/>
          <p:cNvSpPr>
            <a:spLocks noChangeShapeType="1"/>
          </p:cNvSpPr>
          <p:nvPr/>
        </p:nvSpPr>
        <p:spPr bwMode="auto">
          <a:xfrm>
            <a:off x="6415088" y="1898650"/>
            <a:ext cx="1587" cy="242888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5" name="Rectangle 23">
            <a:extLst>
              <a:ext uri="{FF2B5EF4-FFF2-40B4-BE49-F238E27FC236}">
                <a16:creationId xmlns:a16="http://schemas.microsoft.com/office/drawing/2014/main" id="{6C66F56E-FECF-40F2-9656-86304600C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6180138"/>
            <a:ext cx="2830513" cy="422275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defRPr/>
            </a:pPr>
            <a:r>
              <a:rPr lang="zh-CN" altLang="en-GB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未使用</a:t>
            </a:r>
          </a:p>
        </p:txBody>
      </p:sp>
      <p:sp>
        <p:nvSpPr>
          <p:cNvPr id="95252" name="Text Box 24"/>
          <p:cNvSpPr txBox="1">
            <a:spLocks noChangeArrowheads="1"/>
          </p:cNvSpPr>
          <p:nvPr/>
        </p:nvSpPr>
        <p:spPr bwMode="auto">
          <a:xfrm>
            <a:off x="4735513" y="6411913"/>
            <a:ext cx="318014" cy="335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en-GB" altLang="zh-CN" sz="1600">
                <a:latin typeface="Arial Black" panose="020B0A04020102020204" pitchFamily="34" charset="0"/>
                <a:ea typeface="msgothic"/>
                <a:cs typeface="msgothic"/>
              </a:rPr>
              <a:t>0</a:t>
            </a:r>
          </a:p>
        </p:txBody>
      </p:sp>
      <p:sp>
        <p:nvSpPr>
          <p:cNvPr id="33826" name="Rectangle 34">
            <a:extLst>
              <a:ext uri="{FF2B5EF4-FFF2-40B4-BE49-F238E27FC236}">
                <a16:creationId xmlns:a16="http://schemas.microsoft.com/office/drawing/2014/main" id="{926BAB69-8E46-4754-9A65-52A6FE650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803775"/>
            <a:ext cx="2830513" cy="7127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defRPr/>
            </a:pP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读写数据段</a:t>
            </a:r>
          </a:p>
          <a:p>
            <a:pPr algn="ctr">
              <a:lnSpc>
                <a:spcPct val="98000"/>
              </a:lnSpc>
              <a:defRPr/>
            </a:pPr>
            <a:r>
              <a:rPr lang="en-GB" altLang="zh-CN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(.data, .bss)</a:t>
            </a:r>
          </a:p>
        </p:txBody>
      </p:sp>
      <p:sp>
        <p:nvSpPr>
          <p:cNvPr id="95254" name="Rectangle 35"/>
          <p:cNvSpPr>
            <a:spLocks noChangeArrowheads="1"/>
          </p:cNvSpPr>
          <p:nvPr/>
        </p:nvSpPr>
        <p:spPr bwMode="auto">
          <a:xfrm>
            <a:off x="5003800" y="5468938"/>
            <a:ext cx="2830513" cy="7112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只读代码段</a:t>
            </a:r>
          </a:p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en-GB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(.init, .text</a:t>
            </a:r>
            <a:r>
              <a:rPr lang="en-GB" altLang="zh-CN" sz="1600"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, </a:t>
            </a:r>
            <a:r>
              <a:rPr lang="en-GB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.rodata</a:t>
            </a:r>
            <a:r>
              <a:rPr lang="en-GB" altLang="zh-CN" sz="1600"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)</a:t>
            </a:r>
          </a:p>
        </p:txBody>
      </p:sp>
      <p:grpSp>
        <p:nvGrpSpPr>
          <p:cNvPr id="95255" name="Group 25"/>
          <p:cNvGrpSpPr>
            <a:grpSpLocks/>
          </p:cNvGrpSpPr>
          <p:nvPr/>
        </p:nvGrpSpPr>
        <p:grpSpPr bwMode="auto">
          <a:xfrm>
            <a:off x="7867650" y="4879975"/>
            <a:ext cx="1071563" cy="1327150"/>
            <a:chOff x="4956" y="3074"/>
            <a:chExt cx="675" cy="836"/>
          </a:xfrm>
        </p:grpSpPr>
        <p:sp>
          <p:nvSpPr>
            <p:cNvPr id="95262" name="AutoShape 36"/>
            <p:cNvSpPr>
              <a:spLocks/>
            </p:cNvSpPr>
            <p:nvPr/>
          </p:nvSpPr>
          <p:spPr bwMode="auto">
            <a:xfrm>
              <a:off x="4956" y="3094"/>
              <a:ext cx="140" cy="816"/>
            </a:xfrm>
            <a:prstGeom prst="rightBrace">
              <a:avLst>
                <a:gd name="adj1" fmla="val 48571"/>
                <a:gd name="adj2" fmla="val 50000"/>
              </a:avLst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>
                <a:latin typeface="Arial Narrow" panose="020B0606020202030204" pitchFamily="34" charset="0"/>
              </a:endParaRPr>
            </a:p>
          </p:txBody>
        </p:sp>
        <p:sp>
          <p:nvSpPr>
            <p:cNvPr id="95263" name="Text Box 37"/>
            <p:cNvSpPr txBox="1">
              <a:spLocks noChangeArrowheads="1"/>
            </p:cNvSpPr>
            <p:nvPr/>
          </p:nvSpPr>
          <p:spPr bwMode="auto">
            <a:xfrm>
              <a:off x="5161" y="3074"/>
              <a:ext cx="470" cy="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zh-CN" altLang="en-GB" sz="1900">
                  <a:solidFill>
                    <a:srgbClr val="FF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msgothic"/>
                </a:rPr>
                <a:t>从可执行文件装入</a:t>
              </a:r>
            </a:p>
          </p:txBody>
        </p:sp>
      </p:grpSp>
      <p:sp>
        <p:nvSpPr>
          <p:cNvPr id="95256" name="Text Box 46"/>
          <p:cNvSpPr txBox="1">
            <a:spLocks noChangeArrowheads="1"/>
          </p:cNvSpPr>
          <p:nvPr/>
        </p:nvSpPr>
        <p:spPr bwMode="auto">
          <a:xfrm>
            <a:off x="8026400" y="898525"/>
            <a:ext cx="841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1GB</a:t>
            </a:r>
          </a:p>
        </p:txBody>
      </p:sp>
      <p:sp>
        <p:nvSpPr>
          <p:cNvPr id="846896" name="Text Box 48"/>
          <p:cNvSpPr txBox="1">
            <a:spLocks noChangeArrowheads="1"/>
          </p:cNvSpPr>
          <p:nvPr/>
        </p:nvSpPr>
        <p:spPr bwMode="auto">
          <a:xfrm>
            <a:off x="206375" y="819150"/>
            <a:ext cx="342106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只读代码段地址的特点：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0x8048xxx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栈区地址特点：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0xbfffxxxx</a:t>
            </a:r>
          </a:p>
        </p:txBody>
      </p:sp>
      <p:sp>
        <p:nvSpPr>
          <p:cNvPr id="846897" name="Line 49"/>
          <p:cNvSpPr>
            <a:spLocks noChangeShapeType="1"/>
          </p:cNvSpPr>
          <p:nvPr/>
        </p:nvSpPr>
        <p:spPr bwMode="auto">
          <a:xfrm flipV="1">
            <a:off x="1871663" y="1538288"/>
            <a:ext cx="3149600" cy="5413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6898" name="Line 50"/>
          <p:cNvSpPr>
            <a:spLocks noChangeShapeType="1"/>
          </p:cNvSpPr>
          <p:nvPr/>
        </p:nvSpPr>
        <p:spPr bwMode="auto">
          <a:xfrm>
            <a:off x="1871663" y="1449388"/>
            <a:ext cx="3014662" cy="43195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6901" name="Rectangle 53"/>
          <p:cNvSpPr>
            <a:spLocks noChangeArrowheads="1"/>
          </p:cNvSpPr>
          <p:nvPr/>
        </p:nvSpPr>
        <p:spPr bwMode="auto">
          <a:xfrm>
            <a:off x="1736725" y="3924300"/>
            <a:ext cx="1530350" cy="36036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6902" name="Text Box 54"/>
          <p:cNvSpPr txBox="1">
            <a:spLocks noChangeArrowheads="1"/>
          </p:cNvSpPr>
          <p:nvPr/>
        </p:nvSpPr>
        <p:spPr bwMode="auto">
          <a:xfrm>
            <a:off x="3176588" y="2619375"/>
            <a:ext cx="17097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常数</a:t>
            </a:r>
            <a:r>
              <a:rPr lang="en-US" altLang="zh-CN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3.14</a:t>
            </a:r>
            <a:r>
              <a:rPr lang="zh-CN" altLang="en-US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存放在只读数据区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590" y="2667000"/>
            <a:ext cx="5342857" cy="5714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313" y="4087017"/>
            <a:ext cx="6400000" cy="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55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pPr algn="just"/>
            <a:r>
              <a:rPr lang="zh-CN" altLang="en-US" sz="3600" dirty="0"/>
              <a:t>递归函数</a:t>
            </a:r>
            <a:r>
              <a:rPr lang="en-US" altLang="zh-CN" sz="3600" dirty="0" err="1"/>
              <a:t>nn_sum</a:t>
            </a:r>
            <a:r>
              <a:rPr lang="zh-CN" altLang="en-US" sz="3600" dirty="0"/>
              <a:t>的执行流程</a:t>
            </a: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250825" y="5597525"/>
            <a:ext cx="88026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为支持过程调用，每个过程包含准备阶段和结束阶段。因而</a:t>
            </a:r>
            <a:r>
              <a:rPr lang="zh-CN" altLang="en-US" sz="20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每增加一次过程调用，就要增加许多条包含在准备阶段和结束阶段的额外指令</a:t>
            </a:r>
            <a:r>
              <a:rPr lang="zh-CN" altLang="en-US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，它们对程序性能影响很大，应尽量避免不必要的过程调用，特别是递归调用。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9216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1358900"/>
            <a:ext cx="8937625" cy="423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494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95536" y="635000"/>
            <a:ext cx="7834064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以下有关递归过程调用的叙述中，错误的是（ ）。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每次递归调用都会额外执行多条指令，因而时间开销大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每次递归调用都会生成一个新的栈帧，因而空间开销大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每次递归调用在栈帧中保存的返回地址都不相同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递归过程第一个参数的有效地址为</a:t>
            </a:r>
            <a:r>
              <a:rPr lang="en-US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</a:t>
            </a:r>
            <a:r>
              <a:rPr lang="en-US" altLang="zh-CN" sz="20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]+8 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096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320480"/>
          </a:xfrm>
        </p:spPr>
        <p:txBody>
          <a:bodyPr>
            <a:normAutofit/>
          </a:bodyPr>
          <a:lstStyle/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过程调用的机器级表示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递归调用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过程调用举例</a:t>
            </a:r>
            <a:endParaRPr lang="en-US" altLang="zh-CN" dirty="0">
              <a:solidFill>
                <a:srgbClr val="FF0000"/>
              </a:solidFill>
            </a:endParaRPr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选择结构的机器级</a:t>
            </a:r>
            <a:r>
              <a:rPr lang="zh-CN" altLang="en-US" dirty="0" smtClean="0"/>
              <a:t>表示</a:t>
            </a:r>
            <a:endParaRPr lang="en-US" altLang="zh-CN" dirty="0" smtClean="0"/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循环结构的机器级表示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793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600"/>
              <a:t>过程调用举例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819150"/>
            <a:ext cx="8229600" cy="989013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例：应始终返回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d[0]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3.14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，但并非如此。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Why?</a:t>
            </a:r>
          </a:p>
        </p:txBody>
      </p:sp>
      <p:sp>
        <p:nvSpPr>
          <p:cNvPr id="93188" name="Rectangle 4"/>
          <p:cNvSpPr>
            <a:spLocks/>
          </p:cNvSpPr>
          <p:nvPr/>
        </p:nvSpPr>
        <p:spPr bwMode="auto">
          <a:xfrm>
            <a:off x="431800" y="1584325"/>
            <a:ext cx="7650163" cy="2114550"/>
          </a:xfrm>
          <a:prstGeom prst="rect">
            <a:avLst/>
          </a:prstGeom>
          <a:solidFill>
            <a:srgbClr val="F8F6D9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lIns="63500" tIns="63500" rIns="63500" bIns="63500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914400" algn="l"/>
                <a:tab pos="22860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914400" algn="l"/>
                <a:tab pos="22860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914400" algn="l"/>
                <a:tab pos="22860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914400" algn="l"/>
                <a:tab pos="22860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22860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22860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22860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22860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double fun(int i)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{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volatile double d[1] = {3.14};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volatile long int a[2];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a[i] = 1073741824; /* Possibly out of bounds */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return d[0];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}</a:t>
            </a:r>
          </a:p>
        </p:txBody>
      </p:sp>
      <p:sp>
        <p:nvSpPr>
          <p:cNvPr id="93189" name="Rectangle 5"/>
          <p:cNvSpPr>
            <a:spLocks/>
          </p:cNvSpPr>
          <p:nvPr/>
        </p:nvSpPr>
        <p:spPr bwMode="auto">
          <a:xfrm>
            <a:off x="341313" y="3963988"/>
            <a:ext cx="5310187" cy="15795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Zapf Dingbats"/>
                <a:sym typeface="Courier New" panose="02070309020205020404" pitchFamily="49" charset="0"/>
              </a:rPr>
              <a:t>fun(0)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Zapf Dingbats"/>
                <a:sym typeface="Wingdings" panose="05000000000000000000" pitchFamily="2" charset="2"/>
              </a:rPr>
              <a:t>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Zapf Dingbats"/>
                <a:sym typeface="Courier New" panose="02070309020205020404" pitchFamily="49" charset="0"/>
              </a:rPr>
              <a:t> 3.14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Lucida Grande"/>
              <a:sym typeface="Arial Narrow" panose="020B0606020202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Courier New" panose="02070309020205020404" pitchFamily="49" charset="0"/>
              </a:rPr>
              <a:t>fun(1)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onaco"/>
                <a:sym typeface="Courier New" panose="02070309020205020404" pitchFamily="49" charset="0"/>
              </a:rPr>
              <a:t>3.14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Lucida Grande"/>
              <a:sym typeface="Arial Narrow" panose="020B0606020202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ヒラギノ角ゴ ProN W3"/>
                <a:sym typeface="Courier New" panose="02070309020205020404" pitchFamily="49" charset="0"/>
              </a:rPr>
              <a:t>fun(2)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ヒラギノ角ゴ ProN W3"/>
                <a:sym typeface="Wingdings" panose="05000000000000000000" pitchFamily="2" charset="2"/>
              </a:rPr>
              <a:t>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onaco"/>
                <a:sym typeface="Courier New" panose="02070309020205020404" pitchFamily="49" charset="0"/>
              </a:rPr>
              <a:t>3.1399998664856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Lucida Grande"/>
              <a:sym typeface="Arial Narrow" panose="020B0606020202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ヒラギノ角ゴ ProN W3"/>
                <a:sym typeface="Courier New" panose="02070309020205020404" pitchFamily="49" charset="0"/>
              </a:rPr>
              <a:t>fun(3)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ヒラギノ角ゴ ProN W3"/>
                <a:sym typeface="Wingdings" panose="05000000000000000000" pitchFamily="2" charset="2"/>
              </a:rPr>
              <a:t>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onaco"/>
                <a:sym typeface="Courier New" panose="02070309020205020404" pitchFamily="49" charset="0"/>
              </a:rPr>
              <a:t>2.00000061035156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Lucida Grande"/>
              <a:sym typeface="Arial Narrow" panose="020B0606020202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ヒラギノ角ゴ ProN W3"/>
                <a:sym typeface="Courier New" panose="02070309020205020404" pitchFamily="49" charset="0"/>
              </a:rPr>
              <a:t>fun(4)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ヒラギノ角ゴ ProN W3"/>
                <a:sym typeface="Wingdings" panose="05000000000000000000" pitchFamily="2" charset="2"/>
              </a:rPr>
              <a:t>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onaco"/>
                <a:sym typeface="Courier New" panose="02070309020205020404" pitchFamily="49" charset="0"/>
              </a:rPr>
              <a:t>3.14,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Monaco"/>
                <a:sym typeface="Courier New" panose="02070309020205020404" pitchFamily="49" charset="0"/>
              </a:rPr>
              <a:t>然后存储保护错</a:t>
            </a:r>
          </a:p>
        </p:txBody>
      </p:sp>
      <p:sp>
        <p:nvSpPr>
          <p:cNvPr id="93190" name="Rectangle 6"/>
          <p:cNvSpPr>
            <a:spLocks noChangeArrowheads="1"/>
          </p:cNvSpPr>
          <p:nvPr/>
        </p:nvSpPr>
        <p:spPr bwMode="auto">
          <a:xfrm>
            <a:off x="161925" y="5673725"/>
            <a:ext cx="517525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>
            <a:lvl1pPr marL="165100" indent="-1651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>
                <a:solidFill>
                  <a:srgbClr val="3333CC"/>
                </a:solidFill>
              </a:rPr>
              <a:t>  </a:t>
            </a:r>
            <a:r>
              <a:rPr lang="zh-CN" altLang="en-US" sz="2000">
                <a:solidFill>
                  <a:srgbClr val="3333CC"/>
                </a:solidFill>
                <a:ea typeface="微软雅黑" panose="020B0503020204020204" pitchFamily="34" charset="-122"/>
              </a:rPr>
              <a:t>不同系统上执行结果可能不同</a:t>
            </a:r>
          </a:p>
          <a:p>
            <a:pPr eaLnBrk="1" hangingPunct="1"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ea typeface="微软雅黑" panose="020B0503020204020204" pitchFamily="34" charset="-122"/>
              </a:rPr>
              <a:t>   例如，编译器对局部变量分配方式可能不同</a:t>
            </a:r>
          </a:p>
        </p:txBody>
      </p:sp>
      <p:sp>
        <p:nvSpPr>
          <p:cNvPr id="788487" name="Text Box 7"/>
          <p:cNvSpPr txBox="1">
            <a:spLocks noChangeArrowheads="1"/>
          </p:cNvSpPr>
          <p:nvPr/>
        </p:nvSpPr>
        <p:spPr bwMode="auto">
          <a:xfrm>
            <a:off x="5337175" y="4103688"/>
            <a:ext cx="3421063" cy="144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5000"/>
              </a:lnSpc>
              <a:spcBef>
                <a:spcPct val="50000"/>
              </a:spcBef>
              <a:buFontTx/>
              <a:buNone/>
            </a:pP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为何每次返回不一样？为什么会引起保护错？栈帧中的状态如何？</a:t>
            </a:r>
          </a:p>
        </p:txBody>
      </p:sp>
    </p:spTree>
    <p:extLst>
      <p:ext uri="{BB962C8B-B14F-4D97-AF65-F5344CB8AC3E}">
        <p14:creationId xmlns:p14="http://schemas.microsoft.com/office/powerpoint/2010/main" val="421012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48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1197"/>
            <a:ext cx="6701820" cy="3276075"/>
          </a:xfrm>
          <a:prstGeom prst="rect">
            <a:avLst/>
          </a:prstGeom>
        </p:spPr>
      </p:pic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4212" name="Rectangle 4"/>
          <p:cNvSpPr>
            <a:spLocks/>
          </p:cNvSpPr>
          <p:nvPr/>
        </p:nvSpPr>
        <p:spPr bwMode="auto">
          <a:xfrm>
            <a:off x="160338" y="98425"/>
            <a:ext cx="4186237" cy="2257425"/>
          </a:xfrm>
          <a:prstGeom prst="rect">
            <a:avLst/>
          </a:prstGeom>
          <a:solidFill>
            <a:srgbClr val="F8F6D9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lIns="63500" tIns="63500" rIns="63500" bIns="63500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914400" algn="l"/>
                <a:tab pos="22860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914400" algn="l"/>
                <a:tab pos="22860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914400" algn="l"/>
                <a:tab pos="22860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914400" algn="l"/>
                <a:tab pos="22860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914400" algn="l"/>
                <a:tab pos="22860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22860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22860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22860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  <a:tab pos="22860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Monaco"/>
              </a:rPr>
              <a:t>double fun(int i)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Monaco"/>
              </a:rPr>
              <a:t>{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Monaco"/>
              </a:rPr>
              <a:t>  volatile double d[1] = {3.14};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Monaco"/>
              </a:rPr>
              <a:t>  volatile long int a[2];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Monaco"/>
              </a:rPr>
              <a:t>  a[i] = 1073741824;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Monaco"/>
              </a:rPr>
              <a:t>  return d[0];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Monaco"/>
              </a:rPr>
              <a:t>}</a:t>
            </a:r>
          </a:p>
        </p:txBody>
      </p:sp>
      <p:pic>
        <p:nvPicPr>
          <p:cNvPr id="942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2259013"/>
            <a:ext cx="3419475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9511" name="Line 7"/>
          <p:cNvSpPr>
            <a:spLocks noChangeShapeType="1"/>
          </p:cNvSpPr>
          <p:nvPr/>
        </p:nvSpPr>
        <p:spPr bwMode="auto">
          <a:xfrm>
            <a:off x="3086100" y="3743325"/>
            <a:ext cx="2611438" cy="630238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9512" name="Rectangle 8"/>
          <p:cNvSpPr>
            <a:spLocks noChangeArrowheads="1"/>
          </p:cNvSpPr>
          <p:nvPr/>
        </p:nvSpPr>
        <p:spPr bwMode="auto">
          <a:xfrm>
            <a:off x="1071563" y="4444207"/>
            <a:ext cx="4206875" cy="559593"/>
          </a:xfrm>
          <a:prstGeom prst="rect">
            <a:avLst/>
          </a:prstGeom>
          <a:solidFill>
            <a:srgbClr val="000080">
              <a:alpha val="2196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4217" name="Group 9"/>
          <p:cNvGrpSpPr>
            <a:grpSpLocks/>
          </p:cNvGrpSpPr>
          <p:nvPr/>
        </p:nvGrpSpPr>
        <p:grpSpPr bwMode="auto">
          <a:xfrm>
            <a:off x="1093787" y="2979738"/>
            <a:ext cx="4692650" cy="1455550"/>
            <a:chOff x="689" y="1848"/>
            <a:chExt cx="2956" cy="890"/>
          </a:xfrm>
        </p:grpSpPr>
        <p:sp>
          <p:nvSpPr>
            <p:cNvPr id="94233" name="Rectangle 10"/>
            <p:cNvSpPr>
              <a:spLocks noChangeArrowheads="1"/>
            </p:cNvSpPr>
            <p:nvPr/>
          </p:nvSpPr>
          <p:spPr bwMode="auto">
            <a:xfrm>
              <a:off x="689" y="2363"/>
              <a:ext cx="1792" cy="375"/>
            </a:xfrm>
            <a:prstGeom prst="rect">
              <a:avLst/>
            </a:prstGeom>
            <a:solidFill>
              <a:srgbClr val="FF0000">
                <a:alpha val="2901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234" name="Line 11"/>
            <p:cNvSpPr>
              <a:spLocks noChangeShapeType="1"/>
            </p:cNvSpPr>
            <p:nvPr/>
          </p:nvSpPr>
          <p:spPr bwMode="auto">
            <a:xfrm flipV="1">
              <a:off x="1944" y="2047"/>
              <a:ext cx="1503" cy="51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5" name="AutoShape 12"/>
            <p:cNvSpPr>
              <a:spLocks/>
            </p:cNvSpPr>
            <p:nvPr/>
          </p:nvSpPr>
          <p:spPr bwMode="auto">
            <a:xfrm>
              <a:off x="3475" y="1848"/>
              <a:ext cx="170" cy="391"/>
            </a:xfrm>
            <a:prstGeom prst="leftBrace">
              <a:avLst>
                <a:gd name="adj1" fmla="val 19167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4218" name="Text Box 13"/>
          <p:cNvSpPr txBox="1">
            <a:spLocks noChangeArrowheads="1"/>
          </p:cNvSpPr>
          <p:nvPr/>
        </p:nvSpPr>
        <p:spPr bwMode="auto">
          <a:xfrm>
            <a:off x="5967413" y="2395538"/>
            <a:ext cx="2520950" cy="274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0" rIns="18000" bIns="0"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EBP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的旧值</a:t>
            </a:r>
          </a:p>
        </p:txBody>
      </p:sp>
      <p:sp>
        <p:nvSpPr>
          <p:cNvPr id="94219" name="Text Box 14"/>
          <p:cNvSpPr txBox="1">
            <a:spLocks noChangeArrowheads="1"/>
          </p:cNvSpPr>
          <p:nvPr/>
        </p:nvSpPr>
        <p:spPr bwMode="auto">
          <a:xfrm>
            <a:off x="5246688" y="2349500"/>
            <a:ext cx="9001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</a:p>
        </p:txBody>
      </p:sp>
      <p:sp>
        <p:nvSpPr>
          <p:cNvPr id="94220" name="Text Box 15"/>
          <p:cNvSpPr txBox="1">
            <a:spLocks noChangeArrowheads="1"/>
          </p:cNvSpPr>
          <p:nvPr/>
        </p:nvSpPr>
        <p:spPr bwMode="auto">
          <a:xfrm>
            <a:off x="5292725" y="4014788"/>
            <a:ext cx="9001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</a:p>
        </p:txBody>
      </p:sp>
      <p:grpSp>
        <p:nvGrpSpPr>
          <p:cNvPr id="789520" name="Group 16"/>
          <p:cNvGrpSpPr>
            <a:grpSpLocks/>
          </p:cNvGrpSpPr>
          <p:nvPr/>
        </p:nvGrpSpPr>
        <p:grpSpPr bwMode="auto">
          <a:xfrm>
            <a:off x="5697538" y="4554538"/>
            <a:ext cx="2879725" cy="630237"/>
            <a:chOff x="3617" y="2982"/>
            <a:chExt cx="1814" cy="397"/>
          </a:xfrm>
        </p:grpSpPr>
        <p:sp>
          <p:nvSpPr>
            <p:cNvPr id="94231" name="AutoShape 17"/>
            <p:cNvSpPr>
              <a:spLocks/>
            </p:cNvSpPr>
            <p:nvPr/>
          </p:nvSpPr>
          <p:spPr bwMode="auto">
            <a:xfrm>
              <a:off x="3617" y="2982"/>
              <a:ext cx="142" cy="397"/>
            </a:xfrm>
            <a:prstGeom prst="rightBrace">
              <a:avLst>
                <a:gd name="adj1" fmla="val 23298"/>
                <a:gd name="adj2" fmla="val 50000"/>
              </a:avLst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232" name="Text Box 18"/>
            <p:cNvSpPr txBox="1">
              <a:spLocks noChangeArrowheads="1"/>
            </p:cNvSpPr>
            <p:nvPr/>
          </p:nvSpPr>
          <p:spPr bwMode="auto">
            <a:xfrm>
              <a:off x="3787" y="3039"/>
              <a:ext cx="16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a[i]=1073741824;</a:t>
              </a:r>
            </a:p>
          </p:txBody>
        </p:sp>
      </p:grpSp>
      <p:grpSp>
        <p:nvGrpSpPr>
          <p:cNvPr id="789523" name="Group 19"/>
          <p:cNvGrpSpPr>
            <a:grpSpLocks/>
          </p:cNvGrpSpPr>
          <p:nvPr/>
        </p:nvGrpSpPr>
        <p:grpSpPr bwMode="auto">
          <a:xfrm>
            <a:off x="3086100" y="5273675"/>
            <a:ext cx="2879725" cy="461963"/>
            <a:chOff x="3617" y="2982"/>
            <a:chExt cx="1814" cy="407"/>
          </a:xfrm>
        </p:grpSpPr>
        <p:sp>
          <p:nvSpPr>
            <p:cNvPr id="94229" name="AutoShape 20"/>
            <p:cNvSpPr>
              <a:spLocks/>
            </p:cNvSpPr>
            <p:nvPr/>
          </p:nvSpPr>
          <p:spPr bwMode="auto">
            <a:xfrm>
              <a:off x="3617" y="2982"/>
              <a:ext cx="142" cy="397"/>
            </a:xfrm>
            <a:prstGeom prst="rightBrace">
              <a:avLst>
                <a:gd name="adj1" fmla="val 23298"/>
                <a:gd name="adj2" fmla="val 50000"/>
              </a:avLst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230" name="Text Box 21"/>
            <p:cNvSpPr txBox="1">
              <a:spLocks noChangeArrowheads="1"/>
            </p:cNvSpPr>
            <p:nvPr/>
          </p:nvSpPr>
          <p:spPr bwMode="auto">
            <a:xfrm>
              <a:off x="3787" y="3039"/>
              <a:ext cx="1644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return d[0];</a:t>
              </a:r>
            </a:p>
          </p:txBody>
        </p:sp>
      </p:grpSp>
      <p:sp>
        <p:nvSpPr>
          <p:cNvPr id="789526" name="Text Box 22"/>
          <p:cNvSpPr txBox="1">
            <a:spLocks noChangeArrowheads="1"/>
          </p:cNvSpPr>
          <p:nvPr/>
        </p:nvSpPr>
        <p:spPr bwMode="auto">
          <a:xfrm>
            <a:off x="6192838" y="5094288"/>
            <a:ext cx="27447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0x40000000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=2</a:t>
            </a:r>
            <a:r>
              <a:rPr lang="en-US" altLang="zh-CN" sz="2000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=1073741824</a:t>
            </a:r>
          </a:p>
        </p:txBody>
      </p:sp>
      <p:grpSp>
        <p:nvGrpSpPr>
          <p:cNvPr id="789527" name="Group 23"/>
          <p:cNvGrpSpPr>
            <a:grpSpLocks/>
          </p:cNvGrpSpPr>
          <p:nvPr/>
        </p:nvGrpSpPr>
        <p:grpSpPr bwMode="auto">
          <a:xfrm>
            <a:off x="1090612" y="2708275"/>
            <a:ext cx="4111625" cy="790575"/>
            <a:chOff x="744" y="1650"/>
            <a:chExt cx="2590" cy="498"/>
          </a:xfrm>
        </p:grpSpPr>
        <p:sp>
          <p:nvSpPr>
            <p:cNvPr id="94227" name="Line 24"/>
            <p:cNvSpPr>
              <a:spLocks noChangeShapeType="1"/>
            </p:cNvSpPr>
            <p:nvPr/>
          </p:nvSpPr>
          <p:spPr bwMode="auto">
            <a:xfrm flipV="1">
              <a:off x="1831" y="1650"/>
              <a:ext cx="1503" cy="34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8" name="Rectangle 25"/>
            <p:cNvSpPr>
              <a:spLocks noChangeArrowheads="1"/>
            </p:cNvSpPr>
            <p:nvPr/>
          </p:nvSpPr>
          <p:spPr bwMode="auto">
            <a:xfrm>
              <a:off x="744" y="1751"/>
              <a:ext cx="1794" cy="397"/>
            </a:xfrm>
            <a:prstGeom prst="rect">
              <a:avLst/>
            </a:prstGeom>
            <a:solidFill>
              <a:srgbClr val="993366">
                <a:alpha val="1803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89530" name="Text Box 26"/>
          <p:cNvSpPr txBox="1">
            <a:spLocks noChangeArrowheads="1"/>
          </p:cNvSpPr>
          <p:nvPr/>
        </p:nvSpPr>
        <p:spPr bwMode="auto">
          <a:xfrm>
            <a:off x="5427663" y="188913"/>
            <a:ext cx="3465512" cy="19928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zh-CN" altLang="en-US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1900" dirty="0" err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OK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zh-CN" altLang="en-US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1900" dirty="0" err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=2, d3</a:t>
            </a:r>
            <a:r>
              <a:rPr lang="en-US" altLang="zh-CN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~d0=0x40000000   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zh-CN" altLang="en-US" sz="19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低位部分（尾数）被改变</a:t>
            </a:r>
            <a:endParaRPr lang="en-US" altLang="zh-CN" sz="1900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zh-CN" altLang="en-US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当</a:t>
            </a:r>
            <a:r>
              <a:rPr lang="en-US" altLang="zh-CN" sz="1900" dirty="0" err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=3, d7</a:t>
            </a:r>
            <a:r>
              <a:rPr lang="en-US" altLang="zh-CN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~d4=0x40000000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zh-CN" altLang="en-US" sz="19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高位部分被改变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r>
              <a:rPr lang="zh-CN" altLang="en-US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1900" dirty="0" err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9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=4, </a:t>
            </a:r>
            <a:r>
              <a:rPr lang="en-US" altLang="zh-CN" sz="19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zh-CN" altLang="en-US" sz="19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被改变</a:t>
            </a:r>
          </a:p>
        </p:txBody>
      </p:sp>
      <p:sp>
        <p:nvSpPr>
          <p:cNvPr id="789531" name="Rectangle 27"/>
          <p:cNvSpPr>
            <a:spLocks noChangeArrowheads="1"/>
          </p:cNvSpPr>
          <p:nvPr/>
        </p:nvSpPr>
        <p:spPr bwMode="auto">
          <a:xfrm>
            <a:off x="2051050" y="5724525"/>
            <a:ext cx="4572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fun(2) = 3.1399998664856</a:t>
            </a:r>
            <a:endParaRPr lang="en-US" altLang="zh-CN" sz="200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Narrow" panose="020B0606020202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fun(3) </a:t>
            </a:r>
            <a:r>
              <a:rPr lang="en-US" altLang="zh-CN" sz="20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= </a:t>
            </a:r>
            <a:r>
              <a:rPr lang="en-US" altLang="zh-CN" sz="20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2.00000061035156</a:t>
            </a:r>
            <a:endParaRPr lang="en-US" altLang="zh-CN" sz="200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Narrow" panose="020B0606020202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fun(4) = 3.14, </a:t>
            </a:r>
            <a:r>
              <a:rPr lang="zh-CN" altLang="en-US" sz="20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然后存储保护错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54" y="1987550"/>
            <a:ext cx="3123335" cy="76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2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8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8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8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8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89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89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89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89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89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89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8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512" grpId="0" animBg="1"/>
      <p:bldP spid="789526" grpId="0"/>
      <p:bldP spid="7895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6900" name="Picture 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484438"/>
            <a:ext cx="3646488" cy="409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5" name="Rectangle 2"/>
          <p:cNvSpPr>
            <a:spLocks noChangeArrowheads="1"/>
          </p:cNvSpPr>
          <p:nvPr/>
        </p:nvSpPr>
        <p:spPr bwMode="auto">
          <a:xfrm>
            <a:off x="5002213" y="1889125"/>
            <a:ext cx="2832100" cy="7254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23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27038" y="0"/>
            <a:ext cx="8716962" cy="617538"/>
          </a:xfrm>
        </p:spPr>
        <p:txBody>
          <a:bodyPr/>
          <a:lstStyle/>
          <a:p>
            <a:pPr marL="119063" indent="-1190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/>
              <a:t>IA-32/Linux</a:t>
            </a:r>
            <a:r>
              <a:rPr lang="zh-CN" altLang="en-GB"/>
              <a:t>的存储映像</a:t>
            </a:r>
          </a:p>
        </p:txBody>
      </p:sp>
      <p:grpSp>
        <p:nvGrpSpPr>
          <p:cNvPr id="95237" name="Group 5"/>
          <p:cNvGrpSpPr>
            <a:grpSpLocks/>
          </p:cNvGrpSpPr>
          <p:nvPr/>
        </p:nvGrpSpPr>
        <p:grpSpPr bwMode="auto">
          <a:xfrm>
            <a:off x="7858125" y="1735138"/>
            <a:ext cx="1138238" cy="620712"/>
            <a:chOff x="4950" y="1093"/>
            <a:chExt cx="717" cy="391"/>
          </a:xfrm>
        </p:grpSpPr>
        <p:sp>
          <p:nvSpPr>
            <p:cNvPr id="95264" name="Text Box 25"/>
            <p:cNvSpPr txBox="1">
              <a:spLocks noChangeArrowheads="1"/>
            </p:cNvSpPr>
            <p:nvPr/>
          </p:nvSpPr>
          <p:spPr bwMode="auto">
            <a:xfrm>
              <a:off x="5206" y="1093"/>
              <a:ext cx="461" cy="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46800" rIns="0" bIns="46800"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4000"/>
                </a:lnSpc>
                <a:spcBef>
                  <a:spcPct val="0"/>
                </a:spcBef>
                <a:buFontTx/>
                <a:buNone/>
              </a:pPr>
              <a:r>
                <a:rPr lang="en-GB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sgothic"/>
                </a:rPr>
                <a:t>ESP </a:t>
              </a:r>
            </a:p>
            <a:p>
              <a:pPr algn="ctr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GB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sgothic"/>
                </a:rPr>
                <a:t>(</a:t>
              </a:r>
              <a:r>
                <a:rPr lang="zh-CN" altLang="en-GB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sgothic"/>
                </a:rPr>
                <a:t>栈顶</a:t>
              </a:r>
              <a:r>
                <a:rPr lang="en-GB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sgothic"/>
                </a:rPr>
                <a:t>)</a:t>
              </a:r>
            </a:p>
          </p:txBody>
        </p:sp>
        <p:sp>
          <p:nvSpPr>
            <p:cNvPr id="95265" name="Line 26"/>
            <p:cNvSpPr>
              <a:spLocks noChangeShapeType="1"/>
            </p:cNvSpPr>
            <p:nvPr/>
          </p:nvSpPr>
          <p:spPr bwMode="auto">
            <a:xfrm flipH="1">
              <a:off x="4950" y="1196"/>
              <a:ext cx="242" cy="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5238" name="Line 28"/>
          <p:cNvSpPr>
            <a:spLocks noChangeShapeType="1"/>
          </p:cNvSpPr>
          <p:nvPr/>
        </p:nvSpPr>
        <p:spPr bwMode="auto">
          <a:xfrm flipV="1">
            <a:off x="7974013" y="830263"/>
            <a:ext cx="1587" cy="460375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39" name="Text Box 29"/>
          <p:cNvSpPr txBox="1">
            <a:spLocks noChangeArrowheads="1"/>
          </p:cNvSpPr>
          <p:nvPr/>
        </p:nvSpPr>
        <p:spPr bwMode="auto">
          <a:xfrm>
            <a:off x="8307388" y="3968750"/>
            <a:ext cx="592127" cy="36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4000"/>
              </a:lnSpc>
              <a:spcBef>
                <a:spcPct val="0"/>
              </a:spcBef>
              <a:buFontTx/>
              <a:buNone/>
            </a:pPr>
            <a:r>
              <a:rPr lang="en-GB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brk</a:t>
            </a:r>
          </a:p>
        </p:txBody>
      </p:sp>
      <p:sp>
        <p:nvSpPr>
          <p:cNvPr id="95240" name="Line 30"/>
          <p:cNvSpPr>
            <a:spLocks noChangeShapeType="1"/>
          </p:cNvSpPr>
          <p:nvPr/>
        </p:nvSpPr>
        <p:spPr bwMode="auto">
          <a:xfrm flipH="1">
            <a:off x="7904163" y="4125913"/>
            <a:ext cx="384175" cy="1587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41" name="Text Box 31"/>
          <p:cNvSpPr txBox="1">
            <a:spLocks noChangeArrowheads="1"/>
          </p:cNvSpPr>
          <p:nvPr/>
        </p:nvSpPr>
        <p:spPr bwMode="auto">
          <a:xfrm>
            <a:off x="3530600" y="1076325"/>
            <a:ext cx="1579576" cy="32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4000"/>
              </a:lnSpc>
              <a:spcBef>
                <a:spcPct val="0"/>
              </a:spcBef>
              <a:buFontTx/>
              <a:buNone/>
            </a:pPr>
            <a:r>
              <a:rPr lang="en-GB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0xC00000000</a:t>
            </a:r>
          </a:p>
        </p:txBody>
      </p:sp>
      <p:sp>
        <p:nvSpPr>
          <p:cNvPr id="95242" name="Text Box 32"/>
          <p:cNvSpPr txBox="1">
            <a:spLocks noChangeArrowheads="1"/>
          </p:cNvSpPr>
          <p:nvPr/>
        </p:nvSpPr>
        <p:spPr bwMode="auto">
          <a:xfrm>
            <a:off x="3649663" y="5916613"/>
            <a:ext cx="1441718" cy="32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4000"/>
              </a:lnSpc>
              <a:spcBef>
                <a:spcPct val="0"/>
              </a:spcBef>
              <a:buFontTx/>
              <a:buNone/>
            </a:pPr>
            <a:r>
              <a:rPr lang="en-GB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0x08048000</a:t>
            </a:r>
          </a:p>
        </p:txBody>
      </p:sp>
      <p:sp>
        <p:nvSpPr>
          <p:cNvPr id="95243" name="Rectangle 14"/>
          <p:cNvSpPr>
            <a:spLocks noChangeArrowheads="1"/>
          </p:cNvSpPr>
          <p:nvPr/>
        </p:nvSpPr>
        <p:spPr bwMode="auto">
          <a:xfrm>
            <a:off x="5003800" y="814388"/>
            <a:ext cx="2830513" cy="517525"/>
          </a:xfrm>
          <a:prstGeom prst="rect">
            <a:avLst/>
          </a:prstGeom>
          <a:solidFill>
            <a:srgbClr val="F1C7C7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内核虚存区</a:t>
            </a:r>
          </a:p>
        </p:txBody>
      </p:sp>
      <p:sp>
        <p:nvSpPr>
          <p:cNvPr id="95244" name="Rectangle 15"/>
          <p:cNvSpPr>
            <a:spLocks noChangeArrowheads="1"/>
          </p:cNvSpPr>
          <p:nvPr/>
        </p:nvSpPr>
        <p:spPr bwMode="auto">
          <a:xfrm>
            <a:off x="5003800" y="2622550"/>
            <a:ext cx="2830513" cy="7112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共享库区域</a:t>
            </a:r>
          </a:p>
        </p:txBody>
      </p:sp>
      <p:sp>
        <p:nvSpPr>
          <p:cNvPr id="33808" name="Rectangle 16">
            <a:extLst>
              <a:ext uri="{FF2B5EF4-FFF2-40B4-BE49-F238E27FC236}">
                <a16:creationId xmlns:a16="http://schemas.microsoft.com/office/drawing/2014/main" id="{D4B0491A-2D8B-4404-9024-04AD023D0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3328988"/>
            <a:ext cx="2830513" cy="768350"/>
          </a:xfrm>
          <a:prstGeom prst="rect">
            <a:avLst/>
          </a:prstGeom>
          <a:solidFill>
            <a:schemeClr val="bg1"/>
          </a:solidFill>
          <a:ln w="3302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2400">
              <a:latin typeface="Arial Narrow" pitchFamily="34" charset="0"/>
              <a:ea typeface="+mn-ea"/>
            </a:endParaRPr>
          </a:p>
        </p:txBody>
      </p:sp>
      <p:sp>
        <p:nvSpPr>
          <p:cNvPr id="95246" name="Rectangle 17"/>
          <p:cNvSpPr>
            <a:spLocks noChangeArrowheads="1"/>
          </p:cNvSpPr>
          <p:nvPr/>
        </p:nvSpPr>
        <p:spPr bwMode="auto">
          <a:xfrm>
            <a:off x="5003800" y="4095750"/>
            <a:ext cx="2830513" cy="7112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堆（</a:t>
            </a:r>
            <a:r>
              <a:rPr lang="en-GB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heap</a:t>
            </a: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）</a:t>
            </a:r>
          </a:p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en-GB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(</a:t>
            </a: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由</a:t>
            </a:r>
            <a:r>
              <a:rPr lang="en-GB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malloc</a:t>
            </a: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动态生成</a:t>
            </a:r>
            <a:r>
              <a:rPr lang="en-GB" altLang="zh-CN" sz="2000"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)</a:t>
            </a:r>
          </a:p>
        </p:txBody>
      </p:sp>
      <p:sp>
        <p:nvSpPr>
          <p:cNvPr id="95247" name="Line 19"/>
          <p:cNvSpPr>
            <a:spLocks noChangeShapeType="1"/>
          </p:cNvSpPr>
          <p:nvPr/>
        </p:nvSpPr>
        <p:spPr bwMode="auto">
          <a:xfrm flipV="1">
            <a:off x="6415088" y="3678238"/>
            <a:ext cx="1587" cy="407987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48" name="Rectangle 20"/>
          <p:cNvSpPr>
            <a:spLocks noChangeArrowheads="1"/>
          </p:cNvSpPr>
          <p:nvPr/>
        </p:nvSpPr>
        <p:spPr bwMode="auto">
          <a:xfrm>
            <a:off x="5003800" y="1300163"/>
            <a:ext cx="2830513" cy="598487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用户栈（</a:t>
            </a:r>
            <a:r>
              <a:rPr lang="en-GB" altLang="zh-CN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User stack</a:t>
            </a:r>
            <a:r>
              <a:rPr lang="zh-CN" altLang="en-GB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）</a:t>
            </a:r>
          </a:p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2000">
                <a:solidFill>
                  <a:srgbClr val="FF33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动态生成</a:t>
            </a:r>
          </a:p>
        </p:txBody>
      </p:sp>
      <p:sp>
        <p:nvSpPr>
          <p:cNvPr id="95249" name="Line 21"/>
          <p:cNvSpPr>
            <a:spLocks noChangeShapeType="1"/>
          </p:cNvSpPr>
          <p:nvPr/>
        </p:nvSpPr>
        <p:spPr bwMode="auto">
          <a:xfrm flipV="1">
            <a:off x="6415088" y="2382838"/>
            <a:ext cx="1587" cy="246062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50" name="Line 22"/>
          <p:cNvSpPr>
            <a:spLocks noChangeShapeType="1"/>
          </p:cNvSpPr>
          <p:nvPr/>
        </p:nvSpPr>
        <p:spPr bwMode="auto">
          <a:xfrm>
            <a:off x="6415088" y="1898650"/>
            <a:ext cx="1587" cy="242888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5" name="Rectangle 23">
            <a:extLst>
              <a:ext uri="{FF2B5EF4-FFF2-40B4-BE49-F238E27FC236}">
                <a16:creationId xmlns:a16="http://schemas.microsoft.com/office/drawing/2014/main" id="{6C66F56E-FECF-40F2-9656-86304600C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6180138"/>
            <a:ext cx="2830513" cy="422275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defRPr/>
            </a:pPr>
            <a:r>
              <a:rPr lang="zh-CN" altLang="en-GB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未使用</a:t>
            </a:r>
          </a:p>
        </p:txBody>
      </p:sp>
      <p:sp>
        <p:nvSpPr>
          <p:cNvPr id="95252" name="Text Box 24"/>
          <p:cNvSpPr txBox="1">
            <a:spLocks noChangeArrowheads="1"/>
          </p:cNvSpPr>
          <p:nvPr/>
        </p:nvSpPr>
        <p:spPr bwMode="auto">
          <a:xfrm>
            <a:off x="4735513" y="6411913"/>
            <a:ext cx="318014" cy="335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en-GB" altLang="zh-CN" sz="1600">
                <a:latin typeface="Arial Black" panose="020B0A04020102020204" pitchFamily="34" charset="0"/>
                <a:ea typeface="msgothic"/>
                <a:cs typeface="msgothic"/>
              </a:rPr>
              <a:t>0</a:t>
            </a:r>
          </a:p>
        </p:txBody>
      </p:sp>
      <p:sp>
        <p:nvSpPr>
          <p:cNvPr id="33826" name="Rectangle 34">
            <a:extLst>
              <a:ext uri="{FF2B5EF4-FFF2-40B4-BE49-F238E27FC236}">
                <a16:creationId xmlns:a16="http://schemas.microsoft.com/office/drawing/2014/main" id="{926BAB69-8E46-4754-9A65-52A6FE650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803775"/>
            <a:ext cx="2830513" cy="7127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defRPr/>
            </a:pP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读写数据段</a:t>
            </a:r>
          </a:p>
          <a:p>
            <a:pPr algn="ctr">
              <a:lnSpc>
                <a:spcPct val="98000"/>
              </a:lnSpc>
              <a:defRPr/>
            </a:pPr>
            <a:r>
              <a:rPr lang="en-GB" altLang="zh-CN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(.data, .bss)</a:t>
            </a:r>
          </a:p>
        </p:txBody>
      </p:sp>
      <p:sp>
        <p:nvSpPr>
          <p:cNvPr id="95254" name="Rectangle 35"/>
          <p:cNvSpPr>
            <a:spLocks noChangeArrowheads="1"/>
          </p:cNvSpPr>
          <p:nvPr/>
        </p:nvSpPr>
        <p:spPr bwMode="auto">
          <a:xfrm>
            <a:off x="5003800" y="5468938"/>
            <a:ext cx="2830513" cy="7112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20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只读代码段</a:t>
            </a:r>
          </a:p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en-GB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(.init, .text</a:t>
            </a:r>
            <a:r>
              <a:rPr lang="en-GB" altLang="zh-CN" sz="1600"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, </a:t>
            </a:r>
            <a:r>
              <a:rPr lang="en-GB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msgothic"/>
              </a:rPr>
              <a:t>.rodata</a:t>
            </a:r>
            <a:r>
              <a:rPr lang="en-GB" altLang="zh-CN" sz="1600">
                <a:latin typeface="Calibri" panose="020F0502020204030204" pitchFamily="34" charset="0"/>
                <a:ea typeface="微软雅黑" panose="020B0503020204020204" pitchFamily="34" charset="-122"/>
                <a:cs typeface="msgothic"/>
              </a:rPr>
              <a:t>)</a:t>
            </a:r>
          </a:p>
        </p:txBody>
      </p:sp>
      <p:grpSp>
        <p:nvGrpSpPr>
          <p:cNvPr id="95255" name="Group 25"/>
          <p:cNvGrpSpPr>
            <a:grpSpLocks/>
          </p:cNvGrpSpPr>
          <p:nvPr/>
        </p:nvGrpSpPr>
        <p:grpSpPr bwMode="auto">
          <a:xfrm>
            <a:off x="7867650" y="4879975"/>
            <a:ext cx="1071563" cy="1327150"/>
            <a:chOff x="4956" y="3074"/>
            <a:chExt cx="675" cy="836"/>
          </a:xfrm>
        </p:grpSpPr>
        <p:sp>
          <p:nvSpPr>
            <p:cNvPr id="95262" name="AutoShape 36"/>
            <p:cNvSpPr>
              <a:spLocks/>
            </p:cNvSpPr>
            <p:nvPr/>
          </p:nvSpPr>
          <p:spPr bwMode="auto">
            <a:xfrm>
              <a:off x="4956" y="3094"/>
              <a:ext cx="140" cy="816"/>
            </a:xfrm>
            <a:prstGeom prst="rightBrace">
              <a:avLst>
                <a:gd name="adj1" fmla="val 48571"/>
                <a:gd name="adj2" fmla="val 50000"/>
              </a:avLst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>
                <a:latin typeface="Arial Narrow" panose="020B0606020202030204" pitchFamily="34" charset="0"/>
              </a:endParaRPr>
            </a:p>
          </p:txBody>
        </p:sp>
        <p:sp>
          <p:nvSpPr>
            <p:cNvPr id="95263" name="Text Box 37"/>
            <p:cNvSpPr txBox="1">
              <a:spLocks noChangeArrowheads="1"/>
            </p:cNvSpPr>
            <p:nvPr/>
          </p:nvSpPr>
          <p:spPr bwMode="auto">
            <a:xfrm>
              <a:off x="5161" y="3074"/>
              <a:ext cx="470" cy="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zh-CN" altLang="en-GB" sz="1900">
                  <a:solidFill>
                    <a:srgbClr val="FF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msgothic"/>
                </a:rPr>
                <a:t>从可执行文件装入</a:t>
              </a:r>
            </a:p>
          </p:txBody>
        </p:sp>
      </p:grpSp>
      <p:sp>
        <p:nvSpPr>
          <p:cNvPr id="95256" name="Text Box 46"/>
          <p:cNvSpPr txBox="1">
            <a:spLocks noChangeArrowheads="1"/>
          </p:cNvSpPr>
          <p:nvPr/>
        </p:nvSpPr>
        <p:spPr bwMode="auto">
          <a:xfrm>
            <a:off x="8026400" y="898525"/>
            <a:ext cx="841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1GB</a:t>
            </a:r>
          </a:p>
        </p:txBody>
      </p:sp>
      <p:sp>
        <p:nvSpPr>
          <p:cNvPr id="846896" name="Text Box 48"/>
          <p:cNvSpPr txBox="1">
            <a:spLocks noChangeArrowheads="1"/>
          </p:cNvSpPr>
          <p:nvPr/>
        </p:nvSpPr>
        <p:spPr bwMode="auto">
          <a:xfrm>
            <a:off x="206375" y="819150"/>
            <a:ext cx="342106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只读代码段地址的特点：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0x8048xxx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栈区地址特点：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0xbfffxxxx</a:t>
            </a:r>
          </a:p>
        </p:txBody>
      </p:sp>
      <p:sp>
        <p:nvSpPr>
          <p:cNvPr id="846897" name="Line 49"/>
          <p:cNvSpPr>
            <a:spLocks noChangeShapeType="1"/>
          </p:cNvSpPr>
          <p:nvPr/>
        </p:nvSpPr>
        <p:spPr bwMode="auto">
          <a:xfrm flipV="1">
            <a:off x="1871663" y="1538288"/>
            <a:ext cx="3149600" cy="5413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6898" name="Line 50"/>
          <p:cNvSpPr>
            <a:spLocks noChangeShapeType="1"/>
          </p:cNvSpPr>
          <p:nvPr/>
        </p:nvSpPr>
        <p:spPr bwMode="auto">
          <a:xfrm>
            <a:off x="1871663" y="1449388"/>
            <a:ext cx="3014662" cy="43195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6901" name="Rectangle 53"/>
          <p:cNvSpPr>
            <a:spLocks noChangeArrowheads="1"/>
          </p:cNvSpPr>
          <p:nvPr/>
        </p:nvSpPr>
        <p:spPr bwMode="auto">
          <a:xfrm>
            <a:off x="1736725" y="3924300"/>
            <a:ext cx="1530350" cy="36036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6902" name="Text Box 54"/>
          <p:cNvSpPr txBox="1">
            <a:spLocks noChangeArrowheads="1"/>
          </p:cNvSpPr>
          <p:nvPr/>
        </p:nvSpPr>
        <p:spPr bwMode="auto">
          <a:xfrm>
            <a:off x="3176588" y="2619375"/>
            <a:ext cx="17097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常数</a:t>
            </a:r>
            <a:r>
              <a:rPr lang="en-US" altLang="zh-CN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3.14</a:t>
            </a:r>
            <a:r>
              <a:rPr lang="zh-CN" altLang="en-US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存放在只读数据区</a:t>
            </a:r>
          </a:p>
        </p:txBody>
      </p:sp>
    </p:spTree>
    <p:extLst>
      <p:ext uri="{BB962C8B-B14F-4D97-AF65-F5344CB8AC3E}">
        <p14:creationId xmlns:p14="http://schemas.microsoft.com/office/powerpoint/2010/main" val="22828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4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4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4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4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4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6896" grpId="0"/>
      <p:bldP spid="846901" grpId="0" animBg="1"/>
      <p:bldP spid="84690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600"/>
              <a:t>非静态局部变量的存储分配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84F113-0DF0-41D2-B47F-6B2F2C7B6A0A}"/>
              </a:ext>
            </a:extLst>
          </p:cNvPr>
          <p:cNvSpPr/>
          <p:nvPr/>
        </p:nvSpPr>
        <p:spPr>
          <a:xfrm>
            <a:off x="376238" y="985838"/>
            <a:ext cx="8391525" cy="49371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ts val="3200"/>
              </a:lnSpc>
              <a:spcBef>
                <a:spcPts val="600"/>
              </a:spcBef>
              <a:defRPr/>
            </a:pPr>
            <a:r>
              <a:rPr lang="zh-CN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非静态局部变量占用的空间分配在本过程的栈帧中</a:t>
            </a: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32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/>
              <a:t>C</a:t>
            </a:r>
            <a:r>
              <a:rPr lang="zh-CN" altLang="zh-CN" sz="2400" dirty="0"/>
              <a:t>标准中</a:t>
            </a:r>
            <a:r>
              <a:rPr lang="zh-CN" altLang="en-US" sz="2400" dirty="0"/>
              <a:t>，</a:t>
            </a:r>
            <a:r>
              <a:rPr lang="zh-CN" altLang="zh-CN" sz="2400" dirty="0"/>
              <a:t>没有规定必须按顺序分配</a:t>
            </a:r>
            <a:r>
              <a:rPr lang="zh-CN" altLang="en-US" sz="2400" dirty="0"/>
              <a:t>，</a:t>
            </a:r>
            <a:r>
              <a:rPr lang="zh-CN" altLang="zh-CN" sz="2400" dirty="0"/>
              <a:t>不同的编译器有不同的处理方式。</a:t>
            </a:r>
            <a:endParaRPr lang="en-US" altLang="zh-CN" sz="2400" dirty="0"/>
          </a:p>
          <a:p>
            <a:pPr marL="342900" indent="-342900" algn="just">
              <a:lnSpc>
                <a:spcPts val="32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/>
              <a:t>C</a:t>
            </a:r>
            <a:r>
              <a:rPr lang="zh-CN" altLang="en-US" sz="2400" dirty="0"/>
              <a:t>标准明确指出，对不同变量的地址进行除</a:t>
            </a:r>
            <a:r>
              <a:rPr lang="en-US" altLang="zh-CN" sz="2400" dirty="0"/>
              <a:t>==</a:t>
            </a:r>
            <a:r>
              <a:rPr lang="zh-CN" altLang="en-US" sz="2400" dirty="0"/>
              <a:t>和</a:t>
            </a:r>
            <a:r>
              <a:rPr lang="en-US" altLang="zh-CN" sz="2400" dirty="0"/>
              <a:t>!=</a:t>
            </a:r>
            <a:r>
              <a:rPr lang="zh-CN" altLang="en-US" sz="2400" dirty="0"/>
              <a:t>之外的关系运算，都属未定义行为</a:t>
            </a:r>
            <a:r>
              <a:rPr lang="zh-CN" altLang="zh-CN" sz="2400" dirty="0"/>
              <a:t>（</a:t>
            </a:r>
            <a:r>
              <a:rPr lang="en-US" altLang="zh-CN" sz="2400" dirty="0"/>
              <a:t>undefined behavior</a:t>
            </a:r>
            <a:r>
              <a:rPr lang="zh-CN" altLang="zh-CN" sz="2400" dirty="0"/>
              <a:t>）</a:t>
            </a:r>
            <a:endParaRPr lang="en-US" altLang="zh-CN" sz="2400" dirty="0"/>
          </a:p>
          <a:p>
            <a:pPr lvl="1" algn="just">
              <a:lnSpc>
                <a:spcPts val="3200"/>
              </a:lnSpc>
              <a:spcBef>
                <a:spcPts val="1200"/>
              </a:spcBef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如，语句“</a:t>
            </a:r>
            <a:r>
              <a:rPr lang="en-US" altLang="zh-CN" sz="2400" dirty="0">
                <a:solidFill>
                  <a:srgbClr val="0000FF"/>
                </a:solidFill>
              </a:rPr>
              <a:t>if (&amp;var1 &lt; &amp;var2) {...};”</a:t>
            </a:r>
            <a:r>
              <a:rPr lang="zh-CN" altLang="en-US" sz="2400" dirty="0">
                <a:solidFill>
                  <a:srgbClr val="0000FF"/>
                </a:solidFill>
              </a:rPr>
              <a:t>属于未定义行为</a:t>
            </a:r>
            <a:endParaRPr lang="zh-CN" altLang="zh-CN" sz="2400" dirty="0"/>
          </a:p>
          <a:p>
            <a:pPr marL="342900" indent="-342900">
              <a:lnSpc>
                <a:spcPts val="32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zh-CN" sz="2400" dirty="0">
                <a:cs typeface="Times New Roman" panose="02020603050405020304" pitchFamily="18" charset="0"/>
              </a:rPr>
              <a:t>编译优化的情况下，会把属于简单数据类型变量分配在通用寄存器中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342900" indent="-342900">
              <a:lnSpc>
                <a:spcPts val="32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zh-CN" sz="2400" dirty="0">
                <a:cs typeface="Times New Roman" panose="02020603050405020304" pitchFamily="18" charset="0"/>
              </a:rPr>
              <a:t>对于复杂数据类型变量，如数组、结构和联合等数据类型变量，一定会分配在栈帧中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8949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以下有关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语言程序的变量的作用域和生存期的叙述中，错误的是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静态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static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型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变量和非静态局部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(auto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型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变量都分配在对应栈帧中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因为非静态局部变量被分配在栈中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所以其作用域仅在过程体内</a:t>
            </a: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非静态局部变量可以和全局变量同名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是因为它们被分配在不同存储区</a:t>
            </a: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不同过程中的非静态局部变量可以同名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是因为它们被分配在不同栈帧中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17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en-US" altLang="zh-CN" sz="3600" dirty="0"/>
              <a:t>Linux</a:t>
            </a:r>
            <a:r>
              <a:rPr lang="zh-CN" altLang="en-US" sz="3600" dirty="0"/>
              <a:t>中的存储映像</a:t>
            </a:r>
          </a:p>
        </p:txBody>
      </p:sp>
      <p:sp>
        <p:nvSpPr>
          <p:cNvPr id="98307" name="Text Box 5"/>
          <p:cNvSpPr txBox="1">
            <a:spLocks noChangeArrowheads="1"/>
          </p:cNvSpPr>
          <p:nvPr/>
        </p:nvSpPr>
        <p:spPr bwMode="auto">
          <a:xfrm>
            <a:off x="457200" y="954088"/>
            <a:ext cx="81200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说明了什么？注意：每个存储区地址的特征！</a:t>
            </a:r>
          </a:p>
        </p:txBody>
      </p:sp>
      <p:sp>
        <p:nvSpPr>
          <p:cNvPr id="98308" name="Text Box 7"/>
          <p:cNvSpPr txBox="1">
            <a:spLocks noChangeArrowheads="1"/>
          </p:cNvSpPr>
          <p:nvPr/>
        </p:nvSpPr>
        <p:spPr bwMode="auto">
          <a:xfrm>
            <a:off x="7272338" y="2863850"/>
            <a:ext cx="1709737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参数的地址总比局部变量的地址大！因为栈的生长方向：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高地址→低地址</a:t>
            </a:r>
          </a:p>
        </p:txBody>
      </p:sp>
      <p:sp>
        <p:nvSpPr>
          <p:cNvPr id="98309" name="Text Box 9"/>
          <p:cNvSpPr txBox="1">
            <a:spLocks noChangeArrowheads="1"/>
          </p:cNvSpPr>
          <p:nvPr/>
        </p:nvSpPr>
        <p:spPr bwMode="auto">
          <a:xfrm>
            <a:off x="6578600" y="1552575"/>
            <a:ext cx="2319338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局部变量和参数都存放在：</a:t>
            </a:r>
            <a:r>
              <a:rPr lang="zh-CN" altLang="en-US" sz="18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栈区</a:t>
            </a:r>
          </a:p>
        </p:txBody>
      </p:sp>
      <p:pic>
        <p:nvPicPr>
          <p:cNvPr id="98311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81" y="1552575"/>
            <a:ext cx="5608638" cy="484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4436986" y="2246312"/>
            <a:ext cx="1890210" cy="4243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310" name="文本框 4"/>
          <p:cNvSpPr txBox="1">
            <a:spLocks noChangeArrowheads="1"/>
          </p:cNvSpPr>
          <p:nvPr/>
        </p:nvSpPr>
        <p:spPr bwMode="auto">
          <a:xfrm>
            <a:off x="6003925" y="2520950"/>
            <a:ext cx="900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314" name="Text Box 9"/>
          <p:cNvSpPr txBox="1">
            <a:spLocks noChangeArrowheads="1"/>
          </p:cNvSpPr>
          <p:nvPr/>
        </p:nvSpPr>
        <p:spPr bwMode="auto">
          <a:xfrm>
            <a:off x="6192838" y="5092700"/>
            <a:ext cx="2339975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总是最右边参数的地址最大，因为参数入栈顺序为：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右→左</a:t>
            </a:r>
            <a:endParaRPr lang="zh-CN" altLang="en-US" sz="1800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119" y="3010116"/>
            <a:ext cx="1501757" cy="169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5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8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8" grpId="0"/>
      <p:bldP spid="98309" grpId="0"/>
      <p:bldP spid="983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en-US" altLang="zh-CN" sz="3600" dirty="0"/>
              <a:t>Linux</a:t>
            </a:r>
            <a:r>
              <a:rPr lang="zh-CN" altLang="en-US" sz="3600" dirty="0"/>
              <a:t>中的存储映像</a:t>
            </a:r>
          </a:p>
        </p:txBody>
      </p:sp>
      <p:sp>
        <p:nvSpPr>
          <p:cNvPr id="101379" name="Text Box 5"/>
          <p:cNvSpPr txBox="1">
            <a:spLocks noChangeArrowheads="1"/>
          </p:cNvSpPr>
          <p:nvPr/>
        </p:nvSpPr>
        <p:spPr bwMode="auto">
          <a:xfrm>
            <a:off x="457200" y="954088"/>
            <a:ext cx="81200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说明了什么？注意：每个存储区地址的特征！</a:t>
            </a:r>
          </a:p>
        </p:txBody>
      </p:sp>
      <p:grpSp>
        <p:nvGrpSpPr>
          <p:cNvPr id="843786" name="Group 10"/>
          <p:cNvGrpSpPr>
            <a:grpSpLocks/>
          </p:cNvGrpSpPr>
          <p:nvPr/>
        </p:nvGrpSpPr>
        <p:grpSpPr bwMode="auto">
          <a:xfrm>
            <a:off x="7318375" y="3744913"/>
            <a:ext cx="1709738" cy="2160587"/>
            <a:chOff x="3759" y="2500"/>
            <a:chExt cx="1077" cy="1361"/>
          </a:xfrm>
        </p:grpSpPr>
        <p:sp>
          <p:nvSpPr>
            <p:cNvPr id="101388" name="AutoShape 6"/>
            <p:cNvSpPr>
              <a:spLocks/>
            </p:cNvSpPr>
            <p:nvPr/>
          </p:nvSpPr>
          <p:spPr bwMode="auto">
            <a:xfrm>
              <a:off x="3816" y="2500"/>
              <a:ext cx="170" cy="1361"/>
            </a:xfrm>
            <a:prstGeom prst="rightBrace">
              <a:avLst>
                <a:gd name="adj1" fmla="val 6671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389" name="Text Box 7"/>
            <p:cNvSpPr txBox="1">
              <a:spLocks noChangeArrowheads="1"/>
            </p:cNvSpPr>
            <p:nvPr/>
          </p:nvSpPr>
          <p:spPr bwMode="auto">
            <a:xfrm>
              <a:off x="3759" y="2745"/>
              <a:ext cx="1077" cy="1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全局变量和静态变量连续存放在同一个存储区：</a:t>
              </a:r>
              <a:r>
                <a:rPr lang="zh-CN" altLang="en-US" sz="180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可读写数据区</a:t>
              </a:r>
            </a:p>
          </p:txBody>
        </p:sp>
      </p:grpSp>
      <p:grpSp>
        <p:nvGrpSpPr>
          <p:cNvPr id="843787" name="Group 11"/>
          <p:cNvGrpSpPr>
            <a:grpSpLocks/>
          </p:cNvGrpSpPr>
          <p:nvPr/>
        </p:nvGrpSpPr>
        <p:grpSpPr bwMode="auto">
          <a:xfrm>
            <a:off x="7383463" y="2341563"/>
            <a:ext cx="1639887" cy="1230312"/>
            <a:chOff x="3743" y="1616"/>
            <a:chExt cx="1033" cy="775"/>
          </a:xfrm>
        </p:grpSpPr>
        <p:sp>
          <p:nvSpPr>
            <p:cNvPr id="101386" name="AutoShape 8"/>
            <p:cNvSpPr>
              <a:spLocks/>
            </p:cNvSpPr>
            <p:nvPr/>
          </p:nvSpPr>
          <p:spPr bwMode="auto">
            <a:xfrm>
              <a:off x="3759" y="1706"/>
              <a:ext cx="198" cy="595"/>
            </a:xfrm>
            <a:prstGeom prst="rightBrace">
              <a:avLst>
                <a:gd name="adj1" fmla="val 2504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387" name="Text Box 9"/>
            <p:cNvSpPr txBox="1">
              <a:spLocks noChangeArrowheads="1"/>
            </p:cNvSpPr>
            <p:nvPr/>
          </p:nvSpPr>
          <p:spPr bwMode="auto">
            <a:xfrm>
              <a:off x="3743" y="1616"/>
              <a:ext cx="1033" cy="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局部变量存放在另一个存储区：</a:t>
              </a:r>
              <a:r>
                <a:rPr lang="zh-CN" altLang="en-US" sz="180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栈区</a:t>
              </a:r>
            </a:p>
          </p:txBody>
        </p:sp>
      </p:grpSp>
      <p:pic>
        <p:nvPicPr>
          <p:cNvPr id="101382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1763713"/>
            <a:ext cx="5738812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4" name="文本框 4"/>
          <p:cNvSpPr txBox="1">
            <a:spLocks noChangeArrowheads="1"/>
          </p:cNvSpPr>
          <p:nvPr/>
        </p:nvSpPr>
        <p:spPr bwMode="auto">
          <a:xfrm>
            <a:off x="6197600" y="2033588"/>
            <a:ext cx="900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36986" y="1898830"/>
            <a:ext cx="1373264" cy="4590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85" y="2753924"/>
            <a:ext cx="1634339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5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4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89000" y="1484784"/>
            <a:ext cx="7340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457200" lvl="0" indent="-4572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以下是一个</a:t>
            </a:r>
            <a:r>
              <a:rPr lang="en-US" altLang="zh-CN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语言程序代码，以下说法错误的是：</a:t>
            </a:r>
          </a:p>
          <a:p>
            <a:pPr marL="838200" lvl="1" indent="-381000"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 err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add(</a:t>
            </a:r>
            <a:r>
              <a:rPr lang="en-US" altLang="zh-CN" sz="2000" b="1" kern="0" dirty="0" err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x, </a:t>
            </a:r>
            <a:r>
              <a:rPr lang="en-US" altLang="zh-CN" sz="2000" b="1" kern="0" dirty="0" err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y) </a:t>
            </a:r>
          </a:p>
          <a:p>
            <a:pPr marL="838200" lvl="1" indent="-3810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marL="838200" lvl="1" indent="-3810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return </a:t>
            </a:r>
            <a:r>
              <a:rPr lang="en-US" altLang="zh-CN" sz="2000" b="1" kern="0" dirty="0" err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x+y</a:t>
            </a: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838200" lvl="1" indent="-3810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838200" lvl="1" indent="-3810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9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200" lvl="1" indent="-3810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 err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caller( ) </a:t>
            </a:r>
          </a:p>
          <a:p>
            <a:pPr marL="838200" lvl="1" indent="-3810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marL="838200" lvl="1" indent="-3810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b="1" kern="0" dirty="0" err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t1=100 ;</a:t>
            </a:r>
          </a:p>
          <a:p>
            <a:pPr marL="838200" lvl="1" indent="-3810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b="1" kern="0" dirty="0" err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t2=200;</a:t>
            </a:r>
          </a:p>
          <a:p>
            <a:pPr marL="838200" lvl="1" indent="-3810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 b="1" kern="0" dirty="0" err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sum=add(t1, t2);</a:t>
            </a:r>
          </a:p>
          <a:p>
            <a:pPr marL="838200" lvl="1" indent="-3810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return sum;</a:t>
            </a:r>
          </a:p>
          <a:p>
            <a:pPr marL="838200" lvl="1" indent="-3810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429823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被分配在寄存器或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caller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函数的栈帧中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494630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457200" indent="-457200">
              <a:lnSpc>
                <a:spcPct val="105000"/>
              </a:lnSpc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传递参数时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的值从高地址到低地址依次存入栈中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558924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457200" indent="-457200">
              <a:lnSpc>
                <a:spcPct val="105000"/>
              </a:lnSpc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入口参数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的值被分配在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函数的栈帧中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619271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457200" indent="-457200">
              <a:lnSpc>
                <a:spcPct val="105000"/>
              </a:lnSpc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函数返回时返回值存放在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寄存器中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436252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501059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65353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625701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308304" y="6264036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438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600"/>
              <a:t>有关</a:t>
            </a:r>
            <a:r>
              <a:rPr lang="zh-CN" altLang="en-US" sz="3600">
                <a:latin typeface="黑体" panose="02010609060101010101" pitchFamily="49" charset="-122"/>
              </a:rPr>
              <a:t>“</a:t>
            </a:r>
            <a:r>
              <a:rPr lang="zh-CN" altLang="en-US" sz="3600"/>
              <a:t>过程调用</a:t>
            </a:r>
            <a:r>
              <a:rPr lang="zh-CN" altLang="en-US" sz="3600">
                <a:latin typeface="黑体" panose="02010609060101010101" pitchFamily="49" charset="-122"/>
              </a:rPr>
              <a:t>”</a:t>
            </a:r>
            <a:r>
              <a:rPr lang="zh-CN" altLang="en-US" sz="3600"/>
              <a:t>的讨论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819150"/>
            <a:ext cx="8229600" cy="5218113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Tx/>
              <a:buNone/>
            </a:pPr>
            <a:r>
              <a:rPr lang="zh-CN" altLang="en-US"/>
              <a:t>    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为什么以下程序输出结果是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x=-1217400844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而不是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x=100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？在你的机器上执行结果是什么？每次执行结果都一样吗？</a:t>
            </a:r>
            <a:r>
              <a:rPr lang="zh-CN" altLang="en-US" sz="22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反汇编后的机器级代码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如何支持你的分析？</a:t>
            </a:r>
          </a:p>
          <a:p>
            <a:pPr marL="457200" indent="-457200">
              <a:lnSpc>
                <a:spcPct val="100000"/>
              </a:lnSpc>
              <a:buFontTx/>
              <a:buNone/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2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x=100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457200" indent="-457200">
              <a:lnSpc>
                <a:spcPct val="100000"/>
              </a:lnSpc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void main ( )</a:t>
            </a:r>
          </a:p>
          <a:p>
            <a:pPr marL="457200" indent="-457200">
              <a:lnSpc>
                <a:spcPct val="100000"/>
              </a:lnSpc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{	</a:t>
            </a:r>
            <a:r>
              <a:rPr lang="en-US" altLang="zh-CN" sz="22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x;</a:t>
            </a:r>
          </a:p>
          <a:p>
            <a:pPr marL="457200" indent="-457200">
              <a:lnSpc>
                <a:spcPct val="100000"/>
              </a:lnSpc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printf(“x=%d\n”, x)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457200" indent="-457200">
              <a:lnSpc>
                <a:spcPct val="100000"/>
              </a:lnSpc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08020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81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719263"/>
            <a:ext cx="8596313" cy="499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8181" name="Line 5"/>
          <p:cNvSpPr>
            <a:spLocks noChangeShapeType="1"/>
          </p:cNvSpPr>
          <p:nvPr/>
        </p:nvSpPr>
        <p:spPr bwMode="auto">
          <a:xfrm>
            <a:off x="5337175" y="4418013"/>
            <a:ext cx="3014663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8182" name="Line 6"/>
          <p:cNvSpPr>
            <a:spLocks noChangeShapeType="1"/>
          </p:cNvSpPr>
          <p:nvPr/>
        </p:nvSpPr>
        <p:spPr bwMode="auto">
          <a:xfrm>
            <a:off x="5381625" y="4867275"/>
            <a:ext cx="3014663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8190" name="Rectangle 14"/>
          <p:cNvSpPr>
            <a:spLocks noChangeArrowheads="1"/>
          </p:cNvSpPr>
          <p:nvPr/>
        </p:nvSpPr>
        <p:spPr bwMode="auto">
          <a:xfrm>
            <a:off x="6281738" y="4868863"/>
            <a:ext cx="1350962" cy="450850"/>
          </a:xfrm>
          <a:prstGeom prst="rect">
            <a:avLst/>
          </a:prstGeom>
          <a:solidFill>
            <a:srgbClr val="800080">
              <a:alpha val="2901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8191" name="Line 15"/>
          <p:cNvSpPr>
            <a:spLocks noChangeShapeType="1"/>
          </p:cNvSpPr>
          <p:nvPr/>
        </p:nvSpPr>
        <p:spPr bwMode="auto">
          <a:xfrm>
            <a:off x="2727325" y="1314450"/>
            <a:ext cx="3554413" cy="3824288"/>
          </a:xfrm>
          <a:prstGeom prst="line">
            <a:avLst/>
          </a:prstGeom>
          <a:noFill/>
          <a:ln w="28575">
            <a:solidFill>
              <a:srgbClr val="00502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8192" name="Line 16"/>
          <p:cNvSpPr>
            <a:spLocks noChangeShapeType="1"/>
          </p:cNvSpPr>
          <p:nvPr/>
        </p:nvSpPr>
        <p:spPr bwMode="auto">
          <a:xfrm>
            <a:off x="3806825" y="1268413"/>
            <a:ext cx="2520950" cy="2881312"/>
          </a:xfrm>
          <a:prstGeom prst="line">
            <a:avLst/>
          </a:prstGeom>
          <a:noFill/>
          <a:ln w="28575">
            <a:solidFill>
              <a:srgbClr val="00502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72" name="Rectangle 19"/>
          <p:cNvSpPr>
            <a:spLocks noChangeArrowheads="1"/>
          </p:cNvSpPr>
          <p:nvPr/>
        </p:nvSpPr>
        <p:spPr bwMode="auto">
          <a:xfrm>
            <a:off x="250825" y="142875"/>
            <a:ext cx="4572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main ( 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	</a:t>
            </a:r>
            <a:r>
              <a:rPr lang="en-US" altLang="zh-CN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x;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printf(“x=%d\n”, x)</a:t>
            </a:r>
            <a:r>
              <a:rPr lang="zh-CN" altLang="en-US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818196" name="Text Box 20"/>
          <p:cNvSpPr txBox="1">
            <a:spLocks noChangeArrowheads="1"/>
          </p:cNvSpPr>
          <p:nvPr/>
        </p:nvSpPr>
        <p:spPr bwMode="auto">
          <a:xfrm>
            <a:off x="3986213" y="279400"/>
            <a:ext cx="477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字符串“</a:t>
            </a:r>
            <a:r>
              <a:rPr lang="en-US" altLang="zh-CN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x=%d\n”</a:t>
            </a:r>
            <a:r>
              <a:rPr lang="zh-CN" altLang="en-US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属于只读数据</a:t>
            </a:r>
          </a:p>
        </p:txBody>
      </p:sp>
    </p:spTree>
    <p:extLst>
      <p:ext uri="{BB962C8B-B14F-4D97-AF65-F5344CB8AC3E}">
        <p14:creationId xmlns:p14="http://schemas.microsoft.com/office/powerpoint/2010/main" val="151682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18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1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1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1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8190" grpId="0" animBg="1"/>
      <p:bldP spid="81819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6863" y="909638"/>
            <a:ext cx="8370887" cy="5580062"/>
          </a:xfrm>
          <a:solidFill>
            <a:schemeClr val="bg1"/>
          </a:solidFill>
        </p:spPr>
        <p:txBody>
          <a:bodyPr/>
          <a:lstStyle/>
          <a:p>
            <a:pPr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参考答案：</a:t>
            </a:r>
          </a:p>
          <a:p>
            <a:pPr>
              <a:spcBef>
                <a:spcPct val="45000"/>
              </a:spcBef>
              <a:buFontTx/>
              <a:buNone/>
            </a:pP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）程序中有两个变量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，一个是全局变量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，初值为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，另一个是局部变量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，没有赋初值。这里打印出来的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的值应该是局部变量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的值，局部变量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所占的空间是栈中的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个单元，栈中存储单元的内容不会进行初始化，除非局部变量赋初值，因而</a:t>
            </a:r>
            <a:r>
              <a:rPr lang="zh-CN" altLang="en-US" sz="22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局部变量</a:t>
            </a:r>
            <a:r>
              <a:rPr lang="en-US" altLang="zh-CN" sz="22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的值是一个随机数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（例如，我运行该程序两次得到的结果分别是 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x=-1217400844 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x=-1217273868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）。而全局变量所占空间的初值一定是确定的，要么是程序所赋予的初值，要么是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（未赋初值时）。</a:t>
            </a:r>
          </a:p>
          <a:p>
            <a:pPr>
              <a:spcBef>
                <a:spcPct val="45000"/>
              </a:spcBef>
              <a:buFontTx/>
              <a:buNone/>
            </a:pP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函数反汇编后的结果如下，这里局部变量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所占空间的首地址为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R[esp]+0x1c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，没有任何一条指令对该空间的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个字节赋值，而是直接将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个字节取出，作为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printf()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函数的参数，存入了首地址为</a:t>
            </a: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R[esp]+4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的空间。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931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600"/>
              <a:t>有关</a:t>
            </a:r>
            <a:r>
              <a:rPr lang="zh-CN" altLang="en-US" sz="3600">
                <a:latin typeface="黑体" panose="02010609060101010101" pitchFamily="49" charset="-122"/>
              </a:rPr>
              <a:t>“</a:t>
            </a:r>
            <a:r>
              <a:rPr lang="zh-CN" altLang="en-US" sz="3600"/>
              <a:t>过程调用</a:t>
            </a:r>
            <a:r>
              <a:rPr lang="zh-CN" altLang="en-US" sz="3600">
                <a:latin typeface="黑体" panose="02010609060101010101" pitchFamily="49" charset="-122"/>
              </a:rPr>
              <a:t>”</a:t>
            </a:r>
            <a:r>
              <a:rPr lang="zh-CN" altLang="en-US" sz="3600"/>
              <a:t>的讨论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819150"/>
            <a:ext cx="8229600" cy="5218113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Tx/>
              <a:buNone/>
            </a:pPr>
            <a:r>
              <a:rPr lang="zh-CN" altLang="en-US"/>
              <a:t>    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为什么以下程序输出结果是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x=-1217400844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而不是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x=100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？在你的机器上执行结果是什么？每次执行结果都一样吗？</a:t>
            </a:r>
            <a:r>
              <a:rPr lang="zh-CN" altLang="en-US" sz="22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反汇编后的机器级代码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如何支持你的分析？</a:t>
            </a:r>
          </a:p>
          <a:p>
            <a:pPr marL="457200" indent="-457200">
              <a:lnSpc>
                <a:spcPct val="100000"/>
              </a:lnSpc>
              <a:buFontTx/>
              <a:buNone/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2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x=100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457200" indent="-457200">
              <a:lnSpc>
                <a:spcPct val="100000"/>
              </a:lnSpc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void main ( )</a:t>
            </a:r>
          </a:p>
          <a:p>
            <a:pPr marL="457200" indent="-457200">
              <a:lnSpc>
                <a:spcPct val="100000"/>
              </a:lnSpc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{	</a:t>
            </a:r>
            <a:r>
              <a:rPr lang="en-US" altLang="zh-CN" sz="22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x;</a:t>
            </a:r>
          </a:p>
          <a:p>
            <a:pPr marL="457200" indent="-457200">
              <a:lnSpc>
                <a:spcPct val="100000"/>
              </a:lnSpc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printf(“x=%d\n”, x)</a:t>
            </a:r>
            <a:r>
              <a:rPr lang="zh-CN" altLang="en-US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457200" indent="-457200">
              <a:lnSpc>
                <a:spcPct val="100000"/>
              </a:lnSpc>
              <a:buFontTx/>
              <a:buNone/>
            </a:pPr>
            <a:r>
              <a:rPr lang="en-US" altLang="zh-CN" sz="22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</a:p>
        </p:txBody>
      </p:sp>
      <p:grpSp>
        <p:nvGrpSpPr>
          <p:cNvPr id="817161" name="Group 9"/>
          <p:cNvGrpSpPr>
            <a:grpSpLocks/>
          </p:cNvGrpSpPr>
          <p:nvPr/>
        </p:nvGrpSpPr>
        <p:grpSpPr bwMode="auto">
          <a:xfrm>
            <a:off x="179388" y="4508500"/>
            <a:ext cx="3852862" cy="2030413"/>
            <a:chOff x="113" y="2840"/>
            <a:chExt cx="2427" cy="1279"/>
          </a:xfrm>
        </p:grpSpPr>
        <p:sp>
          <p:nvSpPr>
            <p:cNvPr id="112649" name="Rectangle 5"/>
            <p:cNvSpPr>
              <a:spLocks noChangeArrowheads="1"/>
            </p:cNvSpPr>
            <p:nvPr/>
          </p:nvSpPr>
          <p:spPr bwMode="auto">
            <a:xfrm>
              <a:off x="113" y="2840"/>
              <a:ext cx="2427" cy="127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 x=100</a:t>
              </a:r>
              <a:r>
                <a:rPr lang="zh-CN" altLang="en-US" sz="22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；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void main ( 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	int x=10;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printf(“x=%d\n”, x)</a:t>
              </a:r>
              <a:r>
                <a:rPr lang="zh-CN" altLang="en-US" sz="22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；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</a:p>
          </p:txBody>
        </p:sp>
        <p:sp>
          <p:nvSpPr>
            <p:cNvPr id="112650" name="Line 6"/>
            <p:cNvSpPr>
              <a:spLocks noChangeShapeType="1"/>
            </p:cNvSpPr>
            <p:nvPr/>
          </p:nvSpPr>
          <p:spPr bwMode="auto">
            <a:xfrm>
              <a:off x="414" y="3606"/>
              <a:ext cx="765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7162" name="Group 10"/>
          <p:cNvGrpSpPr>
            <a:grpSpLocks/>
          </p:cNvGrpSpPr>
          <p:nvPr/>
        </p:nvGrpSpPr>
        <p:grpSpPr bwMode="auto">
          <a:xfrm>
            <a:off x="4572000" y="4508500"/>
            <a:ext cx="4321175" cy="2030413"/>
            <a:chOff x="2880" y="2840"/>
            <a:chExt cx="2722" cy="1279"/>
          </a:xfrm>
        </p:grpSpPr>
        <p:sp>
          <p:nvSpPr>
            <p:cNvPr id="112647" name="Rectangle 4"/>
            <p:cNvSpPr>
              <a:spLocks noChangeArrowheads="1"/>
            </p:cNvSpPr>
            <p:nvPr/>
          </p:nvSpPr>
          <p:spPr bwMode="auto">
            <a:xfrm>
              <a:off x="2880" y="2840"/>
              <a:ext cx="2722" cy="127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int x=100</a:t>
              </a:r>
              <a:r>
                <a:rPr lang="zh-CN" altLang="en-US" sz="2200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；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void main ( 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{	static int x;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	</a:t>
              </a:r>
              <a:r>
                <a:rPr lang="en-US" altLang="zh-CN" sz="2200" dirty="0" err="1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printf</a:t>
              </a:r>
              <a:r>
                <a:rPr lang="en-US" altLang="zh-CN" sz="2200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(“x=%d\n”, x)</a:t>
              </a:r>
              <a:r>
                <a:rPr lang="zh-CN" altLang="en-US" sz="2200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；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}</a:t>
              </a:r>
            </a:p>
          </p:txBody>
        </p:sp>
        <p:sp>
          <p:nvSpPr>
            <p:cNvPr id="112648" name="Line 7"/>
            <p:cNvSpPr>
              <a:spLocks noChangeShapeType="1"/>
            </p:cNvSpPr>
            <p:nvPr/>
          </p:nvSpPr>
          <p:spPr bwMode="auto">
            <a:xfrm>
              <a:off x="3475" y="3606"/>
              <a:ext cx="908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7160" name="Text Box 8"/>
          <p:cNvSpPr txBox="1">
            <a:spLocks noChangeArrowheads="1"/>
          </p:cNvSpPr>
          <p:nvPr/>
        </p:nvSpPr>
        <p:spPr bwMode="auto">
          <a:xfrm>
            <a:off x="4481513" y="3878263"/>
            <a:ext cx="3509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稍作修改后输出结果是什么？</a:t>
            </a:r>
          </a:p>
        </p:txBody>
      </p:sp>
    </p:spTree>
    <p:extLst>
      <p:ext uri="{BB962C8B-B14F-4D97-AF65-F5344CB8AC3E}">
        <p14:creationId xmlns:p14="http://schemas.microsoft.com/office/powerpoint/2010/main" val="295437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716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773113"/>
            <a:ext cx="7704137" cy="1306512"/>
          </a:xfrm>
        </p:spPr>
        <p:txBody>
          <a:bodyPr/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以下是网上的一个帖子，请将程序的可执行文件反汇编（基于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IA-32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），并对汇编代码进行分析以正确回答该贴中的问题。</a:t>
            </a:r>
          </a:p>
          <a:p>
            <a:pPr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该贴给出的结果是在</a:t>
            </a:r>
            <a:r>
              <a:rPr lang="en-US" altLang="zh-CN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还是</a:t>
            </a:r>
            <a:r>
              <a:rPr lang="en-US" altLang="zh-CN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上得到的？</a:t>
            </a:r>
          </a:p>
        </p:txBody>
      </p:sp>
      <p:sp>
        <p:nvSpPr>
          <p:cNvPr id="115715" name="Rectangle 5"/>
          <p:cNvSpPr>
            <a:spLocks noChangeArrowheads="1"/>
          </p:cNvSpPr>
          <p:nvPr/>
        </p:nvSpPr>
        <p:spPr bwMode="auto">
          <a:xfrm>
            <a:off x="431800" y="5397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CC3300"/>
                </a:solidFill>
                <a:ea typeface="黑体" panose="02010609060101010101" pitchFamily="49" charset="-122"/>
              </a:rPr>
              <a:t>有关</a:t>
            </a:r>
            <a:r>
              <a:rPr lang="zh-CN" altLang="en-US" sz="36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3600">
                <a:solidFill>
                  <a:srgbClr val="CC3300"/>
                </a:solidFill>
                <a:ea typeface="黑体" panose="02010609060101010101" pitchFamily="49" charset="-122"/>
              </a:rPr>
              <a:t>过程调用</a:t>
            </a:r>
            <a:r>
              <a:rPr lang="zh-CN" altLang="en-US" sz="360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3600">
                <a:solidFill>
                  <a:srgbClr val="CC3300"/>
                </a:solidFill>
                <a:ea typeface="黑体" panose="02010609060101010101" pitchFamily="49" charset="-122"/>
              </a:rPr>
              <a:t>的讨论</a:t>
            </a:r>
          </a:p>
        </p:txBody>
      </p:sp>
      <p:pic>
        <p:nvPicPr>
          <p:cNvPr id="11571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168525"/>
            <a:ext cx="8507413" cy="443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7" name="Text Box 7"/>
          <p:cNvSpPr txBox="1">
            <a:spLocks noChangeArrowheads="1"/>
          </p:cNvSpPr>
          <p:nvPr/>
        </p:nvSpPr>
        <p:spPr bwMode="auto">
          <a:xfrm>
            <a:off x="7767638" y="1493838"/>
            <a:ext cx="900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noaction"/>
              </a:rPr>
              <a:t>SKIP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739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561975"/>
          </a:xfrm>
        </p:spPr>
        <p:txBody>
          <a:bodyPr/>
          <a:lstStyle/>
          <a:p>
            <a:r>
              <a:rPr lang="zh-CN" altLang="en-US" sz="3200"/>
              <a:t>有关</a:t>
            </a:r>
            <a:r>
              <a:rPr lang="zh-CN" altLang="en-US" sz="3200">
                <a:latin typeface="黑体" panose="02010609060101010101" pitchFamily="49" charset="-122"/>
              </a:rPr>
              <a:t>“</a:t>
            </a:r>
            <a:r>
              <a:rPr lang="zh-CN" altLang="en-US" sz="3200"/>
              <a:t>过程调用</a:t>
            </a:r>
            <a:r>
              <a:rPr lang="zh-CN" altLang="en-US" sz="3200">
                <a:latin typeface="黑体" panose="02010609060101010101" pitchFamily="49" charset="-122"/>
              </a:rPr>
              <a:t>”</a:t>
            </a:r>
            <a:r>
              <a:rPr lang="zh-CN" altLang="en-US" sz="3200"/>
              <a:t>的讨论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819150"/>
            <a:ext cx="8229600" cy="5218113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系统中反汇编结果：</a:t>
            </a:r>
            <a:r>
              <a:rPr lang="zh-CN" altLang="en-US"/>
              <a:t> </a:t>
            </a:r>
          </a:p>
        </p:txBody>
      </p:sp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1449388"/>
            <a:ext cx="8235950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20232" name="Group 8"/>
          <p:cNvGrpSpPr>
            <a:grpSpLocks/>
          </p:cNvGrpSpPr>
          <p:nvPr/>
        </p:nvGrpSpPr>
        <p:grpSpPr bwMode="auto">
          <a:xfrm>
            <a:off x="71438" y="1898650"/>
            <a:ext cx="3960812" cy="3690938"/>
            <a:chOff x="28" y="1395"/>
            <a:chExt cx="2682" cy="2749"/>
          </a:xfrm>
        </p:grpSpPr>
        <p:pic>
          <p:nvPicPr>
            <p:cNvPr id="116750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" y="1395"/>
              <a:ext cx="2580" cy="2722"/>
            </a:xfrm>
            <a:prstGeom prst="rect">
              <a:avLst/>
            </a:prstGeom>
            <a:solidFill>
              <a:schemeClr val="bg1">
                <a:alpha val="27843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751" name="Rectangle 7"/>
            <p:cNvSpPr>
              <a:spLocks noChangeArrowheads="1"/>
            </p:cNvSpPr>
            <p:nvPr/>
          </p:nvSpPr>
          <p:spPr bwMode="auto">
            <a:xfrm>
              <a:off x="28" y="1423"/>
              <a:ext cx="2682" cy="2721"/>
            </a:xfrm>
            <a:prstGeom prst="rect">
              <a:avLst/>
            </a:prstGeom>
            <a:solidFill>
              <a:schemeClr val="folHlink">
                <a:alpha val="30196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20240" name="Group 16"/>
          <p:cNvGrpSpPr>
            <a:grpSpLocks/>
          </p:cNvGrpSpPr>
          <p:nvPr/>
        </p:nvGrpSpPr>
        <p:grpSpPr bwMode="auto">
          <a:xfrm>
            <a:off x="3627438" y="3608388"/>
            <a:ext cx="1349375" cy="676275"/>
            <a:chOff x="2370" y="2273"/>
            <a:chExt cx="850" cy="510"/>
          </a:xfrm>
        </p:grpSpPr>
        <p:sp>
          <p:nvSpPr>
            <p:cNvPr id="116748" name="AutoShape 10"/>
            <p:cNvSpPr>
              <a:spLocks/>
            </p:cNvSpPr>
            <p:nvPr/>
          </p:nvSpPr>
          <p:spPr bwMode="auto">
            <a:xfrm>
              <a:off x="2370" y="2273"/>
              <a:ext cx="107" cy="510"/>
            </a:xfrm>
            <a:prstGeom prst="rightBrace">
              <a:avLst>
                <a:gd name="adj1" fmla="val 39720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749" name="Line 11"/>
            <p:cNvSpPr>
              <a:spLocks noChangeShapeType="1"/>
            </p:cNvSpPr>
            <p:nvPr/>
          </p:nvSpPr>
          <p:spPr bwMode="auto">
            <a:xfrm flipH="1" flipV="1">
              <a:off x="2483" y="2557"/>
              <a:ext cx="737" cy="8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0237" name="Line 13"/>
          <p:cNvSpPr>
            <a:spLocks noChangeShapeType="1"/>
          </p:cNvSpPr>
          <p:nvPr/>
        </p:nvSpPr>
        <p:spPr bwMode="auto">
          <a:xfrm flipH="1">
            <a:off x="3716338" y="4598988"/>
            <a:ext cx="1395412" cy="1793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39" name="Text Box 15"/>
          <p:cNvSpPr txBox="1">
            <a:spLocks noChangeArrowheads="1"/>
          </p:cNvSpPr>
          <p:nvPr/>
        </p:nvSpPr>
        <p:spPr bwMode="auto">
          <a:xfrm>
            <a:off x="7046913" y="3114675"/>
            <a:ext cx="18637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打印出来的是一个负数</a:t>
            </a:r>
          </a:p>
        </p:txBody>
      </p:sp>
      <p:sp>
        <p:nvSpPr>
          <p:cNvPr id="820241" name="Text Box 17"/>
          <p:cNvSpPr txBox="1">
            <a:spLocks noChangeArrowheads="1"/>
          </p:cNvSpPr>
          <p:nvPr/>
        </p:nvSpPr>
        <p:spPr bwMode="auto">
          <a:xfrm>
            <a:off x="5651500" y="638175"/>
            <a:ext cx="3060700" cy="1006475"/>
          </a:xfrm>
          <a:prstGeom prst="rect">
            <a:avLst/>
          </a:prstGeom>
          <a:solidFill>
            <a:srgbClr val="800080">
              <a:alpha val="2509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76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>
                <a:solidFill>
                  <a:srgbClr val="0076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下结果如何？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76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p: 0x0012ffxx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76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 0xa</a:t>
            </a:r>
          </a:p>
        </p:txBody>
      </p:sp>
      <p:sp>
        <p:nvSpPr>
          <p:cNvPr id="820242" name="Text Box 18"/>
          <p:cNvSpPr txBox="1">
            <a:spLocks noChangeArrowheads="1"/>
          </p:cNvSpPr>
          <p:nvPr/>
        </p:nvSpPr>
        <p:spPr bwMode="auto">
          <a:xfrm>
            <a:off x="7280275" y="1584325"/>
            <a:ext cx="1701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打印出来的是</a:t>
            </a:r>
            <a:r>
              <a:rPr lang="en-US" altLang="zh-CN" sz="20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0!</a:t>
            </a:r>
          </a:p>
        </p:txBody>
      </p:sp>
      <p:sp>
        <p:nvSpPr>
          <p:cNvPr id="116747" name="Text Box 19"/>
          <p:cNvSpPr txBox="1">
            <a:spLocks noChangeArrowheads="1"/>
          </p:cNvSpPr>
          <p:nvPr/>
        </p:nvSpPr>
        <p:spPr bwMode="auto">
          <a:xfrm>
            <a:off x="7721600" y="5094288"/>
            <a:ext cx="10366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previousslide"/>
              </a:rPr>
              <a:t>BACK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431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0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2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39" grpId="0"/>
      <p:bldP spid="820241" grpId="0" animBg="1"/>
      <p:bldP spid="82024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561975"/>
          </a:xfrm>
        </p:spPr>
        <p:txBody>
          <a:bodyPr/>
          <a:lstStyle/>
          <a:p>
            <a:r>
              <a:rPr lang="zh-CN" altLang="en-US" sz="3200"/>
              <a:t>有关</a:t>
            </a:r>
            <a:r>
              <a:rPr lang="zh-CN" altLang="en-US" sz="3200">
                <a:latin typeface="黑体" panose="02010609060101010101" pitchFamily="49" charset="-122"/>
              </a:rPr>
              <a:t>“</a:t>
            </a:r>
            <a:r>
              <a:rPr lang="zh-CN" altLang="en-US" sz="3200"/>
              <a:t>过程调用</a:t>
            </a:r>
            <a:r>
              <a:rPr lang="zh-CN" altLang="en-US" sz="3200">
                <a:latin typeface="黑体" panose="02010609060101010101" pitchFamily="49" charset="-122"/>
              </a:rPr>
              <a:t>”</a:t>
            </a:r>
            <a:r>
              <a:rPr lang="zh-CN" altLang="en-US" sz="3200"/>
              <a:t>的讨论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773113"/>
            <a:ext cx="8686800" cy="608488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从上述代码可以看出，对于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double *p=(double *)&amp;a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，只是把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的地址直接传送到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所存放的空间，然后把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中的内容，也就是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的地址送到了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中，随后用指令“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fldl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(%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)”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的地址处开始的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个字节的机器数（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xx…x0000000AH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）直接加载到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ST(0)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中，其中前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xx…x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]+0x2c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系统中它应该是一个很大的数，如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BFFF…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，然后再用指令“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fstpl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0x4(%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)”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ST(0)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中的内容（即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xx…x0000000AH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）作为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函数的参数送到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]+4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的位置，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(“%lf\n”,*p)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函数将其作为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double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类型（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%lf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）的数打印出来。显然，这个打印的值不会是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10.000000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，而是一个负数。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两种系统所设置的栈底所在地址不同，所以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寄存器中的内容不同，因而打印出来的值也肯定不同。通常，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中栈底在靠近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C0000000H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的位置，而在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中栈的大致位置是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0012FFxxH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。因此，可以判断出题目中给出的结果应该是在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中执行的结果，打印的值应该是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0012 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FFxx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0000 000AH 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double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类型的值，对应为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+1.0010….1010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700" baseline="30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-1022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，显然都是接近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的值，正如题目中程序注释所示，结果为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0.000000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(“%lf\n, (double)a) 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函数，使用的指令为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fildl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，该指令先将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sz="17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型变量（值为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）等值转换为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double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类型，再加载到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ST(0)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中。这样再作为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double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类型（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%lf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）的数打印时，打印的值就是</a:t>
            </a:r>
            <a:r>
              <a:rPr lang="en-US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10.000000</a:t>
            </a:r>
            <a:r>
              <a:rPr lang="zh-CN" altLang="en-US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229185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3816424"/>
          </a:xfrm>
        </p:spPr>
        <p:txBody>
          <a:bodyPr>
            <a:normAutofit lnSpcReduction="10000"/>
          </a:bodyPr>
          <a:lstStyle/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过程调用的机器级表示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递归调用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过程调用举例</a:t>
            </a:r>
            <a:endParaRPr lang="en-US" altLang="zh-CN" dirty="0"/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选择结构的机器级</a:t>
            </a:r>
            <a:r>
              <a:rPr lang="zh-CN" altLang="en-US" dirty="0" smtClean="0">
                <a:solidFill>
                  <a:srgbClr val="FF0000"/>
                </a:solidFill>
              </a:rPr>
              <a:t>表示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循环结构的机器级表示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93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600"/>
              <a:t>选择结构的机器级表示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819150"/>
            <a:ext cx="8229600" cy="1123950"/>
          </a:xfrm>
        </p:spPr>
        <p:txBody>
          <a:bodyPr/>
          <a:lstStyle/>
          <a:p>
            <a:r>
              <a:rPr lang="zh-CN" altLang="en-US"/>
              <a:t> </a:t>
            </a:r>
            <a:r>
              <a:rPr lang="en-US" altLang="zh-CN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~ else</a:t>
            </a:r>
            <a:r>
              <a:rPr lang="zh-CN" altLang="en-US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语句的机器级表示</a:t>
            </a:r>
            <a:r>
              <a:rPr lang="zh-CN" altLang="en-US"/>
              <a:t> </a:t>
            </a:r>
          </a:p>
          <a:p>
            <a:endParaRPr lang="zh-CN" altLang="en-US"/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5202238" y="873125"/>
            <a:ext cx="3509962" cy="1441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9875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(cond_expr)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then_statement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else_statement</a:t>
            </a:r>
            <a:r>
              <a:rPr lang="en-US" altLang="zh-CN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5673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1493838"/>
            <a:ext cx="4437063" cy="397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73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513" y="2708275"/>
            <a:ext cx="4456112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07" name="Rectangle 8"/>
          <p:cNvSpPr>
            <a:spLocks noChangeArrowheads="1"/>
          </p:cNvSpPr>
          <p:nvPr/>
        </p:nvSpPr>
        <p:spPr bwMode="auto">
          <a:xfrm>
            <a:off x="746125" y="2168525"/>
            <a:ext cx="3151188" cy="900113"/>
          </a:xfrm>
          <a:prstGeom prst="rect">
            <a:avLst/>
          </a:prstGeom>
          <a:solidFill>
            <a:srgbClr val="FF0000">
              <a:alpha val="12941"/>
            </a:srgbClr>
          </a:solidFill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008" name="Rectangle 9"/>
          <p:cNvSpPr>
            <a:spLocks noChangeArrowheads="1"/>
          </p:cNvSpPr>
          <p:nvPr/>
        </p:nvSpPr>
        <p:spPr bwMode="auto">
          <a:xfrm>
            <a:off x="5246688" y="3429000"/>
            <a:ext cx="3151187" cy="900113"/>
          </a:xfrm>
          <a:prstGeom prst="rect">
            <a:avLst/>
          </a:prstGeom>
          <a:solidFill>
            <a:srgbClr val="FF0000">
              <a:alpha val="12941"/>
            </a:srgbClr>
          </a:solidFill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009" name="Rectangle 10"/>
          <p:cNvSpPr>
            <a:spLocks noChangeArrowheads="1"/>
          </p:cNvSpPr>
          <p:nvPr/>
        </p:nvSpPr>
        <p:spPr bwMode="auto">
          <a:xfrm>
            <a:off x="881063" y="3519488"/>
            <a:ext cx="1709737" cy="314325"/>
          </a:xfrm>
          <a:prstGeom prst="rect">
            <a:avLst/>
          </a:prstGeom>
          <a:solidFill>
            <a:srgbClr val="0000FF">
              <a:alpha val="25882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010" name="Rectangle 11"/>
          <p:cNvSpPr>
            <a:spLocks noChangeArrowheads="1"/>
          </p:cNvSpPr>
          <p:nvPr/>
        </p:nvSpPr>
        <p:spPr bwMode="auto">
          <a:xfrm>
            <a:off x="5292725" y="4868863"/>
            <a:ext cx="1709738" cy="314325"/>
          </a:xfrm>
          <a:prstGeom prst="rect">
            <a:avLst/>
          </a:prstGeom>
          <a:solidFill>
            <a:srgbClr val="0000FF">
              <a:alpha val="25882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7315" name="Group 19"/>
          <p:cNvGrpSpPr>
            <a:grpSpLocks/>
          </p:cNvGrpSpPr>
          <p:nvPr/>
        </p:nvGrpSpPr>
        <p:grpSpPr bwMode="auto">
          <a:xfrm>
            <a:off x="431800" y="5634038"/>
            <a:ext cx="1484313" cy="404812"/>
            <a:chOff x="272" y="3549"/>
            <a:chExt cx="935" cy="255"/>
          </a:xfrm>
        </p:grpSpPr>
        <p:sp>
          <p:nvSpPr>
            <p:cNvPr id="121871" name="Rectangle 12"/>
            <p:cNvSpPr>
              <a:spLocks noChangeArrowheads="1"/>
            </p:cNvSpPr>
            <p:nvPr/>
          </p:nvSpPr>
          <p:spPr bwMode="auto">
            <a:xfrm>
              <a:off x="272" y="3549"/>
              <a:ext cx="935" cy="255"/>
            </a:xfrm>
            <a:prstGeom prst="rect">
              <a:avLst/>
            </a:prstGeom>
            <a:solidFill>
              <a:srgbClr val="FF0000">
                <a:alpha val="12941"/>
              </a:srgbClr>
            </a:solidFill>
            <a:ln w="9525" algn="ctr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72" name="Text Box 13"/>
            <p:cNvSpPr txBox="1">
              <a:spLocks noChangeArrowheads="1"/>
            </p:cNvSpPr>
            <p:nvPr/>
          </p:nvSpPr>
          <p:spPr bwMode="auto">
            <a:xfrm>
              <a:off x="386" y="3549"/>
              <a:ext cx="7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Jcc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</a:t>
              </a:r>
            </a:p>
          </p:txBody>
        </p:sp>
      </p:grpSp>
      <p:grpSp>
        <p:nvGrpSpPr>
          <p:cNvPr id="567314" name="Group 18"/>
          <p:cNvGrpSpPr>
            <a:grpSpLocks/>
          </p:cNvGrpSpPr>
          <p:nvPr/>
        </p:nvGrpSpPr>
        <p:grpSpPr bwMode="auto">
          <a:xfrm>
            <a:off x="385763" y="6219825"/>
            <a:ext cx="1530350" cy="449263"/>
            <a:chOff x="1264" y="3549"/>
            <a:chExt cx="964" cy="283"/>
          </a:xfrm>
        </p:grpSpPr>
        <p:sp>
          <p:nvSpPr>
            <p:cNvPr id="121869" name="Rectangle 16"/>
            <p:cNvSpPr>
              <a:spLocks noChangeArrowheads="1"/>
            </p:cNvSpPr>
            <p:nvPr/>
          </p:nvSpPr>
          <p:spPr bwMode="auto">
            <a:xfrm>
              <a:off x="1264" y="3549"/>
              <a:ext cx="964" cy="283"/>
            </a:xfrm>
            <a:prstGeom prst="rect">
              <a:avLst/>
            </a:prstGeom>
            <a:solidFill>
              <a:srgbClr val="000080">
                <a:alpha val="25882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870" name="Text Box 17"/>
            <p:cNvSpPr txBox="1">
              <a:spLocks noChangeArrowheads="1"/>
            </p:cNvSpPr>
            <p:nvPr/>
          </p:nvSpPr>
          <p:spPr bwMode="auto">
            <a:xfrm>
              <a:off x="1377" y="3577"/>
              <a:ext cx="7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JMP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753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6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7" grpId="0" animBg="1"/>
      <p:bldP spid="128008" grpId="0" animBg="1"/>
      <p:bldP spid="128009" grpId="0" animBg="1"/>
      <p:bldP spid="1280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561975"/>
          </a:xfrm>
        </p:spPr>
        <p:txBody>
          <a:bodyPr/>
          <a:lstStyle/>
          <a:p>
            <a:r>
              <a:rPr lang="en-US" altLang="zh-CN"/>
              <a:t>If-else</a:t>
            </a:r>
            <a:r>
              <a:rPr lang="zh-CN" altLang="en-US"/>
              <a:t>语句举例</a:t>
            </a:r>
          </a:p>
        </p:txBody>
      </p:sp>
      <p:sp>
        <p:nvSpPr>
          <p:cNvPr id="122883" name="Rectangle 4"/>
          <p:cNvSpPr>
            <a:spLocks noChangeArrowheads="1"/>
          </p:cNvSpPr>
          <p:nvPr/>
        </p:nvSpPr>
        <p:spPr bwMode="auto">
          <a:xfrm>
            <a:off x="115888" y="782638"/>
            <a:ext cx="4500562" cy="1924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int  get_cont( int *p1, int *p2 )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{	   	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	if  ( p1 &gt; p2 )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	        return *p2;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	else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	        return *p1;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} </a:t>
            </a:r>
          </a:p>
        </p:txBody>
      </p:sp>
      <p:sp>
        <p:nvSpPr>
          <p:cNvPr id="568326" name="Text Box 6"/>
          <p:cNvSpPr txBox="1">
            <a:spLocks noChangeArrowheads="1"/>
          </p:cNvSpPr>
          <p:nvPr/>
        </p:nvSpPr>
        <p:spPr bwMode="auto">
          <a:xfrm>
            <a:off x="4654068" y="764704"/>
            <a:ext cx="4230687" cy="1325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对应实参的存储地址分别为</a:t>
            </a:r>
            <a:r>
              <a:rPr lang="en-US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</a:t>
            </a:r>
            <a:r>
              <a:rPr lang="en-US" altLang="zh-CN" sz="20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]+8</a:t>
            </a:r>
            <a:r>
              <a:rPr lang="zh-CN" altLang="en-US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</a:t>
            </a:r>
            <a:r>
              <a:rPr lang="en-US" altLang="zh-CN" sz="20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]+12</a:t>
            </a:r>
            <a:r>
              <a:rPr lang="zh-CN" altLang="en-US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zh-CN" altLang="en-US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指向当前栈帧底部，结果存放在</a:t>
            </a:r>
            <a:r>
              <a:rPr lang="en-US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r>
              <a:rPr lang="zh-CN" altLang="en-US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56832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2889250"/>
            <a:ext cx="8054975" cy="373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8329" name="Line 9"/>
          <p:cNvSpPr>
            <a:spLocks noChangeShapeType="1"/>
          </p:cNvSpPr>
          <p:nvPr/>
        </p:nvSpPr>
        <p:spPr bwMode="auto">
          <a:xfrm>
            <a:off x="3311525" y="4508500"/>
            <a:ext cx="36004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8330" name="Line 10"/>
          <p:cNvSpPr>
            <a:spLocks noChangeShapeType="1"/>
          </p:cNvSpPr>
          <p:nvPr/>
        </p:nvSpPr>
        <p:spPr bwMode="auto">
          <a:xfrm>
            <a:off x="3222625" y="5364163"/>
            <a:ext cx="36004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68333" name="Group 13"/>
          <p:cNvGrpSpPr>
            <a:grpSpLocks/>
          </p:cNvGrpSpPr>
          <p:nvPr/>
        </p:nvGrpSpPr>
        <p:grpSpPr bwMode="auto">
          <a:xfrm>
            <a:off x="1781175" y="2303463"/>
            <a:ext cx="6345238" cy="2025650"/>
            <a:chOff x="1179" y="1451"/>
            <a:chExt cx="3742" cy="1248"/>
          </a:xfrm>
        </p:grpSpPr>
        <p:sp>
          <p:nvSpPr>
            <p:cNvPr id="122889" name="Text Box 11"/>
            <p:cNvSpPr txBox="1">
              <a:spLocks noChangeArrowheads="1"/>
            </p:cNvSpPr>
            <p:nvPr/>
          </p:nvSpPr>
          <p:spPr bwMode="auto">
            <a:xfrm>
              <a:off x="2823" y="1451"/>
              <a:ext cx="2098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为何这里是</a:t>
              </a:r>
              <a:r>
                <a:rPr lang="en-US" altLang="zh-CN" sz="20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”jbe”</a:t>
              </a:r>
              <a:r>
                <a:rPr lang="zh-CN" altLang="en-US" sz="20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指令？</a:t>
              </a:r>
            </a:p>
          </p:txBody>
        </p:sp>
        <p:sp>
          <p:nvSpPr>
            <p:cNvPr id="122890" name="Line 12"/>
            <p:cNvSpPr>
              <a:spLocks noChangeShapeType="1"/>
            </p:cNvSpPr>
            <p:nvPr/>
          </p:nvSpPr>
          <p:spPr bwMode="auto">
            <a:xfrm flipH="1">
              <a:off x="1179" y="1650"/>
              <a:ext cx="1673" cy="104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6347615"/>
            <a:ext cx="6338782" cy="39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5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69364" y="586623"/>
            <a:ext cx="797808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/>
              <a:t>以下关于</a:t>
            </a:r>
          </a:p>
          <a:p>
            <a:r>
              <a:rPr lang="en-US" altLang="zh-CN" dirty="0"/>
              <a:t>if(</a:t>
            </a:r>
            <a:r>
              <a:rPr lang="en-US" altLang="zh-CN" dirty="0" err="1"/>
              <a:t>cond_expr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    </a:t>
            </a:r>
            <a:r>
              <a:rPr lang="en-US" altLang="zh-CN" dirty="0" err="1"/>
              <a:t>then_statement</a:t>
            </a:r>
            <a:endParaRPr lang="en-US" altLang="zh-CN" dirty="0"/>
          </a:p>
          <a:p>
            <a:r>
              <a:rPr lang="en-US" altLang="zh-CN" dirty="0"/>
              <a:t>else</a:t>
            </a:r>
          </a:p>
          <a:p>
            <a:r>
              <a:rPr lang="en-US" altLang="zh-CN" dirty="0"/>
              <a:t>   </a:t>
            </a:r>
            <a:r>
              <a:rPr lang="en-US" altLang="zh-CN" dirty="0" err="1"/>
              <a:t>else_statement</a:t>
            </a:r>
            <a:endParaRPr lang="en-US" altLang="zh-CN" dirty="0"/>
          </a:p>
          <a:p>
            <a:r>
              <a:rPr lang="zh-CN" altLang="en-US" sz="2400" dirty="0"/>
              <a:t>选择结构对应的机器级代码表示的叙述中，错误的是（）。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一定包含一条无条件转移指令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一定包含一条条件转移指令（分支指令）</a:t>
            </a: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cond_expr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的代码段一定在条件转移指令之前</a:t>
            </a: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对应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then_statement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的代码一定在对应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else_statement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的代码之前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045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56197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dirty="0">
                <a:solidFill>
                  <a:srgbClr val="C00000"/>
                </a:solidFill>
              </a:rPr>
              <a:t>1.1 switch-case</a:t>
            </a:r>
            <a:r>
              <a:rPr lang="zh-CN" altLang="en-US" dirty="0">
                <a:solidFill>
                  <a:srgbClr val="C00000"/>
                </a:solidFill>
              </a:rPr>
              <a:t>分支结构</a:t>
            </a:r>
            <a:r>
              <a:rPr lang="en-US" altLang="zh-CN" dirty="0">
                <a:solidFill>
                  <a:srgbClr val="C00000"/>
                </a:solidFill>
              </a:rPr>
              <a:t>——</a:t>
            </a:r>
            <a:r>
              <a:rPr lang="zh-CN" altLang="en-US" dirty="0">
                <a:solidFill>
                  <a:srgbClr val="C00000"/>
                </a:solidFill>
              </a:rPr>
              <a:t>引入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76250" y="819150"/>
            <a:ext cx="82296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/>
              <a:t> </a:t>
            </a:r>
            <a:r>
              <a:rPr lang="en-US" altLang="zh-CN" ker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~ else</a:t>
            </a:r>
            <a:r>
              <a:rPr lang="zh-CN" altLang="en-US" ker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语句的机器级表示</a:t>
            </a:r>
            <a:r>
              <a:rPr lang="zh-CN" altLang="en-US" kern="0"/>
              <a:t> </a:t>
            </a:r>
          </a:p>
          <a:p>
            <a:endParaRPr lang="zh-CN" altLang="en-US" kern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202238" y="873125"/>
            <a:ext cx="3509962" cy="1441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9875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(cond_expr)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then_statement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else_statement</a:t>
            </a:r>
            <a:r>
              <a:rPr lang="en-US" altLang="zh-CN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1493838"/>
            <a:ext cx="4437063" cy="397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513" y="2708275"/>
            <a:ext cx="4456112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46125" y="2168525"/>
            <a:ext cx="3151188" cy="900113"/>
          </a:xfrm>
          <a:prstGeom prst="rect">
            <a:avLst/>
          </a:prstGeom>
          <a:solidFill>
            <a:srgbClr val="FF0000">
              <a:alpha val="12941"/>
            </a:srgbClr>
          </a:solidFill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246688" y="3429000"/>
            <a:ext cx="3151187" cy="900113"/>
          </a:xfrm>
          <a:prstGeom prst="rect">
            <a:avLst/>
          </a:prstGeom>
          <a:solidFill>
            <a:srgbClr val="FF0000">
              <a:alpha val="12941"/>
            </a:srgbClr>
          </a:solidFill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81063" y="3519488"/>
            <a:ext cx="1709737" cy="314325"/>
          </a:xfrm>
          <a:prstGeom prst="rect">
            <a:avLst/>
          </a:prstGeom>
          <a:solidFill>
            <a:srgbClr val="0000FF">
              <a:alpha val="25882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292725" y="4868863"/>
            <a:ext cx="1709738" cy="314325"/>
          </a:xfrm>
          <a:prstGeom prst="rect">
            <a:avLst/>
          </a:prstGeom>
          <a:solidFill>
            <a:srgbClr val="0000FF">
              <a:alpha val="25882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Group 19"/>
          <p:cNvGrpSpPr>
            <a:grpSpLocks/>
          </p:cNvGrpSpPr>
          <p:nvPr/>
        </p:nvGrpSpPr>
        <p:grpSpPr bwMode="auto">
          <a:xfrm>
            <a:off x="431800" y="5634038"/>
            <a:ext cx="1484313" cy="404812"/>
            <a:chOff x="272" y="3549"/>
            <a:chExt cx="935" cy="255"/>
          </a:xfrm>
        </p:grpSpPr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272" y="3549"/>
              <a:ext cx="935" cy="255"/>
            </a:xfrm>
            <a:prstGeom prst="rect">
              <a:avLst/>
            </a:prstGeom>
            <a:solidFill>
              <a:srgbClr val="FF0000">
                <a:alpha val="12941"/>
              </a:srgbClr>
            </a:solidFill>
            <a:ln w="9525" algn="ctr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386" y="3549"/>
              <a:ext cx="7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Jcc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</a:t>
              </a:r>
            </a:p>
          </p:txBody>
        </p:sp>
      </p:grpSp>
      <p:grpSp>
        <p:nvGrpSpPr>
          <p:cNvPr id="16" name="Group 18"/>
          <p:cNvGrpSpPr>
            <a:grpSpLocks/>
          </p:cNvGrpSpPr>
          <p:nvPr/>
        </p:nvGrpSpPr>
        <p:grpSpPr bwMode="auto">
          <a:xfrm>
            <a:off x="385763" y="6219825"/>
            <a:ext cx="1530350" cy="449263"/>
            <a:chOff x="1264" y="3549"/>
            <a:chExt cx="964" cy="283"/>
          </a:xfrm>
        </p:grpSpPr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264" y="3549"/>
              <a:ext cx="964" cy="283"/>
            </a:xfrm>
            <a:prstGeom prst="rect">
              <a:avLst/>
            </a:prstGeom>
            <a:solidFill>
              <a:srgbClr val="000080">
                <a:alpha val="25882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1377" y="3577"/>
              <a:ext cx="7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JMP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</a:t>
              </a: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1628800"/>
            <a:ext cx="8957162" cy="380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80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8425"/>
            <a:ext cx="8229600" cy="56197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/>
              <a:t>1.2 switch-case</a:t>
            </a:r>
            <a:r>
              <a:rPr lang="zh-CN" altLang="en-US" sz="3600" dirty="0"/>
              <a:t>语句举例</a:t>
            </a:r>
          </a:p>
        </p:txBody>
      </p:sp>
      <p:sp>
        <p:nvSpPr>
          <p:cNvPr id="123907" name="Rectangle 7"/>
          <p:cNvSpPr>
            <a:spLocks noChangeArrowheads="1"/>
          </p:cNvSpPr>
          <p:nvPr/>
        </p:nvSpPr>
        <p:spPr bwMode="auto">
          <a:xfrm>
            <a:off x="0" y="819150"/>
            <a:ext cx="3395663" cy="585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242888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242888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242888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242888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242888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int sw_test(int a, int b, int c)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int result;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switch(a) {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case 15: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  c=b&amp;0x0f;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 10: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  result=c+50;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  break;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case 12: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 17: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  result=b+50;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  break;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case 14: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  result=b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  break;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default: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  result=a;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}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return result;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pic>
        <p:nvPicPr>
          <p:cNvPr id="123908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728663"/>
            <a:ext cx="2789237" cy="60309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09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0" y="3968750"/>
            <a:ext cx="2257425" cy="2700338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910" name="Text Box 12"/>
          <p:cNvSpPr txBox="1">
            <a:spLocks noChangeArrowheads="1"/>
          </p:cNvSpPr>
          <p:nvPr/>
        </p:nvSpPr>
        <p:spPr bwMode="auto">
          <a:xfrm>
            <a:off x="6281738" y="2663825"/>
            <a:ext cx="26558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跳转表在目标文件的只读节中，按</a:t>
            </a:r>
            <a:r>
              <a:rPr lang="en-US" altLang="zh-CN" sz="20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字节边界对齐。</a:t>
            </a:r>
          </a:p>
        </p:txBody>
      </p:sp>
      <p:sp>
        <p:nvSpPr>
          <p:cNvPr id="572429" name="Line 13"/>
          <p:cNvSpPr>
            <a:spLocks noChangeShapeType="1"/>
          </p:cNvSpPr>
          <p:nvPr/>
        </p:nvSpPr>
        <p:spPr bwMode="auto">
          <a:xfrm>
            <a:off x="1285875" y="2124075"/>
            <a:ext cx="2116138" cy="904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30" name="Line 14"/>
          <p:cNvSpPr>
            <a:spLocks noChangeShapeType="1"/>
          </p:cNvSpPr>
          <p:nvPr/>
        </p:nvSpPr>
        <p:spPr bwMode="auto">
          <a:xfrm>
            <a:off x="1241425" y="2619375"/>
            <a:ext cx="2160588" cy="5397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31" name="Line 15"/>
          <p:cNvSpPr>
            <a:spLocks noChangeShapeType="1"/>
          </p:cNvSpPr>
          <p:nvPr/>
        </p:nvSpPr>
        <p:spPr bwMode="auto">
          <a:xfrm>
            <a:off x="1196975" y="3473450"/>
            <a:ext cx="2249488" cy="7207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32" name="Line 16"/>
          <p:cNvSpPr>
            <a:spLocks noChangeShapeType="1"/>
          </p:cNvSpPr>
          <p:nvPr/>
        </p:nvSpPr>
        <p:spPr bwMode="auto">
          <a:xfrm>
            <a:off x="1241425" y="5364163"/>
            <a:ext cx="2205038" cy="6302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33" name="Line 17"/>
          <p:cNvSpPr>
            <a:spLocks noChangeShapeType="1"/>
          </p:cNvSpPr>
          <p:nvPr/>
        </p:nvSpPr>
        <p:spPr bwMode="auto">
          <a:xfrm>
            <a:off x="1241425" y="4598988"/>
            <a:ext cx="2160588" cy="6746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34" name="Line 18"/>
          <p:cNvSpPr>
            <a:spLocks noChangeShapeType="1"/>
          </p:cNvSpPr>
          <p:nvPr/>
        </p:nvSpPr>
        <p:spPr bwMode="auto">
          <a:xfrm>
            <a:off x="1241425" y="3743325"/>
            <a:ext cx="2160588" cy="4953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17" name="Line 19"/>
          <p:cNvSpPr>
            <a:spLocks noChangeShapeType="1"/>
          </p:cNvSpPr>
          <p:nvPr/>
        </p:nvSpPr>
        <p:spPr bwMode="auto">
          <a:xfrm>
            <a:off x="4302125" y="2033588"/>
            <a:ext cx="180022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72442" name="Group 26"/>
          <p:cNvGrpSpPr>
            <a:grpSpLocks/>
          </p:cNvGrpSpPr>
          <p:nvPr/>
        </p:nvGrpSpPr>
        <p:grpSpPr bwMode="auto">
          <a:xfrm>
            <a:off x="5516563" y="863600"/>
            <a:ext cx="3060700" cy="366713"/>
            <a:chOff x="3475" y="544"/>
            <a:chExt cx="1928" cy="231"/>
          </a:xfrm>
        </p:grpSpPr>
        <p:sp>
          <p:nvSpPr>
            <p:cNvPr id="123935" name="Text Box 20"/>
            <p:cNvSpPr txBox="1">
              <a:spLocks noChangeArrowheads="1"/>
            </p:cNvSpPr>
            <p:nvPr/>
          </p:nvSpPr>
          <p:spPr bwMode="auto">
            <a:xfrm>
              <a:off x="4071" y="544"/>
              <a:ext cx="1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R[eax]=a-10=i</a:t>
              </a:r>
            </a:p>
          </p:txBody>
        </p:sp>
        <p:sp>
          <p:nvSpPr>
            <p:cNvPr id="123936" name="Line 21"/>
            <p:cNvSpPr>
              <a:spLocks noChangeShapeType="1"/>
            </p:cNvSpPr>
            <p:nvPr/>
          </p:nvSpPr>
          <p:spPr bwMode="auto">
            <a:xfrm flipH="1">
              <a:off x="3475" y="686"/>
              <a:ext cx="596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2443" name="Group 27"/>
          <p:cNvGrpSpPr>
            <a:grpSpLocks/>
          </p:cNvGrpSpPr>
          <p:nvPr/>
        </p:nvGrpSpPr>
        <p:grpSpPr bwMode="auto">
          <a:xfrm>
            <a:off x="5607050" y="1314450"/>
            <a:ext cx="2970213" cy="404813"/>
            <a:chOff x="3532" y="828"/>
            <a:chExt cx="1871" cy="255"/>
          </a:xfrm>
        </p:grpSpPr>
        <p:sp>
          <p:nvSpPr>
            <p:cNvPr id="123932" name="Text Box 22"/>
            <p:cNvSpPr txBox="1">
              <a:spLocks noChangeArrowheads="1"/>
            </p:cNvSpPr>
            <p:nvPr/>
          </p:nvSpPr>
          <p:spPr bwMode="auto">
            <a:xfrm>
              <a:off x="4071" y="828"/>
              <a:ext cx="1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 (a-10)</a:t>
              </a:r>
              <a:r>
                <a:rPr lang="en-US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&gt;7 </a:t>
              </a:r>
              <a:r>
                <a:rPr lang="zh-CN" altLang="en-US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转 </a:t>
              </a:r>
              <a:r>
                <a:rPr lang="en-US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L5</a:t>
              </a:r>
            </a:p>
          </p:txBody>
        </p:sp>
        <p:sp>
          <p:nvSpPr>
            <p:cNvPr id="123933" name="AutoShape 23"/>
            <p:cNvSpPr>
              <a:spLocks/>
            </p:cNvSpPr>
            <p:nvPr/>
          </p:nvSpPr>
          <p:spPr bwMode="auto">
            <a:xfrm>
              <a:off x="3532" y="828"/>
              <a:ext cx="57" cy="255"/>
            </a:xfrm>
            <a:prstGeom prst="rightBracket">
              <a:avLst>
                <a:gd name="adj" fmla="val 37281"/>
              </a:avLst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934" name="Line 24"/>
            <p:cNvSpPr>
              <a:spLocks noChangeShapeType="1"/>
            </p:cNvSpPr>
            <p:nvPr/>
          </p:nvSpPr>
          <p:spPr bwMode="auto">
            <a:xfrm flipH="1">
              <a:off x="3589" y="941"/>
              <a:ext cx="425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2447" name="Group 31"/>
          <p:cNvGrpSpPr>
            <a:grpSpLocks/>
          </p:cNvGrpSpPr>
          <p:nvPr/>
        </p:nvGrpSpPr>
        <p:grpSpPr bwMode="auto">
          <a:xfrm>
            <a:off x="6102350" y="1763713"/>
            <a:ext cx="2700338" cy="366712"/>
            <a:chOff x="3844" y="1111"/>
            <a:chExt cx="1701" cy="231"/>
          </a:xfrm>
        </p:grpSpPr>
        <p:sp>
          <p:nvSpPr>
            <p:cNvPr id="123930" name="Line 25"/>
            <p:cNvSpPr>
              <a:spLocks noChangeShapeType="1"/>
            </p:cNvSpPr>
            <p:nvPr/>
          </p:nvSpPr>
          <p:spPr bwMode="auto">
            <a:xfrm flipH="1">
              <a:off x="3844" y="1196"/>
              <a:ext cx="19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1" name="Text Box 28"/>
            <p:cNvSpPr txBox="1">
              <a:spLocks noChangeArrowheads="1"/>
            </p:cNvSpPr>
            <p:nvPr/>
          </p:nvSpPr>
          <p:spPr bwMode="auto">
            <a:xfrm>
              <a:off x="4071" y="1111"/>
              <a:ext cx="14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</a:t>
              </a:r>
              <a:r>
                <a:rPr lang="en-US" altLang="zh-CN" sz="18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.L8+4*i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处的地址</a:t>
              </a:r>
            </a:p>
          </p:txBody>
        </p:sp>
      </p:grpSp>
      <p:grpSp>
        <p:nvGrpSpPr>
          <p:cNvPr id="572446" name="Group 30"/>
          <p:cNvGrpSpPr>
            <a:grpSpLocks/>
          </p:cNvGrpSpPr>
          <p:nvPr/>
        </p:nvGrpSpPr>
        <p:grpSpPr bwMode="auto">
          <a:xfrm>
            <a:off x="8216900" y="4306888"/>
            <a:ext cx="628650" cy="2362200"/>
            <a:chOff x="5177" y="2699"/>
            <a:chExt cx="396" cy="1488"/>
          </a:xfrm>
        </p:grpSpPr>
        <p:sp>
          <p:nvSpPr>
            <p:cNvPr id="123928" name="Text Box 11"/>
            <p:cNvSpPr txBox="1">
              <a:spLocks noChangeArrowheads="1"/>
            </p:cNvSpPr>
            <p:nvPr/>
          </p:nvSpPr>
          <p:spPr bwMode="auto">
            <a:xfrm>
              <a:off x="5204" y="2889"/>
              <a:ext cx="369" cy="1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7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  <a:p>
              <a:pPr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700">
                  <a:solidFill>
                    <a:srgbClr val="00763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  <a:p>
              <a:pPr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7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  <a:p>
              <a:pPr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700">
                  <a:solidFill>
                    <a:srgbClr val="00763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</a:t>
              </a:r>
            </a:p>
            <a:p>
              <a:pPr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7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14</a:t>
              </a:r>
            </a:p>
            <a:p>
              <a:pPr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7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</a:p>
            <a:p>
              <a:pPr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700">
                  <a:solidFill>
                    <a:srgbClr val="00763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</a:p>
            <a:p>
              <a:pPr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7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</a:p>
          </p:txBody>
        </p:sp>
        <p:sp>
          <p:nvSpPr>
            <p:cNvPr id="123929" name="Text Box 29"/>
            <p:cNvSpPr txBox="1">
              <a:spLocks noChangeArrowheads="1"/>
            </p:cNvSpPr>
            <p:nvPr/>
          </p:nvSpPr>
          <p:spPr bwMode="auto">
            <a:xfrm>
              <a:off x="5177" y="2699"/>
              <a:ext cx="3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a=</a:t>
              </a:r>
            </a:p>
          </p:txBody>
        </p:sp>
      </p:grpSp>
      <p:sp>
        <p:nvSpPr>
          <p:cNvPr id="572448" name="Line 32"/>
          <p:cNvSpPr>
            <a:spLocks noChangeShapeType="1"/>
          </p:cNvSpPr>
          <p:nvPr/>
        </p:nvSpPr>
        <p:spPr bwMode="auto">
          <a:xfrm>
            <a:off x="1331913" y="3249613"/>
            <a:ext cx="2205037" cy="719137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49" name="Line 33"/>
          <p:cNvSpPr>
            <a:spLocks noChangeShapeType="1"/>
          </p:cNvSpPr>
          <p:nvPr/>
        </p:nvSpPr>
        <p:spPr bwMode="auto">
          <a:xfrm>
            <a:off x="1376363" y="4329113"/>
            <a:ext cx="2205037" cy="674687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50" name="Line 34"/>
          <p:cNvSpPr>
            <a:spLocks noChangeShapeType="1"/>
          </p:cNvSpPr>
          <p:nvPr/>
        </p:nvSpPr>
        <p:spPr bwMode="auto">
          <a:xfrm>
            <a:off x="1376363" y="5184775"/>
            <a:ext cx="2205037" cy="5842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25" name="Line 35"/>
          <p:cNvSpPr>
            <a:spLocks noChangeShapeType="1"/>
          </p:cNvSpPr>
          <p:nvPr/>
        </p:nvSpPr>
        <p:spPr bwMode="auto">
          <a:xfrm>
            <a:off x="7947025" y="4194175"/>
            <a:ext cx="94615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52" name="Line 36"/>
          <p:cNvSpPr>
            <a:spLocks noChangeShapeType="1"/>
          </p:cNvSpPr>
          <p:nvPr/>
        </p:nvSpPr>
        <p:spPr bwMode="auto">
          <a:xfrm>
            <a:off x="7677150" y="3249613"/>
            <a:ext cx="630238" cy="6746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53" name="Text Box 37"/>
          <p:cNvSpPr txBox="1">
            <a:spLocks noChangeArrowheads="1"/>
          </p:cNvSpPr>
          <p:nvPr/>
        </p:nvSpPr>
        <p:spPr bwMode="auto">
          <a:xfrm>
            <a:off x="522288" y="6354763"/>
            <a:ext cx="25209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9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9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9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9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190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</a:p>
        </p:txBody>
      </p:sp>
    </p:spTree>
    <p:extLst>
      <p:ext uri="{BB962C8B-B14F-4D97-AF65-F5344CB8AC3E}">
        <p14:creationId xmlns:p14="http://schemas.microsoft.com/office/powerpoint/2010/main" val="293232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561975"/>
          </a:xfrm>
        </p:spPr>
        <p:txBody>
          <a:bodyPr>
            <a:normAutofit fontScale="90000"/>
          </a:bodyPr>
          <a:lstStyle/>
          <a:p>
            <a:pPr algn="just"/>
            <a:r>
              <a:rPr lang="en-US" altLang="zh-CN" dirty="0">
                <a:solidFill>
                  <a:srgbClr val="C00000"/>
                </a:solidFill>
              </a:rPr>
              <a:t>1.3 switch-case</a:t>
            </a:r>
            <a:r>
              <a:rPr lang="zh-CN" altLang="en-US" dirty="0">
                <a:solidFill>
                  <a:srgbClr val="C00000"/>
                </a:solidFill>
              </a:rPr>
              <a:t>分支结构小结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96752"/>
            <a:ext cx="8229600" cy="5218112"/>
          </a:xfrm>
        </p:spPr>
        <p:txBody>
          <a:bodyPr>
            <a:normAutofit fontScale="55000" lnSpcReduction="20000"/>
          </a:bodyPr>
          <a:lstStyle/>
          <a:p>
            <a:pPr indent="-5400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altLang="zh-CN" sz="3200" dirty="0"/>
              <a:t>switch-case</a:t>
            </a:r>
            <a:r>
              <a:rPr lang="zh-CN" altLang="en-US" sz="3200" dirty="0"/>
              <a:t>和</a:t>
            </a:r>
            <a:r>
              <a:rPr lang="en-US" altLang="zh-CN" sz="3200" dirty="0"/>
              <a:t>if-else</a:t>
            </a:r>
            <a:r>
              <a:rPr lang="zh-CN" altLang="en-US" sz="3200" dirty="0"/>
              <a:t>嵌套可以实现同样功能</a:t>
            </a:r>
            <a:endParaRPr lang="en-US" altLang="zh-CN" sz="3200" dirty="0"/>
          </a:p>
          <a:p>
            <a:pPr indent="-5400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每个</a:t>
            </a:r>
            <a:r>
              <a:rPr lang="en-US" altLang="zh-CN" sz="3200" dirty="0"/>
              <a:t>case</a:t>
            </a:r>
            <a:r>
              <a:rPr lang="zh-CN" altLang="en-US" sz="3200" dirty="0"/>
              <a:t>对应的一段代码结束后，都会有一条无条件转移指令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-5400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当</a:t>
            </a:r>
            <a:r>
              <a:rPr lang="en-US" altLang="zh-CN" sz="3200" dirty="0"/>
              <a:t>case</a:t>
            </a:r>
            <a:r>
              <a:rPr lang="zh-CN" altLang="en-US" sz="3200" dirty="0"/>
              <a:t>中出现的条件取值范围较小时，可以用跳转表的方式实现，此时</a:t>
            </a:r>
            <a:r>
              <a:rPr lang="en-US" altLang="zh-CN" sz="3200" dirty="0"/>
              <a:t>case</a:t>
            </a:r>
            <a:r>
              <a:rPr lang="zh-CN" altLang="en-US" sz="3200" dirty="0"/>
              <a:t>中没有条件跳转指令，执行效率高</a:t>
            </a:r>
            <a:endParaRPr lang="en-US" altLang="zh-CN" sz="3200" dirty="0"/>
          </a:p>
          <a:p>
            <a:pPr indent="-5400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在编程中需要根据具体情况，考虑性能、成本、功耗的相互制约关系，对应</a:t>
            </a:r>
            <a:r>
              <a:rPr lang="zh-CN" altLang="en-US" sz="3200" dirty="0">
                <a:solidFill>
                  <a:srgbClr val="FF0000"/>
                </a:solidFill>
              </a:rPr>
              <a:t>工程思维</a:t>
            </a:r>
            <a:r>
              <a:rPr lang="zh-CN" altLang="en-US" sz="3200" dirty="0"/>
              <a:t>的思政目标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73844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以下关于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switch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语句的机器级代码表示的叙述中，错误的是（）。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当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case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中出现的条件取值范围较小时，可以用跳转表的方式实现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每个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case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至少对应一条条件转移指令，因而一定会包含多条条件转移指令</a:t>
            </a: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每个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case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对应的一段代码结束后，都会有一条无条件转移指令</a:t>
            </a: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可以用连续的</a:t>
            </a: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if~else~if~else~if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语句对应的机器代码来实现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switch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语句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692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3816424"/>
          </a:xfrm>
        </p:spPr>
        <p:txBody>
          <a:bodyPr>
            <a:normAutofit lnSpcReduction="10000"/>
          </a:bodyPr>
          <a:lstStyle/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过程调用的机器级表示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递归调用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过程调用举例</a:t>
            </a:r>
            <a:endParaRPr lang="en-US" altLang="zh-CN" dirty="0"/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选择结构的机器级</a:t>
            </a:r>
            <a:r>
              <a:rPr lang="zh-CN" altLang="en-US" dirty="0" smtClean="0"/>
              <a:t>表示</a:t>
            </a:r>
            <a:endParaRPr lang="en-US" altLang="zh-CN" dirty="0" smtClean="0"/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循环结构的机器级表示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91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3"/>
          <p:cNvSpPr>
            <a:spLocks noGrp="1" noChangeArrowheads="1"/>
          </p:cNvSpPr>
          <p:nvPr>
            <p:ph type="title"/>
          </p:nvPr>
        </p:nvSpPr>
        <p:spPr>
          <a:xfrm>
            <a:off x="755576" y="53975"/>
            <a:ext cx="8229600" cy="561975"/>
          </a:xfrm>
        </p:spPr>
        <p:txBody>
          <a:bodyPr/>
          <a:lstStyle/>
          <a:p>
            <a:r>
              <a:rPr lang="zh-CN" altLang="en-US" sz="3600" dirty="0"/>
              <a:t>                            </a:t>
            </a:r>
            <a:r>
              <a:rPr lang="en-US" altLang="zh-CN" sz="3600" dirty="0"/>
              <a:t>1.1 </a:t>
            </a:r>
            <a:r>
              <a:rPr lang="zh-CN" altLang="en-US" sz="3600" dirty="0"/>
              <a:t>循环结构</a:t>
            </a:r>
            <a:r>
              <a:rPr lang="en-US" altLang="zh-CN" sz="3600" dirty="0"/>
              <a:t>——</a:t>
            </a:r>
            <a:r>
              <a:rPr lang="zh-CN" altLang="en-US" sz="3600" dirty="0"/>
              <a:t>引入</a:t>
            </a:r>
          </a:p>
        </p:txBody>
      </p:sp>
      <p:pic>
        <p:nvPicPr>
          <p:cNvPr id="12697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263" y="684213"/>
            <a:ext cx="3330575" cy="486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80" name="Rectangle 5"/>
          <p:cNvSpPr>
            <a:spLocks noChangeArrowheads="1"/>
          </p:cNvSpPr>
          <p:nvPr/>
        </p:nvSpPr>
        <p:spPr bwMode="auto">
          <a:xfrm>
            <a:off x="115888" y="157163"/>
            <a:ext cx="4140200" cy="21923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26670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 nn_sum ( int n) </a:t>
            </a:r>
          </a:p>
          <a:p>
            <a:pPr marL="0" marR="0" lvl="0" indent="26670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</a:p>
          <a:p>
            <a:pPr marL="0" marR="0" lvl="0" indent="26670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int result;	</a:t>
            </a:r>
          </a:p>
          <a:p>
            <a:pPr marL="0" marR="0" lvl="0" indent="26670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if  (n&lt;=0 )  </a:t>
            </a:r>
          </a:p>
          <a:p>
            <a:pPr marL="0" marR="0" lvl="0" indent="26670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    result=0;   </a:t>
            </a:r>
          </a:p>
          <a:p>
            <a:pPr marL="0" marR="0" lvl="0" indent="26670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else	</a:t>
            </a:r>
          </a:p>
          <a:p>
            <a:pPr marL="0" marR="0" lvl="0" indent="26670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    result=n+nn_sum(n-1); </a:t>
            </a:r>
          </a:p>
          <a:p>
            <a:pPr marL="0" marR="0" lvl="0" indent="26670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return  result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</a:p>
          <a:p>
            <a:pPr marL="0" marR="0" lvl="0" indent="26670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</a:p>
        </p:txBody>
      </p:sp>
      <p:grpSp>
        <p:nvGrpSpPr>
          <p:cNvPr id="126981" name="Group 6"/>
          <p:cNvGrpSpPr>
            <a:grpSpLocks/>
          </p:cNvGrpSpPr>
          <p:nvPr/>
        </p:nvGrpSpPr>
        <p:grpSpPr bwMode="auto">
          <a:xfrm>
            <a:off x="8351838" y="962025"/>
            <a:ext cx="539750" cy="1125538"/>
            <a:chOff x="5290" y="374"/>
            <a:chExt cx="340" cy="680"/>
          </a:xfrm>
        </p:grpSpPr>
        <p:sp>
          <p:nvSpPr>
            <p:cNvPr id="126993" name="AutoShape 7"/>
            <p:cNvSpPr>
              <a:spLocks/>
            </p:cNvSpPr>
            <p:nvPr/>
          </p:nvSpPr>
          <p:spPr bwMode="auto">
            <a:xfrm>
              <a:off x="5290" y="374"/>
              <a:ext cx="113" cy="680"/>
            </a:xfrm>
            <a:prstGeom prst="rightBrace">
              <a:avLst>
                <a:gd name="adj1" fmla="val 50147"/>
                <a:gd name="adj2" fmla="val 50000"/>
              </a:avLst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6994" name="Text Box 8"/>
            <p:cNvSpPr txBox="1">
              <a:spLocks noChangeArrowheads="1"/>
            </p:cNvSpPr>
            <p:nvPr/>
          </p:nvSpPr>
          <p:spPr bwMode="auto">
            <a:xfrm>
              <a:off x="5403" y="601"/>
              <a:ext cx="227" cy="2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</a:t>
              </a:r>
            </a:p>
          </p:txBody>
        </p:sp>
      </p:grpSp>
      <p:grpSp>
        <p:nvGrpSpPr>
          <p:cNvPr id="126982" name="Group 13"/>
          <p:cNvGrpSpPr>
            <a:grpSpLocks/>
          </p:cNvGrpSpPr>
          <p:nvPr/>
        </p:nvGrpSpPr>
        <p:grpSpPr bwMode="auto">
          <a:xfrm>
            <a:off x="8351838" y="2178050"/>
            <a:ext cx="539750" cy="1371600"/>
            <a:chOff x="5290" y="1139"/>
            <a:chExt cx="340" cy="864"/>
          </a:xfrm>
        </p:grpSpPr>
        <p:sp>
          <p:nvSpPr>
            <p:cNvPr id="126991" name="AutoShape 14"/>
            <p:cNvSpPr>
              <a:spLocks/>
            </p:cNvSpPr>
            <p:nvPr/>
          </p:nvSpPr>
          <p:spPr bwMode="auto">
            <a:xfrm>
              <a:off x="5290" y="1139"/>
              <a:ext cx="113" cy="794"/>
            </a:xfrm>
            <a:prstGeom prst="rightBrace">
              <a:avLst>
                <a:gd name="adj1" fmla="val 58555"/>
                <a:gd name="adj2" fmla="val 5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6992" name="Text Box 15"/>
            <p:cNvSpPr txBox="1">
              <a:spLocks noChangeArrowheads="1"/>
            </p:cNvSpPr>
            <p:nvPr/>
          </p:nvSpPr>
          <p:spPr bwMode="auto">
            <a:xfrm>
              <a:off x="5339" y="1253"/>
              <a:ext cx="291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Sum(n)</a:t>
              </a:r>
            </a:p>
          </p:txBody>
        </p:sp>
      </p:grpSp>
      <p:grpSp>
        <p:nvGrpSpPr>
          <p:cNvPr id="126983" name="Group 16"/>
          <p:cNvGrpSpPr>
            <a:grpSpLocks/>
          </p:cNvGrpSpPr>
          <p:nvPr/>
        </p:nvGrpSpPr>
        <p:grpSpPr bwMode="auto">
          <a:xfrm>
            <a:off x="8351838" y="3482975"/>
            <a:ext cx="539750" cy="1439863"/>
            <a:chOff x="5290" y="1139"/>
            <a:chExt cx="340" cy="864"/>
          </a:xfrm>
        </p:grpSpPr>
        <p:sp>
          <p:nvSpPr>
            <p:cNvPr id="126989" name="AutoShape 17"/>
            <p:cNvSpPr>
              <a:spLocks/>
            </p:cNvSpPr>
            <p:nvPr/>
          </p:nvSpPr>
          <p:spPr bwMode="auto">
            <a:xfrm>
              <a:off x="5290" y="1139"/>
              <a:ext cx="113" cy="794"/>
            </a:xfrm>
            <a:prstGeom prst="rightBrace">
              <a:avLst>
                <a:gd name="adj1" fmla="val 58555"/>
                <a:gd name="adj2" fmla="val 5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6990" name="Text Box 18"/>
            <p:cNvSpPr txBox="1">
              <a:spLocks noChangeArrowheads="1"/>
            </p:cNvSpPr>
            <p:nvPr/>
          </p:nvSpPr>
          <p:spPr bwMode="auto">
            <a:xfrm>
              <a:off x="5339" y="1253"/>
              <a:ext cx="291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marL="342900" indent="-3429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Sum(n-1)</a:t>
              </a:r>
            </a:p>
          </p:txBody>
        </p:sp>
      </p:grpSp>
      <p:sp>
        <p:nvSpPr>
          <p:cNvPr id="126984" name="Text Box 38"/>
          <p:cNvSpPr txBox="1">
            <a:spLocks noChangeArrowheads="1"/>
          </p:cNvSpPr>
          <p:nvPr/>
        </p:nvSpPr>
        <p:spPr bwMode="auto">
          <a:xfrm>
            <a:off x="7991475" y="3797300"/>
            <a:ext cx="225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0" rIns="18000" bIns="0"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</a:p>
        </p:txBody>
      </p:sp>
      <p:pic>
        <p:nvPicPr>
          <p:cNvPr id="126985" name="Picture 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2393950"/>
            <a:ext cx="32670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86" name="Text Box 43"/>
          <p:cNvSpPr txBox="1">
            <a:spLocks noChangeArrowheads="1"/>
          </p:cNvSpPr>
          <p:nvPr/>
        </p:nvSpPr>
        <p:spPr bwMode="auto">
          <a:xfrm>
            <a:off x="2951163" y="5724525"/>
            <a:ext cx="598646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时间开销：每次递归执行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条指令，共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16n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条指令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空间开销：一次调用增加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16B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栈帧，共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16n+12</a:t>
            </a:r>
          </a:p>
        </p:txBody>
      </p:sp>
      <p:sp>
        <p:nvSpPr>
          <p:cNvPr id="126987" name="Text Box 45"/>
          <p:cNvSpPr txBox="1">
            <a:spLocks noChangeArrowheads="1"/>
          </p:cNvSpPr>
          <p:nvPr/>
        </p:nvSpPr>
        <p:spPr bwMode="auto">
          <a:xfrm>
            <a:off x="3806825" y="4778375"/>
            <a:ext cx="855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" action="ppaction://hlinkshowjump?jump=previousslide"/>
              </a:rPr>
              <a:t>BACK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8238" name="Text Box 46"/>
          <p:cNvSpPr txBox="1">
            <a:spLocks noChangeArrowheads="1"/>
          </p:cNvSpPr>
          <p:nvPr/>
        </p:nvSpPr>
        <p:spPr bwMode="auto">
          <a:xfrm>
            <a:off x="5562600" y="908050"/>
            <a:ext cx="2339975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9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</a:t>
            </a:r>
            <a:r>
              <a:rPr kumimoji="0" lang="zh-CN" altLang="en-US" sz="19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的栈帧至少占</a:t>
            </a:r>
            <a:r>
              <a:rPr kumimoji="0" lang="en-US" altLang="zh-CN" sz="19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12B</a:t>
            </a:r>
          </a:p>
        </p:txBody>
      </p:sp>
      <p:sp>
        <p:nvSpPr>
          <p:cNvPr id="19" name="Text Box 37"/>
          <p:cNvSpPr txBox="1">
            <a:spLocks noChangeArrowheads="1"/>
          </p:cNvSpPr>
          <p:nvPr/>
        </p:nvSpPr>
        <p:spPr bwMode="auto">
          <a:xfrm>
            <a:off x="2991645" y="5209356"/>
            <a:ext cx="3600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R[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eax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0+1+2+…+(n-1)+n</a:t>
            </a:r>
          </a:p>
        </p:txBody>
      </p:sp>
    </p:spTree>
    <p:extLst>
      <p:ext uri="{BB962C8B-B14F-4D97-AF65-F5344CB8AC3E}">
        <p14:creationId xmlns:p14="http://schemas.microsoft.com/office/powerpoint/2010/main" val="235791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pPr algn="just"/>
            <a:r>
              <a:rPr lang="en-US" altLang="zh-CN" sz="3600" dirty="0"/>
              <a:t>1.2 </a:t>
            </a:r>
            <a:r>
              <a:rPr lang="zh-CN" altLang="en-US" sz="3600" dirty="0"/>
              <a:t>循环结构的机器级表示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888" y="684213"/>
            <a:ext cx="3960812" cy="495300"/>
          </a:xfrm>
        </p:spPr>
        <p:txBody>
          <a:bodyPr/>
          <a:lstStyle/>
          <a:p>
            <a:r>
              <a:rPr lang="en-US" altLang="zh-CN" sz="2000" dirty="0" err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do~while</a:t>
            </a:r>
            <a:r>
              <a:rPr lang="zh-CN" altLang="en-US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循环的机器级表示 </a:t>
            </a:r>
            <a:endParaRPr lang="zh-CN" altLang="en-US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0372" name="Rectangle 4"/>
          <p:cNvSpPr>
            <a:spLocks noChangeArrowheads="1"/>
          </p:cNvSpPr>
          <p:nvPr/>
        </p:nvSpPr>
        <p:spPr bwMode="auto">
          <a:xfrm>
            <a:off x="87313" y="1133475"/>
            <a:ext cx="3270250" cy="71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635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do  loop_body_statement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635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7635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635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while (cond_expr);</a:t>
            </a:r>
          </a:p>
        </p:txBody>
      </p:sp>
      <p:sp>
        <p:nvSpPr>
          <p:cNvPr id="570373" name="Rectangle 5"/>
          <p:cNvSpPr>
            <a:spLocks noChangeArrowheads="1"/>
          </p:cNvSpPr>
          <p:nvPr/>
        </p:nvSpPr>
        <p:spPr bwMode="auto">
          <a:xfrm>
            <a:off x="74613" y="1898650"/>
            <a:ext cx="3327400" cy="132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loop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loop_body_statement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c=cond_expr;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 (c) goto loop;</a:t>
            </a:r>
          </a:p>
        </p:txBody>
      </p:sp>
      <p:sp>
        <p:nvSpPr>
          <p:cNvPr id="570374" name="Rectangle 6"/>
          <p:cNvSpPr>
            <a:spLocks noChangeArrowheads="1"/>
          </p:cNvSpPr>
          <p:nvPr/>
        </p:nvSpPr>
        <p:spPr bwMode="auto">
          <a:xfrm>
            <a:off x="158750" y="3833813"/>
            <a:ext cx="33782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635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while (cond_expr)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635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loop_body_statement</a:t>
            </a:r>
          </a:p>
        </p:txBody>
      </p:sp>
      <p:sp>
        <p:nvSpPr>
          <p:cNvPr id="570377" name="Rectangle 9"/>
          <p:cNvSpPr>
            <a:spLocks noChangeArrowheads="1"/>
          </p:cNvSpPr>
          <p:nvPr/>
        </p:nvSpPr>
        <p:spPr bwMode="auto">
          <a:xfrm>
            <a:off x="160338" y="4643438"/>
            <a:ext cx="3556000" cy="214312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c=cond_expr;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 (!c) goto done;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loop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loop_body_statement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c=cond_expr;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 (c) goto loop;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done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</a:p>
        </p:txBody>
      </p:sp>
      <p:sp>
        <p:nvSpPr>
          <p:cNvPr id="570378" name="Rectangle 10"/>
          <p:cNvSpPr>
            <a:spLocks noChangeArrowheads="1"/>
          </p:cNvSpPr>
          <p:nvPr/>
        </p:nvSpPr>
        <p:spPr bwMode="auto">
          <a:xfrm>
            <a:off x="3627438" y="2698750"/>
            <a:ext cx="5230812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635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for (begin_expr; cond_expr; update_expr)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635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	loop_body_statement</a:t>
            </a:r>
          </a:p>
        </p:txBody>
      </p:sp>
      <p:sp>
        <p:nvSpPr>
          <p:cNvPr id="124937" name="Rectangle 11"/>
          <p:cNvSpPr>
            <a:spLocks noChangeArrowheads="1"/>
          </p:cNvSpPr>
          <p:nvPr/>
        </p:nvSpPr>
        <p:spPr bwMode="auto">
          <a:xfrm>
            <a:off x="0" y="3338513"/>
            <a:ext cx="3960813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3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while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循环的机器级表示</a:t>
            </a:r>
          </a:p>
          <a:p>
            <a:pPr marL="742950" marR="0" lvl="1" indent="-285750" algn="l" defTabSz="914400" rtl="0" eaLnBrk="1" fontAlgn="auto" latinLnBrk="0" hangingPunct="1">
              <a:lnSpc>
                <a:spcPct val="11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124938" name="Rectangle 12"/>
          <p:cNvSpPr>
            <a:spLocks noChangeArrowheads="1"/>
          </p:cNvSpPr>
          <p:nvPr/>
        </p:nvSpPr>
        <p:spPr bwMode="auto">
          <a:xfrm>
            <a:off x="4346575" y="2114550"/>
            <a:ext cx="3960813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循环的机器级表示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0381" name="Rectangle 13"/>
          <p:cNvSpPr>
            <a:spLocks noChangeArrowheads="1"/>
          </p:cNvSpPr>
          <p:nvPr/>
        </p:nvSpPr>
        <p:spPr bwMode="auto">
          <a:xfrm>
            <a:off x="4346575" y="3689350"/>
            <a:ext cx="4140200" cy="284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600075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60007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begin_expr;</a:t>
            </a:r>
          </a:p>
          <a:p>
            <a:pPr marL="0" marR="0" lvl="0" indent="60007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c=cond_expr;</a:t>
            </a:r>
          </a:p>
          <a:p>
            <a:pPr marL="0" marR="0" lvl="0" indent="60007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 (!c) goto done;</a:t>
            </a:r>
          </a:p>
          <a:p>
            <a:pPr marL="0" marR="0" lvl="0" indent="60007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loop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</a:p>
          <a:p>
            <a:pPr marL="0" marR="0" lvl="0" indent="60007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loop_body_statement</a:t>
            </a:r>
          </a:p>
          <a:p>
            <a:pPr marL="0" marR="0" lvl="0" indent="60007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update_expr;</a:t>
            </a:r>
          </a:p>
          <a:p>
            <a:pPr marL="0" marR="0" lvl="0" indent="60007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c=cond_expr;</a:t>
            </a:r>
          </a:p>
          <a:p>
            <a:pPr marL="0" marR="0" lvl="0" indent="60007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 (c) goto loop;</a:t>
            </a:r>
          </a:p>
          <a:p>
            <a:pPr marL="0" marR="0" lvl="0" indent="600075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done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</a:p>
        </p:txBody>
      </p:sp>
      <p:sp>
        <p:nvSpPr>
          <p:cNvPr id="570382" name="Text Box 14"/>
          <p:cNvSpPr txBox="1">
            <a:spLocks noChangeArrowheads="1"/>
          </p:cNvSpPr>
          <p:nvPr/>
        </p:nvSpPr>
        <p:spPr bwMode="auto">
          <a:xfrm>
            <a:off x="4437063" y="1179513"/>
            <a:ext cx="3914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红色处为条件转移指令！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96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4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4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4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4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4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4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7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7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7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7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70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7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7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2" grpId="0" animBg="1"/>
      <p:bldP spid="570373" grpId="0" animBg="1"/>
      <p:bldP spid="570374" grpId="0" animBg="1"/>
      <p:bldP spid="570377" grpId="0" animBg="1"/>
      <p:bldP spid="570378" grpId="0" animBg="1"/>
      <p:bldP spid="570381" grpId="0" animBg="1"/>
      <p:bldP spid="57038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561975"/>
          </a:xfrm>
        </p:spPr>
        <p:txBody>
          <a:bodyPr/>
          <a:lstStyle/>
          <a:p>
            <a:pPr algn="just"/>
            <a:r>
              <a:rPr lang="en-US" altLang="zh-CN" sz="3600" dirty="0"/>
              <a:t>1.3 </a:t>
            </a:r>
            <a:r>
              <a:rPr lang="zh-CN" altLang="en-US" sz="3600" dirty="0"/>
              <a:t>循环结构与递归的比较</a:t>
            </a:r>
            <a:endParaRPr lang="en-US" altLang="zh-CN" sz="3600" dirty="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925" y="641350"/>
            <a:ext cx="8596313" cy="5218113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/>
              <a:t>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递归函数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nn_sum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仅为说明原理，实际上可直接用公式，为说明循环的机器级表示，这里用循环实现。</a:t>
            </a:r>
            <a:r>
              <a:rPr lang="zh-CN" altLang="en-US"/>
              <a:t> </a:t>
            </a:r>
          </a:p>
        </p:txBody>
      </p:sp>
      <p:sp>
        <p:nvSpPr>
          <p:cNvPr id="574468" name="Rectangle 4"/>
          <p:cNvSpPr>
            <a:spLocks noChangeArrowheads="1"/>
          </p:cNvSpPr>
          <p:nvPr/>
        </p:nvSpPr>
        <p:spPr bwMode="auto">
          <a:xfrm>
            <a:off x="144463" y="1624013"/>
            <a:ext cx="3532187" cy="2298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 nn_sum ( int n) 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	int i;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	int result=0;	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for (i=1; i &lt;=n; i++)  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      result+=i;   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return result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</a:p>
        </p:txBody>
      </p:sp>
      <p:sp>
        <p:nvSpPr>
          <p:cNvPr id="574469" name="Rectangle 5"/>
          <p:cNvSpPr>
            <a:spLocks noChangeArrowheads="1"/>
          </p:cNvSpPr>
          <p:nvPr/>
        </p:nvSpPr>
        <p:spPr bwMode="auto">
          <a:xfrm>
            <a:off x="4167188" y="1358900"/>
            <a:ext cx="2700337" cy="31226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tabLst>
                <a:tab pos="542925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tabLst>
                <a:tab pos="542925" algn="l"/>
              </a:tabLst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tabLst>
                <a:tab pos="542925" algn="l"/>
              </a:tabLst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tabLst>
                <a:tab pos="542925" algn="l"/>
              </a:tabLst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tabLst>
                <a:tab pos="542925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542925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542925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542925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tabLst>
                <a:tab pos="542925" algn="l"/>
              </a:tabLst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2925" algn="l"/>
              </a:tabLst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movl  8(%ebp), %ecx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29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movl  $0, %eax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29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movl  $1, %edx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29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cmpl  %ecx, %edx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29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jg    .L2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29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.L1: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29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addl  %edx, %eax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29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addl  $1, %edx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29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cmpl  %ecx, %edx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29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jle   .L1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2925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.L2   </a:t>
            </a:r>
          </a:p>
        </p:txBody>
      </p:sp>
      <p:sp>
        <p:nvSpPr>
          <p:cNvPr id="574470" name="Rectangle 6"/>
          <p:cNvSpPr>
            <a:spLocks noChangeArrowheads="1"/>
          </p:cNvSpPr>
          <p:nvPr/>
        </p:nvSpPr>
        <p:spPr bwMode="auto">
          <a:xfrm>
            <a:off x="385763" y="4990926"/>
            <a:ext cx="823595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过程体中没用到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被调用过程保存寄存器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。因而，该过程栈帧中仅需保留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EBP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，即其栈帧仅占用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字节空间，而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" action="ppaction://hlinkshowjump?jump=nextslide"/>
              </a:rPr>
              <a:t>递归方式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则占用了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(16n+12)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字节栈空间，多用了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(16n+8)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字节，每次递归调用都要执行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条指令，一共多了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次过程调用，因而，递归方式比循环方式至少多执行了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16n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条指令。由此可以看出，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为了提高程序的性能，若能用非递归方式执行则最好用非递归方式。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574471" name="Text Box 7"/>
          <p:cNvSpPr txBox="1">
            <a:spLocks noChangeArrowheads="1"/>
          </p:cNvSpPr>
          <p:nvPr/>
        </p:nvSpPr>
        <p:spPr bwMode="auto">
          <a:xfrm>
            <a:off x="6964363" y="1493838"/>
            <a:ext cx="217963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局部变量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result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被分别分配在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EDX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EAX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中。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通常复杂局部变量被分配在栈中，而这里都是简单变量</a:t>
            </a:r>
          </a:p>
        </p:txBody>
      </p:sp>
      <p:sp>
        <p:nvSpPr>
          <p:cNvPr id="574472" name="Line 8"/>
          <p:cNvSpPr>
            <a:spLocks noChangeShapeType="1"/>
          </p:cNvSpPr>
          <p:nvPr/>
        </p:nvSpPr>
        <p:spPr bwMode="auto">
          <a:xfrm flipV="1">
            <a:off x="2727325" y="1538288"/>
            <a:ext cx="1619250" cy="3159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74473" name="Line 9"/>
          <p:cNvSpPr>
            <a:spLocks noChangeShapeType="1"/>
          </p:cNvSpPr>
          <p:nvPr/>
        </p:nvSpPr>
        <p:spPr bwMode="auto">
          <a:xfrm flipV="1">
            <a:off x="2501900" y="1854200"/>
            <a:ext cx="1844675" cy="6746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74474" name="Line 10"/>
          <p:cNvSpPr>
            <a:spLocks noChangeShapeType="1"/>
          </p:cNvSpPr>
          <p:nvPr/>
        </p:nvSpPr>
        <p:spPr bwMode="auto">
          <a:xfrm flipV="1">
            <a:off x="2051050" y="2079625"/>
            <a:ext cx="2295525" cy="763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74475" name="Line 11"/>
          <p:cNvSpPr>
            <a:spLocks noChangeShapeType="1"/>
          </p:cNvSpPr>
          <p:nvPr/>
        </p:nvSpPr>
        <p:spPr bwMode="auto">
          <a:xfrm flipV="1">
            <a:off x="2681288" y="2438400"/>
            <a:ext cx="1711325" cy="360363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74476" name="Line 12"/>
          <p:cNvSpPr>
            <a:spLocks noChangeShapeType="1"/>
          </p:cNvSpPr>
          <p:nvPr/>
        </p:nvSpPr>
        <p:spPr bwMode="auto">
          <a:xfrm>
            <a:off x="2727325" y="3203575"/>
            <a:ext cx="161925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74477" name="Line 13"/>
          <p:cNvSpPr>
            <a:spLocks noChangeShapeType="1"/>
          </p:cNvSpPr>
          <p:nvPr/>
        </p:nvSpPr>
        <p:spPr bwMode="auto">
          <a:xfrm>
            <a:off x="3132138" y="2979738"/>
            <a:ext cx="1214437" cy="4937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74478" name="Line 14"/>
          <p:cNvSpPr>
            <a:spLocks noChangeShapeType="1"/>
          </p:cNvSpPr>
          <p:nvPr/>
        </p:nvSpPr>
        <p:spPr bwMode="auto">
          <a:xfrm>
            <a:off x="2681288" y="2979738"/>
            <a:ext cx="1620837" cy="854075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74479" name="Text Box 15"/>
          <p:cNvSpPr txBox="1">
            <a:spLocks noChangeArrowheads="1"/>
          </p:cNvSpPr>
          <p:nvPr/>
        </p:nvSpPr>
        <p:spPr bwMode="auto">
          <a:xfrm>
            <a:off x="7451725" y="4014788"/>
            <a:ext cx="8556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buChar char="–"/>
              <a:defRPr sz="2000" b="1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buChar char="•"/>
              <a:defRPr sz="2400" b="1">
                <a:solidFill>
                  <a:srgbClr val="00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buChar char="–"/>
              <a:defRPr sz="1600" b="1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" action="ppaction://noaction"/>
              </a:rPr>
              <a:t>SKIP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7" y="4426859"/>
            <a:ext cx="5161781" cy="29028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0" y="4696732"/>
            <a:ext cx="5170848" cy="30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8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7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7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7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74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7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74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8" grpId="0" animBg="1"/>
      <p:bldP spid="574469" grpId="0" animBg="1"/>
      <p:bldP spid="574470" grpId="0"/>
      <p:bldP spid="574471" grpId="0"/>
      <p:bldP spid="57447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561975"/>
          </a:xfrm>
        </p:spPr>
        <p:txBody>
          <a:bodyPr/>
          <a:lstStyle/>
          <a:p>
            <a:pPr algn="just"/>
            <a:r>
              <a:rPr lang="en-US" altLang="zh-CN" dirty="0">
                <a:solidFill>
                  <a:srgbClr val="C00000"/>
                </a:solidFill>
              </a:rPr>
              <a:t>1.4 </a:t>
            </a:r>
            <a:r>
              <a:rPr lang="zh-CN" altLang="en-US" dirty="0">
                <a:solidFill>
                  <a:srgbClr val="C00000"/>
                </a:solidFill>
              </a:rPr>
              <a:t>循环结构的机器级表示小结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96752"/>
            <a:ext cx="8229600" cy="5218112"/>
          </a:xfrm>
        </p:spPr>
        <p:txBody>
          <a:bodyPr>
            <a:normAutofit fontScale="70000" lnSpcReduction="20000"/>
          </a:bodyPr>
          <a:lstStyle/>
          <a:p>
            <a:pPr indent="-5400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循环结构至少包含一条条件转移指令</a:t>
            </a:r>
            <a:endParaRPr lang="en-US" altLang="zh-CN" sz="3200" dirty="0"/>
          </a:p>
          <a:p>
            <a:pPr indent="-5400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循环结束条件通常用一条比较指令</a:t>
            </a:r>
            <a:r>
              <a:rPr lang="en-US" altLang="zh-CN" sz="3200" dirty="0"/>
              <a:t>CMP</a:t>
            </a:r>
            <a:r>
              <a:rPr lang="zh-CN" altLang="en-US" sz="3200" dirty="0"/>
              <a:t>来实现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indent="-5400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循环执行效率比递归高</a:t>
            </a:r>
            <a:endParaRPr lang="en-US" altLang="zh-CN" sz="3200" dirty="0"/>
          </a:p>
          <a:p>
            <a:pPr indent="-5400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在编程中尽量用循环代替递归，提高程序性能，对应</a:t>
            </a:r>
            <a:r>
              <a:rPr lang="zh-CN" altLang="en-US" sz="3200" dirty="0">
                <a:solidFill>
                  <a:srgbClr val="FF0000"/>
                </a:solidFill>
              </a:rPr>
              <a:t>工程思维</a:t>
            </a:r>
            <a:r>
              <a:rPr lang="zh-CN" altLang="en-US" sz="3200" dirty="0"/>
              <a:t>的思政目标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32298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以下关于循环结构语句的机器级代码表示的叙述中，错误的是（）。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一定至少包含一条条件转移指令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不一定包含无条件转移指令</a:t>
            </a: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循环结束条件通常用一条比较指令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CMP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来实现</a:t>
            </a: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循环体内执行的指令不包含条件转移指令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10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425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3816424"/>
          </a:xfrm>
        </p:spPr>
        <p:txBody>
          <a:bodyPr>
            <a:normAutofit fontScale="85000" lnSpcReduction="10000"/>
          </a:bodyPr>
          <a:lstStyle/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过程调用的机器级表示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递归调用</a:t>
            </a:r>
            <a:endParaRPr lang="en-US" altLang="zh-CN" dirty="0"/>
          </a:p>
          <a:p>
            <a:pPr lvl="1" indent="-54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过程调用举例</a:t>
            </a:r>
            <a:endParaRPr lang="en-US" altLang="zh-CN" dirty="0"/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选择结构的机器级</a:t>
            </a:r>
            <a:r>
              <a:rPr lang="zh-CN" altLang="en-US" dirty="0" smtClean="0"/>
              <a:t>表示</a:t>
            </a:r>
            <a:endParaRPr lang="en-US" altLang="zh-CN" dirty="0" smtClean="0"/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循环结构的机器级表示</a:t>
            </a:r>
            <a:endParaRPr lang="en-US" altLang="zh-CN" dirty="0"/>
          </a:p>
          <a:p>
            <a:pPr indent="-5400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完成</a:t>
            </a:r>
            <a:r>
              <a:rPr lang="en-US" altLang="zh-CN" dirty="0">
                <a:solidFill>
                  <a:srgbClr val="FF0000"/>
                </a:solidFill>
              </a:rPr>
              <a:t>ZJOOC</a:t>
            </a:r>
            <a:r>
              <a:rPr lang="zh-CN" altLang="en-US" dirty="0" smtClean="0">
                <a:solidFill>
                  <a:srgbClr val="FF0000"/>
                </a:solidFill>
              </a:rPr>
              <a:t>作业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08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沉稳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algn="ctr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>
        <a:spAutoFit/>
      </a:bodyPr>
      <a:lstStyle>
        <a:defPPr>
          <a:lnSpc>
            <a:spcPct val="100000"/>
          </a:lnSpc>
          <a:spcBef>
            <a:spcPct val="50000"/>
          </a:spcBef>
          <a:buFontTx/>
          <a:buNone/>
          <a:defRPr sz="1800" dirty="0">
            <a:solidFill>
              <a:srgbClr val="FF33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Office 主题​​">
  <a:themeElements>
    <a:clrScheme name="沉稳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algn="ctr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>
        <a:spAutoFit/>
      </a:bodyPr>
      <a:lstStyle>
        <a:defPPr>
          <a:lnSpc>
            <a:spcPct val="100000"/>
          </a:lnSpc>
          <a:spcBef>
            <a:spcPct val="50000"/>
          </a:spcBef>
          <a:buFontTx/>
          <a:buNone/>
          <a:defRPr sz="1800" dirty="0">
            <a:solidFill>
              <a:srgbClr val="FF33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7299</TotalTime>
  <Words>3075</Words>
  <Application>Microsoft Office PowerPoint</Application>
  <PresentationFormat>全屏显示(4:3)</PresentationFormat>
  <Paragraphs>473</Paragraphs>
  <Slides>38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60" baseType="lpstr">
      <vt:lpstr>Lucida Grande</vt:lpstr>
      <vt:lpstr>Microsoft Yahei</vt:lpstr>
      <vt:lpstr>Monaco</vt:lpstr>
      <vt:lpstr>msgothic</vt:lpstr>
      <vt:lpstr>Zapf Dingbats</vt:lpstr>
      <vt:lpstr>ヒラギノ角ゴ ProN W3</vt:lpstr>
      <vt:lpstr>黑体</vt:lpstr>
      <vt:lpstr>宋体</vt:lpstr>
      <vt:lpstr>微软雅黑</vt:lpstr>
      <vt:lpstr>幼圆</vt:lpstr>
      <vt:lpstr>Arial</vt:lpstr>
      <vt:lpstr>Arial Black</vt:lpstr>
      <vt:lpstr>Arial Narrow</vt:lpstr>
      <vt:lpstr>Calibri</vt:lpstr>
      <vt:lpstr>Century Gothic</vt:lpstr>
      <vt:lpstr>Courier New</vt:lpstr>
      <vt:lpstr>Symbol</vt:lpstr>
      <vt:lpstr>Times New Roman</vt:lpstr>
      <vt:lpstr>Wingdings</vt:lpstr>
      <vt:lpstr>1_默认设计模板</vt:lpstr>
      <vt:lpstr>Office 主题​​</vt:lpstr>
      <vt:lpstr>1_Office 主题​​</vt:lpstr>
      <vt:lpstr>课程回顾</vt:lpstr>
      <vt:lpstr>第三章 程序的转换与机器级表示 第5课 C语言程序的机器级表示（中）</vt:lpstr>
      <vt:lpstr>提纲</vt:lpstr>
      <vt:lpstr>递归过程调用举例</vt:lpstr>
      <vt:lpstr>IA-32/Linux的存储映像</vt:lpstr>
      <vt:lpstr>递归函数nn_sum的执行流程</vt:lpstr>
      <vt:lpstr>PowerPoint 演示文稿</vt:lpstr>
      <vt:lpstr>提纲</vt:lpstr>
      <vt:lpstr>过程调用举例</vt:lpstr>
      <vt:lpstr>PowerPoint 演示文稿</vt:lpstr>
      <vt:lpstr>IA-32/Linux的存储映像</vt:lpstr>
      <vt:lpstr>非静态局部变量的存储分配</vt:lpstr>
      <vt:lpstr>PowerPoint 演示文稿</vt:lpstr>
      <vt:lpstr>Linux中的存储映像</vt:lpstr>
      <vt:lpstr>Linux中的存储映像</vt:lpstr>
      <vt:lpstr>PowerPoint 演示文稿</vt:lpstr>
      <vt:lpstr>有关“过程调用”的讨论</vt:lpstr>
      <vt:lpstr>PowerPoint 演示文稿</vt:lpstr>
      <vt:lpstr>PowerPoint 演示文稿</vt:lpstr>
      <vt:lpstr>有关“过程调用”的讨论</vt:lpstr>
      <vt:lpstr>PowerPoint 演示文稿</vt:lpstr>
      <vt:lpstr>有关“过程调用”的讨论</vt:lpstr>
      <vt:lpstr>有关“过程调用”的讨论</vt:lpstr>
      <vt:lpstr>提纲</vt:lpstr>
      <vt:lpstr>选择结构的机器级表示</vt:lpstr>
      <vt:lpstr>If-else语句举例</vt:lpstr>
      <vt:lpstr>PowerPoint 演示文稿</vt:lpstr>
      <vt:lpstr>1.1 switch-case分支结构——引入</vt:lpstr>
      <vt:lpstr>1.2 switch-case语句举例</vt:lpstr>
      <vt:lpstr>1.3 switch-case分支结构小结</vt:lpstr>
      <vt:lpstr>PowerPoint 演示文稿</vt:lpstr>
      <vt:lpstr>提纲</vt:lpstr>
      <vt:lpstr>                            1.1 循环结构——引入</vt:lpstr>
      <vt:lpstr>1.2 循环结构的机器级表示</vt:lpstr>
      <vt:lpstr>1.3 循环结构与递归的比较</vt:lpstr>
      <vt:lpstr>1.4 循环结构的机器级表示小结</vt:lpstr>
      <vt:lpstr>PowerPoint 演示文稿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yxu</dc:creator>
  <cp:lastModifiedBy>yxu</cp:lastModifiedBy>
  <cp:revision>291</cp:revision>
  <dcterms:created xsi:type="dcterms:W3CDTF">2015-12-25T12:42:28Z</dcterms:created>
  <dcterms:modified xsi:type="dcterms:W3CDTF">2026-10-26T02:07:22Z</dcterms:modified>
</cp:coreProperties>
</file>