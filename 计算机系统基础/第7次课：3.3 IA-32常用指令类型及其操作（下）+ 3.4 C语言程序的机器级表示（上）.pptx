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2.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 id="2147483781" r:id="rId2"/>
  </p:sldMasterIdLst>
  <p:notesMasterIdLst>
    <p:notesMasterId r:id="rId75"/>
  </p:notesMasterIdLst>
  <p:sldIdLst>
    <p:sldId id="405" r:id="rId3"/>
    <p:sldId id="406" r:id="rId4"/>
    <p:sldId id="407" r:id="rId5"/>
    <p:sldId id="408" r:id="rId6"/>
    <p:sldId id="409" r:id="rId7"/>
    <p:sldId id="399" r:id="rId8"/>
    <p:sldId id="400" r:id="rId9"/>
    <p:sldId id="401" r:id="rId10"/>
    <p:sldId id="403" r:id="rId11"/>
    <p:sldId id="378" r:id="rId12"/>
    <p:sldId id="410" r:id="rId13"/>
    <p:sldId id="363" r:id="rId14"/>
    <p:sldId id="341" r:id="rId15"/>
    <p:sldId id="342" r:id="rId16"/>
    <p:sldId id="343" r:id="rId17"/>
    <p:sldId id="344" r:id="rId18"/>
    <p:sldId id="364" r:id="rId19"/>
    <p:sldId id="345" r:id="rId20"/>
    <p:sldId id="346" r:id="rId21"/>
    <p:sldId id="347" r:id="rId22"/>
    <p:sldId id="349" r:id="rId23"/>
    <p:sldId id="350" r:id="rId24"/>
    <p:sldId id="351" r:id="rId25"/>
    <p:sldId id="352" r:id="rId26"/>
    <p:sldId id="353" r:id="rId27"/>
    <p:sldId id="354" r:id="rId28"/>
    <p:sldId id="355" r:id="rId29"/>
    <p:sldId id="356" r:id="rId30"/>
    <p:sldId id="357" r:id="rId31"/>
    <p:sldId id="358" r:id="rId32"/>
    <p:sldId id="360" r:id="rId33"/>
    <p:sldId id="359" r:id="rId34"/>
    <p:sldId id="379" r:id="rId35"/>
    <p:sldId id="365" r:id="rId36"/>
    <p:sldId id="361" r:id="rId37"/>
    <p:sldId id="362" r:id="rId38"/>
    <p:sldId id="366" r:id="rId39"/>
    <p:sldId id="367" r:id="rId40"/>
    <p:sldId id="368" r:id="rId41"/>
    <p:sldId id="369" r:id="rId42"/>
    <p:sldId id="370" r:id="rId43"/>
    <p:sldId id="371" r:id="rId44"/>
    <p:sldId id="372" r:id="rId45"/>
    <p:sldId id="373" r:id="rId46"/>
    <p:sldId id="374" r:id="rId47"/>
    <p:sldId id="375" r:id="rId48"/>
    <p:sldId id="376" r:id="rId49"/>
    <p:sldId id="377" r:id="rId50"/>
    <p:sldId id="404" r:id="rId51"/>
    <p:sldId id="411" r:id="rId52"/>
    <p:sldId id="412" r:id="rId53"/>
    <p:sldId id="413" r:id="rId54"/>
    <p:sldId id="414" r:id="rId55"/>
    <p:sldId id="415" r:id="rId56"/>
    <p:sldId id="416" r:id="rId57"/>
    <p:sldId id="417" r:id="rId58"/>
    <p:sldId id="418" r:id="rId59"/>
    <p:sldId id="419" r:id="rId60"/>
    <p:sldId id="420" r:id="rId61"/>
    <p:sldId id="421" r:id="rId62"/>
    <p:sldId id="422" r:id="rId63"/>
    <p:sldId id="423" r:id="rId64"/>
    <p:sldId id="424" r:id="rId65"/>
    <p:sldId id="425" r:id="rId66"/>
    <p:sldId id="426" r:id="rId67"/>
    <p:sldId id="427" r:id="rId68"/>
    <p:sldId id="428" r:id="rId69"/>
    <p:sldId id="429" r:id="rId70"/>
    <p:sldId id="430" r:id="rId71"/>
    <p:sldId id="431" r:id="rId72"/>
    <p:sldId id="432" r:id="rId73"/>
    <p:sldId id="433" r:id="rId7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3366CC"/>
    <a:srgbClr val="0066CC"/>
    <a:srgbClr val="FFCC99"/>
    <a:srgbClr val="FF9966"/>
    <a:srgbClr val="FF9933"/>
    <a:srgbClr val="66CCFF"/>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13" autoAdjust="0"/>
    <p:restoredTop sz="84346" autoAdjust="0"/>
  </p:normalViewPr>
  <p:slideViewPr>
    <p:cSldViewPr>
      <p:cViewPr varScale="1">
        <p:scale>
          <a:sx n="97" d="100"/>
          <a:sy n="97" d="100"/>
        </p:scale>
        <p:origin x="171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C150237-17FD-4886-AA58-829F8247E9FF}" type="datetimeFigureOut">
              <a:rPr lang="zh-CN" altLang="en-US" smtClean="0"/>
              <a:t>2026-10-20</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2501D7-E3D2-4920-B1B3-F88593F23640}" type="slidenum">
              <a:rPr lang="zh-CN" altLang="en-US" smtClean="0"/>
              <a:t>‹#›</a:t>
            </a:fld>
            <a:endParaRPr lang="zh-CN" altLang="en-US"/>
          </a:p>
        </p:txBody>
      </p:sp>
    </p:spTree>
    <p:extLst>
      <p:ext uri="{BB962C8B-B14F-4D97-AF65-F5344CB8AC3E}">
        <p14:creationId xmlns:p14="http://schemas.microsoft.com/office/powerpoint/2010/main" val="1073119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尊敬的各位评委，早上好，我是来自网络工程专业的徐玉，以下从教学、育人、专业建设、科研四方面介绍我的申报情况。</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62501D7-E3D2-4920-B1B3-F88593F2364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1946246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body" idx="1"/>
          </p:nvPr>
        </p:nvSpPr>
        <p:spPr>
          <a:xfrm>
            <a:off x="515938" y="4343400"/>
            <a:ext cx="5910262"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5465" tIns="41982" rIns="85465" bIns="41982"/>
          <a:lstStyle/>
          <a:p>
            <a:r>
              <a:rPr lang="en-US" altLang="zh-CN">
                <a:latin typeface="Arial" panose="020B0604020202020204" pitchFamily="34" charset="0"/>
              </a:rPr>
              <a:t>The best  thing about 2’s complement representation is that your adder does not have to know about negative number.</a:t>
            </a:r>
          </a:p>
          <a:p>
            <a:r>
              <a:rPr lang="en-US" altLang="zh-CN">
                <a:latin typeface="Arial" panose="020B0604020202020204" pitchFamily="34" charset="0"/>
              </a:rPr>
              <a:t>You just add the two numbers together and the result will take care of itself.</a:t>
            </a:r>
          </a:p>
          <a:p>
            <a:r>
              <a:rPr lang="en-US" altLang="zh-CN">
                <a:latin typeface="Arial" panose="020B0604020202020204" pitchFamily="34" charset="0"/>
              </a:rPr>
              <a:t>For example, for the operation 7 minus 6, we simply add negative 6 to positive 7 and ignore the Carry bit coming out of the most significant bit, you will have 0001, the correct result.</a:t>
            </a:r>
          </a:p>
          <a:p>
            <a:endParaRPr lang="en-US" altLang="zh-CN">
              <a:latin typeface="Arial" panose="020B0604020202020204" pitchFamily="34" charset="0"/>
            </a:endParaRPr>
          </a:p>
          <a:p>
            <a:r>
              <a:rPr lang="en-US" altLang="zh-CN">
                <a:latin typeface="Arial" panose="020B0604020202020204" pitchFamily="34" charset="0"/>
              </a:rPr>
              <a:t>+1 = 24 min. (Y:04)</a:t>
            </a:r>
          </a:p>
        </p:txBody>
      </p:sp>
      <p:sp>
        <p:nvSpPr>
          <p:cNvPr id="50179" name="Rectangle 3"/>
          <p:cNvSpPr>
            <a:spLocks noGrp="1" noRot="1" noChangeAspect="1" noChangeArrowheads="1" noTextEdit="1"/>
          </p:cNvSpPr>
          <p:nvPr>
            <p:ph type="sldImg"/>
          </p:nvPr>
        </p:nvSpPr>
        <p:spPr>
          <a:xfrm>
            <a:off x="1143000" y="574675"/>
            <a:ext cx="4589463" cy="3441700"/>
          </a:xfrm>
          <a:ln/>
        </p:spPr>
      </p:sp>
    </p:spTree>
    <p:extLst>
      <p:ext uri="{BB962C8B-B14F-4D97-AF65-F5344CB8AC3E}">
        <p14:creationId xmlns:p14="http://schemas.microsoft.com/office/powerpoint/2010/main" val="190282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62501D7-E3D2-4920-B1B3-F88593F23640}" type="slidenum">
              <a:rPr lang="zh-CN" altLang="en-US" smtClean="0"/>
              <a:t>31</a:t>
            </a:fld>
            <a:endParaRPr lang="zh-CN" altLang="en-US"/>
          </a:p>
        </p:txBody>
      </p:sp>
    </p:spTree>
    <p:extLst>
      <p:ext uri="{BB962C8B-B14F-4D97-AF65-F5344CB8AC3E}">
        <p14:creationId xmlns:p14="http://schemas.microsoft.com/office/powerpoint/2010/main" val="36297916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body" idx="1"/>
          </p:nvPr>
        </p:nvSpPr>
        <p:spPr>
          <a:xfrm>
            <a:off x="515938" y="4343400"/>
            <a:ext cx="5910262"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5465" tIns="41982" rIns="85465" bIns="41982"/>
          <a:lstStyle/>
          <a:p>
            <a:r>
              <a:rPr lang="en-US" altLang="zh-CN">
                <a:latin typeface="Arial" panose="020B0604020202020204" pitchFamily="34" charset="0"/>
              </a:rPr>
              <a:t>The best  thing about 2’s complement representation is that your adder does not have to know about negative number.</a:t>
            </a:r>
          </a:p>
          <a:p>
            <a:r>
              <a:rPr lang="en-US" altLang="zh-CN">
                <a:latin typeface="Arial" panose="020B0604020202020204" pitchFamily="34" charset="0"/>
              </a:rPr>
              <a:t>You just add the two numbers together and the result will take care of itself.</a:t>
            </a:r>
          </a:p>
          <a:p>
            <a:r>
              <a:rPr lang="en-US" altLang="zh-CN">
                <a:latin typeface="Arial" panose="020B0604020202020204" pitchFamily="34" charset="0"/>
              </a:rPr>
              <a:t>For example, for the operation 7 minus 6, we simply add negative 6 to positive 7 and ignore the Carry bit coming out of the most significant bit, you will have 0001, the correct result.</a:t>
            </a:r>
          </a:p>
          <a:p>
            <a:endParaRPr lang="en-US" altLang="zh-CN">
              <a:latin typeface="Arial" panose="020B0604020202020204" pitchFamily="34" charset="0"/>
            </a:endParaRPr>
          </a:p>
          <a:p>
            <a:r>
              <a:rPr lang="en-US" altLang="zh-CN">
                <a:latin typeface="Arial" panose="020B0604020202020204" pitchFamily="34" charset="0"/>
              </a:rPr>
              <a:t>+1 = 24 min. (Y:04)</a:t>
            </a:r>
          </a:p>
        </p:txBody>
      </p:sp>
      <p:sp>
        <p:nvSpPr>
          <p:cNvPr id="50179" name="Rectangle 3"/>
          <p:cNvSpPr>
            <a:spLocks noGrp="1" noRot="1" noChangeAspect="1" noChangeArrowheads="1" noTextEdit="1"/>
          </p:cNvSpPr>
          <p:nvPr>
            <p:ph type="sldImg"/>
          </p:nvPr>
        </p:nvSpPr>
        <p:spPr>
          <a:xfrm>
            <a:off x="1143000" y="574675"/>
            <a:ext cx="4589463" cy="3441700"/>
          </a:xfrm>
          <a:ln/>
        </p:spPr>
      </p:sp>
    </p:spTree>
    <p:extLst>
      <p:ext uri="{BB962C8B-B14F-4D97-AF65-F5344CB8AC3E}">
        <p14:creationId xmlns:p14="http://schemas.microsoft.com/office/powerpoint/2010/main" val="11184109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尊敬的各位评委，早上好，我是来自网络工程专业的徐玉，以下从教学、育人、专业建设、科研四方面介绍我的申报情况。</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62501D7-E3D2-4920-B1B3-F88593F2364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087179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62501D7-E3D2-4920-B1B3-F88593F2364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179658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6" name="Text Box 1"/>
          <p:cNvSpPr txBox="1">
            <a:spLocks noChangeArrowheads="1"/>
          </p:cNvSpPr>
          <p:nvPr/>
        </p:nvSpPr>
        <p:spPr bwMode="auto">
          <a:xfrm>
            <a:off x="2127250" y="692150"/>
            <a:ext cx="2603500" cy="3416300"/>
          </a:xfrm>
          <a:prstGeom prst="rect">
            <a:avLst/>
          </a:prstGeom>
          <a:solidFill>
            <a:srgbClr val="FFFFFF"/>
          </a:solidFill>
          <a:ln w="9525">
            <a:solidFill>
              <a:srgbClr val="000000"/>
            </a:solidFill>
            <a:miter lim="800000"/>
            <a:headEnd/>
            <a:tailEnd/>
          </a:ln>
        </p:spPr>
        <p:txBody>
          <a:bodyPr wrap="none" lIns="86630" tIns="43315" rIns="86630" bIns="43315" anchor="ctr"/>
          <a:lstStyle>
            <a:lvl1pPr defTabSz="866775">
              <a:defRPr b="1">
                <a:solidFill>
                  <a:schemeClr val="tx1"/>
                </a:solidFill>
                <a:latin typeface="微软雅黑" panose="020B0503020204020204" pitchFamily="34" charset="-122"/>
                <a:ea typeface="微软雅黑" panose="020B0503020204020204" pitchFamily="34" charset="-122"/>
              </a:defRPr>
            </a:lvl1pPr>
            <a:lvl2pPr marL="703263" indent="-269875" defTabSz="866775">
              <a:defRPr b="1">
                <a:solidFill>
                  <a:schemeClr val="tx1"/>
                </a:solidFill>
                <a:latin typeface="微软雅黑" panose="020B0503020204020204" pitchFamily="34" charset="-122"/>
                <a:ea typeface="微软雅黑" panose="020B0503020204020204" pitchFamily="34" charset="-122"/>
              </a:defRPr>
            </a:lvl2pPr>
            <a:lvl3pPr marL="1082675" indent="-215900" defTabSz="866775">
              <a:defRPr b="1">
                <a:solidFill>
                  <a:schemeClr val="tx1"/>
                </a:solidFill>
                <a:latin typeface="微软雅黑" panose="020B0503020204020204" pitchFamily="34" charset="-122"/>
                <a:ea typeface="微软雅黑" panose="020B0503020204020204" pitchFamily="34" charset="-122"/>
              </a:defRPr>
            </a:lvl3pPr>
            <a:lvl4pPr marL="1516063" indent="-215900" defTabSz="866775">
              <a:defRPr b="1">
                <a:solidFill>
                  <a:schemeClr val="tx1"/>
                </a:solidFill>
                <a:latin typeface="微软雅黑" panose="020B0503020204020204" pitchFamily="34" charset="-122"/>
                <a:ea typeface="微软雅黑" panose="020B0503020204020204" pitchFamily="34" charset="-122"/>
              </a:defRPr>
            </a:lvl4pPr>
            <a:lvl5pPr marL="1949450" indent="-217488" defTabSz="866775">
              <a:defRPr b="1">
                <a:solidFill>
                  <a:schemeClr val="tx1"/>
                </a:solidFill>
                <a:latin typeface="微软雅黑" panose="020B0503020204020204" pitchFamily="34" charset="-122"/>
                <a:ea typeface="微软雅黑" panose="020B0503020204020204" pitchFamily="34" charset="-122"/>
              </a:defRPr>
            </a:lvl5pPr>
            <a:lvl6pPr marL="2406650" indent="-217488" defTabSz="866775" eaLnBrk="0" fontAlgn="base" hangingPunct="0">
              <a:spcBef>
                <a:spcPct val="0"/>
              </a:spcBef>
              <a:spcAft>
                <a:spcPct val="0"/>
              </a:spcAft>
              <a:defRPr b="1">
                <a:solidFill>
                  <a:schemeClr val="tx1"/>
                </a:solidFill>
                <a:latin typeface="微软雅黑" panose="020B0503020204020204" pitchFamily="34" charset="-122"/>
                <a:ea typeface="微软雅黑" panose="020B0503020204020204" pitchFamily="34" charset="-122"/>
              </a:defRPr>
            </a:lvl6pPr>
            <a:lvl7pPr marL="2863850" indent="-217488" defTabSz="866775" eaLnBrk="0" fontAlgn="base" hangingPunct="0">
              <a:spcBef>
                <a:spcPct val="0"/>
              </a:spcBef>
              <a:spcAft>
                <a:spcPct val="0"/>
              </a:spcAft>
              <a:defRPr b="1">
                <a:solidFill>
                  <a:schemeClr val="tx1"/>
                </a:solidFill>
                <a:latin typeface="微软雅黑" panose="020B0503020204020204" pitchFamily="34" charset="-122"/>
                <a:ea typeface="微软雅黑" panose="020B0503020204020204" pitchFamily="34" charset="-122"/>
              </a:defRPr>
            </a:lvl7pPr>
            <a:lvl8pPr marL="3321050" indent="-217488" defTabSz="866775" eaLnBrk="0" fontAlgn="base" hangingPunct="0">
              <a:spcBef>
                <a:spcPct val="0"/>
              </a:spcBef>
              <a:spcAft>
                <a:spcPct val="0"/>
              </a:spcAft>
              <a:defRPr b="1">
                <a:solidFill>
                  <a:schemeClr val="tx1"/>
                </a:solidFill>
                <a:latin typeface="微软雅黑" panose="020B0503020204020204" pitchFamily="34" charset="-122"/>
                <a:ea typeface="微软雅黑" panose="020B0503020204020204" pitchFamily="34" charset="-122"/>
              </a:defRPr>
            </a:lvl8pPr>
            <a:lvl9pPr marL="3778250" indent="-217488" defTabSz="866775" eaLnBrk="0" fontAlgn="base" hangingPunct="0">
              <a:spcBef>
                <a:spcPct val="0"/>
              </a:spcBef>
              <a:spcAft>
                <a:spcPct val="0"/>
              </a:spcAft>
              <a:defRPr b="1">
                <a:solidFill>
                  <a:schemeClr val="tx1"/>
                </a:solidFill>
                <a:latin typeface="微软雅黑" panose="020B0503020204020204" pitchFamily="34" charset="-122"/>
                <a:ea typeface="微软雅黑" panose="020B0503020204020204" pitchFamily="34" charset="-122"/>
              </a:defRPr>
            </a:lvl9pPr>
          </a:lstStyle>
          <a:p>
            <a:pPr marL="0" marR="0" lvl="0" indent="0" algn="l" defTabSz="866775" rtl="0" eaLnBrk="1" fontAlgn="auto" latinLnBrk="0" hangingPunct="1">
              <a:lnSpc>
                <a:spcPct val="100000"/>
              </a:lnSpc>
              <a:spcBef>
                <a:spcPts val="0"/>
              </a:spcBef>
              <a:spcAft>
                <a:spcPts val="0"/>
              </a:spcAft>
              <a:buClrTx/>
              <a:buSzTx/>
              <a:buFontTx/>
              <a:buNone/>
              <a:tabLst/>
              <a:defRPr/>
            </a:pPr>
            <a:endParaRPr kumimoji="0" lang="en-US" altLang="zh-CN" sz="2300" b="1" i="0" u="none" strike="noStrike" kern="1200" cap="none" spc="0" normalizeH="0" baseline="0" noProof="0">
              <a:ln>
                <a:noFill/>
              </a:ln>
              <a:solidFill>
                <a:prstClr val="black"/>
              </a:solidFill>
              <a:effectLst/>
              <a:uLnTx/>
              <a:uFillTx/>
              <a:latin typeface="Arial Narrow" panose="020B0606020202030204" pitchFamily="34" charset="0"/>
              <a:ea typeface="宋体" panose="02010600030101010101" pitchFamily="2" charset="-122"/>
              <a:cs typeface="+mn-cs"/>
            </a:endParaRPr>
          </a:p>
        </p:txBody>
      </p:sp>
      <p:sp>
        <p:nvSpPr>
          <p:cNvPr id="77827" name="Rectangle 2"/>
          <p:cNvSpPr>
            <a:spLocks noGrp="1" noChangeArrowheads="1"/>
          </p:cNvSpPr>
          <p:nvPr>
            <p:ph type="body"/>
          </p:nvPr>
        </p:nvSpPr>
        <p:spPr>
          <a:xfrm>
            <a:off x="914400" y="4343400"/>
            <a:ext cx="5029200" cy="41163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6630" tIns="43315" rIns="86630" bIns="43315" anchor="ctr"/>
          <a:lstStyle/>
          <a:p>
            <a:endParaRPr lang="en-US" altLang="zh-CN">
              <a:latin typeface="Arial" panose="020B0604020202020204" pitchFamily="34" charset="0"/>
            </a:endParaRPr>
          </a:p>
        </p:txBody>
      </p:sp>
    </p:spTree>
    <p:extLst>
      <p:ext uri="{BB962C8B-B14F-4D97-AF65-F5344CB8AC3E}">
        <p14:creationId xmlns:p14="http://schemas.microsoft.com/office/powerpoint/2010/main" val="18253097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62501D7-E3D2-4920-B1B3-F88593F2364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643520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62501D7-E3D2-4920-B1B3-F88593F2364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497893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23787" y="2708920"/>
            <a:ext cx="7772400" cy="1470025"/>
          </a:xfrm>
        </p:spPr>
        <p:txBody>
          <a:bodyPr>
            <a:normAutofit/>
          </a:bodyPr>
          <a:lstStyle>
            <a:lvl1pPr>
              <a:defRPr sz="3200"/>
            </a:lvl1pPr>
          </a:lstStyle>
          <a:p>
            <a:r>
              <a:rPr lang="zh-CN" altLang="en-US" dirty="0"/>
              <a:t>单击此处编辑母版标题样式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2026-10-20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文本框 7"/>
          <p:cNvSpPr txBox="1"/>
          <p:nvPr userDrawn="1"/>
        </p:nvSpPr>
        <p:spPr>
          <a:xfrm>
            <a:off x="2542753" y="1340768"/>
            <a:ext cx="4134465" cy="769441"/>
          </a:xfrm>
          <a:prstGeom prst="rect">
            <a:avLst/>
          </a:prstGeom>
          <a:noFill/>
        </p:spPr>
        <p:txBody>
          <a:bodyPr wrap="none" rtlCol="0">
            <a:spAutoFit/>
          </a:bodyPr>
          <a:lstStyle/>
          <a:p>
            <a:r>
              <a:rPr lang="zh-CN" altLang="en-US" sz="4400" b="0" dirty="0">
                <a:effectLst>
                  <a:outerShdw blurRad="38100" dist="38100" dir="2700000" algn="tl">
                    <a:srgbClr val="000000">
                      <a:alpha val="43137"/>
                    </a:srgbClr>
                  </a:outerShdw>
                </a:effectLst>
              </a:rPr>
              <a:t>计算机系统基础</a:t>
            </a:r>
          </a:p>
        </p:txBody>
      </p:sp>
      <p:sp>
        <p:nvSpPr>
          <p:cNvPr id="9" name="文本框 8"/>
          <p:cNvSpPr txBox="1"/>
          <p:nvPr userDrawn="1"/>
        </p:nvSpPr>
        <p:spPr>
          <a:xfrm>
            <a:off x="2651758" y="5767641"/>
            <a:ext cx="3916457" cy="400110"/>
          </a:xfrm>
          <a:prstGeom prst="rect">
            <a:avLst/>
          </a:prstGeom>
          <a:noFill/>
        </p:spPr>
        <p:txBody>
          <a:bodyPr wrap="none" rtlCol="0">
            <a:spAutoFit/>
          </a:bodyPr>
          <a:lstStyle/>
          <a:p>
            <a:r>
              <a:rPr lang="zh-CN" altLang="en-US" sz="2000" dirty="0"/>
              <a:t>温州大学  计算机与人工智能学院</a:t>
            </a:r>
          </a:p>
        </p:txBody>
      </p:sp>
    </p:spTree>
    <p:extLst>
      <p:ext uri="{BB962C8B-B14F-4D97-AF65-F5344CB8AC3E}">
        <p14:creationId xmlns:p14="http://schemas.microsoft.com/office/powerpoint/2010/main" val="3682065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l">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2026-10-20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139647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2026-10-20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706340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2026-10-20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984238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2026-10-20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243272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2026-10-20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103185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2026-10-20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025416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2026-10-20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71545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2026-10-20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192733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2026-10-20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966451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2026-10-20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5827244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913"/>
            <a:ext cx="8229600" cy="561975"/>
          </a:xfrm>
        </p:spPr>
        <p:txBody>
          <a:bodyPr/>
          <a:lstStyle/>
          <a:p>
            <a:r>
              <a:rPr lang="zh-CN" altLang="en-US"/>
              <a:t>单击此处编辑母版标题样式</a:t>
            </a:r>
          </a:p>
        </p:txBody>
      </p:sp>
      <p:sp>
        <p:nvSpPr>
          <p:cNvPr id="3" name="表格占位符 2"/>
          <p:cNvSpPr>
            <a:spLocks noGrp="1"/>
          </p:cNvSpPr>
          <p:nvPr>
            <p:ph type="tbl" idx="1"/>
          </p:nvPr>
        </p:nvSpPr>
        <p:spPr>
          <a:xfrm>
            <a:off x="468313" y="836613"/>
            <a:ext cx="8229600" cy="5218112"/>
          </a:xfrm>
        </p:spPr>
        <p:txBody>
          <a:bodyPr/>
          <a:lstStyle/>
          <a:p>
            <a:pPr lvl="0"/>
            <a:endParaRPr lang="zh-CN" altLang="en-US" noProof="0"/>
          </a:p>
        </p:txBody>
      </p:sp>
      <p:sp>
        <p:nvSpPr>
          <p:cNvPr id="4" name="Rectangle 4">
            <a:extLst>
              <a:ext uri="{FF2B5EF4-FFF2-40B4-BE49-F238E27FC236}">
                <a16:creationId xmlns:a16="http://schemas.microsoft.com/office/drawing/2014/main" id="{786AAB20-051B-48A1-99EF-A6B6C720926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E4FE782A-8EBA-4DB4-87CC-692C50024E3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BD2B476-6B6F-45FF-AD75-CEAD2B58FD14}"/>
              </a:ext>
            </a:extLst>
          </p:cNvPr>
          <p:cNvSpPr>
            <a:spLocks noGrp="1" noChangeArrowheads="1"/>
          </p:cNvSpPr>
          <p:nvPr>
            <p:ph type="sldNum" sz="quarter" idx="12"/>
          </p:nvPr>
        </p:nvSpPr>
        <p:spPr>
          <a:ln/>
        </p:spPr>
        <p:txBody>
          <a:bodyPr/>
          <a:lstStyle>
            <a:lvl1pPr>
              <a:defRPr/>
            </a:lvl1pPr>
          </a:lstStyle>
          <a:p>
            <a:pPr>
              <a:defRPr/>
            </a:pPr>
            <a:fld id="{0CF06B8D-6482-4BB7-A194-5F8506204BE2}" type="slidenum">
              <a:rPr lang="en-US" altLang="zh-CN"/>
              <a:pPr>
                <a:defRPr/>
              </a:pPr>
              <a:t>‹#›</a:t>
            </a:fld>
            <a:endParaRPr lang="en-US" altLang="zh-CN"/>
          </a:p>
        </p:txBody>
      </p:sp>
    </p:spTree>
    <p:extLst>
      <p:ext uri="{BB962C8B-B14F-4D97-AF65-F5344CB8AC3E}">
        <p14:creationId xmlns:p14="http://schemas.microsoft.com/office/powerpoint/2010/main" val="6253444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23787" y="2708920"/>
            <a:ext cx="7772400" cy="1470025"/>
          </a:xfrm>
        </p:spPr>
        <p:txBody>
          <a:bodyPr>
            <a:normAutofit/>
          </a:bodyPr>
          <a:lstStyle>
            <a:lvl1pPr>
              <a:defRPr sz="3200"/>
            </a:lvl1pPr>
          </a:lstStyle>
          <a:p>
            <a:r>
              <a:rPr lang="zh-CN" altLang="en-US" dirty="0"/>
              <a:t>单击此处编辑母版标题样式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30820CF-B880-4189-942D-D702A7CBA730}" type="datetimeFigureOut">
              <a:rPr kumimoji="0" lang="zh-CN" altLang="en-US" sz="1200" b="0" i="0" u="none" strike="noStrike" kern="1200" cap="none" spc="0" normalizeH="0" baseline="0" noProof="0" smtClean="0">
                <a:ln>
                  <a:noFill/>
                </a:ln>
                <a:solidFill>
                  <a:srgbClr val="FF0000"/>
                </a:solidFill>
                <a:effectLst/>
                <a:uLnTx/>
                <a:uFillTx/>
                <a:latin typeface="Century Gothic"/>
                <a:ea typeface="幼圆" panose="02010509060101010101" pitchFamily="49"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2026-10-20</a:t>
            </a:fld>
            <a:endParaRPr kumimoji="0" lang="zh-CN" altLang="en-US" sz="1200" b="0" i="0" u="none" strike="noStrike" kern="1200" cap="none" spc="0" normalizeH="0" baseline="0" noProof="0">
              <a:ln>
                <a:noFill/>
              </a:ln>
              <a:solidFill>
                <a:srgbClr val="FF0000"/>
              </a:solidFill>
              <a:effectLst/>
              <a:uLnTx/>
              <a:uFillTx/>
              <a:latin typeface="Century Gothic"/>
              <a:ea typeface="幼圆" panose="020105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B0FC00E4-1594-42C3-B88B-78F0B31607C2}" type="slidenum">
              <a:rPr kumimoji="0" lang="zh-CN" altLang="en-US" sz="1200" b="0" i="0" u="none" strike="noStrike" kern="1200" cap="none" spc="0" normalizeH="0" baseline="0" noProof="0" smtClean="0">
                <a:ln>
                  <a:noFill/>
                </a:ln>
                <a:solidFill>
                  <a:prstClr val="black">
                    <a:tint val="75000"/>
                  </a:prstClr>
                </a:solidFill>
                <a:effectLst/>
                <a:uLnTx/>
                <a:uFillTx/>
                <a:latin typeface="Century Gothic"/>
                <a:ea typeface="幼圆" panose="02010509060101010101" pitchFamily="49"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dirty="0">
              <a:ln>
                <a:noFill/>
              </a:ln>
              <a:solidFill>
                <a:prstClr val="black">
                  <a:tint val="75000"/>
                </a:prstClr>
              </a:solidFill>
              <a:effectLst/>
              <a:uLnTx/>
              <a:uFillTx/>
              <a:latin typeface="Century Gothic"/>
              <a:ea typeface="幼圆" panose="020105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200" b="0" i="0" u="none" strike="noStrike" kern="1200" cap="none" spc="0" normalizeH="0" baseline="0" noProof="0" smtClean="0">
                <a:ln>
                  <a:noFill/>
                </a:ln>
                <a:solidFill>
                  <a:prstClr val="black">
                    <a:tint val="75000"/>
                  </a:prstClr>
                </a:solidFill>
                <a:effectLst/>
                <a:uLnTx/>
                <a:uFillTx/>
                <a:latin typeface="Century Gothic"/>
                <a:ea typeface="幼圆" panose="02010509060101010101" pitchFamily="49"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Century Gothic"/>
              <a:ea typeface="幼圆" panose="02010509060101010101" pitchFamily="49" charset="-122"/>
              <a:cs typeface="+mn-cs"/>
            </a:endParaRPr>
          </a:p>
        </p:txBody>
      </p:sp>
      <p:sp>
        <p:nvSpPr>
          <p:cNvPr id="8" name="文本框 7"/>
          <p:cNvSpPr txBox="1"/>
          <p:nvPr userDrawn="1"/>
        </p:nvSpPr>
        <p:spPr>
          <a:xfrm>
            <a:off x="2542753" y="1340768"/>
            <a:ext cx="4134465"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400" b="0"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entury Gothic"/>
                <a:ea typeface="幼圆" panose="02010509060101010101" pitchFamily="49" charset="-122"/>
                <a:cs typeface="+mn-cs"/>
              </a:rPr>
              <a:t>计算机系统基础</a:t>
            </a:r>
          </a:p>
        </p:txBody>
      </p:sp>
      <p:sp>
        <p:nvSpPr>
          <p:cNvPr id="9" name="文本框 8"/>
          <p:cNvSpPr txBox="1"/>
          <p:nvPr userDrawn="1"/>
        </p:nvSpPr>
        <p:spPr>
          <a:xfrm>
            <a:off x="2651758" y="5767641"/>
            <a:ext cx="391645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Century Gothic"/>
                <a:ea typeface="幼圆" panose="02010509060101010101" pitchFamily="49" charset="-122"/>
                <a:cs typeface="+mn-cs"/>
              </a:rPr>
              <a:t>温州大学  计算机与人工智能学院</a:t>
            </a:r>
          </a:p>
        </p:txBody>
      </p:sp>
    </p:spTree>
    <p:extLst>
      <p:ext uri="{BB962C8B-B14F-4D97-AF65-F5344CB8AC3E}">
        <p14:creationId xmlns:p14="http://schemas.microsoft.com/office/powerpoint/2010/main" val="42636415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l">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30820CF-B880-4189-942D-D702A7CBA730}" type="datetimeFigureOut">
              <a:rPr kumimoji="0" lang="zh-CN" altLang="en-US" sz="1200" b="0" i="0" u="none" strike="noStrike" kern="1200" cap="none" spc="0" normalizeH="0" baseline="0" noProof="0" smtClean="0">
                <a:ln>
                  <a:noFill/>
                </a:ln>
                <a:solidFill>
                  <a:srgbClr val="FF0000"/>
                </a:solidFill>
                <a:effectLst/>
                <a:uLnTx/>
                <a:uFillTx/>
                <a:latin typeface="Century Gothic"/>
                <a:ea typeface="幼圆" panose="02010509060101010101" pitchFamily="49"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2026-10-20</a:t>
            </a:fld>
            <a:endParaRPr kumimoji="0" lang="zh-CN" altLang="en-US" sz="1200" b="0" i="0" u="none" strike="noStrike" kern="1200" cap="none" spc="0" normalizeH="0" baseline="0" noProof="0">
              <a:ln>
                <a:noFill/>
              </a:ln>
              <a:solidFill>
                <a:srgbClr val="FF0000"/>
              </a:solidFill>
              <a:effectLst/>
              <a:uLnTx/>
              <a:uFillTx/>
              <a:latin typeface="Century Gothic"/>
              <a:ea typeface="幼圆" panose="020105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tint val="75000"/>
                  </a:prstClr>
                </a:solidFill>
                <a:effectLst/>
                <a:uLnTx/>
                <a:uFillTx/>
                <a:latin typeface="Century Gothic"/>
                <a:ea typeface="幼圆" panose="02010509060101010101" pitchFamily="49" charset="-122"/>
                <a:cs typeface="+mn-cs"/>
              </a:rPr>
              <a:t>第</a:t>
            </a:r>
            <a:fld id="{D3F382D2-02D9-4F33-AFB2-E549A8C674D3}" type="slidenum">
              <a:rPr kumimoji="0" lang="zh-CN" altLang="en-US" sz="1200" b="0" i="0" u="none" strike="noStrike" kern="1200" cap="none" spc="0" normalizeH="0" baseline="0" noProof="0" smtClean="0">
                <a:ln>
                  <a:noFill/>
                </a:ln>
                <a:solidFill>
                  <a:prstClr val="black">
                    <a:tint val="75000"/>
                  </a:prstClr>
                </a:solidFill>
                <a:effectLst/>
                <a:uLnTx/>
                <a:uFillTx/>
                <a:latin typeface="Century Gothic"/>
                <a:ea typeface="幼圆" panose="02010509060101010101" pitchFamily="49"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r>
              <a:rPr kumimoji="0" lang="zh-CN" altLang="en-US" sz="1200" b="0" i="0" u="none" strike="noStrike" kern="1200" cap="none" spc="0" normalizeH="0" baseline="0" noProof="0" dirty="0">
                <a:ln>
                  <a:noFill/>
                </a:ln>
                <a:solidFill>
                  <a:prstClr val="black">
                    <a:tint val="75000"/>
                  </a:prstClr>
                </a:solidFill>
                <a:effectLst/>
                <a:uLnTx/>
                <a:uFillTx/>
                <a:latin typeface="Century Gothic"/>
                <a:ea typeface="幼圆" panose="02010509060101010101" pitchFamily="49" charset="-122"/>
                <a:cs typeface="+mn-cs"/>
              </a:rPr>
              <a:t>页</a:t>
            </a: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200" b="0" i="0" u="none" strike="noStrike" kern="1200" cap="none" spc="0" normalizeH="0" baseline="0" noProof="0" smtClean="0">
                <a:ln>
                  <a:noFill/>
                </a:ln>
                <a:solidFill>
                  <a:prstClr val="black">
                    <a:tint val="75000"/>
                  </a:prstClr>
                </a:solidFill>
                <a:effectLst/>
                <a:uLnTx/>
                <a:uFillTx/>
                <a:latin typeface="Century Gothic"/>
                <a:ea typeface="幼圆" panose="02010509060101010101" pitchFamily="49"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dirty="0">
              <a:ln>
                <a:noFill/>
              </a:ln>
              <a:solidFill>
                <a:prstClr val="black">
                  <a:tint val="75000"/>
                </a:prstClr>
              </a:solidFill>
              <a:effectLst/>
              <a:uLnTx/>
              <a:uFillTx/>
              <a:latin typeface="Century Gothic"/>
              <a:ea typeface="幼圆" panose="02010509060101010101" pitchFamily="49" charset="-122"/>
              <a:cs typeface="+mn-cs"/>
            </a:endParaRPr>
          </a:p>
        </p:txBody>
      </p:sp>
    </p:spTree>
    <p:extLst>
      <p:ext uri="{BB962C8B-B14F-4D97-AF65-F5344CB8AC3E}">
        <p14:creationId xmlns:p14="http://schemas.microsoft.com/office/powerpoint/2010/main" val="31648690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30820CF-B880-4189-942D-D702A7CBA730}" type="datetimeFigureOut">
              <a:rPr kumimoji="0" lang="zh-CN" altLang="en-US" sz="1200" b="0" i="0" u="none" strike="noStrike" kern="1200" cap="none" spc="0" normalizeH="0" baseline="0" noProof="0" smtClean="0">
                <a:ln>
                  <a:noFill/>
                </a:ln>
                <a:solidFill>
                  <a:srgbClr val="FF0000"/>
                </a:solidFill>
                <a:effectLst/>
                <a:uLnTx/>
                <a:uFillTx/>
                <a:latin typeface="Century Gothic"/>
                <a:ea typeface="幼圆" panose="02010509060101010101" pitchFamily="49"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2026-10-20</a:t>
            </a:fld>
            <a:endParaRPr kumimoji="0" lang="zh-CN" altLang="en-US" sz="1200" b="0" i="0" u="none" strike="noStrike" kern="1200" cap="none" spc="0" normalizeH="0" baseline="0" noProof="0">
              <a:ln>
                <a:noFill/>
              </a:ln>
              <a:solidFill>
                <a:srgbClr val="FF0000"/>
              </a:solidFill>
              <a:effectLst/>
              <a:uLnTx/>
              <a:uFillTx/>
              <a:latin typeface="Century Gothic"/>
              <a:ea typeface="幼圆" panose="02010509060101010101" pitchFamily="49"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DB2AD48-2217-45F9-95E0-F1CCFBEA353C}" type="slidenum">
              <a:rPr kumimoji="0" lang="zh-CN" altLang="en-US" sz="1200" b="0" i="0" u="none" strike="noStrike" kern="1200" cap="none" spc="0" normalizeH="0" baseline="0" noProof="0" smtClean="0">
                <a:ln>
                  <a:noFill/>
                </a:ln>
                <a:solidFill>
                  <a:prstClr val="black">
                    <a:tint val="75000"/>
                  </a:prstClr>
                </a:solidFill>
                <a:effectLst/>
                <a:uLnTx/>
                <a:uFillTx/>
                <a:latin typeface="Century Gothic"/>
                <a:ea typeface="幼圆" panose="02010509060101010101" pitchFamily="49"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dirty="0">
              <a:ln>
                <a:noFill/>
              </a:ln>
              <a:solidFill>
                <a:prstClr val="black">
                  <a:tint val="75000"/>
                </a:prstClr>
              </a:solidFill>
              <a:effectLst/>
              <a:uLnTx/>
              <a:uFillTx/>
              <a:latin typeface="Century Gothic"/>
              <a:ea typeface="幼圆" panose="02010509060101010101" pitchFamily="49"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200" b="0" i="0" u="none" strike="noStrike" kern="1200" cap="none" spc="0" normalizeH="0" baseline="0" noProof="0" smtClean="0">
                <a:ln>
                  <a:noFill/>
                </a:ln>
                <a:solidFill>
                  <a:prstClr val="black">
                    <a:tint val="75000"/>
                  </a:prstClr>
                </a:solidFill>
                <a:effectLst/>
                <a:uLnTx/>
                <a:uFillTx/>
                <a:latin typeface="Century Gothic"/>
                <a:ea typeface="幼圆" panose="02010509060101010101" pitchFamily="49"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Century Gothic"/>
              <a:ea typeface="幼圆" panose="02010509060101010101" pitchFamily="49" charset="-122"/>
              <a:cs typeface="+mn-cs"/>
            </a:endParaRPr>
          </a:p>
        </p:txBody>
      </p:sp>
    </p:spTree>
    <p:extLst>
      <p:ext uri="{BB962C8B-B14F-4D97-AF65-F5344CB8AC3E}">
        <p14:creationId xmlns:p14="http://schemas.microsoft.com/office/powerpoint/2010/main" val="1719061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2026-10-20</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
        <p:nvSpPr>
          <p:cNvPr id="7" name="矩形 6"/>
          <p:cNvSpPr/>
          <p:nvPr userDrawn="1"/>
        </p:nvSpPr>
        <p:spPr>
          <a:xfrm>
            <a:off x="0" y="-27384"/>
            <a:ext cx="9144000" cy="45719"/>
          </a:xfrm>
          <a:prstGeom prst="rect">
            <a:avLst/>
          </a:prstGeom>
          <a:solidFill>
            <a:schemeClr val="bg2">
              <a:lumMod val="9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0" y="41566"/>
            <a:ext cx="9144000" cy="14402"/>
          </a:xfrm>
          <a:prstGeom prst="rect">
            <a:avLst/>
          </a:prstGeom>
          <a:solidFill>
            <a:schemeClr val="bg2">
              <a:lumMod val="9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0" y="6766562"/>
            <a:ext cx="9144000" cy="91438"/>
          </a:xfrm>
          <a:prstGeom prst="rect">
            <a:avLst/>
          </a:prstGeom>
          <a:solidFill>
            <a:schemeClr val="bg2">
              <a:lumMod val="9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nvSpPr>
        <p:spPr>
          <a:xfrm>
            <a:off x="0" y="6702050"/>
            <a:ext cx="9144000" cy="28804"/>
          </a:xfrm>
          <a:prstGeom prst="rect">
            <a:avLst/>
          </a:prstGeom>
          <a:solidFill>
            <a:schemeClr val="bg2">
              <a:lumMod val="9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26911348"/>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rgbClr val="FF0000"/>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30820CF-B880-4189-942D-D702A7CBA730}" type="datetimeFigureOut">
              <a:rPr kumimoji="0" lang="zh-CN" altLang="en-US" sz="1200" b="0" i="0" u="none" strike="noStrike" kern="1200" cap="none" spc="0" normalizeH="0" baseline="0" noProof="0" smtClean="0">
                <a:ln>
                  <a:noFill/>
                </a:ln>
                <a:solidFill>
                  <a:srgbClr val="FF0000"/>
                </a:solidFill>
                <a:effectLst/>
                <a:uLnTx/>
                <a:uFillTx/>
                <a:latin typeface="Century Gothic"/>
                <a:ea typeface="幼圆" panose="02010509060101010101" pitchFamily="49"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2026-10-20</a:t>
            </a:fld>
            <a:endParaRPr kumimoji="0" lang="zh-CN" altLang="en-US" sz="1200" b="0"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244ADB1-C9D2-4A0E-B902-E4DF9BB28B0F}" type="slidenum">
              <a:rPr kumimoji="0" lang="zh-CN" altLang="en-US" sz="1200" b="0" i="0" u="none" strike="noStrike" kern="1200" cap="none" spc="0" normalizeH="0" baseline="0" noProof="0" smtClean="0">
                <a:ln>
                  <a:noFill/>
                </a:ln>
                <a:solidFill>
                  <a:prstClr val="black">
                    <a:tint val="75000"/>
                  </a:prstClr>
                </a:solidFill>
                <a:effectLst/>
                <a:uLnTx/>
                <a:uFillTx/>
                <a:latin typeface="Century Gothic"/>
                <a:ea typeface="幼圆" panose="02010509060101010101" pitchFamily="49"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dirty="0">
              <a:ln>
                <a:noFill/>
              </a:ln>
              <a:solidFill>
                <a:prstClr val="black">
                  <a:tint val="75000"/>
                </a:prstClr>
              </a:solidFill>
              <a:effectLst/>
              <a:uLnTx/>
              <a:uFillTx/>
              <a:latin typeface="Century Gothic"/>
              <a:ea typeface="幼圆" panose="02010509060101010101" pitchFamily="49"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200" b="0" i="0" u="none" strike="noStrike" kern="1200" cap="none" spc="0" normalizeH="0" baseline="0" noProof="0" smtClean="0">
                <a:ln>
                  <a:noFill/>
                </a:ln>
                <a:solidFill>
                  <a:prstClr val="black">
                    <a:tint val="75000"/>
                  </a:prstClr>
                </a:solidFill>
                <a:effectLst/>
                <a:uLnTx/>
                <a:uFillTx/>
                <a:latin typeface="Century Gothic"/>
                <a:ea typeface="幼圆" panose="02010509060101010101" pitchFamily="49"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Century Gothic"/>
              <a:ea typeface="幼圆" panose="02010509060101010101" pitchFamily="49" charset="-122"/>
              <a:cs typeface="+mn-cs"/>
            </a:endParaRPr>
          </a:p>
        </p:txBody>
      </p:sp>
      <p:sp>
        <p:nvSpPr>
          <p:cNvPr id="7" name="矩形 6"/>
          <p:cNvSpPr/>
          <p:nvPr userDrawn="1"/>
        </p:nvSpPr>
        <p:spPr>
          <a:xfrm>
            <a:off x="0" y="-27384"/>
            <a:ext cx="9144000" cy="45719"/>
          </a:xfrm>
          <a:prstGeom prst="rect">
            <a:avLst/>
          </a:prstGeom>
          <a:solidFill>
            <a:schemeClr val="bg2">
              <a:lumMod val="9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entury Gothic"/>
              <a:ea typeface="幼圆" panose="02010509060101010101" pitchFamily="49" charset="-122"/>
              <a:cs typeface="+mn-cs"/>
            </a:endParaRPr>
          </a:p>
        </p:txBody>
      </p:sp>
      <p:sp>
        <p:nvSpPr>
          <p:cNvPr id="8" name="矩形 7"/>
          <p:cNvSpPr/>
          <p:nvPr userDrawn="1"/>
        </p:nvSpPr>
        <p:spPr>
          <a:xfrm>
            <a:off x="0" y="41566"/>
            <a:ext cx="9144000" cy="14402"/>
          </a:xfrm>
          <a:prstGeom prst="rect">
            <a:avLst/>
          </a:prstGeom>
          <a:solidFill>
            <a:schemeClr val="bg2">
              <a:lumMod val="9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entury Gothic"/>
              <a:ea typeface="幼圆" panose="02010509060101010101" pitchFamily="49" charset="-122"/>
              <a:cs typeface="+mn-cs"/>
            </a:endParaRPr>
          </a:p>
        </p:txBody>
      </p:sp>
      <p:sp>
        <p:nvSpPr>
          <p:cNvPr id="12" name="矩形 11"/>
          <p:cNvSpPr/>
          <p:nvPr userDrawn="1"/>
        </p:nvSpPr>
        <p:spPr>
          <a:xfrm>
            <a:off x="0" y="6766562"/>
            <a:ext cx="9144000" cy="91438"/>
          </a:xfrm>
          <a:prstGeom prst="rect">
            <a:avLst/>
          </a:prstGeom>
          <a:solidFill>
            <a:schemeClr val="bg2">
              <a:lumMod val="9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entury Gothic"/>
              <a:ea typeface="幼圆" panose="02010509060101010101" pitchFamily="49" charset="-122"/>
              <a:cs typeface="+mn-cs"/>
            </a:endParaRPr>
          </a:p>
        </p:txBody>
      </p:sp>
      <p:sp>
        <p:nvSpPr>
          <p:cNvPr id="13" name="矩形 12"/>
          <p:cNvSpPr/>
          <p:nvPr userDrawn="1"/>
        </p:nvSpPr>
        <p:spPr>
          <a:xfrm>
            <a:off x="0" y="6702050"/>
            <a:ext cx="9144000" cy="28804"/>
          </a:xfrm>
          <a:prstGeom prst="rect">
            <a:avLst/>
          </a:prstGeom>
          <a:solidFill>
            <a:schemeClr val="bg2">
              <a:lumMod val="9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entury Gothic"/>
              <a:ea typeface="幼圆" panose="02010509060101010101" pitchFamily="49" charset="-122"/>
              <a:cs typeface="+mn-cs"/>
            </a:endParaRPr>
          </a:p>
        </p:txBody>
      </p:sp>
    </p:spTree>
    <p:extLst>
      <p:ext uri="{BB962C8B-B14F-4D97-AF65-F5344CB8AC3E}">
        <p14:creationId xmlns:p14="http://schemas.microsoft.com/office/powerpoint/2010/main" val="3936202600"/>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image" Target="../media/image8.tmp"/><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slideLayout" Target="../slideLayouts/slideLayout7.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3" Type="http://schemas.openxmlformats.org/officeDocument/2006/relationships/tags" Target="../tags/tag40.xml"/><Relationship Id="rId18" Type="http://schemas.openxmlformats.org/officeDocument/2006/relationships/tags" Target="../tags/tag45.xml"/><Relationship Id="rId26" Type="http://schemas.openxmlformats.org/officeDocument/2006/relationships/tags" Target="../tags/tag53.xml"/><Relationship Id="rId3" Type="http://schemas.openxmlformats.org/officeDocument/2006/relationships/tags" Target="../tags/tag30.xml"/><Relationship Id="rId21" Type="http://schemas.openxmlformats.org/officeDocument/2006/relationships/tags" Target="../tags/tag48.xml"/><Relationship Id="rId34" Type="http://schemas.openxmlformats.org/officeDocument/2006/relationships/image" Target="../media/image8.tmp"/><Relationship Id="rId7" Type="http://schemas.openxmlformats.org/officeDocument/2006/relationships/tags" Target="../tags/tag34.xml"/><Relationship Id="rId12" Type="http://schemas.openxmlformats.org/officeDocument/2006/relationships/tags" Target="../tags/tag39.xml"/><Relationship Id="rId17" Type="http://schemas.openxmlformats.org/officeDocument/2006/relationships/tags" Target="../tags/tag44.xml"/><Relationship Id="rId25" Type="http://schemas.openxmlformats.org/officeDocument/2006/relationships/tags" Target="../tags/tag52.xml"/><Relationship Id="rId33" Type="http://schemas.openxmlformats.org/officeDocument/2006/relationships/image" Target="../media/image16.png"/><Relationship Id="rId2" Type="http://schemas.openxmlformats.org/officeDocument/2006/relationships/tags" Target="../tags/tag29.xml"/><Relationship Id="rId16" Type="http://schemas.openxmlformats.org/officeDocument/2006/relationships/tags" Target="../tags/tag43.xml"/><Relationship Id="rId20" Type="http://schemas.openxmlformats.org/officeDocument/2006/relationships/tags" Target="../tags/tag47.xml"/><Relationship Id="rId29" Type="http://schemas.openxmlformats.org/officeDocument/2006/relationships/notesSlide" Target="../notesSlides/notesSlide3.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tags" Target="../tags/tag38.xml"/><Relationship Id="rId24" Type="http://schemas.openxmlformats.org/officeDocument/2006/relationships/tags" Target="../tags/tag51.xml"/><Relationship Id="rId32" Type="http://schemas.openxmlformats.org/officeDocument/2006/relationships/image" Target="../media/image15.png"/><Relationship Id="rId5" Type="http://schemas.openxmlformats.org/officeDocument/2006/relationships/tags" Target="../tags/tag32.xml"/><Relationship Id="rId15" Type="http://schemas.openxmlformats.org/officeDocument/2006/relationships/tags" Target="../tags/tag42.xml"/><Relationship Id="rId23" Type="http://schemas.openxmlformats.org/officeDocument/2006/relationships/tags" Target="../tags/tag50.xml"/><Relationship Id="rId28" Type="http://schemas.openxmlformats.org/officeDocument/2006/relationships/slideLayout" Target="../slideLayouts/slideLayout7.xml"/><Relationship Id="rId10" Type="http://schemas.openxmlformats.org/officeDocument/2006/relationships/tags" Target="../tags/tag37.xml"/><Relationship Id="rId19" Type="http://schemas.openxmlformats.org/officeDocument/2006/relationships/tags" Target="../tags/tag46.xml"/><Relationship Id="rId31" Type="http://schemas.openxmlformats.org/officeDocument/2006/relationships/image" Target="../media/image14.png"/><Relationship Id="rId4" Type="http://schemas.openxmlformats.org/officeDocument/2006/relationships/tags" Target="../tags/tag31.xml"/><Relationship Id="rId9" Type="http://schemas.openxmlformats.org/officeDocument/2006/relationships/tags" Target="../tags/tag36.xml"/><Relationship Id="rId14" Type="http://schemas.openxmlformats.org/officeDocument/2006/relationships/tags" Target="../tags/tag41.xml"/><Relationship Id="rId22" Type="http://schemas.openxmlformats.org/officeDocument/2006/relationships/tags" Target="../tags/tag49.xml"/><Relationship Id="rId27" Type="http://schemas.openxmlformats.org/officeDocument/2006/relationships/tags" Target="../tags/tag54.xml"/><Relationship Id="rId30" Type="http://schemas.openxmlformats.org/officeDocument/2006/relationships/image" Target="../media/image13.png"/><Relationship Id="rId8" Type="http://schemas.openxmlformats.org/officeDocument/2006/relationships/tags" Target="../tags/tag3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8" Type="http://schemas.openxmlformats.org/officeDocument/2006/relationships/tags" Target="../tags/tag62.xml"/><Relationship Id="rId13" Type="http://schemas.openxmlformats.org/officeDocument/2006/relationships/tags" Target="../tags/tag67.xml"/><Relationship Id="rId18" Type="http://schemas.openxmlformats.org/officeDocument/2006/relationships/slideLayout" Target="../slideLayouts/slideLayout15.xml"/><Relationship Id="rId3" Type="http://schemas.openxmlformats.org/officeDocument/2006/relationships/tags" Target="../tags/tag57.xml"/><Relationship Id="rId7" Type="http://schemas.openxmlformats.org/officeDocument/2006/relationships/tags" Target="../tags/tag61.xml"/><Relationship Id="rId12" Type="http://schemas.openxmlformats.org/officeDocument/2006/relationships/tags" Target="../tags/tag66.xml"/><Relationship Id="rId17" Type="http://schemas.openxmlformats.org/officeDocument/2006/relationships/tags" Target="../tags/tag71.xml"/><Relationship Id="rId2" Type="http://schemas.openxmlformats.org/officeDocument/2006/relationships/tags" Target="../tags/tag56.xml"/><Relationship Id="rId16" Type="http://schemas.openxmlformats.org/officeDocument/2006/relationships/tags" Target="../tags/tag70.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tags" Target="../tags/tag65.xml"/><Relationship Id="rId5" Type="http://schemas.openxmlformats.org/officeDocument/2006/relationships/tags" Target="../tags/tag59.xml"/><Relationship Id="rId15" Type="http://schemas.openxmlformats.org/officeDocument/2006/relationships/tags" Target="../tags/tag69.xml"/><Relationship Id="rId10" Type="http://schemas.openxmlformats.org/officeDocument/2006/relationships/tags" Target="../tags/tag64.xml"/><Relationship Id="rId19" Type="http://schemas.openxmlformats.org/officeDocument/2006/relationships/image" Target="../media/image8.tmp"/><Relationship Id="rId4" Type="http://schemas.openxmlformats.org/officeDocument/2006/relationships/tags" Target="../tags/tag58.xml"/><Relationship Id="rId9" Type="http://schemas.openxmlformats.org/officeDocument/2006/relationships/tags" Target="../tags/tag63.xml"/><Relationship Id="rId14" Type="http://schemas.openxmlformats.org/officeDocument/2006/relationships/tags" Target="../tags/tag68.xml"/></Relationships>
</file>

<file path=ppt/slides/_rels/slide57.xml.rels><?xml version="1.0" encoding="UTF-8" standalone="yes"?>
<Relationships xmlns="http://schemas.openxmlformats.org/package/2006/relationships"><Relationship Id="rId8" Type="http://schemas.openxmlformats.org/officeDocument/2006/relationships/tags" Target="../tags/tag79.xml"/><Relationship Id="rId13" Type="http://schemas.openxmlformats.org/officeDocument/2006/relationships/tags" Target="../tags/tag84.xml"/><Relationship Id="rId18" Type="http://schemas.openxmlformats.org/officeDocument/2006/relationships/slideLayout" Target="../slideLayouts/slideLayout15.xml"/><Relationship Id="rId3" Type="http://schemas.openxmlformats.org/officeDocument/2006/relationships/tags" Target="../tags/tag74.xml"/><Relationship Id="rId7" Type="http://schemas.openxmlformats.org/officeDocument/2006/relationships/tags" Target="../tags/tag78.xml"/><Relationship Id="rId12" Type="http://schemas.openxmlformats.org/officeDocument/2006/relationships/tags" Target="../tags/tag83.xml"/><Relationship Id="rId17" Type="http://schemas.openxmlformats.org/officeDocument/2006/relationships/tags" Target="../tags/tag88.xml"/><Relationship Id="rId2" Type="http://schemas.openxmlformats.org/officeDocument/2006/relationships/tags" Target="../tags/tag73.xml"/><Relationship Id="rId16" Type="http://schemas.openxmlformats.org/officeDocument/2006/relationships/tags" Target="../tags/tag87.xml"/><Relationship Id="rId1" Type="http://schemas.openxmlformats.org/officeDocument/2006/relationships/tags" Target="../tags/tag72.xml"/><Relationship Id="rId6" Type="http://schemas.openxmlformats.org/officeDocument/2006/relationships/tags" Target="../tags/tag77.xml"/><Relationship Id="rId11" Type="http://schemas.openxmlformats.org/officeDocument/2006/relationships/tags" Target="../tags/tag82.xml"/><Relationship Id="rId5" Type="http://schemas.openxmlformats.org/officeDocument/2006/relationships/tags" Target="../tags/tag76.xml"/><Relationship Id="rId15" Type="http://schemas.openxmlformats.org/officeDocument/2006/relationships/tags" Target="../tags/tag86.xml"/><Relationship Id="rId10" Type="http://schemas.openxmlformats.org/officeDocument/2006/relationships/tags" Target="../tags/tag81.xml"/><Relationship Id="rId19" Type="http://schemas.openxmlformats.org/officeDocument/2006/relationships/image" Target="../media/image8.tmp"/><Relationship Id="rId4" Type="http://schemas.openxmlformats.org/officeDocument/2006/relationships/tags" Target="../tags/tag75.xml"/><Relationship Id="rId9" Type="http://schemas.openxmlformats.org/officeDocument/2006/relationships/tags" Target="../tags/tag80.xml"/><Relationship Id="rId14" Type="http://schemas.openxmlformats.org/officeDocument/2006/relationships/tags" Target="../tags/tag8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1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6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8" Type="http://schemas.openxmlformats.org/officeDocument/2006/relationships/tags" Target="../tags/tag96.xml"/><Relationship Id="rId13" Type="http://schemas.openxmlformats.org/officeDocument/2006/relationships/tags" Target="../tags/tag101.xml"/><Relationship Id="rId18" Type="http://schemas.openxmlformats.org/officeDocument/2006/relationships/slideLayout" Target="../slideLayouts/slideLayout15.xml"/><Relationship Id="rId3" Type="http://schemas.openxmlformats.org/officeDocument/2006/relationships/tags" Target="../tags/tag91.xml"/><Relationship Id="rId7" Type="http://schemas.openxmlformats.org/officeDocument/2006/relationships/tags" Target="../tags/tag95.xml"/><Relationship Id="rId12" Type="http://schemas.openxmlformats.org/officeDocument/2006/relationships/tags" Target="../tags/tag100.xml"/><Relationship Id="rId17" Type="http://schemas.openxmlformats.org/officeDocument/2006/relationships/tags" Target="../tags/tag105.xml"/><Relationship Id="rId2" Type="http://schemas.openxmlformats.org/officeDocument/2006/relationships/tags" Target="../tags/tag90.xml"/><Relationship Id="rId16" Type="http://schemas.openxmlformats.org/officeDocument/2006/relationships/tags" Target="../tags/tag104.xml"/><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tags" Target="../tags/tag99.xml"/><Relationship Id="rId5" Type="http://schemas.openxmlformats.org/officeDocument/2006/relationships/tags" Target="../tags/tag93.xml"/><Relationship Id="rId15" Type="http://schemas.openxmlformats.org/officeDocument/2006/relationships/tags" Target="../tags/tag103.xml"/><Relationship Id="rId10" Type="http://schemas.openxmlformats.org/officeDocument/2006/relationships/tags" Target="../tags/tag98.xml"/><Relationship Id="rId19" Type="http://schemas.openxmlformats.org/officeDocument/2006/relationships/image" Target="../media/image8.tmp"/><Relationship Id="rId4" Type="http://schemas.openxmlformats.org/officeDocument/2006/relationships/tags" Target="../tags/tag92.xml"/><Relationship Id="rId9" Type="http://schemas.openxmlformats.org/officeDocument/2006/relationships/tags" Target="../tags/tag97.xml"/><Relationship Id="rId14" Type="http://schemas.openxmlformats.org/officeDocument/2006/relationships/tags" Target="../tags/tag10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4.xml"/><Relationship Id="rId4" Type="http://schemas.openxmlformats.org/officeDocument/2006/relationships/image" Target="../media/image34.png"/></Relationships>
</file>

<file path=ppt/slides/_rels/slide71.xml.rels><?xml version="1.0" encoding="UTF-8" standalone="yes"?>
<Relationships xmlns="http://schemas.openxmlformats.org/package/2006/relationships"><Relationship Id="rId8" Type="http://schemas.openxmlformats.org/officeDocument/2006/relationships/tags" Target="../tags/tag113.xml"/><Relationship Id="rId13" Type="http://schemas.openxmlformats.org/officeDocument/2006/relationships/tags" Target="../tags/tag118.xml"/><Relationship Id="rId18" Type="http://schemas.openxmlformats.org/officeDocument/2006/relationships/slideLayout" Target="../slideLayouts/slideLayout15.xml"/><Relationship Id="rId3" Type="http://schemas.openxmlformats.org/officeDocument/2006/relationships/tags" Target="../tags/tag108.xml"/><Relationship Id="rId7" Type="http://schemas.openxmlformats.org/officeDocument/2006/relationships/tags" Target="../tags/tag112.xml"/><Relationship Id="rId12" Type="http://schemas.openxmlformats.org/officeDocument/2006/relationships/tags" Target="../tags/tag117.xml"/><Relationship Id="rId17" Type="http://schemas.openxmlformats.org/officeDocument/2006/relationships/tags" Target="../tags/tag122.xml"/><Relationship Id="rId2" Type="http://schemas.openxmlformats.org/officeDocument/2006/relationships/tags" Target="../tags/tag107.xml"/><Relationship Id="rId16" Type="http://schemas.openxmlformats.org/officeDocument/2006/relationships/tags" Target="../tags/tag121.xml"/><Relationship Id="rId1" Type="http://schemas.openxmlformats.org/officeDocument/2006/relationships/tags" Target="../tags/tag106.xml"/><Relationship Id="rId6" Type="http://schemas.openxmlformats.org/officeDocument/2006/relationships/tags" Target="../tags/tag111.xml"/><Relationship Id="rId11" Type="http://schemas.openxmlformats.org/officeDocument/2006/relationships/tags" Target="../tags/tag116.xml"/><Relationship Id="rId5" Type="http://schemas.openxmlformats.org/officeDocument/2006/relationships/tags" Target="../tags/tag110.xml"/><Relationship Id="rId15" Type="http://schemas.openxmlformats.org/officeDocument/2006/relationships/tags" Target="../tags/tag120.xml"/><Relationship Id="rId10" Type="http://schemas.openxmlformats.org/officeDocument/2006/relationships/tags" Target="../tags/tag115.xml"/><Relationship Id="rId19" Type="http://schemas.openxmlformats.org/officeDocument/2006/relationships/image" Target="../media/image8.tmp"/><Relationship Id="rId4" Type="http://schemas.openxmlformats.org/officeDocument/2006/relationships/tags" Target="../tags/tag109.xml"/><Relationship Id="rId9" Type="http://schemas.openxmlformats.org/officeDocument/2006/relationships/tags" Target="../tags/tag114.xml"/><Relationship Id="rId14" Type="http://schemas.openxmlformats.org/officeDocument/2006/relationships/tags" Target="../tags/tag11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316" y="-9098"/>
            <a:ext cx="8229600" cy="1143000"/>
          </a:xfrm>
        </p:spPr>
        <p:txBody>
          <a:bodyPr/>
          <a:lstStyle/>
          <a:p>
            <a:r>
              <a:rPr lang="zh-CN" altLang="en-US" dirty="0">
                <a:solidFill>
                  <a:srgbClr val="C00000"/>
                </a:solidFill>
              </a:rPr>
              <a:t>课程回顾</a:t>
            </a:r>
          </a:p>
        </p:txBody>
      </p:sp>
      <p:sp>
        <p:nvSpPr>
          <p:cNvPr id="4" name="Rectangle 4"/>
          <p:cNvSpPr txBox="1">
            <a:spLocks noChangeArrowheads="1"/>
          </p:cNvSpPr>
          <p:nvPr/>
        </p:nvSpPr>
        <p:spPr>
          <a:xfrm>
            <a:off x="385763" y="3833763"/>
            <a:ext cx="8408987" cy="3195637"/>
          </a:xfrm>
          <a:prstGeom prst="rect">
            <a:avLst/>
          </a:prstGeom>
        </p:spPr>
        <p:txBody>
          <a:bodyPr vert="horz" lIns="38100" tIns="38100" rIns="38100" bIns="3810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17500" marR="0" lvl="1" indent="0" algn="l" defTabSz="914400" rtl="0" eaLnBrk="1" fontAlgn="auto" latinLnBrk="0" hangingPunct="1">
              <a:lnSpc>
                <a:spcPct val="100000"/>
              </a:lnSpc>
              <a:spcBef>
                <a:spcPct val="25000"/>
              </a:spcBef>
              <a:spcAft>
                <a:spcPts val="0"/>
              </a:spcAft>
              <a:buClrTx/>
              <a:buSzTx/>
              <a:buFontTx/>
              <a:buNone/>
              <a:tabLst/>
              <a:defRPr/>
            </a:pPr>
            <a:r>
              <a:rPr kumimoji="0" lang="zh-CN" altLang="en-US" sz="22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预处理</a:t>
            </a:r>
            <a:r>
              <a:rPr kumimoji="0" lang="zh-CN" altLang="en-US" sz="2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：在高级语言源程序中插入所有用</a:t>
            </a:r>
            <a:r>
              <a:rPr kumimoji="0" lang="en-US" altLang="zh-CN" sz="2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#include</a:t>
            </a:r>
            <a:r>
              <a:rPr kumimoji="0" lang="zh-CN" altLang="en-US" sz="2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命令指定的文件和用</a:t>
            </a:r>
            <a:r>
              <a:rPr kumimoji="0" lang="en-US" altLang="zh-CN" sz="2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#define</a:t>
            </a:r>
            <a:r>
              <a:rPr kumimoji="0" lang="zh-CN" altLang="en-US" sz="2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声明指定的宏。</a:t>
            </a:r>
          </a:p>
          <a:p>
            <a:pPr marL="317500" marR="0" lvl="1" indent="0" algn="l" defTabSz="914400" rtl="0" eaLnBrk="1" fontAlgn="auto" latinLnBrk="0" hangingPunct="1">
              <a:lnSpc>
                <a:spcPct val="100000"/>
              </a:lnSpc>
              <a:spcBef>
                <a:spcPct val="25000"/>
              </a:spcBef>
              <a:spcAft>
                <a:spcPts val="0"/>
              </a:spcAft>
              <a:buClrTx/>
              <a:buSzTx/>
              <a:buFontTx/>
              <a:buNone/>
              <a:tabLst/>
              <a:defRPr/>
            </a:pPr>
            <a:r>
              <a:rPr kumimoji="0" lang="zh-CN" altLang="en-US" sz="22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编译</a:t>
            </a:r>
            <a:r>
              <a:rPr kumimoji="0" lang="zh-CN" altLang="en-US" sz="2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：将预处理后的源程序文件编译生成相应的</a:t>
            </a:r>
            <a:r>
              <a:rPr kumimoji="0" lang="zh-CN" altLang="en-US" sz="2200" b="0" i="0" u="none" strike="noStrike" kern="1200" cap="none" spc="0" normalizeH="0" baseline="0" noProof="0">
                <a:ln>
                  <a:noFill/>
                </a:ln>
                <a:solidFill>
                  <a:srgbClr val="008000"/>
                </a:solidFill>
                <a:effectLst/>
                <a:uLnTx/>
                <a:uFillTx/>
                <a:latin typeface="微软雅黑" panose="020B0503020204020204" pitchFamily="34" charset="-122"/>
                <a:ea typeface="微软雅黑" panose="020B0503020204020204" pitchFamily="34" charset="-122"/>
                <a:cs typeface="+mn-cs"/>
              </a:rPr>
              <a:t>汇编语言程序</a:t>
            </a:r>
            <a:r>
              <a:rPr kumimoji="0" lang="zh-CN" altLang="en-US" sz="2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a:p>
            <a:pPr marL="317500" marR="0" lvl="1" indent="0" algn="l" defTabSz="914400" rtl="0" eaLnBrk="1" fontAlgn="auto" latinLnBrk="0" hangingPunct="1">
              <a:lnSpc>
                <a:spcPct val="100000"/>
              </a:lnSpc>
              <a:spcBef>
                <a:spcPct val="25000"/>
              </a:spcBef>
              <a:spcAft>
                <a:spcPts val="0"/>
              </a:spcAft>
              <a:buClrTx/>
              <a:buSzTx/>
              <a:buFontTx/>
              <a:buNone/>
              <a:tabLst/>
              <a:defRPr/>
            </a:pPr>
            <a:r>
              <a:rPr kumimoji="0" lang="zh-CN" altLang="en-US" sz="22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汇编</a:t>
            </a:r>
            <a:r>
              <a:rPr kumimoji="0" lang="zh-CN" altLang="en-US" sz="2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：由</a:t>
            </a:r>
            <a:r>
              <a:rPr kumimoji="0" lang="zh-CN" altLang="en-US" sz="2200" b="0" i="0" u="none" strike="noStrike" kern="1200" cap="none" spc="0" normalizeH="0" baseline="0" noProof="0">
                <a:ln>
                  <a:noFill/>
                </a:ln>
                <a:solidFill>
                  <a:srgbClr val="008000"/>
                </a:solidFill>
                <a:effectLst/>
                <a:uLnTx/>
                <a:uFillTx/>
                <a:latin typeface="微软雅黑" panose="020B0503020204020204" pitchFamily="34" charset="-122"/>
                <a:ea typeface="微软雅黑" panose="020B0503020204020204" pitchFamily="34" charset="-122"/>
                <a:cs typeface="+mn-cs"/>
              </a:rPr>
              <a:t>汇编程序</a:t>
            </a:r>
            <a:r>
              <a:rPr kumimoji="0" lang="zh-CN" altLang="en-US" sz="2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将</a:t>
            </a:r>
            <a:r>
              <a:rPr kumimoji="0" lang="zh-CN" altLang="en-US" sz="2200" b="0" i="0" u="none" strike="noStrike" kern="1200" cap="none" spc="0" normalizeH="0" baseline="0" noProof="0">
                <a:ln>
                  <a:noFill/>
                </a:ln>
                <a:solidFill>
                  <a:srgbClr val="008000"/>
                </a:solidFill>
                <a:effectLst/>
                <a:uLnTx/>
                <a:uFillTx/>
                <a:latin typeface="微软雅黑" panose="020B0503020204020204" pitchFamily="34" charset="-122"/>
                <a:ea typeface="微软雅黑" panose="020B0503020204020204" pitchFamily="34" charset="-122"/>
                <a:cs typeface="+mn-cs"/>
              </a:rPr>
              <a:t>汇编语言源程序</a:t>
            </a:r>
            <a:r>
              <a:rPr kumimoji="0" lang="zh-CN" altLang="en-US" sz="2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文件转换为</a:t>
            </a:r>
            <a:r>
              <a:rPr kumimoji="0" lang="zh-CN" altLang="en-US" sz="2200" b="0" i="0" u="none" strike="noStrike" kern="1200" cap="none" spc="0" normalizeH="0" baseline="0" noProof="0">
                <a:ln>
                  <a:noFill/>
                </a:ln>
                <a:solidFill>
                  <a:srgbClr val="008000"/>
                </a:solidFill>
                <a:effectLst/>
                <a:uLnTx/>
                <a:uFillTx/>
                <a:latin typeface="微软雅黑" panose="020B0503020204020204" pitchFamily="34" charset="-122"/>
                <a:ea typeface="微软雅黑" panose="020B0503020204020204" pitchFamily="34" charset="-122"/>
                <a:cs typeface="+mn-cs"/>
              </a:rPr>
              <a:t>可重定位的机器语言目标代码文件</a:t>
            </a:r>
            <a:r>
              <a:rPr kumimoji="0" lang="zh-CN" altLang="en-US" sz="2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a:p>
            <a:pPr marL="317500" marR="0" lvl="1" indent="0" algn="l" defTabSz="914400" rtl="0" eaLnBrk="1" fontAlgn="auto" latinLnBrk="0" hangingPunct="1">
              <a:lnSpc>
                <a:spcPct val="100000"/>
              </a:lnSpc>
              <a:spcBef>
                <a:spcPct val="25000"/>
              </a:spcBef>
              <a:spcAft>
                <a:spcPts val="0"/>
              </a:spcAft>
              <a:buClrTx/>
              <a:buSzTx/>
              <a:buFontTx/>
              <a:buNone/>
              <a:tabLst/>
              <a:defRPr/>
            </a:pPr>
            <a:r>
              <a:rPr kumimoji="0" lang="zh-CN" altLang="en-US" sz="22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链接</a:t>
            </a:r>
            <a:r>
              <a:rPr kumimoji="0" lang="zh-CN" altLang="en-US" sz="2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：由链接器将多个可重定位的机器语言目标文件以及库例程（如</a:t>
            </a:r>
            <a:r>
              <a:rPr kumimoji="0" lang="en-US" altLang="zh-CN" sz="2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printf()</a:t>
            </a:r>
            <a:r>
              <a:rPr kumimoji="0" lang="zh-CN" altLang="en-US" sz="2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库函数）链接起来，生成最终的</a:t>
            </a:r>
            <a:r>
              <a:rPr kumimoji="0" lang="zh-CN" altLang="en-US" sz="2200" b="0" i="0" u="none" strike="noStrike" kern="1200" cap="none" spc="0" normalizeH="0" baseline="0" noProof="0">
                <a:ln>
                  <a:noFill/>
                </a:ln>
                <a:solidFill>
                  <a:srgbClr val="008000"/>
                </a:solidFill>
                <a:effectLst/>
                <a:uLnTx/>
                <a:uFillTx/>
                <a:latin typeface="微软雅黑" panose="020B0503020204020204" pitchFamily="34" charset="-122"/>
                <a:ea typeface="微软雅黑" panose="020B0503020204020204" pitchFamily="34" charset="-122"/>
                <a:cs typeface="+mn-cs"/>
              </a:rPr>
              <a:t>可执行目标文件</a:t>
            </a:r>
            <a:r>
              <a:rPr kumimoji="0" lang="zh-CN" altLang="en-US" sz="2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endParaRPr kumimoji="0" lang="en-US" altLang="zh-CN" sz="2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5"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54038"/>
            <a:ext cx="9144000"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9"/>
          <p:cNvSpPr txBox="1">
            <a:spLocks noChangeArrowheads="1"/>
          </p:cNvSpPr>
          <p:nvPr/>
        </p:nvSpPr>
        <p:spPr bwMode="auto">
          <a:xfrm>
            <a:off x="161925" y="1082625"/>
            <a:ext cx="5445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用</a:t>
            </a:r>
            <a:r>
              <a:rPr kumimoji="0" lang="en-US" altLang="zh-CN" sz="24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GCC</a:t>
            </a:r>
            <a:r>
              <a:rPr kumimoji="0" lang="zh-CN" altLang="en-US" sz="24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编译器套件进行转换的过程</a:t>
            </a:r>
          </a:p>
        </p:txBody>
      </p:sp>
    </p:spTree>
    <p:extLst>
      <p:ext uri="{BB962C8B-B14F-4D97-AF65-F5344CB8AC3E}">
        <p14:creationId xmlns:p14="http://schemas.microsoft.com/office/powerpoint/2010/main" val="387117028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linds(horizontal)">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8229600" cy="1143000"/>
          </a:xfrm>
        </p:spPr>
        <p:txBody>
          <a:bodyPr>
            <a:normAutofit/>
          </a:bodyPr>
          <a:lstStyle/>
          <a:p>
            <a:r>
              <a:rPr lang="zh-CN" altLang="en-US" sz="3600" dirty="0">
                <a:solidFill>
                  <a:schemeClr val="accent6">
                    <a:lumMod val="50000"/>
                  </a:schemeClr>
                </a:solidFill>
              </a:rPr>
              <a:t>寄存器组织和寻址方式：指令操作数</a:t>
            </a:r>
          </a:p>
        </p:txBody>
      </p:sp>
      <p:sp>
        <p:nvSpPr>
          <p:cNvPr id="3" name="内容占位符 2"/>
          <p:cNvSpPr>
            <a:spLocks noGrp="1"/>
          </p:cNvSpPr>
          <p:nvPr>
            <p:ph idx="1"/>
          </p:nvPr>
        </p:nvSpPr>
        <p:spPr>
          <a:xfrm>
            <a:off x="467544" y="1170052"/>
            <a:ext cx="8229600" cy="5688632"/>
          </a:xfrm>
        </p:spPr>
        <p:txBody>
          <a:bodyPr>
            <a:normAutofit fontScale="77500" lnSpcReduction="20000"/>
          </a:bodyPr>
          <a:lstStyle/>
          <a:p>
            <a:pPr indent="-540000">
              <a:lnSpc>
                <a:spcPct val="150000"/>
              </a:lnSpc>
              <a:buFont typeface="Wingdings" panose="05000000000000000000" pitchFamily="2" charset="2"/>
              <a:buChar char="Ø"/>
            </a:pPr>
            <a:r>
              <a:rPr lang="zh-CN" altLang="en-US" dirty="0">
                <a:solidFill>
                  <a:srgbClr val="0033CC"/>
                </a:solidFill>
              </a:rPr>
              <a:t>立即数（</a:t>
            </a:r>
            <a:r>
              <a:rPr lang="en-US" altLang="zh-CN" dirty="0">
                <a:solidFill>
                  <a:srgbClr val="0033CC"/>
                </a:solidFill>
              </a:rPr>
              <a:t>$</a:t>
            </a:r>
            <a:r>
              <a:rPr lang="zh-CN" altLang="en-US" dirty="0">
                <a:solidFill>
                  <a:srgbClr val="0033CC"/>
                </a:solidFill>
              </a:rPr>
              <a:t>）</a:t>
            </a:r>
            <a:endParaRPr lang="en-US" altLang="zh-CN" dirty="0">
              <a:solidFill>
                <a:srgbClr val="0033CC"/>
              </a:solidFill>
            </a:endParaRPr>
          </a:p>
          <a:p>
            <a:pPr lvl="1" indent="-540000">
              <a:lnSpc>
                <a:spcPct val="150000"/>
              </a:lnSpc>
              <a:buFont typeface="Arial" panose="020B0604020202020204" pitchFamily="34" charset="0"/>
              <a:buChar char="•"/>
            </a:pPr>
            <a:r>
              <a:rPr lang="zh-CN" altLang="en-US" dirty="0"/>
              <a:t>立即数就在指令中，无需指定其存放位置</a:t>
            </a:r>
            <a:endParaRPr lang="en-US" altLang="zh-CN" dirty="0"/>
          </a:p>
          <a:p>
            <a:pPr lvl="1" indent="-540000">
              <a:lnSpc>
                <a:spcPct val="150000"/>
              </a:lnSpc>
              <a:buFont typeface="Arial" panose="020B0604020202020204" pitchFamily="34" charset="0"/>
              <a:buChar char="•"/>
            </a:pPr>
            <a:r>
              <a:rPr lang="zh-CN" altLang="en-US" dirty="0"/>
              <a:t>取出指令即可获得操作数，速度最快</a:t>
            </a:r>
            <a:endParaRPr lang="en-US" altLang="zh-CN" dirty="0"/>
          </a:p>
          <a:p>
            <a:pPr indent="-540000">
              <a:lnSpc>
                <a:spcPct val="150000"/>
              </a:lnSpc>
              <a:buFont typeface="Wingdings" panose="05000000000000000000" pitchFamily="2" charset="2"/>
              <a:buChar char="Ø"/>
            </a:pPr>
            <a:r>
              <a:rPr lang="zh-CN" altLang="en-US" dirty="0">
                <a:solidFill>
                  <a:srgbClr val="0033CC"/>
                </a:solidFill>
              </a:rPr>
              <a:t>寄存器操作数（</a:t>
            </a:r>
            <a:r>
              <a:rPr lang="en-US" altLang="zh-CN" dirty="0">
                <a:solidFill>
                  <a:srgbClr val="0033CC"/>
                </a:solidFill>
              </a:rPr>
              <a:t>%</a:t>
            </a:r>
            <a:r>
              <a:rPr lang="zh-CN" altLang="en-US" dirty="0">
                <a:solidFill>
                  <a:srgbClr val="0033CC"/>
                </a:solidFill>
              </a:rPr>
              <a:t>）</a:t>
            </a:r>
            <a:endParaRPr lang="en-US" altLang="zh-CN" dirty="0">
              <a:solidFill>
                <a:srgbClr val="0033CC"/>
              </a:solidFill>
            </a:endParaRPr>
          </a:p>
          <a:p>
            <a:pPr lvl="1" indent="-540000">
              <a:lnSpc>
                <a:spcPct val="150000"/>
              </a:lnSpc>
              <a:buFont typeface="Arial" panose="020B0604020202020204" pitchFamily="34" charset="0"/>
              <a:buChar char="•"/>
            </a:pPr>
            <a:r>
              <a:rPr lang="zh-CN" altLang="en-US" dirty="0"/>
              <a:t>操作数在寄存器中，指令地址码给出的是寄存器编号</a:t>
            </a:r>
            <a:endParaRPr lang="en-US" altLang="zh-CN" dirty="0"/>
          </a:p>
          <a:p>
            <a:pPr lvl="1" indent="-540000">
              <a:lnSpc>
                <a:spcPct val="150000"/>
              </a:lnSpc>
              <a:buFont typeface="Arial" panose="020B0604020202020204" pitchFamily="34" charset="0"/>
              <a:buChar char="•"/>
            </a:pPr>
            <a:r>
              <a:rPr lang="zh-CN" altLang="en-US" dirty="0"/>
              <a:t>分为定点寄存器组、浮点寄存器栈和多媒体扩展寄存器组</a:t>
            </a:r>
            <a:endParaRPr lang="en-US" altLang="zh-CN" dirty="0"/>
          </a:p>
          <a:p>
            <a:pPr indent="-540000">
              <a:lnSpc>
                <a:spcPct val="150000"/>
              </a:lnSpc>
              <a:buFont typeface="Wingdings" panose="05000000000000000000" pitchFamily="2" charset="2"/>
              <a:buChar char="Ø"/>
            </a:pPr>
            <a:r>
              <a:rPr lang="zh-CN" altLang="en-US" dirty="0">
                <a:solidFill>
                  <a:srgbClr val="0033CC"/>
                </a:solidFill>
              </a:rPr>
              <a:t>存储器操作数（</a:t>
            </a:r>
            <a:r>
              <a:rPr lang="en-US" altLang="zh-CN" dirty="0">
                <a:solidFill>
                  <a:srgbClr val="0033CC"/>
                </a:solidFill>
              </a:rPr>
              <a:t>()</a:t>
            </a:r>
            <a:r>
              <a:rPr lang="zh-CN" altLang="en-US" dirty="0">
                <a:solidFill>
                  <a:srgbClr val="0033CC"/>
                </a:solidFill>
              </a:rPr>
              <a:t>）</a:t>
            </a:r>
          </a:p>
          <a:p>
            <a:pPr lvl="1" indent="-540000">
              <a:lnSpc>
                <a:spcPct val="150000"/>
              </a:lnSpc>
              <a:buFont typeface="Arial" panose="020B0604020202020204" pitchFamily="34" charset="0"/>
              <a:buChar char="•"/>
            </a:pPr>
            <a:r>
              <a:rPr lang="zh-CN" altLang="en-US" dirty="0"/>
              <a:t>操作数在存储器中，指定地址码给出的是存储器地址</a:t>
            </a:r>
            <a:endParaRPr lang="en-US" altLang="zh-CN" dirty="0"/>
          </a:p>
          <a:p>
            <a:pPr lvl="1" indent="-540000">
              <a:lnSpc>
                <a:spcPct val="150000"/>
              </a:lnSpc>
              <a:buFont typeface="Arial" panose="020B0604020202020204" pitchFamily="34" charset="0"/>
              <a:buChar char="•"/>
            </a:pPr>
            <a:r>
              <a:rPr lang="en-US" altLang="zh-CN" dirty="0"/>
              <a:t>IA-32</a:t>
            </a:r>
            <a:r>
              <a:rPr lang="zh-CN" altLang="en-US" dirty="0"/>
              <a:t>引入保护模式，采用段页式存储管理方式，地址计算较为复杂（</a:t>
            </a:r>
            <a:r>
              <a:rPr lang="zh-CN" altLang="en-US" dirty="0">
                <a:solidFill>
                  <a:srgbClr val="FF0000"/>
                </a:solidFill>
              </a:rPr>
              <a:t>第</a:t>
            </a:r>
            <a:r>
              <a:rPr lang="en-US" altLang="zh-CN" dirty="0">
                <a:solidFill>
                  <a:srgbClr val="FF0000"/>
                </a:solidFill>
              </a:rPr>
              <a:t>6</a:t>
            </a:r>
            <a:r>
              <a:rPr lang="zh-CN" altLang="en-US" dirty="0">
                <a:solidFill>
                  <a:srgbClr val="FF0000"/>
                </a:solidFill>
              </a:rPr>
              <a:t>章</a:t>
            </a:r>
            <a:r>
              <a:rPr lang="zh-CN" altLang="en-US" dirty="0"/>
              <a:t>）</a:t>
            </a:r>
            <a:endParaRPr lang="en-US" altLang="zh-CN" dirty="0"/>
          </a:p>
        </p:txBody>
      </p:sp>
    </p:spTree>
    <p:extLst>
      <p:ext uri="{BB962C8B-B14F-4D97-AF65-F5344CB8AC3E}">
        <p14:creationId xmlns:p14="http://schemas.microsoft.com/office/powerpoint/2010/main" val="1429535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8229600" cy="1143000"/>
          </a:xfrm>
        </p:spPr>
        <p:txBody>
          <a:bodyPr>
            <a:normAutofit/>
          </a:bodyPr>
          <a:lstStyle/>
          <a:p>
            <a:r>
              <a:rPr lang="zh-CN" altLang="en-US" sz="3600" dirty="0">
                <a:solidFill>
                  <a:schemeClr val="accent6">
                    <a:lumMod val="50000"/>
                  </a:schemeClr>
                </a:solidFill>
              </a:rPr>
              <a:t>寄存器组织和寻址方式：定点寄存器组</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 y="926802"/>
            <a:ext cx="8731250" cy="567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5"/>
          <p:cNvSpPr txBox="1">
            <a:spLocks noChangeArrowheads="1"/>
          </p:cNvSpPr>
          <p:nvPr/>
        </p:nvSpPr>
        <p:spPr bwMode="auto">
          <a:xfrm>
            <a:off x="476250" y="5067002"/>
            <a:ext cx="2970213" cy="13112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20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8</a:t>
            </a:r>
            <a:r>
              <a:rPr kumimoji="0" lang="zh-CN" altLang="en-US" sz="20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个通用寄存器</a:t>
            </a:r>
          </a:p>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zh-CN" altLang="en-US" sz="20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两个专用寄存器</a:t>
            </a:r>
          </a:p>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20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6</a:t>
            </a:r>
            <a:r>
              <a:rPr kumimoji="0" lang="zh-CN" altLang="en-US" sz="20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个段寄存器</a:t>
            </a:r>
          </a:p>
        </p:txBody>
      </p:sp>
      <p:sp>
        <p:nvSpPr>
          <p:cNvPr id="7" name="Rectangle 8"/>
          <p:cNvSpPr>
            <a:spLocks noChangeArrowheads="1"/>
          </p:cNvSpPr>
          <p:nvPr/>
        </p:nvSpPr>
        <p:spPr bwMode="auto">
          <a:xfrm>
            <a:off x="6876256" y="1268760"/>
            <a:ext cx="1440160" cy="1224136"/>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 name="Rectangle 8"/>
          <p:cNvSpPr>
            <a:spLocks noChangeArrowheads="1"/>
          </p:cNvSpPr>
          <p:nvPr/>
        </p:nvSpPr>
        <p:spPr bwMode="auto">
          <a:xfrm>
            <a:off x="6876256" y="2539127"/>
            <a:ext cx="1944216" cy="1224136"/>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 name="文本框 10"/>
          <p:cNvSpPr txBox="1"/>
          <p:nvPr/>
        </p:nvSpPr>
        <p:spPr>
          <a:xfrm>
            <a:off x="6909440" y="868650"/>
            <a:ext cx="147508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存放操作数</a:t>
            </a:r>
          </a:p>
        </p:txBody>
      </p:sp>
      <p:sp>
        <p:nvSpPr>
          <p:cNvPr id="12" name="文本框 11"/>
          <p:cNvSpPr txBox="1"/>
          <p:nvPr/>
        </p:nvSpPr>
        <p:spPr>
          <a:xfrm>
            <a:off x="8480721" y="2438638"/>
            <a:ext cx="700833" cy="13234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存放</a:t>
            </a:r>
            <a:endParaRPr kumimoji="0" lang="en-US" altLang="zh-CN"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变址</a:t>
            </a:r>
            <a:endParaRPr kumimoji="0" lang="en-US" altLang="zh-CN"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或</a:t>
            </a:r>
            <a:endParaRPr kumimoji="0" lang="en-US" altLang="zh-CN"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指针</a:t>
            </a:r>
          </a:p>
        </p:txBody>
      </p:sp>
      <p:sp>
        <p:nvSpPr>
          <p:cNvPr id="13" name="文本框 12"/>
          <p:cNvSpPr txBox="1"/>
          <p:nvPr/>
        </p:nvSpPr>
        <p:spPr>
          <a:xfrm>
            <a:off x="8051760" y="3862566"/>
            <a:ext cx="52931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PC</a:t>
            </a:r>
            <a:endParaRPr kumimoji="0" lang="zh-CN" altLang="en-US"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endParaRPr>
          </a:p>
        </p:txBody>
      </p:sp>
      <p:sp>
        <p:nvSpPr>
          <p:cNvPr id="14" name="文本框 13"/>
          <p:cNvSpPr txBox="1"/>
          <p:nvPr/>
        </p:nvSpPr>
        <p:spPr>
          <a:xfrm>
            <a:off x="1763688" y="3862566"/>
            <a:ext cx="2021707"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实地址模式</a:t>
            </a:r>
            <a:r>
              <a:rPr kumimoji="0" lang="en-US" altLang="zh-CN"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16</a:t>
            </a:r>
            <a:r>
              <a:rPr kumimoji="0" lang="zh-CN" altLang="en-US"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位</a:t>
            </a:r>
            <a:endParaRPr kumimoji="0" lang="en-US" altLang="zh-CN"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保护模式</a:t>
            </a:r>
            <a:r>
              <a:rPr kumimoji="0" lang="en-US" altLang="zh-CN"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32</a:t>
            </a:r>
            <a:r>
              <a:rPr kumimoji="0" lang="zh-CN" altLang="en-US"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位</a:t>
            </a:r>
          </a:p>
        </p:txBody>
      </p:sp>
      <p:sp>
        <p:nvSpPr>
          <p:cNvPr id="15" name="文本框 14"/>
          <p:cNvSpPr txBox="1"/>
          <p:nvPr/>
        </p:nvSpPr>
        <p:spPr>
          <a:xfrm>
            <a:off x="3125310" y="4628604"/>
            <a:ext cx="930686" cy="19389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生成操作数所在的存储地址</a:t>
            </a:r>
          </a:p>
        </p:txBody>
      </p:sp>
      <p:sp>
        <p:nvSpPr>
          <p:cNvPr id="16" name="Rectangle 8"/>
          <p:cNvSpPr>
            <a:spLocks noChangeArrowheads="1"/>
          </p:cNvSpPr>
          <p:nvPr/>
        </p:nvSpPr>
        <p:spPr bwMode="auto">
          <a:xfrm>
            <a:off x="161925" y="1228995"/>
            <a:ext cx="881683" cy="3341458"/>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7" name="文本框 16"/>
          <p:cNvSpPr txBox="1"/>
          <p:nvPr/>
        </p:nvSpPr>
        <p:spPr>
          <a:xfrm>
            <a:off x="273423" y="828885"/>
            <a:ext cx="73129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32</a:t>
            </a:r>
            <a:r>
              <a:rPr kumimoji="0" lang="zh-CN" altLang="en-US"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位</a:t>
            </a:r>
          </a:p>
        </p:txBody>
      </p:sp>
      <p:sp>
        <p:nvSpPr>
          <p:cNvPr id="18" name="Rectangle 8"/>
          <p:cNvSpPr>
            <a:spLocks noChangeArrowheads="1"/>
          </p:cNvSpPr>
          <p:nvPr/>
        </p:nvSpPr>
        <p:spPr bwMode="auto">
          <a:xfrm>
            <a:off x="4788243" y="1271027"/>
            <a:ext cx="720080" cy="5280450"/>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9" name="文本框 18"/>
          <p:cNvSpPr txBox="1"/>
          <p:nvPr/>
        </p:nvSpPr>
        <p:spPr>
          <a:xfrm>
            <a:off x="4782638" y="889831"/>
            <a:ext cx="73129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16</a:t>
            </a:r>
            <a:r>
              <a:rPr kumimoji="0" lang="zh-CN" altLang="en-US"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位</a:t>
            </a:r>
          </a:p>
        </p:txBody>
      </p:sp>
      <p:sp>
        <p:nvSpPr>
          <p:cNvPr id="20" name="Rectangle 8"/>
          <p:cNvSpPr>
            <a:spLocks noChangeArrowheads="1"/>
          </p:cNvSpPr>
          <p:nvPr/>
        </p:nvSpPr>
        <p:spPr bwMode="auto">
          <a:xfrm>
            <a:off x="3996768" y="1278324"/>
            <a:ext cx="720080" cy="1260803"/>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1" name="Rectangle 8"/>
          <p:cNvSpPr>
            <a:spLocks noChangeArrowheads="1"/>
          </p:cNvSpPr>
          <p:nvPr/>
        </p:nvSpPr>
        <p:spPr bwMode="auto">
          <a:xfrm>
            <a:off x="5560339" y="1268760"/>
            <a:ext cx="720080" cy="1260803"/>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2" name="文本框 21"/>
          <p:cNvSpPr txBox="1"/>
          <p:nvPr/>
        </p:nvSpPr>
        <p:spPr>
          <a:xfrm>
            <a:off x="4040694" y="889831"/>
            <a:ext cx="58702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8</a:t>
            </a:r>
            <a:r>
              <a:rPr kumimoji="0" lang="zh-CN" altLang="en-US"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位</a:t>
            </a:r>
          </a:p>
        </p:txBody>
      </p:sp>
      <p:sp>
        <p:nvSpPr>
          <p:cNvPr id="23" name="文本框 22"/>
          <p:cNvSpPr txBox="1"/>
          <p:nvPr/>
        </p:nvSpPr>
        <p:spPr>
          <a:xfrm>
            <a:off x="5630562" y="878214"/>
            <a:ext cx="58702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8</a:t>
            </a:r>
            <a:r>
              <a:rPr kumimoji="0" lang="zh-CN" altLang="en-US" sz="2000" b="1"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位</a:t>
            </a:r>
          </a:p>
        </p:txBody>
      </p:sp>
    </p:spTree>
    <p:extLst>
      <p:ext uri="{BB962C8B-B14F-4D97-AF65-F5344CB8AC3E}">
        <p14:creationId xmlns:p14="http://schemas.microsoft.com/office/powerpoint/2010/main" val="371035706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500" fill="hold"/>
                                        <p:tgtEl>
                                          <p:spTgt spid="14"/>
                                        </p:tgtEl>
                                        <p:attrNameLst>
                                          <p:attrName>ppt_x</p:attrName>
                                        </p:attrNameLst>
                                      </p:cBhvr>
                                      <p:tavLst>
                                        <p:tav tm="0">
                                          <p:val>
                                            <p:strVal val="#ppt_x"/>
                                          </p:val>
                                        </p:tav>
                                        <p:tav tm="100000">
                                          <p:val>
                                            <p:strVal val="#ppt_x"/>
                                          </p:val>
                                        </p:tav>
                                      </p:tavLst>
                                    </p:anim>
                                    <p:anim calcmode="lin" valueType="num">
                                      <p:cBhvr additive="base">
                                        <p:cTn id="3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500" fill="hold"/>
                                        <p:tgtEl>
                                          <p:spTgt spid="16"/>
                                        </p:tgtEl>
                                        <p:attrNameLst>
                                          <p:attrName>ppt_x</p:attrName>
                                        </p:attrNameLst>
                                      </p:cBhvr>
                                      <p:tavLst>
                                        <p:tav tm="0">
                                          <p:val>
                                            <p:strVal val="#ppt_x"/>
                                          </p:val>
                                        </p:tav>
                                        <p:tav tm="100000">
                                          <p:val>
                                            <p:strVal val="#ppt_x"/>
                                          </p:val>
                                        </p:tav>
                                      </p:tavLst>
                                    </p:anim>
                                    <p:anim calcmode="lin" valueType="num">
                                      <p:cBhvr additive="base">
                                        <p:cTn id="46" dur="500" fill="hold"/>
                                        <p:tgtEl>
                                          <p:spTgt spid="16"/>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ppt_x"/>
                                          </p:val>
                                        </p:tav>
                                        <p:tav tm="100000">
                                          <p:val>
                                            <p:strVal val="#ppt_x"/>
                                          </p:val>
                                        </p:tav>
                                      </p:tavLst>
                                    </p:anim>
                                    <p:anim calcmode="lin" valueType="num">
                                      <p:cBhvr additive="base">
                                        <p:cTn id="5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ppt_x"/>
                                          </p:val>
                                        </p:tav>
                                        <p:tav tm="100000">
                                          <p:val>
                                            <p:strVal val="#ppt_x"/>
                                          </p:val>
                                        </p:tav>
                                      </p:tavLst>
                                    </p:anim>
                                    <p:anim calcmode="lin" valueType="num">
                                      <p:cBhvr additive="base">
                                        <p:cTn id="56" dur="500" fill="hold"/>
                                        <p:tgtEl>
                                          <p:spTgt spid="18"/>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00" fill="hold"/>
                                        <p:tgtEl>
                                          <p:spTgt spid="19"/>
                                        </p:tgtEl>
                                        <p:attrNameLst>
                                          <p:attrName>ppt_x</p:attrName>
                                        </p:attrNameLst>
                                      </p:cBhvr>
                                      <p:tavLst>
                                        <p:tav tm="0">
                                          <p:val>
                                            <p:strVal val="#ppt_x"/>
                                          </p:val>
                                        </p:tav>
                                        <p:tav tm="100000">
                                          <p:val>
                                            <p:strVal val="#ppt_x"/>
                                          </p:val>
                                        </p:tav>
                                      </p:tavLst>
                                    </p:anim>
                                    <p:anim calcmode="lin" valueType="num">
                                      <p:cBhvr additive="base">
                                        <p:cTn id="6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anim calcmode="lin" valueType="num">
                                      <p:cBhvr additive="base">
                                        <p:cTn id="65" dur="500" fill="hold"/>
                                        <p:tgtEl>
                                          <p:spTgt spid="20"/>
                                        </p:tgtEl>
                                        <p:attrNameLst>
                                          <p:attrName>ppt_x</p:attrName>
                                        </p:attrNameLst>
                                      </p:cBhvr>
                                      <p:tavLst>
                                        <p:tav tm="0">
                                          <p:val>
                                            <p:strVal val="#ppt_x"/>
                                          </p:val>
                                        </p:tav>
                                        <p:tav tm="100000">
                                          <p:val>
                                            <p:strVal val="#ppt_x"/>
                                          </p:val>
                                        </p:tav>
                                      </p:tavLst>
                                    </p:anim>
                                    <p:anim calcmode="lin" valueType="num">
                                      <p:cBhvr additive="base">
                                        <p:cTn id="66" dur="500" fill="hold"/>
                                        <p:tgtEl>
                                          <p:spTgt spid="20"/>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 calcmode="lin" valueType="num">
                                      <p:cBhvr additive="base">
                                        <p:cTn id="69" dur="500" fill="hold"/>
                                        <p:tgtEl>
                                          <p:spTgt spid="21"/>
                                        </p:tgtEl>
                                        <p:attrNameLst>
                                          <p:attrName>ppt_x</p:attrName>
                                        </p:attrNameLst>
                                      </p:cBhvr>
                                      <p:tavLst>
                                        <p:tav tm="0">
                                          <p:val>
                                            <p:strVal val="#ppt_x"/>
                                          </p:val>
                                        </p:tav>
                                        <p:tav tm="100000">
                                          <p:val>
                                            <p:strVal val="#ppt_x"/>
                                          </p:val>
                                        </p:tav>
                                      </p:tavLst>
                                    </p:anim>
                                    <p:anim calcmode="lin" valueType="num">
                                      <p:cBhvr additive="base">
                                        <p:cTn id="70" dur="500" fill="hold"/>
                                        <p:tgtEl>
                                          <p:spTgt spid="21"/>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22"/>
                                        </p:tgtEl>
                                        <p:attrNameLst>
                                          <p:attrName>style.visibility</p:attrName>
                                        </p:attrNameLst>
                                      </p:cBhvr>
                                      <p:to>
                                        <p:strVal val="visible"/>
                                      </p:to>
                                    </p:set>
                                    <p:anim calcmode="lin" valueType="num">
                                      <p:cBhvr additive="base">
                                        <p:cTn id="73" dur="500" fill="hold"/>
                                        <p:tgtEl>
                                          <p:spTgt spid="22"/>
                                        </p:tgtEl>
                                        <p:attrNameLst>
                                          <p:attrName>ppt_x</p:attrName>
                                        </p:attrNameLst>
                                      </p:cBhvr>
                                      <p:tavLst>
                                        <p:tav tm="0">
                                          <p:val>
                                            <p:strVal val="#ppt_x"/>
                                          </p:val>
                                        </p:tav>
                                        <p:tav tm="100000">
                                          <p:val>
                                            <p:strVal val="#ppt_x"/>
                                          </p:val>
                                        </p:tav>
                                      </p:tavLst>
                                    </p:anim>
                                    <p:anim calcmode="lin" valueType="num">
                                      <p:cBhvr additive="base">
                                        <p:cTn id="74" dur="500" fill="hold"/>
                                        <p:tgtEl>
                                          <p:spTgt spid="22"/>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 calcmode="lin" valueType="num">
                                      <p:cBhvr additive="base">
                                        <p:cTn id="77" dur="500" fill="hold"/>
                                        <p:tgtEl>
                                          <p:spTgt spid="23"/>
                                        </p:tgtEl>
                                        <p:attrNameLst>
                                          <p:attrName>ppt_x</p:attrName>
                                        </p:attrNameLst>
                                      </p:cBhvr>
                                      <p:tavLst>
                                        <p:tav tm="0">
                                          <p:val>
                                            <p:strVal val="#ppt_x"/>
                                          </p:val>
                                        </p:tav>
                                        <p:tav tm="100000">
                                          <p:val>
                                            <p:strVal val="#ppt_x"/>
                                          </p:val>
                                        </p:tav>
                                      </p:tavLst>
                                    </p:anim>
                                    <p:anim calcmode="lin" valueType="num">
                                      <p:cBhvr additive="base">
                                        <p:cTn id="7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p:bldP spid="12" grpId="0"/>
      <p:bldP spid="13" grpId="0"/>
      <p:bldP spid="14" grpId="0"/>
      <p:bldP spid="15" grpId="0"/>
      <p:bldP spid="16" grpId="0" animBg="1"/>
      <p:bldP spid="17" grpId="0"/>
      <p:bldP spid="18" grpId="0" animBg="1"/>
      <p:bldP spid="19" grpId="0"/>
      <p:bldP spid="20" grpId="0" animBg="1"/>
      <p:bldP spid="21" grpId="0" animBg="1"/>
      <p:bldP spid="22" grpId="0"/>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8229600" cy="1143000"/>
          </a:xfrm>
        </p:spPr>
        <p:txBody>
          <a:bodyPr>
            <a:normAutofit/>
          </a:bodyPr>
          <a:lstStyle/>
          <a:p>
            <a:r>
              <a:rPr lang="zh-CN" altLang="en-US" sz="3600" dirty="0">
                <a:solidFill>
                  <a:schemeClr val="accent6">
                    <a:lumMod val="50000"/>
                  </a:schemeClr>
                </a:solidFill>
              </a:rPr>
              <a:t>常用标志</a:t>
            </a:r>
          </a:p>
        </p:txBody>
      </p:sp>
      <p:sp>
        <p:nvSpPr>
          <p:cNvPr id="14" name="Rectangle 3"/>
          <p:cNvSpPr txBox="1">
            <a:spLocks noChangeArrowheads="1"/>
          </p:cNvSpPr>
          <p:nvPr/>
        </p:nvSpPr>
        <p:spPr bwMode="auto">
          <a:xfrm>
            <a:off x="0" y="1008062"/>
            <a:ext cx="8937625" cy="584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15000"/>
              </a:lnSpc>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lnSpc>
                <a:spcPct val="115000"/>
              </a:lnSpc>
              <a:spcBef>
                <a:spcPct val="20000"/>
              </a:spcBef>
              <a:spcAft>
                <a:spcPct val="0"/>
              </a:spcAft>
              <a:buChar char="–"/>
              <a:defRPr sz="2000" b="1">
                <a:solidFill>
                  <a:srgbClr val="0000CC"/>
                </a:solidFill>
                <a:latin typeface="+mn-lt"/>
                <a:ea typeface="+mn-ea"/>
              </a:defRPr>
            </a:lvl2pPr>
            <a:lvl3pPr marL="1143000" indent="-228600" algn="l" rtl="0" eaLnBrk="0" fontAlgn="base" hangingPunct="0">
              <a:lnSpc>
                <a:spcPct val="115000"/>
              </a:lnSpc>
              <a:spcBef>
                <a:spcPct val="20000"/>
              </a:spcBef>
              <a:spcAft>
                <a:spcPct val="0"/>
              </a:spcAft>
              <a:buChar char="•"/>
              <a:defRPr sz="2400" b="1">
                <a:solidFill>
                  <a:srgbClr val="006600"/>
                </a:solidFill>
                <a:latin typeface="+mn-lt"/>
                <a:ea typeface="+mn-ea"/>
              </a:defRPr>
            </a:lvl3pPr>
            <a:lvl4pPr marL="1600200" indent="-228600" algn="l" rtl="0" eaLnBrk="0" fontAlgn="base" hangingPunct="0">
              <a:lnSpc>
                <a:spcPct val="115000"/>
              </a:lnSpc>
              <a:spcBef>
                <a:spcPct val="20000"/>
              </a:spcBef>
              <a:spcAft>
                <a:spcPct val="0"/>
              </a:spcAft>
              <a:buChar char="–"/>
              <a:defRPr sz="1600" b="1">
                <a:solidFill>
                  <a:srgbClr val="CC3300"/>
                </a:solidFill>
                <a:latin typeface="+mn-lt"/>
                <a:ea typeface="+mn-ea"/>
              </a:defRPr>
            </a:lvl4pPr>
            <a:lvl5pPr marL="2057400" indent="-228600" algn="l" rtl="0" eaLnBrk="0" fontAlgn="base" hangingPunct="0">
              <a:lnSpc>
                <a:spcPct val="115000"/>
              </a:lnSpc>
              <a:spcBef>
                <a:spcPct val="20000"/>
              </a:spcBef>
              <a:spcAft>
                <a:spcPct val="0"/>
              </a:spcAft>
              <a:buChar char="»"/>
              <a:defRPr sz="1500" b="1">
                <a:solidFill>
                  <a:srgbClr val="996600"/>
                </a:solidFill>
                <a:latin typeface="+mn-lt"/>
                <a:ea typeface="+mn-ea"/>
              </a:defRPr>
            </a:lvl5pPr>
            <a:lvl6pPr marL="2514600" indent="-228600" algn="l" rtl="0" fontAlgn="base">
              <a:lnSpc>
                <a:spcPct val="115000"/>
              </a:lnSpc>
              <a:spcBef>
                <a:spcPct val="20000"/>
              </a:spcBef>
              <a:spcAft>
                <a:spcPct val="0"/>
              </a:spcAft>
              <a:buChar char="»"/>
              <a:defRPr sz="1500" b="1">
                <a:solidFill>
                  <a:srgbClr val="996600"/>
                </a:solidFill>
                <a:latin typeface="+mn-lt"/>
                <a:ea typeface="+mn-ea"/>
              </a:defRPr>
            </a:lvl6pPr>
            <a:lvl7pPr marL="2971800" indent="-228600" algn="l" rtl="0" fontAlgn="base">
              <a:lnSpc>
                <a:spcPct val="115000"/>
              </a:lnSpc>
              <a:spcBef>
                <a:spcPct val="20000"/>
              </a:spcBef>
              <a:spcAft>
                <a:spcPct val="0"/>
              </a:spcAft>
              <a:buChar char="»"/>
              <a:defRPr sz="1500" b="1">
                <a:solidFill>
                  <a:srgbClr val="996600"/>
                </a:solidFill>
                <a:latin typeface="+mn-lt"/>
                <a:ea typeface="+mn-ea"/>
              </a:defRPr>
            </a:lvl7pPr>
            <a:lvl8pPr marL="3429000" indent="-228600" algn="l" rtl="0" fontAlgn="base">
              <a:lnSpc>
                <a:spcPct val="115000"/>
              </a:lnSpc>
              <a:spcBef>
                <a:spcPct val="20000"/>
              </a:spcBef>
              <a:spcAft>
                <a:spcPct val="0"/>
              </a:spcAft>
              <a:buChar char="»"/>
              <a:defRPr sz="1500" b="1">
                <a:solidFill>
                  <a:srgbClr val="996600"/>
                </a:solidFill>
                <a:latin typeface="+mn-lt"/>
                <a:ea typeface="+mn-ea"/>
              </a:defRPr>
            </a:lvl8pPr>
            <a:lvl9pPr marL="3886200" indent="-228600" algn="l" rtl="0" fontAlgn="base">
              <a:lnSpc>
                <a:spcPct val="115000"/>
              </a:lnSpc>
              <a:spcBef>
                <a:spcPct val="20000"/>
              </a:spcBef>
              <a:spcAft>
                <a:spcPct val="0"/>
              </a:spcAft>
              <a:buChar char="»"/>
              <a:defRPr sz="1500" b="1">
                <a:solidFill>
                  <a:srgbClr val="996600"/>
                </a:solidFill>
                <a:latin typeface="+mn-lt"/>
                <a:ea typeface="+mn-ea"/>
              </a:defRPr>
            </a:lvl9pPr>
          </a:lstStyle>
          <a:p>
            <a:pPr marL="342900" marR="0" lvl="0" indent="-342900" algn="l" defTabSz="914400" rtl="0" eaLnBrk="0" fontAlgn="base" latinLnBrk="0" hangingPunct="0">
              <a:lnSpc>
                <a:spcPct val="105000"/>
              </a:lnSpc>
              <a:spcBef>
                <a:spcPct val="20000"/>
              </a:spcBef>
              <a:spcAft>
                <a:spcPct val="0"/>
              </a:spcAft>
              <a:buClrTx/>
              <a:buSzTx/>
              <a:buFontTx/>
              <a:buChar char="•"/>
              <a:tabLst/>
              <a:defRPr/>
            </a:pPr>
            <a:r>
              <a:rPr kumimoji="0" lang="en-US" altLang="zh-CN" sz="20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SF</a:t>
            </a:r>
            <a:endParaRPr kumimoji="0" lang="zh-CN" altLang="en-US" sz="20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0" fontAlgn="base" latinLnBrk="0" hangingPunct="0">
              <a:lnSpc>
                <a:spcPct val="105000"/>
              </a:lnSpc>
              <a:spcBef>
                <a:spcPct val="20000"/>
              </a:spcBef>
              <a:spcAft>
                <a:spcPct val="0"/>
              </a:spcAft>
              <a:buClrTx/>
              <a:buSzTx/>
              <a:buFontTx/>
              <a:buChar char="–"/>
              <a:tabLst/>
              <a:defRPr/>
            </a:pPr>
            <a:r>
              <a:rPr kumimoji="0" lang="zh-CN" altLang="en-US"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rPr>
              <a:t>符号标志</a:t>
            </a:r>
            <a:endParaRPr kumimoji="0" lang="en-US" altLang="zh-CN"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0" fontAlgn="base" latinLnBrk="0" hangingPunct="0">
              <a:lnSpc>
                <a:spcPct val="105000"/>
              </a:lnSpc>
              <a:spcBef>
                <a:spcPct val="20000"/>
              </a:spcBef>
              <a:spcAft>
                <a:spcPct val="0"/>
              </a:spcAft>
              <a:buClrTx/>
              <a:buSzTx/>
              <a:buFontTx/>
              <a:buChar char="–"/>
              <a:tabLst/>
              <a:defRPr/>
            </a:pPr>
            <a:r>
              <a:rPr kumimoji="0" lang="zh-CN" altLang="en-US"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rPr>
              <a:t>带符号数运算结果的符号</a:t>
            </a:r>
          </a:p>
          <a:p>
            <a:pPr marL="342900" marR="0" lvl="0" indent="-342900" algn="l" defTabSz="914400" rtl="0" eaLnBrk="0" fontAlgn="base" latinLnBrk="0" hangingPunct="0">
              <a:lnSpc>
                <a:spcPct val="105000"/>
              </a:lnSpc>
              <a:spcBef>
                <a:spcPct val="20000"/>
              </a:spcBef>
              <a:spcAft>
                <a:spcPct val="0"/>
              </a:spcAft>
              <a:buClrTx/>
              <a:buSzTx/>
              <a:buFontTx/>
              <a:buChar char="•"/>
              <a:tabLst/>
              <a:defRPr/>
            </a:pPr>
            <a:r>
              <a:rPr kumimoji="0" lang="en-US" altLang="zh-CN" sz="20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ZF</a:t>
            </a:r>
            <a:endParaRPr kumimoji="0" lang="zh-CN" altLang="en-US" sz="20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0" fontAlgn="base" latinLnBrk="0" hangingPunct="0">
              <a:lnSpc>
                <a:spcPct val="105000"/>
              </a:lnSpc>
              <a:spcBef>
                <a:spcPct val="20000"/>
              </a:spcBef>
              <a:spcAft>
                <a:spcPct val="0"/>
              </a:spcAft>
              <a:buClrTx/>
              <a:buSzTx/>
              <a:buFontTx/>
              <a:buChar char="–"/>
              <a:tabLst/>
              <a:defRPr/>
            </a:pPr>
            <a:r>
              <a:rPr kumimoji="0" lang="zh-CN" altLang="en-US"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rPr>
              <a:t>零标志</a:t>
            </a:r>
            <a:endParaRPr kumimoji="0" lang="en-US" altLang="zh-CN"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0" fontAlgn="base" latinLnBrk="0" hangingPunct="0">
              <a:lnSpc>
                <a:spcPct val="105000"/>
              </a:lnSpc>
              <a:spcBef>
                <a:spcPct val="20000"/>
              </a:spcBef>
              <a:spcAft>
                <a:spcPct val="0"/>
              </a:spcAft>
              <a:buClrTx/>
              <a:buSzTx/>
              <a:buFontTx/>
              <a:buChar char="–"/>
              <a:tabLst/>
              <a:defRPr/>
            </a:pPr>
            <a:r>
              <a:rPr kumimoji="0" lang="zh-CN" altLang="en-US"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rPr>
              <a:t>运算结果为</a:t>
            </a:r>
            <a:r>
              <a:rPr kumimoji="0" lang="en-US" altLang="zh-CN"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rPr>
              <a:t>0</a:t>
            </a:r>
            <a:r>
              <a:rPr kumimoji="0" lang="zh-CN" altLang="en-US"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rPr>
              <a:t>，</a:t>
            </a:r>
            <a:r>
              <a:rPr kumimoji="0" lang="en-US" altLang="zh-CN"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rPr>
              <a:t>ZF=1</a:t>
            </a:r>
            <a:r>
              <a:rPr kumimoji="0" lang="zh-CN" altLang="en-US"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rPr>
              <a:t>；否则</a:t>
            </a:r>
            <a:r>
              <a:rPr kumimoji="0" lang="en-US" altLang="zh-CN"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rPr>
              <a:t>ZF=0</a:t>
            </a:r>
            <a:endParaRPr kumimoji="0" lang="zh-CN" altLang="en-US"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05000"/>
              </a:lnSpc>
              <a:spcBef>
                <a:spcPct val="20000"/>
              </a:spcBef>
              <a:spcAft>
                <a:spcPct val="0"/>
              </a:spcAft>
              <a:buClrTx/>
              <a:buSzTx/>
              <a:buFontTx/>
              <a:buChar char="•"/>
              <a:tabLst/>
              <a:defRPr/>
            </a:pPr>
            <a:r>
              <a:rPr kumimoji="0" lang="en-US" altLang="zh-CN" sz="20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OF</a:t>
            </a:r>
            <a:endParaRPr kumimoji="0" lang="zh-CN" altLang="en-US" sz="20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0" fontAlgn="base" latinLnBrk="0" hangingPunct="0">
              <a:lnSpc>
                <a:spcPct val="105000"/>
              </a:lnSpc>
              <a:spcBef>
                <a:spcPct val="20000"/>
              </a:spcBef>
              <a:spcAft>
                <a:spcPct val="0"/>
              </a:spcAft>
              <a:buClrTx/>
              <a:buSzTx/>
              <a:buFontTx/>
              <a:buChar char="–"/>
              <a:tabLst/>
              <a:defRPr/>
            </a:pPr>
            <a:r>
              <a:rPr kumimoji="0" lang="zh-CN" altLang="en-US"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rPr>
              <a:t>溢出标志，反映带符号数的运算结果是否超出数值的范围</a:t>
            </a:r>
          </a:p>
          <a:p>
            <a:pPr marL="742950" marR="0" lvl="1" indent="-285750" algn="l" defTabSz="914400" rtl="0" eaLnBrk="0" fontAlgn="base" latinLnBrk="0" hangingPunct="0">
              <a:lnSpc>
                <a:spcPct val="105000"/>
              </a:lnSpc>
              <a:spcBef>
                <a:spcPct val="20000"/>
              </a:spcBef>
              <a:spcAft>
                <a:spcPct val="0"/>
              </a:spcAft>
              <a:buClrTx/>
              <a:buSzTx/>
              <a:buFontTx/>
              <a:buChar char="–"/>
              <a:tabLst/>
              <a:defRPr/>
            </a:pPr>
            <a:r>
              <a:rPr kumimoji="0" lang="zh-CN" altLang="en-US"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rPr>
              <a:t>字节运算结果超出</a:t>
            </a:r>
            <a:r>
              <a:rPr kumimoji="0" lang="en-US" altLang="zh-CN"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rPr>
              <a:t>-128~127</a:t>
            </a:r>
            <a:r>
              <a:rPr kumimoji="0" lang="zh-CN" altLang="en-US"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rPr>
              <a:t>，字运算结果超出</a:t>
            </a:r>
            <a:r>
              <a:rPr kumimoji="0" lang="en-US" altLang="zh-CN"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rPr>
              <a:t>-32768~32767</a:t>
            </a:r>
            <a:r>
              <a:rPr kumimoji="0" lang="zh-CN" altLang="en-US"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rPr>
              <a:t>或其他运算超出相应范围，则</a:t>
            </a:r>
            <a:r>
              <a:rPr kumimoji="0" lang="en-US" altLang="zh-CN"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rPr>
              <a:t>OF=1</a:t>
            </a:r>
            <a:r>
              <a:rPr kumimoji="0" lang="zh-CN" altLang="en-US"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rPr>
              <a:t>；否则</a:t>
            </a:r>
            <a:r>
              <a:rPr kumimoji="0" lang="en-US" altLang="zh-CN"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rPr>
              <a:t>OF=0</a:t>
            </a:r>
          </a:p>
          <a:p>
            <a:pPr marL="342900" marR="0" lvl="0" indent="-342900" algn="l" defTabSz="914400" rtl="0" eaLnBrk="0" fontAlgn="base" latinLnBrk="0" hangingPunct="0">
              <a:lnSpc>
                <a:spcPct val="105000"/>
              </a:lnSpc>
              <a:spcBef>
                <a:spcPct val="20000"/>
              </a:spcBef>
              <a:spcAft>
                <a:spcPct val="0"/>
              </a:spcAft>
              <a:buClrTx/>
              <a:buSzTx/>
              <a:buFontTx/>
              <a:buChar char="•"/>
              <a:tabLst/>
              <a:defRPr/>
            </a:pPr>
            <a:r>
              <a:rPr kumimoji="0" lang="en-US" altLang="zh-CN" sz="20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CF</a:t>
            </a:r>
            <a:endParaRPr kumimoji="0" lang="zh-CN" altLang="en-US" sz="20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0" fontAlgn="base" latinLnBrk="0" hangingPunct="0">
              <a:lnSpc>
                <a:spcPct val="105000"/>
              </a:lnSpc>
              <a:spcBef>
                <a:spcPct val="20000"/>
              </a:spcBef>
              <a:spcAft>
                <a:spcPct val="0"/>
              </a:spcAft>
              <a:buClrTx/>
              <a:buSzTx/>
              <a:buFontTx/>
              <a:buChar char="–"/>
              <a:tabLst/>
              <a:defRPr/>
            </a:pPr>
            <a:r>
              <a:rPr kumimoji="0" lang="zh-CN" altLang="en-US"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rPr>
              <a:t>进</a:t>
            </a:r>
            <a:r>
              <a:rPr kumimoji="0" lang="en-US" altLang="zh-CN"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rPr>
              <a:t>/</a:t>
            </a:r>
            <a:r>
              <a:rPr kumimoji="0" lang="zh-CN" altLang="en-US"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rPr>
              <a:t>借位标志</a:t>
            </a:r>
            <a:endParaRPr kumimoji="0" lang="en-US" altLang="zh-CN"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0" fontAlgn="base" latinLnBrk="0" hangingPunct="0">
              <a:lnSpc>
                <a:spcPct val="105000"/>
              </a:lnSpc>
              <a:spcBef>
                <a:spcPct val="20000"/>
              </a:spcBef>
              <a:spcAft>
                <a:spcPct val="0"/>
              </a:spcAft>
              <a:buClrTx/>
              <a:buSzTx/>
              <a:buFontTx/>
              <a:buChar char="–"/>
              <a:tabLst/>
              <a:defRPr/>
            </a:pPr>
            <a:r>
              <a:rPr kumimoji="0" lang="zh-CN" altLang="en-US"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rPr>
              <a:t>反映无符号整数加（减）运算后进借位情况</a:t>
            </a:r>
            <a:endParaRPr kumimoji="0" lang="en-US" altLang="zh-CN"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0" fontAlgn="base" latinLnBrk="0" hangingPunct="0">
              <a:lnSpc>
                <a:spcPct val="105000"/>
              </a:lnSpc>
              <a:spcBef>
                <a:spcPct val="20000"/>
              </a:spcBef>
              <a:spcAft>
                <a:spcPct val="0"/>
              </a:spcAft>
              <a:buClrTx/>
              <a:buSzTx/>
              <a:buFontTx/>
              <a:buChar char="–"/>
              <a:tabLst/>
              <a:defRPr/>
            </a:pPr>
            <a:r>
              <a:rPr kumimoji="0" lang="en-US" altLang="zh-CN"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rPr>
              <a:t>CF=Sub</a:t>
            </a:r>
            <a:r>
              <a:rPr kumimoji="0" lang="zh-CN" altLang="en-US" sz="2000" b="1" i="0" u="none" strike="noStrike" kern="1200" cap="none" spc="0" normalizeH="0" baseline="0" noProof="0" dirty="0">
                <a:ln>
                  <a:noFill/>
                </a:ln>
                <a:solidFill>
                  <a:srgbClr val="0000CC"/>
                </a:solidFill>
                <a:effectLst/>
                <a:uLnTx/>
                <a:uFillTx/>
                <a:latin typeface="Century Gothic"/>
                <a:ea typeface="幼圆" panose="02010509060101010101" pitchFamily="49" charset="-122"/>
                <a:cs typeface="+mn-cs"/>
              </a:rPr>
              <a:t>⊕</a:t>
            </a:r>
            <a:r>
              <a:rPr kumimoji="0" lang="en-US" altLang="zh-CN" sz="2000" b="1" i="0" u="none" strike="noStrike" kern="1200" cap="none" spc="0" normalizeH="0" baseline="0" noProof="0" dirty="0">
                <a:ln>
                  <a:noFill/>
                </a:ln>
                <a:solidFill>
                  <a:srgbClr val="0000CC"/>
                </a:solidFill>
                <a:effectLst/>
                <a:uLnTx/>
                <a:uFillTx/>
                <a:latin typeface="Century Gothic"/>
                <a:ea typeface="幼圆" panose="02010509060101010101" pitchFamily="49" charset="-122"/>
                <a:cs typeface="+mn-cs"/>
              </a:rPr>
              <a:t>C</a:t>
            </a:r>
            <a:endParaRPr kumimoji="0" lang="en-US" altLang="zh-CN" sz="20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93181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blinds(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blinds(horizontal)">
                                      <p:cBhvr>
                                        <p:cTn id="12" dur="5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blinds(horizontal)">
                                      <p:cBhvr>
                                        <p:cTn id="17" dur="500"/>
                                        <p:tgtEl>
                                          <p:spTgt spid="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4">
                                            <p:txEl>
                                              <p:pRg st="3" end="3"/>
                                            </p:txEl>
                                          </p:spTgt>
                                        </p:tgtEl>
                                        <p:attrNameLst>
                                          <p:attrName>style.visibility</p:attrName>
                                        </p:attrNameLst>
                                      </p:cBhvr>
                                      <p:to>
                                        <p:strVal val="visible"/>
                                      </p:to>
                                    </p:set>
                                    <p:animEffect transition="in" filter="blinds(horizontal)">
                                      <p:cBhvr>
                                        <p:cTn id="22" dur="500"/>
                                        <p:tgtEl>
                                          <p:spTgt spid="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4">
                                            <p:txEl>
                                              <p:pRg st="4" end="4"/>
                                            </p:txEl>
                                          </p:spTgt>
                                        </p:tgtEl>
                                        <p:attrNameLst>
                                          <p:attrName>style.visibility</p:attrName>
                                        </p:attrNameLst>
                                      </p:cBhvr>
                                      <p:to>
                                        <p:strVal val="visible"/>
                                      </p:to>
                                    </p:set>
                                    <p:animEffect transition="in" filter="blinds(horizontal)">
                                      <p:cBhvr>
                                        <p:cTn id="27" dur="500"/>
                                        <p:tgtEl>
                                          <p:spTgt spid="1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4">
                                            <p:txEl>
                                              <p:pRg st="5" end="5"/>
                                            </p:txEl>
                                          </p:spTgt>
                                        </p:tgtEl>
                                        <p:attrNameLst>
                                          <p:attrName>style.visibility</p:attrName>
                                        </p:attrNameLst>
                                      </p:cBhvr>
                                      <p:to>
                                        <p:strVal val="visible"/>
                                      </p:to>
                                    </p:set>
                                    <p:animEffect transition="in" filter="blinds(horizontal)">
                                      <p:cBhvr>
                                        <p:cTn id="32" dur="500"/>
                                        <p:tgtEl>
                                          <p:spTgt spid="1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4">
                                            <p:txEl>
                                              <p:pRg st="6" end="6"/>
                                            </p:txEl>
                                          </p:spTgt>
                                        </p:tgtEl>
                                        <p:attrNameLst>
                                          <p:attrName>style.visibility</p:attrName>
                                        </p:attrNameLst>
                                      </p:cBhvr>
                                      <p:to>
                                        <p:strVal val="visible"/>
                                      </p:to>
                                    </p:set>
                                    <p:animEffect transition="in" filter="blinds(horizontal)">
                                      <p:cBhvr>
                                        <p:cTn id="37" dur="500"/>
                                        <p:tgtEl>
                                          <p:spTgt spid="1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4">
                                            <p:txEl>
                                              <p:pRg st="7" end="7"/>
                                            </p:txEl>
                                          </p:spTgt>
                                        </p:tgtEl>
                                        <p:attrNameLst>
                                          <p:attrName>style.visibility</p:attrName>
                                        </p:attrNameLst>
                                      </p:cBhvr>
                                      <p:to>
                                        <p:strVal val="visible"/>
                                      </p:to>
                                    </p:set>
                                    <p:animEffect transition="in" filter="blinds(horizontal)">
                                      <p:cBhvr>
                                        <p:cTn id="42" dur="500"/>
                                        <p:tgtEl>
                                          <p:spTgt spid="1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4">
                                            <p:txEl>
                                              <p:pRg st="8" end="8"/>
                                            </p:txEl>
                                          </p:spTgt>
                                        </p:tgtEl>
                                        <p:attrNameLst>
                                          <p:attrName>style.visibility</p:attrName>
                                        </p:attrNameLst>
                                      </p:cBhvr>
                                      <p:to>
                                        <p:strVal val="visible"/>
                                      </p:to>
                                    </p:set>
                                    <p:animEffect transition="in" filter="blinds(horizontal)">
                                      <p:cBhvr>
                                        <p:cTn id="47" dur="500"/>
                                        <p:tgtEl>
                                          <p:spTgt spid="1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4">
                                            <p:txEl>
                                              <p:pRg st="9" end="9"/>
                                            </p:txEl>
                                          </p:spTgt>
                                        </p:tgtEl>
                                        <p:attrNameLst>
                                          <p:attrName>style.visibility</p:attrName>
                                        </p:attrNameLst>
                                      </p:cBhvr>
                                      <p:to>
                                        <p:strVal val="visible"/>
                                      </p:to>
                                    </p:set>
                                    <p:animEffect transition="in" filter="blinds(horizontal)">
                                      <p:cBhvr>
                                        <p:cTn id="52" dur="500"/>
                                        <p:tgtEl>
                                          <p:spTgt spid="1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4">
                                            <p:txEl>
                                              <p:pRg st="10" end="10"/>
                                            </p:txEl>
                                          </p:spTgt>
                                        </p:tgtEl>
                                        <p:attrNameLst>
                                          <p:attrName>style.visibility</p:attrName>
                                        </p:attrNameLst>
                                      </p:cBhvr>
                                      <p:to>
                                        <p:strVal val="visible"/>
                                      </p:to>
                                    </p:set>
                                    <p:animEffect transition="in" filter="blinds(horizontal)">
                                      <p:cBhvr>
                                        <p:cTn id="57" dur="500"/>
                                        <p:tgtEl>
                                          <p:spTgt spid="14">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4">
                                            <p:txEl>
                                              <p:pRg st="11" end="11"/>
                                            </p:txEl>
                                          </p:spTgt>
                                        </p:tgtEl>
                                        <p:attrNameLst>
                                          <p:attrName>style.visibility</p:attrName>
                                        </p:attrNameLst>
                                      </p:cBhvr>
                                      <p:to>
                                        <p:strVal val="visible"/>
                                      </p:to>
                                    </p:set>
                                    <p:animEffect transition="in" filter="blinds(horizontal)">
                                      <p:cBhvr>
                                        <p:cTn id="62" dur="500"/>
                                        <p:tgtEl>
                                          <p:spTgt spid="14">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14">
                                            <p:txEl>
                                              <p:pRg st="12" end="12"/>
                                            </p:txEl>
                                          </p:spTgt>
                                        </p:tgtEl>
                                        <p:attrNameLst>
                                          <p:attrName>style.visibility</p:attrName>
                                        </p:attrNameLst>
                                      </p:cBhvr>
                                      <p:to>
                                        <p:strVal val="visible"/>
                                      </p:to>
                                    </p:set>
                                    <p:animEffect transition="in" filter="blinds(horizontal)">
                                      <p:cBhvr>
                                        <p:cTn id="67" dur="500"/>
                                        <p:tgtEl>
                                          <p:spTgt spid="1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92" y="-83501"/>
            <a:ext cx="8229600" cy="817562"/>
          </a:xfrm>
        </p:spPr>
        <p:txBody>
          <a:bodyPr>
            <a:normAutofit/>
          </a:bodyPr>
          <a:lstStyle/>
          <a:p>
            <a:r>
              <a:rPr lang="zh-CN" altLang="en-US" sz="3600" dirty="0">
                <a:solidFill>
                  <a:schemeClr val="accent6">
                    <a:lumMod val="50000"/>
                  </a:schemeClr>
                </a:solidFill>
              </a:rPr>
              <a:t>寄存器组织和寻址方式：保护模式寻址</a:t>
            </a:r>
          </a:p>
        </p:txBody>
      </p:sp>
      <p:sp>
        <p:nvSpPr>
          <p:cNvPr id="4" name="Rectangle 3"/>
          <p:cNvSpPr txBox="1">
            <a:spLocks noChangeArrowheads="1"/>
          </p:cNvSpPr>
          <p:nvPr/>
        </p:nvSpPr>
        <p:spPr>
          <a:xfrm>
            <a:off x="250825" y="5543550"/>
            <a:ext cx="8408988" cy="126841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a:ln>
                  <a:noFill/>
                </a:ln>
                <a:solidFill>
                  <a:srgbClr val="007635"/>
                </a:solidFill>
                <a:effectLst/>
                <a:uLnTx/>
                <a:uFillTx/>
                <a:latin typeface="微软雅黑" panose="020B0503020204020204" pitchFamily="34" charset="-122"/>
                <a:ea typeface="微软雅黑" panose="020B0503020204020204" pitchFamily="34" charset="-122"/>
                <a:cs typeface="+mn-cs"/>
              </a:rPr>
              <a:t>SR</a:t>
            </a:r>
            <a:r>
              <a:rPr kumimoji="0" lang="zh-CN" altLang="en-US" sz="2000" b="0" i="0" u="none" strike="noStrike" kern="1200" cap="none" spc="0" normalizeH="0" baseline="0" noProof="0">
                <a:ln>
                  <a:noFill/>
                </a:ln>
                <a:solidFill>
                  <a:srgbClr val="007635"/>
                </a:solidFill>
                <a:effectLst/>
                <a:uLnTx/>
                <a:uFillTx/>
                <a:latin typeface="微软雅黑" panose="020B0503020204020204" pitchFamily="34" charset="-122"/>
                <a:ea typeface="微软雅黑" panose="020B0503020204020204" pitchFamily="34" charset="-122"/>
                <a:cs typeface="+mn-cs"/>
              </a:rPr>
              <a:t>段寄存器（间接）确定操作数所在段的</a:t>
            </a:r>
            <a:r>
              <a:rPr kumimoji="0" lang="zh-CN" altLang="en-US" sz="2000" b="0"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段基址</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2000" b="0"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有效地址</a:t>
            </a:r>
            <a:r>
              <a:rPr kumimoji="0" lang="zh-CN" altLang="en-US" sz="2000" b="0" i="0" u="none" strike="noStrike" kern="1200" cap="none" spc="0" normalizeH="0" baseline="0" noProof="0">
                <a:ln>
                  <a:noFill/>
                </a:ln>
                <a:solidFill>
                  <a:srgbClr val="007635"/>
                </a:solidFill>
                <a:effectLst/>
                <a:uLnTx/>
                <a:uFillTx/>
                <a:latin typeface="微软雅黑" panose="020B0503020204020204" pitchFamily="34" charset="-122"/>
                <a:ea typeface="微软雅黑" panose="020B0503020204020204" pitchFamily="34" charset="-122"/>
                <a:cs typeface="+mn-cs"/>
              </a:rPr>
              <a:t>给出操作数在所在段的偏移地址</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2000" b="0" i="0" u="none" strike="noStrike" kern="1200" cap="none" spc="0" normalizeH="0" baseline="0" noProof="0">
                <a:ln>
                  <a:noFill/>
                </a:ln>
                <a:solidFill>
                  <a:srgbClr val="007635"/>
                </a:solidFill>
                <a:effectLst/>
                <a:uLnTx/>
                <a:uFillTx/>
                <a:latin typeface="微软雅黑" panose="020B0503020204020204" pitchFamily="34" charset="-122"/>
                <a:ea typeface="微软雅黑" panose="020B0503020204020204" pitchFamily="34" charset="-122"/>
                <a:cs typeface="+mn-cs"/>
              </a:rPr>
              <a:t>寻址过程涉及到“</a:t>
            </a:r>
            <a:r>
              <a:rPr kumimoji="0" lang="zh-CN" altLang="en-US" sz="2000" b="0"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分段虚拟管理方式</a:t>
            </a:r>
            <a:r>
              <a:rPr kumimoji="0" lang="zh-CN" altLang="en-US" sz="2000" b="0" i="0" u="none" strike="noStrike" kern="1200" cap="none" spc="0" normalizeH="0" baseline="0" noProof="0">
                <a:ln>
                  <a:noFill/>
                </a:ln>
                <a:solidFill>
                  <a:srgbClr val="007635"/>
                </a:solidFill>
                <a:effectLst/>
                <a:uLnTx/>
                <a:uFillTx/>
                <a:latin typeface="微软雅黑" panose="020B0503020204020204" pitchFamily="34" charset="-122"/>
                <a:ea typeface="微软雅黑" panose="020B0503020204020204" pitchFamily="34" charset="-122"/>
                <a:cs typeface="+mn-cs"/>
              </a:rPr>
              <a:t>”，将在第</a:t>
            </a:r>
            <a:r>
              <a:rPr kumimoji="0" lang="en-US" altLang="zh-CN" sz="2000" b="0" i="0" u="none" strike="noStrike" kern="1200" cap="none" spc="0" normalizeH="0" baseline="0" noProof="0">
                <a:ln>
                  <a:noFill/>
                </a:ln>
                <a:solidFill>
                  <a:srgbClr val="007635"/>
                </a:solidFill>
                <a:effectLst/>
                <a:uLnTx/>
                <a:uFillTx/>
                <a:latin typeface="微软雅黑" panose="020B0503020204020204" pitchFamily="34" charset="-122"/>
                <a:ea typeface="微软雅黑" panose="020B0503020204020204" pitchFamily="34" charset="-122"/>
                <a:cs typeface="+mn-cs"/>
              </a:rPr>
              <a:t>6</a:t>
            </a:r>
            <a:r>
              <a:rPr kumimoji="0" lang="zh-CN" altLang="en-US" sz="2000" b="0" i="0" u="none" strike="noStrike" kern="1200" cap="none" spc="0" normalizeH="0" baseline="0" noProof="0">
                <a:ln>
                  <a:noFill/>
                </a:ln>
                <a:solidFill>
                  <a:srgbClr val="007635"/>
                </a:solidFill>
                <a:effectLst/>
                <a:uLnTx/>
                <a:uFillTx/>
                <a:latin typeface="微软雅黑" panose="020B0503020204020204" pitchFamily="34" charset="-122"/>
                <a:ea typeface="微软雅黑" panose="020B0503020204020204" pitchFamily="34" charset="-122"/>
                <a:cs typeface="+mn-cs"/>
              </a:rPr>
              <a:t>章讨论</a:t>
            </a:r>
            <a:endParaRPr kumimoji="0" lang="zh-CN" altLang="en-US" sz="2200" b="0" i="0" u="none" strike="noStrike" kern="1200" cap="none" spc="0" normalizeH="0" baseline="0" noProof="0">
              <a:ln>
                <a:noFill/>
              </a:ln>
              <a:solidFill>
                <a:srgbClr val="007635"/>
              </a:solidFill>
              <a:effectLst/>
              <a:uLnTx/>
              <a:uFillTx/>
              <a:latin typeface="微软雅黑" panose="020B0503020204020204" pitchFamily="34" charset="-122"/>
              <a:ea typeface="微软雅黑" panose="020B0503020204020204" pitchFamily="34" charset="-122"/>
              <a:cs typeface="+mn-cs"/>
            </a:endParaRP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88" y="728663"/>
            <a:ext cx="8982075" cy="481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a:spLocks noChangeArrowheads="1"/>
          </p:cNvSpPr>
          <p:nvPr/>
        </p:nvSpPr>
        <p:spPr bwMode="auto">
          <a:xfrm>
            <a:off x="161925" y="1943100"/>
            <a:ext cx="8596313" cy="2249488"/>
          </a:xfrm>
          <a:prstGeom prst="rect">
            <a:avLst/>
          </a:prstGeom>
          <a:solidFill>
            <a:schemeClr val="accent1">
              <a:alpha val="27058"/>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 name="Rectangle 6"/>
          <p:cNvSpPr>
            <a:spLocks noChangeArrowheads="1"/>
          </p:cNvSpPr>
          <p:nvPr/>
        </p:nvSpPr>
        <p:spPr bwMode="auto">
          <a:xfrm>
            <a:off x="161925" y="4194175"/>
            <a:ext cx="8596313" cy="360363"/>
          </a:xfrm>
          <a:prstGeom prst="rect">
            <a:avLst/>
          </a:prstGeom>
          <a:solidFill>
            <a:srgbClr val="FF3300">
              <a:alpha val="25098"/>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8" name="Group 10"/>
          <p:cNvGrpSpPr>
            <a:grpSpLocks/>
          </p:cNvGrpSpPr>
          <p:nvPr/>
        </p:nvGrpSpPr>
        <p:grpSpPr bwMode="auto">
          <a:xfrm>
            <a:off x="1466850" y="1943100"/>
            <a:ext cx="6254750" cy="4005263"/>
            <a:chOff x="924" y="1224"/>
            <a:chExt cx="3940" cy="2523"/>
          </a:xfrm>
        </p:grpSpPr>
        <p:sp>
          <p:nvSpPr>
            <p:cNvPr id="9" name="Rectangle 8"/>
            <p:cNvSpPr>
              <a:spLocks noChangeArrowheads="1"/>
            </p:cNvSpPr>
            <p:nvPr/>
          </p:nvSpPr>
          <p:spPr bwMode="auto">
            <a:xfrm>
              <a:off x="3447" y="1224"/>
              <a:ext cx="1417" cy="1417"/>
            </a:xfrm>
            <a:prstGeom prst="rect">
              <a:avLst/>
            </a:prstGeom>
            <a:solidFill>
              <a:srgbClr val="800080">
                <a:alpha val="16862"/>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 name="Line 9"/>
            <p:cNvSpPr>
              <a:spLocks noChangeShapeType="1"/>
            </p:cNvSpPr>
            <p:nvPr/>
          </p:nvSpPr>
          <p:spPr bwMode="auto">
            <a:xfrm flipV="1">
              <a:off x="924" y="2641"/>
              <a:ext cx="2977" cy="1106"/>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grpSp>
      <p:grpSp>
        <p:nvGrpSpPr>
          <p:cNvPr id="11" name="Group 13"/>
          <p:cNvGrpSpPr>
            <a:grpSpLocks/>
          </p:cNvGrpSpPr>
          <p:nvPr/>
        </p:nvGrpSpPr>
        <p:grpSpPr bwMode="auto">
          <a:xfrm>
            <a:off x="4616450" y="1943100"/>
            <a:ext cx="1169988" cy="3735388"/>
            <a:chOff x="2908" y="1224"/>
            <a:chExt cx="737" cy="2297"/>
          </a:xfrm>
        </p:grpSpPr>
        <p:sp>
          <p:nvSpPr>
            <p:cNvPr id="12" name="Line 11"/>
            <p:cNvSpPr>
              <a:spLocks noChangeShapeType="1"/>
            </p:cNvSpPr>
            <p:nvPr/>
          </p:nvSpPr>
          <p:spPr bwMode="auto">
            <a:xfrm flipH="1" flipV="1">
              <a:off x="3249" y="2557"/>
              <a:ext cx="396" cy="964"/>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13" name="Rectangle 12"/>
            <p:cNvSpPr>
              <a:spLocks noChangeArrowheads="1"/>
            </p:cNvSpPr>
            <p:nvPr/>
          </p:nvSpPr>
          <p:spPr bwMode="auto">
            <a:xfrm>
              <a:off x="2908" y="1224"/>
              <a:ext cx="426" cy="1361"/>
            </a:xfrm>
            <a:prstGeom prst="rect">
              <a:avLst/>
            </a:prstGeom>
            <a:solidFill>
              <a:srgbClr val="800080">
                <a:alpha val="25098"/>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15" name="Group 17"/>
          <p:cNvGrpSpPr>
            <a:grpSpLocks/>
          </p:cNvGrpSpPr>
          <p:nvPr/>
        </p:nvGrpSpPr>
        <p:grpSpPr bwMode="auto">
          <a:xfrm>
            <a:off x="7812088" y="2033588"/>
            <a:ext cx="765175" cy="2055812"/>
            <a:chOff x="4921" y="1281"/>
            <a:chExt cx="482" cy="1295"/>
          </a:xfrm>
        </p:grpSpPr>
        <p:sp>
          <p:nvSpPr>
            <p:cNvPr id="16" name="AutoShape 14"/>
            <p:cNvSpPr>
              <a:spLocks/>
            </p:cNvSpPr>
            <p:nvPr/>
          </p:nvSpPr>
          <p:spPr bwMode="auto">
            <a:xfrm>
              <a:off x="4921" y="1281"/>
              <a:ext cx="114" cy="1276"/>
            </a:xfrm>
            <a:prstGeom prst="rightBrace">
              <a:avLst>
                <a:gd name="adj1" fmla="val 93275"/>
                <a:gd name="adj2" fmla="val 50000"/>
              </a:avLst>
            </a:prstGeom>
            <a:noFill/>
            <a:ln w="3810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7" name="Text Box 15"/>
            <p:cNvSpPr txBox="1">
              <a:spLocks noChangeArrowheads="1"/>
            </p:cNvSpPr>
            <p:nvPr/>
          </p:nvSpPr>
          <p:spPr bwMode="auto">
            <a:xfrm>
              <a:off x="5063" y="1366"/>
              <a:ext cx="340" cy="12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存储器操作数</a:t>
              </a:r>
            </a:p>
          </p:txBody>
        </p:sp>
      </p:grpSp>
      <p:sp>
        <p:nvSpPr>
          <p:cNvPr id="18" name="Text Box 16"/>
          <p:cNvSpPr txBox="1">
            <a:spLocks noChangeArrowheads="1"/>
          </p:cNvSpPr>
          <p:nvPr/>
        </p:nvSpPr>
        <p:spPr bwMode="auto">
          <a:xfrm>
            <a:off x="6192838" y="4194175"/>
            <a:ext cx="2519362"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900" b="1" i="0" u="none" strike="noStrike" kern="1200" cap="none" spc="0" normalizeH="0" baseline="0" noProof="0">
                <a:ln>
                  <a:noFill/>
                </a:ln>
                <a:solidFill>
                  <a:srgbClr val="007635"/>
                </a:solidFill>
                <a:effectLst/>
                <a:uLnTx/>
                <a:uFillTx/>
                <a:latin typeface="Arial" panose="020B0604020202020204" pitchFamily="34" charset="0"/>
                <a:ea typeface="微软雅黑" panose="020B0503020204020204" pitchFamily="34" charset="-122"/>
                <a:cs typeface="+mn-cs"/>
              </a:rPr>
              <a:t>跳转目标指令地址</a:t>
            </a:r>
          </a:p>
        </p:txBody>
      </p:sp>
    </p:spTree>
    <p:extLst>
      <p:ext uri="{BB962C8B-B14F-4D97-AF65-F5344CB8AC3E}">
        <p14:creationId xmlns:p14="http://schemas.microsoft.com/office/powerpoint/2010/main" val="3953226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blinds(horizontal)">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Effect transition="in" filter="blinds(horizontal)">
                                      <p:cBhvr>
                                        <p:cTn id="27" dur="500"/>
                                        <p:tgtEl>
                                          <p:spTgt spid="4">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linds(horizontal)">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animEffect transition="in" filter="blinds(horizontal)">
                                      <p:cBhvr>
                                        <p:cTn id="37" dur="500"/>
                                        <p:tgtEl>
                                          <p:spTgt spid="4">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blinds(horizontal)">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blinds(horizontal)">
                                      <p:cBhvr>
                                        <p:cTn id="4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71400"/>
            <a:ext cx="8229600" cy="1143000"/>
          </a:xfrm>
        </p:spPr>
        <p:txBody>
          <a:bodyPr>
            <a:normAutofit/>
          </a:bodyPr>
          <a:lstStyle/>
          <a:p>
            <a:r>
              <a:rPr lang="zh-CN" altLang="en-US" sz="4000" dirty="0">
                <a:solidFill>
                  <a:schemeClr val="accent6">
                    <a:lumMod val="50000"/>
                  </a:schemeClr>
                </a:solidFill>
              </a:rPr>
              <a:t>课程回顾：通用数据传送指令</a:t>
            </a:r>
          </a:p>
        </p:txBody>
      </p:sp>
      <p:sp>
        <p:nvSpPr>
          <p:cNvPr id="3" name="内容占位符 2"/>
          <p:cNvSpPr>
            <a:spLocks noGrp="1"/>
          </p:cNvSpPr>
          <p:nvPr>
            <p:ph idx="1"/>
          </p:nvPr>
        </p:nvSpPr>
        <p:spPr>
          <a:xfrm>
            <a:off x="0" y="908720"/>
            <a:ext cx="9144000" cy="5328592"/>
          </a:xfrm>
        </p:spPr>
        <p:txBody>
          <a:bodyPr>
            <a:noAutofit/>
          </a:bodyPr>
          <a:lstStyle/>
          <a:p>
            <a:pPr indent="-180000">
              <a:lnSpc>
                <a:spcPct val="120000"/>
              </a:lnSpc>
              <a:buFont typeface="Wingdings" panose="05000000000000000000" pitchFamily="2" charset="2"/>
              <a:buChar char="Ø"/>
            </a:pPr>
            <a:r>
              <a:rPr lang="en-US" altLang="zh-CN" sz="1600" dirty="0">
                <a:solidFill>
                  <a:srgbClr val="0033CC"/>
                </a:solidFill>
              </a:rPr>
              <a:t>MOV</a:t>
            </a:r>
          </a:p>
          <a:p>
            <a:pPr marL="360000" lvl="1" indent="-180000">
              <a:lnSpc>
                <a:spcPct val="120000"/>
              </a:lnSpc>
              <a:buFont typeface="Arial" panose="020B0604020202020204" pitchFamily="34" charset="0"/>
              <a:buChar char="•"/>
            </a:pPr>
            <a:r>
              <a:rPr lang="zh-CN" altLang="en-US" sz="1400" dirty="0"/>
              <a:t>一般传送指令</a:t>
            </a:r>
            <a:endParaRPr lang="en-US" altLang="zh-CN" sz="1400" dirty="0"/>
          </a:p>
          <a:p>
            <a:pPr marL="360000" lvl="1" indent="-180000">
              <a:lnSpc>
                <a:spcPct val="120000"/>
              </a:lnSpc>
              <a:buFont typeface="Arial" panose="020B0604020202020204" pitchFamily="34" charset="0"/>
              <a:buChar char="•"/>
            </a:pPr>
            <a:r>
              <a:rPr lang="en-US" altLang="zh-CN" sz="1400" dirty="0" err="1"/>
              <a:t>movb</a:t>
            </a:r>
            <a:r>
              <a:rPr lang="zh-CN" altLang="en-US" sz="1400" dirty="0"/>
              <a:t>（</a:t>
            </a:r>
            <a:r>
              <a:rPr lang="en-US" altLang="zh-CN" sz="1400" dirty="0"/>
              <a:t>8</a:t>
            </a:r>
            <a:r>
              <a:rPr lang="zh-CN" altLang="en-US" sz="1400" dirty="0"/>
              <a:t>位）、</a:t>
            </a:r>
            <a:r>
              <a:rPr lang="en-US" altLang="zh-CN" sz="1400" dirty="0" err="1"/>
              <a:t>movw</a:t>
            </a:r>
            <a:r>
              <a:rPr lang="zh-CN" altLang="en-US" sz="1400" dirty="0"/>
              <a:t>（</a:t>
            </a:r>
            <a:r>
              <a:rPr lang="en-US" altLang="zh-CN" sz="1400" dirty="0"/>
              <a:t>16</a:t>
            </a:r>
            <a:r>
              <a:rPr lang="zh-CN" altLang="en-US" sz="1400" dirty="0"/>
              <a:t>位）、</a:t>
            </a:r>
            <a:r>
              <a:rPr lang="en-US" altLang="zh-CN" sz="1400" dirty="0" err="1"/>
              <a:t>movl</a:t>
            </a:r>
            <a:r>
              <a:rPr lang="zh-CN" altLang="en-US" sz="1400" dirty="0"/>
              <a:t>（</a:t>
            </a:r>
            <a:r>
              <a:rPr lang="en-US" altLang="zh-CN" sz="1400" dirty="0"/>
              <a:t>32</a:t>
            </a:r>
            <a:r>
              <a:rPr lang="zh-CN" altLang="en-US" sz="1400" dirty="0"/>
              <a:t>位）</a:t>
            </a:r>
            <a:endParaRPr lang="en-US" altLang="zh-CN" sz="1400" dirty="0"/>
          </a:p>
          <a:p>
            <a:pPr indent="-180000">
              <a:lnSpc>
                <a:spcPct val="120000"/>
              </a:lnSpc>
              <a:buFont typeface="Wingdings" panose="05000000000000000000" pitchFamily="2" charset="2"/>
              <a:buChar char="Ø"/>
            </a:pPr>
            <a:r>
              <a:rPr lang="en-US" altLang="zh-CN" sz="1600" dirty="0">
                <a:solidFill>
                  <a:srgbClr val="0033CC"/>
                </a:solidFill>
              </a:rPr>
              <a:t>MOVS</a:t>
            </a:r>
          </a:p>
          <a:p>
            <a:pPr marL="360000" lvl="1" indent="-180000">
              <a:lnSpc>
                <a:spcPct val="120000"/>
              </a:lnSpc>
              <a:buFont typeface="Arial" panose="020B0604020202020204" pitchFamily="34" charset="0"/>
              <a:buChar char="•"/>
            </a:pPr>
            <a:r>
              <a:rPr lang="zh-CN" altLang="en-US" sz="1400" dirty="0"/>
              <a:t>符号扩展传送指令，将短的源数据高位符号扩展后传送到目的地址，适用于</a:t>
            </a:r>
            <a:r>
              <a:rPr lang="zh-CN" altLang="en-US" sz="1400" dirty="0">
                <a:solidFill>
                  <a:srgbClr val="FF0000"/>
                </a:solidFill>
              </a:rPr>
              <a:t>带符号整形数据</a:t>
            </a:r>
            <a:endParaRPr lang="en-US" altLang="zh-CN" sz="1400" dirty="0"/>
          </a:p>
          <a:p>
            <a:pPr marL="360000" lvl="1" indent="-180000">
              <a:lnSpc>
                <a:spcPct val="120000"/>
              </a:lnSpc>
              <a:buFont typeface="Arial" panose="020B0604020202020204" pitchFamily="34" charset="0"/>
              <a:buChar char="•"/>
            </a:pPr>
            <a:r>
              <a:rPr lang="en-US" altLang="zh-CN" sz="1400" dirty="0" err="1"/>
              <a:t>movsbw</a:t>
            </a:r>
            <a:r>
              <a:rPr lang="zh-CN" altLang="en-US" sz="1400" dirty="0"/>
              <a:t>将</a:t>
            </a:r>
            <a:r>
              <a:rPr lang="en-US" altLang="zh-CN" sz="1400" dirty="0"/>
              <a:t>1</a:t>
            </a:r>
            <a:r>
              <a:rPr lang="zh-CN" altLang="en-US" sz="1400" dirty="0"/>
              <a:t>个字节进行符号扩展后送到一个字地址中</a:t>
            </a:r>
            <a:endParaRPr lang="en-US" altLang="zh-CN" sz="1400" dirty="0"/>
          </a:p>
          <a:p>
            <a:pPr indent="-180000">
              <a:lnSpc>
                <a:spcPct val="120000"/>
              </a:lnSpc>
              <a:buFont typeface="Wingdings" panose="05000000000000000000" pitchFamily="2" charset="2"/>
              <a:buChar char="Ø"/>
            </a:pPr>
            <a:r>
              <a:rPr lang="en-US" altLang="zh-CN" sz="1600" dirty="0">
                <a:solidFill>
                  <a:srgbClr val="0033CC"/>
                </a:solidFill>
              </a:rPr>
              <a:t>MOVZ</a:t>
            </a:r>
          </a:p>
          <a:p>
            <a:pPr marL="360000" lvl="1" indent="-180000">
              <a:lnSpc>
                <a:spcPct val="120000"/>
              </a:lnSpc>
              <a:buFont typeface="Arial" panose="020B0604020202020204" pitchFamily="34" charset="0"/>
              <a:buChar char="•"/>
            </a:pPr>
            <a:r>
              <a:rPr lang="zh-CN" altLang="en-US" sz="1400" dirty="0"/>
              <a:t>零扩展传送指令，将短的源数据高位零扩展后传送到目的地址，适用于</a:t>
            </a:r>
            <a:r>
              <a:rPr lang="zh-CN" altLang="en-US" sz="1400" dirty="0">
                <a:solidFill>
                  <a:srgbClr val="FF0000"/>
                </a:solidFill>
              </a:rPr>
              <a:t>无符号整形数据</a:t>
            </a:r>
            <a:endParaRPr lang="en-US" altLang="zh-CN" sz="1400" dirty="0">
              <a:solidFill>
                <a:srgbClr val="FF0000"/>
              </a:solidFill>
            </a:endParaRPr>
          </a:p>
          <a:p>
            <a:pPr marL="360000" lvl="1" indent="-180000">
              <a:lnSpc>
                <a:spcPct val="120000"/>
              </a:lnSpc>
              <a:buFont typeface="Arial" panose="020B0604020202020204" pitchFamily="34" charset="0"/>
              <a:buChar char="•"/>
            </a:pPr>
            <a:r>
              <a:rPr lang="en-US" altLang="zh-CN" sz="1400" dirty="0" err="1"/>
              <a:t>movzwl</a:t>
            </a:r>
            <a:r>
              <a:rPr lang="zh-CN" altLang="en-US" sz="1400" dirty="0"/>
              <a:t>将</a:t>
            </a:r>
            <a:r>
              <a:rPr lang="en-US" altLang="zh-CN" sz="1400" dirty="0"/>
              <a:t>1</a:t>
            </a:r>
            <a:r>
              <a:rPr lang="zh-CN" altLang="en-US" sz="1400" dirty="0"/>
              <a:t>个字的高位进行零扩展后送到</a:t>
            </a:r>
            <a:r>
              <a:rPr lang="en-US" altLang="zh-CN" sz="1400" dirty="0"/>
              <a:t>1</a:t>
            </a:r>
            <a:r>
              <a:rPr lang="zh-CN" altLang="en-US" sz="1400" dirty="0"/>
              <a:t>个双字地址</a:t>
            </a:r>
            <a:endParaRPr lang="en-US" altLang="zh-CN" sz="1400" dirty="0"/>
          </a:p>
          <a:p>
            <a:pPr indent="-180000">
              <a:lnSpc>
                <a:spcPct val="120000"/>
              </a:lnSpc>
              <a:buFont typeface="Wingdings" panose="05000000000000000000" pitchFamily="2" charset="2"/>
              <a:buChar char="Ø"/>
            </a:pPr>
            <a:r>
              <a:rPr lang="en-US" altLang="zh-CN" sz="1600" dirty="0">
                <a:solidFill>
                  <a:srgbClr val="0033CC"/>
                </a:solidFill>
              </a:rPr>
              <a:t>XCHG</a:t>
            </a:r>
          </a:p>
          <a:p>
            <a:pPr marL="360000" lvl="1" indent="-180000">
              <a:lnSpc>
                <a:spcPct val="120000"/>
              </a:lnSpc>
              <a:buFont typeface="Arial" panose="020B0604020202020204" pitchFamily="34" charset="0"/>
              <a:buChar char="•"/>
            </a:pPr>
            <a:r>
              <a:rPr lang="zh-CN" altLang="en-US" sz="1400" dirty="0"/>
              <a:t>数据交换指令，将两个寄存器内容互换</a:t>
            </a:r>
            <a:endParaRPr lang="en-US" altLang="zh-CN" sz="1400" dirty="0"/>
          </a:p>
          <a:p>
            <a:pPr marL="360000" lvl="1" indent="-180000">
              <a:lnSpc>
                <a:spcPct val="120000"/>
              </a:lnSpc>
              <a:buFont typeface="Arial" panose="020B0604020202020204" pitchFamily="34" charset="0"/>
              <a:buChar char="•"/>
            </a:pPr>
            <a:r>
              <a:rPr lang="en-US" altLang="zh-CN" sz="1400" dirty="0" err="1"/>
              <a:t>xchgb</a:t>
            </a:r>
            <a:r>
              <a:rPr lang="zh-CN" altLang="en-US" sz="1400" dirty="0"/>
              <a:t>表示字节交换</a:t>
            </a:r>
            <a:endParaRPr lang="en-US" altLang="zh-CN" sz="1400" dirty="0"/>
          </a:p>
          <a:p>
            <a:pPr indent="-180000">
              <a:lnSpc>
                <a:spcPct val="120000"/>
              </a:lnSpc>
              <a:buFont typeface="Wingdings" panose="05000000000000000000" pitchFamily="2" charset="2"/>
              <a:buChar char="Ø"/>
            </a:pPr>
            <a:r>
              <a:rPr lang="en-US" altLang="zh-CN" sz="1600" dirty="0">
                <a:solidFill>
                  <a:srgbClr val="0033CC"/>
                </a:solidFill>
              </a:rPr>
              <a:t>PUSH</a:t>
            </a:r>
          </a:p>
          <a:p>
            <a:pPr marL="360000" lvl="1" indent="-180000">
              <a:lnSpc>
                <a:spcPct val="120000"/>
              </a:lnSpc>
              <a:buFont typeface="Arial" panose="020B0604020202020204" pitchFamily="34" charset="0"/>
              <a:buChar char="•"/>
            </a:pPr>
            <a:r>
              <a:rPr lang="zh-CN" altLang="en-US" sz="1400" dirty="0"/>
              <a:t>先执行</a:t>
            </a:r>
            <a:r>
              <a:rPr lang="en-US" altLang="zh-CN" sz="1400" dirty="0"/>
              <a:t>R[</a:t>
            </a:r>
            <a:r>
              <a:rPr lang="en-US" altLang="zh-CN" sz="1400" dirty="0" err="1"/>
              <a:t>sp</a:t>
            </a:r>
            <a:r>
              <a:rPr lang="en-US" altLang="zh-CN" sz="1400" dirty="0"/>
              <a:t>]</a:t>
            </a:r>
            <a:r>
              <a:rPr lang="zh-CN" altLang="en-US" sz="1400" dirty="0"/>
              <a:t>←</a:t>
            </a:r>
            <a:r>
              <a:rPr lang="en-US" altLang="zh-CN" sz="1400" dirty="0"/>
              <a:t>R[</a:t>
            </a:r>
            <a:r>
              <a:rPr lang="en-US" altLang="zh-CN" sz="1400" dirty="0" err="1"/>
              <a:t>sp</a:t>
            </a:r>
            <a:r>
              <a:rPr lang="en-US" altLang="zh-CN" sz="1400" dirty="0"/>
              <a:t>]-2</a:t>
            </a:r>
            <a:r>
              <a:rPr lang="zh-CN" altLang="en-US" sz="1400" dirty="0"/>
              <a:t>或</a:t>
            </a:r>
            <a:r>
              <a:rPr lang="en-US" altLang="zh-CN" sz="1400" dirty="0"/>
              <a:t>R[</a:t>
            </a:r>
            <a:r>
              <a:rPr lang="en-US" altLang="zh-CN" sz="1400" dirty="0" err="1"/>
              <a:t>sp</a:t>
            </a:r>
            <a:r>
              <a:rPr lang="en-US" altLang="zh-CN" sz="1400" dirty="0"/>
              <a:t>]</a:t>
            </a:r>
            <a:r>
              <a:rPr lang="zh-CN" altLang="en-US" sz="1400" dirty="0"/>
              <a:t>←</a:t>
            </a:r>
            <a:r>
              <a:rPr lang="en-US" altLang="zh-CN" sz="1400" dirty="0"/>
              <a:t>R[</a:t>
            </a:r>
            <a:r>
              <a:rPr lang="en-US" altLang="zh-CN" sz="1400" dirty="0" err="1"/>
              <a:t>sp</a:t>
            </a:r>
            <a:r>
              <a:rPr lang="en-US" altLang="zh-CN" sz="1400" dirty="0"/>
              <a:t>]-4</a:t>
            </a:r>
            <a:r>
              <a:rPr lang="zh-CN" altLang="en-US" sz="1400" dirty="0"/>
              <a:t>，然后将一个字或双字从指定寄存器送到</a:t>
            </a:r>
            <a:r>
              <a:rPr lang="en-US" altLang="zh-CN" sz="1400" dirty="0"/>
              <a:t>SP</a:t>
            </a:r>
            <a:r>
              <a:rPr lang="zh-CN" altLang="en-US" sz="1400" dirty="0"/>
              <a:t>或</a:t>
            </a:r>
            <a:r>
              <a:rPr lang="en-US" altLang="zh-CN" sz="1400" dirty="0"/>
              <a:t>ESP</a:t>
            </a:r>
            <a:r>
              <a:rPr lang="zh-CN" altLang="en-US" sz="1400" dirty="0"/>
              <a:t>指示的栈单元中</a:t>
            </a:r>
            <a:endParaRPr lang="en-US" altLang="zh-CN" sz="1400" dirty="0"/>
          </a:p>
          <a:p>
            <a:pPr marL="360000" lvl="1" indent="-180000">
              <a:lnSpc>
                <a:spcPct val="120000"/>
              </a:lnSpc>
              <a:buFont typeface="Arial" panose="020B0604020202020204" pitchFamily="34" charset="0"/>
              <a:buChar char="•"/>
            </a:pPr>
            <a:r>
              <a:rPr lang="en-US" altLang="zh-CN" sz="1400" dirty="0" err="1"/>
              <a:t>pushl</a:t>
            </a:r>
            <a:r>
              <a:rPr lang="zh-CN" altLang="en-US" sz="1400" dirty="0"/>
              <a:t>表示双字压栈，</a:t>
            </a:r>
            <a:r>
              <a:rPr lang="en-US" altLang="zh-CN" sz="1400" dirty="0" err="1"/>
              <a:t>pushw</a:t>
            </a:r>
            <a:r>
              <a:rPr lang="zh-CN" altLang="en-US" sz="1400" dirty="0"/>
              <a:t>表示字压栈</a:t>
            </a:r>
            <a:endParaRPr lang="en-US" altLang="zh-CN" sz="1400" dirty="0"/>
          </a:p>
          <a:p>
            <a:pPr indent="-180000">
              <a:lnSpc>
                <a:spcPct val="120000"/>
              </a:lnSpc>
              <a:buFont typeface="Wingdings" panose="05000000000000000000" pitchFamily="2" charset="2"/>
              <a:buChar char="Ø"/>
            </a:pPr>
            <a:r>
              <a:rPr lang="en-US" altLang="zh-CN" sz="1600" dirty="0">
                <a:solidFill>
                  <a:srgbClr val="0033CC"/>
                </a:solidFill>
              </a:rPr>
              <a:t>POP</a:t>
            </a:r>
          </a:p>
          <a:p>
            <a:pPr marL="360000" lvl="1" indent="-180000">
              <a:lnSpc>
                <a:spcPct val="120000"/>
              </a:lnSpc>
              <a:buFont typeface="Arial" panose="020B0604020202020204" pitchFamily="34" charset="0"/>
              <a:buChar char="•"/>
            </a:pPr>
            <a:r>
              <a:rPr lang="zh-CN" altLang="en-US" sz="1400" dirty="0"/>
              <a:t>先将</a:t>
            </a:r>
            <a:r>
              <a:rPr lang="en-US" altLang="zh-CN" sz="1400" dirty="0"/>
              <a:t>1</a:t>
            </a:r>
            <a:r>
              <a:rPr lang="zh-CN" altLang="en-US" sz="1400" dirty="0"/>
              <a:t>个字或双字从</a:t>
            </a:r>
            <a:r>
              <a:rPr lang="en-US" altLang="zh-CN" sz="1400" dirty="0"/>
              <a:t>SP</a:t>
            </a:r>
            <a:r>
              <a:rPr lang="zh-CN" altLang="en-US" sz="1400" dirty="0"/>
              <a:t>或</a:t>
            </a:r>
            <a:r>
              <a:rPr lang="en-US" altLang="zh-CN" sz="1400" dirty="0"/>
              <a:t>ESP</a:t>
            </a:r>
            <a:r>
              <a:rPr lang="zh-CN" altLang="en-US" sz="1400" dirty="0"/>
              <a:t>指示的栈单元送到指定寄存器，然后执行</a:t>
            </a:r>
            <a:r>
              <a:rPr lang="en-US" altLang="zh-CN" sz="1400" dirty="0"/>
              <a:t>R[</a:t>
            </a:r>
            <a:r>
              <a:rPr lang="en-US" altLang="zh-CN" sz="1400" dirty="0" err="1"/>
              <a:t>sp</a:t>
            </a:r>
            <a:r>
              <a:rPr lang="en-US" altLang="zh-CN" sz="1400" dirty="0"/>
              <a:t>]</a:t>
            </a:r>
            <a:r>
              <a:rPr lang="zh-CN" altLang="en-US" sz="1400" dirty="0"/>
              <a:t>←</a:t>
            </a:r>
            <a:r>
              <a:rPr lang="en-US" altLang="zh-CN" sz="1400" dirty="0"/>
              <a:t>R[</a:t>
            </a:r>
            <a:r>
              <a:rPr lang="en-US" altLang="zh-CN" sz="1400" dirty="0" err="1"/>
              <a:t>sp</a:t>
            </a:r>
            <a:r>
              <a:rPr lang="en-US" altLang="zh-CN" sz="1400" dirty="0"/>
              <a:t>]+2</a:t>
            </a:r>
            <a:r>
              <a:rPr lang="zh-CN" altLang="en-US" sz="1400" dirty="0"/>
              <a:t>或</a:t>
            </a:r>
            <a:r>
              <a:rPr lang="en-US" altLang="zh-CN" sz="1400" dirty="0"/>
              <a:t>R[</a:t>
            </a:r>
            <a:r>
              <a:rPr lang="en-US" altLang="zh-CN" sz="1400" dirty="0" err="1"/>
              <a:t>sp</a:t>
            </a:r>
            <a:r>
              <a:rPr lang="en-US" altLang="zh-CN" sz="1400" dirty="0"/>
              <a:t>]</a:t>
            </a:r>
            <a:r>
              <a:rPr lang="zh-CN" altLang="en-US" sz="1400" dirty="0"/>
              <a:t>←</a:t>
            </a:r>
            <a:r>
              <a:rPr lang="en-US" altLang="zh-CN" sz="1400" dirty="0"/>
              <a:t>R[</a:t>
            </a:r>
            <a:r>
              <a:rPr lang="en-US" altLang="zh-CN" sz="1400" dirty="0" err="1"/>
              <a:t>sp</a:t>
            </a:r>
            <a:r>
              <a:rPr lang="en-US" altLang="zh-CN" sz="1400" dirty="0"/>
              <a:t>]+4</a:t>
            </a:r>
          </a:p>
          <a:p>
            <a:pPr marL="360000" lvl="1" indent="-180000">
              <a:lnSpc>
                <a:spcPct val="120000"/>
              </a:lnSpc>
              <a:buFont typeface="Arial" panose="020B0604020202020204" pitchFamily="34" charset="0"/>
              <a:buChar char="•"/>
            </a:pPr>
            <a:r>
              <a:rPr lang="en-US" altLang="zh-CN" sz="1400" dirty="0" err="1"/>
              <a:t>popl</a:t>
            </a:r>
            <a:r>
              <a:rPr lang="zh-CN" altLang="en-US" sz="1400" dirty="0"/>
              <a:t>表示双字出栈，</a:t>
            </a:r>
            <a:r>
              <a:rPr lang="en-US" altLang="zh-CN" sz="1400" dirty="0" err="1"/>
              <a:t>popw</a:t>
            </a:r>
            <a:r>
              <a:rPr lang="zh-CN" altLang="en-US" sz="1400" dirty="0"/>
              <a:t>表示字出栈</a:t>
            </a:r>
            <a:endParaRPr lang="en-US" altLang="zh-CN" sz="1400" dirty="0"/>
          </a:p>
        </p:txBody>
      </p:sp>
    </p:spTree>
    <p:extLst>
      <p:ext uri="{BB962C8B-B14F-4D97-AF65-F5344CB8AC3E}">
        <p14:creationId xmlns:p14="http://schemas.microsoft.com/office/powerpoint/2010/main" val="227113895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left)">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left)">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wipe(left)">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wipe(left)">
                                      <p:cBhvr>
                                        <p:cTn id="32" dur="500"/>
                                        <p:tgtEl>
                                          <p:spTgt spid="3">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wipe(left)">
                                      <p:cBhvr>
                                        <p:cTn id="37" dur="500"/>
                                        <p:tgtEl>
                                          <p:spTgt spid="3">
                                            <p:txEl>
                                              <p:pRg st="10" end="1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xEl>
                                              <p:pRg st="11" end="11"/>
                                            </p:txEl>
                                          </p:spTgt>
                                        </p:tgtEl>
                                        <p:attrNameLst>
                                          <p:attrName>style.visibility</p:attrName>
                                        </p:attrNameLst>
                                      </p:cBhvr>
                                      <p:to>
                                        <p:strVal val="visible"/>
                                      </p:to>
                                    </p:set>
                                    <p:animEffect transition="in" filter="wipe(left)">
                                      <p:cBhvr>
                                        <p:cTn id="42" dur="500"/>
                                        <p:tgtEl>
                                          <p:spTgt spid="3">
                                            <p:txEl>
                                              <p:pRg st="11" end="1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
                                            <p:txEl>
                                              <p:pRg st="13" end="13"/>
                                            </p:txEl>
                                          </p:spTgt>
                                        </p:tgtEl>
                                        <p:attrNameLst>
                                          <p:attrName>style.visibility</p:attrName>
                                        </p:attrNameLst>
                                      </p:cBhvr>
                                      <p:to>
                                        <p:strVal val="visible"/>
                                      </p:to>
                                    </p:set>
                                    <p:animEffect transition="in" filter="wipe(left)">
                                      <p:cBhvr>
                                        <p:cTn id="47" dur="500"/>
                                        <p:tgtEl>
                                          <p:spTgt spid="3">
                                            <p:txEl>
                                              <p:pRg st="13" end="1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
                                            <p:txEl>
                                              <p:pRg st="14" end="14"/>
                                            </p:txEl>
                                          </p:spTgt>
                                        </p:tgtEl>
                                        <p:attrNameLst>
                                          <p:attrName>style.visibility</p:attrName>
                                        </p:attrNameLst>
                                      </p:cBhvr>
                                      <p:to>
                                        <p:strVal val="visible"/>
                                      </p:to>
                                    </p:set>
                                    <p:animEffect transition="in" filter="wipe(left)">
                                      <p:cBhvr>
                                        <p:cTn id="52" dur="500"/>
                                        <p:tgtEl>
                                          <p:spTgt spid="3">
                                            <p:txEl>
                                              <p:pRg st="14" end="14"/>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
                                            <p:txEl>
                                              <p:pRg st="16" end="16"/>
                                            </p:txEl>
                                          </p:spTgt>
                                        </p:tgtEl>
                                        <p:attrNameLst>
                                          <p:attrName>style.visibility</p:attrName>
                                        </p:attrNameLst>
                                      </p:cBhvr>
                                      <p:to>
                                        <p:strVal val="visible"/>
                                      </p:to>
                                    </p:set>
                                    <p:animEffect transition="in" filter="wipe(left)">
                                      <p:cBhvr>
                                        <p:cTn id="57" dur="500"/>
                                        <p:tgtEl>
                                          <p:spTgt spid="3">
                                            <p:txEl>
                                              <p:pRg st="16" end="16"/>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3">
                                            <p:txEl>
                                              <p:pRg st="17" end="17"/>
                                            </p:txEl>
                                          </p:spTgt>
                                        </p:tgtEl>
                                        <p:attrNameLst>
                                          <p:attrName>style.visibility</p:attrName>
                                        </p:attrNameLst>
                                      </p:cBhvr>
                                      <p:to>
                                        <p:strVal val="visible"/>
                                      </p:to>
                                    </p:set>
                                    <p:animEffect transition="in" filter="wipe(left)">
                                      <p:cBhvr>
                                        <p:cTn id="62" dur="500"/>
                                        <p:tgtEl>
                                          <p:spTgt spid="3">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9850" y="96115"/>
            <a:ext cx="8229600" cy="561975"/>
          </a:xfrm>
        </p:spPr>
        <p:txBody>
          <a:bodyPr>
            <a:normAutofit fontScale="90000"/>
          </a:bodyPr>
          <a:lstStyle/>
          <a:p>
            <a:r>
              <a:rPr lang="zh-CN" altLang="en-US" sz="3600" dirty="0">
                <a:solidFill>
                  <a:srgbClr val="C00000"/>
                </a:solidFill>
                <a:latin typeface="黑体" panose="02010609060101010101" pitchFamily="49" charset="-122"/>
              </a:rPr>
              <a:t>课程回顾：“</a:t>
            </a:r>
            <a:r>
              <a:rPr lang="zh-CN" altLang="en-US" sz="3600" dirty="0">
                <a:solidFill>
                  <a:srgbClr val="C00000"/>
                </a:solidFill>
              </a:rPr>
              <a:t>入栈</a:t>
            </a:r>
            <a:r>
              <a:rPr lang="zh-CN" altLang="en-US" sz="3600" dirty="0">
                <a:solidFill>
                  <a:srgbClr val="C00000"/>
                </a:solidFill>
                <a:latin typeface="黑体" panose="02010609060101010101" pitchFamily="49" charset="-122"/>
              </a:rPr>
              <a:t>”</a:t>
            </a:r>
            <a:r>
              <a:rPr lang="zh-CN" altLang="en-US" sz="3600" dirty="0">
                <a:solidFill>
                  <a:srgbClr val="C00000"/>
                </a:solidFill>
              </a:rPr>
              <a:t>和</a:t>
            </a:r>
            <a:r>
              <a:rPr lang="zh-CN" altLang="en-US" sz="3600" dirty="0">
                <a:solidFill>
                  <a:srgbClr val="C00000"/>
                </a:solidFill>
                <a:latin typeface="黑体" panose="02010609060101010101" pitchFamily="49" charset="-122"/>
              </a:rPr>
              <a:t>“</a:t>
            </a:r>
            <a:r>
              <a:rPr lang="zh-CN" altLang="en-US" sz="3600" dirty="0">
                <a:solidFill>
                  <a:srgbClr val="C00000"/>
                </a:solidFill>
              </a:rPr>
              <a:t>出栈</a:t>
            </a:r>
            <a:r>
              <a:rPr lang="zh-CN" altLang="en-US" sz="3600" dirty="0">
                <a:solidFill>
                  <a:srgbClr val="C00000"/>
                </a:solidFill>
                <a:latin typeface="黑体" panose="02010609060101010101" pitchFamily="49" charset="-122"/>
              </a:rPr>
              <a:t>”</a:t>
            </a:r>
            <a:r>
              <a:rPr lang="zh-CN" altLang="en-US" sz="3600" dirty="0">
                <a:solidFill>
                  <a:srgbClr val="C00000"/>
                </a:solidFill>
              </a:rPr>
              <a:t>操作</a:t>
            </a:r>
          </a:p>
        </p:txBody>
      </p:sp>
      <p:sp>
        <p:nvSpPr>
          <p:cNvPr id="33795" name="Rectangle 3"/>
          <p:cNvSpPr>
            <a:spLocks noGrp="1" noChangeArrowheads="1"/>
          </p:cNvSpPr>
          <p:nvPr>
            <p:ph type="body" idx="1"/>
          </p:nvPr>
        </p:nvSpPr>
        <p:spPr>
          <a:xfrm>
            <a:off x="457200" y="1336253"/>
            <a:ext cx="8229600" cy="4525963"/>
          </a:xfrm>
        </p:spPr>
        <p:txBody>
          <a:bodyPr/>
          <a:lstStyle/>
          <a:p>
            <a:r>
              <a:rPr lang="zh-CN" altLang="en-US" sz="2200" dirty="0">
                <a:latin typeface="微软雅黑" panose="020B0503020204020204" pitchFamily="34" charset="-122"/>
                <a:ea typeface="微软雅黑" panose="020B0503020204020204" pitchFamily="34" charset="-122"/>
              </a:rPr>
              <a:t>栈（</a:t>
            </a:r>
            <a:r>
              <a:rPr lang="en-US" altLang="zh-CN" sz="2200" dirty="0">
                <a:latin typeface="微软雅黑" panose="020B0503020204020204" pitchFamily="34" charset="-122"/>
                <a:ea typeface="微软雅黑" panose="020B0503020204020204" pitchFamily="34" charset="-122"/>
              </a:rPr>
              <a:t>Stack</a:t>
            </a:r>
            <a:r>
              <a:rPr lang="zh-CN" altLang="en-US" sz="2200" dirty="0">
                <a:latin typeface="微软雅黑" panose="020B0503020204020204" pitchFamily="34" charset="-122"/>
                <a:ea typeface="微软雅黑" panose="020B0503020204020204" pitchFamily="34" charset="-122"/>
              </a:rPr>
              <a:t>）是一种采用</a:t>
            </a:r>
            <a:r>
              <a:rPr lang="zh-CN" altLang="en-US" sz="2200" dirty="0">
                <a:solidFill>
                  <a:srgbClr val="FF3300"/>
                </a:solidFill>
                <a:latin typeface="微软雅黑" panose="020B0503020204020204" pitchFamily="34" charset="-122"/>
                <a:ea typeface="微软雅黑" panose="020B0503020204020204" pitchFamily="34" charset="-122"/>
              </a:rPr>
              <a:t>“先进后出”</a:t>
            </a:r>
            <a:r>
              <a:rPr lang="zh-CN" altLang="en-US" sz="2200" dirty="0">
                <a:latin typeface="微软雅黑" panose="020B0503020204020204" pitchFamily="34" charset="-122"/>
                <a:ea typeface="微软雅黑" panose="020B0503020204020204" pitchFamily="34" charset="-122"/>
              </a:rPr>
              <a:t>方式进行访问的一块存储区，用于</a:t>
            </a:r>
            <a:r>
              <a:rPr lang="zh-CN" altLang="en-US" sz="2200" dirty="0">
                <a:solidFill>
                  <a:srgbClr val="FF3300"/>
                </a:solidFill>
                <a:latin typeface="微软雅黑" panose="020B0503020204020204" pitchFamily="34" charset="-122"/>
                <a:ea typeface="微软雅黑" panose="020B0503020204020204" pitchFamily="34" charset="-122"/>
              </a:rPr>
              <a:t>嵌套过程调用</a:t>
            </a:r>
            <a:r>
              <a:rPr lang="zh-CN" altLang="en-US" sz="2200" dirty="0">
                <a:latin typeface="微软雅黑" panose="020B0503020204020204" pitchFamily="34" charset="-122"/>
                <a:ea typeface="微软雅黑" panose="020B0503020204020204" pitchFamily="34" charset="-122"/>
              </a:rPr>
              <a:t>。</a:t>
            </a:r>
            <a:r>
              <a:rPr lang="zh-CN" altLang="en-US" sz="2200" dirty="0">
                <a:solidFill>
                  <a:srgbClr val="007635"/>
                </a:solidFill>
                <a:latin typeface="微软雅黑" panose="020B0503020204020204" pitchFamily="34" charset="-122"/>
                <a:ea typeface="微软雅黑" panose="020B0503020204020204" pitchFamily="34" charset="-122"/>
              </a:rPr>
              <a:t>从高地址向低地址增长</a:t>
            </a:r>
            <a:endParaRPr lang="zh-CN" altLang="en-US" sz="2200" dirty="0">
              <a:latin typeface="微软雅黑" panose="020B0503020204020204" pitchFamily="34" charset="-122"/>
              <a:ea typeface="微软雅黑" panose="020B0503020204020204" pitchFamily="34" charset="-122"/>
            </a:endParaRPr>
          </a:p>
          <a:p>
            <a:r>
              <a:rPr lang="zh-CN" altLang="en-US" sz="2200" dirty="0">
                <a:latin typeface="微软雅黑" panose="020B0503020204020204" pitchFamily="34" charset="-122"/>
                <a:ea typeface="微软雅黑" panose="020B0503020204020204" pitchFamily="34" charset="-122"/>
              </a:rPr>
              <a:t>“栈”不等于</a:t>
            </a:r>
            <a:r>
              <a:rPr lang="zh-CN" altLang="en-US" sz="2200" dirty="0">
                <a:solidFill>
                  <a:srgbClr val="FF3300"/>
                </a:solidFill>
                <a:latin typeface="微软雅黑" panose="020B0503020204020204" pitchFamily="34" charset="-122"/>
                <a:ea typeface="微软雅黑" panose="020B0503020204020204" pitchFamily="34" charset="-122"/>
              </a:rPr>
              <a:t>“堆栈”</a:t>
            </a:r>
            <a:r>
              <a:rPr lang="zh-CN" altLang="en-US" sz="2200" dirty="0">
                <a:latin typeface="微软雅黑" panose="020B0503020204020204" pitchFamily="34" charset="-122"/>
                <a:ea typeface="微软雅黑" panose="020B0503020204020204" pitchFamily="34" charset="-122"/>
              </a:rPr>
              <a:t>（由“堆”和“栈”组成）</a:t>
            </a:r>
          </a:p>
        </p:txBody>
      </p:sp>
      <p:pic>
        <p:nvPicPr>
          <p:cNvPr id="337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863" y="2085553"/>
            <a:ext cx="4049712"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363" y="2174453"/>
            <a:ext cx="3690937" cy="373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21576" name="Group 8"/>
          <p:cNvGrpSpPr>
            <a:grpSpLocks/>
          </p:cNvGrpSpPr>
          <p:nvPr/>
        </p:nvGrpSpPr>
        <p:grpSpPr bwMode="auto">
          <a:xfrm>
            <a:off x="3357563" y="2534816"/>
            <a:ext cx="1216025" cy="427037"/>
            <a:chOff x="2115" y="1791"/>
            <a:chExt cx="766" cy="269"/>
          </a:xfrm>
        </p:grpSpPr>
        <p:sp>
          <p:nvSpPr>
            <p:cNvPr id="33805" name="Line 6"/>
            <p:cNvSpPr>
              <a:spLocks noChangeShapeType="1"/>
            </p:cNvSpPr>
            <p:nvPr/>
          </p:nvSpPr>
          <p:spPr bwMode="auto">
            <a:xfrm>
              <a:off x="2115" y="1905"/>
              <a:ext cx="283" cy="0"/>
            </a:xfrm>
            <a:prstGeom prst="line">
              <a:avLst/>
            </a:prstGeom>
            <a:noFill/>
            <a:ln w="38100">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6" name="Text Box 7"/>
            <p:cNvSpPr txBox="1">
              <a:spLocks noChangeArrowheads="1"/>
            </p:cNvSpPr>
            <p:nvPr/>
          </p:nvSpPr>
          <p:spPr bwMode="auto">
            <a:xfrm>
              <a:off x="2370" y="1791"/>
              <a:ext cx="51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200">
                  <a:solidFill>
                    <a:srgbClr val="FF3300"/>
                  </a:solidFill>
                  <a:ea typeface="微软雅黑" panose="020B0503020204020204" pitchFamily="34" charset="-122"/>
                </a:rPr>
                <a:t>栈底</a:t>
              </a:r>
            </a:p>
          </p:txBody>
        </p:sp>
      </p:grpSp>
      <p:grpSp>
        <p:nvGrpSpPr>
          <p:cNvPr id="621577" name="Group 9"/>
          <p:cNvGrpSpPr>
            <a:grpSpLocks/>
          </p:cNvGrpSpPr>
          <p:nvPr/>
        </p:nvGrpSpPr>
        <p:grpSpPr bwMode="auto">
          <a:xfrm>
            <a:off x="7767638" y="2490366"/>
            <a:ext cx="1216025" cy="427037"/>
            <a:chOff x="2115" y="1791"/>
            <a:chExt cx="766" cy="283"/>
          </a:xfrm>
        </p:grpSpPr>
        <p:sp>
          <p:nvSpPr>
            <p:cNvPr id="33803" name="Line 10"/>
            <p:cNvSpPr>
              <a:spLocks noChangeShapeType="1"/>
            </p:cNvSpPr>
            <p:nvPr/>
          </p:nvSpPr>
          <p:spPr bwMode="auto">
            <a:xfrm>
              <a:off x="2115" y="1905"/>
              <a:ext cx="283" cy="0"/>
            </a:xfrm>
            <a:prstGeom prst="line">
              <a:avLst/>
            </a:prstGeom>
            <a:noFill/>
            <a:ln w="38100">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4" name="Text Box 11"/>
            <p:cNvSpPr txBox="1">
              <a:spLocks noChangeArrowheads="1"/>
            </p:cNvSpPr>
            <p:nvPr/>
          </p:nvSpPr>
          <p:spPr bwMode="auto">
            <a:xfrm>
              <a:off x="2370" y="1791"/>
              <a:ext cx="511"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200">
                  <a:solidFill>
                    <a:srgbClr val="FF3300"/>
                  </a:solidFill>
                  <a:ea typeface="微软雅黑" panose="020B0503020204020204" pitchFamily="34" charset="-122"/>
                </a:rPr>
                <a:t>栈底</a:t>
              </a:r>
            </a:p>
          </p:txBody>
        </p:sp>
      </p:grpSp>
      <p:sp>
        <p:nvSpPr>
          <p:cNvPr id="621580" name="Rectangle 12"/>
          <p:cNvSpPr>
            <a:spLocks noChangeArrowheads="1"/>
          </p:cNvSpPr>
          <p:nvPr/>
        </p:nvSpPr>
        <p:spPr bwMode="auto">
          <a:xfrm>
            <a:off x="69850" y="6000328"/>
            <a:ext cx="423227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900">
                <a:solidFill>
                  <a:srgbClr val="3333CC"/>
                </a:solidFill>
                <a:latin typeface="微软雅黑" panose="020B0503020204020204" pitchFamily="34" charset="-122"/>
                <a:ea typeface="微软雅黑" panose="020B0503020204020204" pitchFamily="34" charset="-122"/>
              </a:rPr>
              <a:t>R[sp]←R[sp]</a:t>
            </a:r>
            <a:r>
              <a:rPr lang="en-US" altLang="zh-CN" sz="1900">
                <a:solidFill>
                  <a:srgbClr val="FF0000"/>
                </a:solidFill>
                <a:latin typeface="微软雅黑" panose="020B0503020204020204" pitchFamily="34" charset="-122"/>
                <a:ea typeface="微软雅黑" panose="020B0503020204020204" pitchFamily="34" charset="-122"/>
              </a:rPr>
              <a:t>-2</a:t>
            </a:r>
            <a:r>
              <a:rPr lang="zh-CN" altLang="en-US" sz="1900">
                <a:solidFill>
                  <a:srgbClr val="3333CC"/>
                </a:solidFill>
                <a:latin typeface="微软雅黑" panose="020B0503020204020204" pitchFamily="34" charset="-122"/>
                <a:ea typeface="微软雅黑" panose="020B0503020204020204" pitchFamily="34" charset="-122"/>
              </a:rPr>
              <a:t>、</a:t>
            </a:r>
            <a:r>
              <a:rPr lang="en-US" altLang="zh-CN" sz="1900">
                <a:solidFill>
                  <a:srgbClr val="3333CC"/>
                </a:solidFill>
                <a:latin typeface="微软雅黑" panose="020B0503020204020204" pitchFamily="34" charset="-122"/>
                <a:ea typeface="微软雅黑" panose="020B0503020204020204" pitchFamily="34" charset="-122"/>
              </a:rPr>
              <a:t>M[R[sp]]</a:t>
            </a:r>
            <a:r>
              <a:rPr lang="en-US" altLang="zh-CN" sz="1900">
                <a:solidFill>
                  <a:srgbClr val="3333CC"/>
                </a:solidFill>
                <a:latin typeface="微软雅黑" panose="020B0503020204020204" pitchFamily="34" charset="-122"/>
                <a:ea typeface="微软雅黑" panose="020B0503020204020204" pitchFamily="34" charset="-122"/>
                <a:cs typeface="Times New Roman" panose="02020603050405020304" pitchFamily="18" charset="0"/>
              </a:rPr>
              <a:t>←R[ax]</a:t>
            </a:r>
          </a:p>
        </p:txBody>
      </p:sp>
      <p:sp>
        <p:nvSpPr>
          <p:cNvPr id="621581" name="Rectangle 13"/>
          <p:cNvSpPr>
            <a:spLocks noChangeArrowheads="1"/>
          </p:cNvSpPr>
          <p:nvPr/>
        </p:nvSpPr>
        <p:spPr bwMode="auto">
          <a:xfrm>
            <a:off x="4797425" y="6000328"/>
            <a:ext cx="4249738"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900">
                <a:solidFill>
                  <a:srgbClr val="3333CC"/>
                </a:solidFill>
                <a:latin typeface="微软雅黑" panose="020B0503020204020204" pitchFamily="34" charset="-122"/>
                <a:ea typeface="微软雅黑" panose="020B0503020204020204" pitchFamily="34" charset="-122"/>
                <a:cs typeface="Times New Roman" panose="02020603050405020304" pitchFamily="18" charset="0"/>
              </a:rPr>
              <a:t>R[ax]←M[R[sp]]</a:t>
            </a:r>
            <a:r>
              <a:rPr lang="zh-CN" altLang="en-US" sz="1900">
                <a:solidFill>
                  <a:srgbClr val="3333CC"/>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900">
                <a:solidFill>
                  <a:srgbClr val="3333CC"/>
                </a:solidFill>
                <a:latin typeface="微软雅黑" panose="020B0503020204020204" pitchFamily="34" charset="-122"/>
                <a:ea typeface="微软雅黑" panose="020B0503020204020204" pitchFamily="34" charset="-122"/>
                <a:cs typeface="Times New Roman" panose="02020603050405020304" pitchFamily="18" charset="0"/>
              </a:rPr>
              <a:t>[sp]←R[sp]</a:t>
            </a:r>
            <a:r>
              <a:rPr lang="en-US" altLang="zh-CN" sz="190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621582" name="Text Box 14"/>
          <p:cNvSpPr txBox="1">
            <a:spLocks noChangeArrowheads="1"/>
          </p:cNvSpPr>
          <p:nvPr/>
        </p:nvSpPr>
        <p:spPr bwMode="auto">
          <a:xfrm>
            <a:off x="3446463" y="4514428"/>
            <a:ext cx="1485900" cy="116955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000">
                <a:solidFill>
                  <a:srgbClr val="3333CC"/>
                </a:solidFill>
                <a:latin typeface="微软雅黑" panose="020B0503020204020204" pitchFamily="34" charset="-122"/>
                <a:ea typeface="微软雅黑" panose="020B0503020204020204" pitchFamily="34" charset="-122"/>
              </a:rPr>
              <a:t>为什么</a:t>
            </a:r>
            <a:r>
              <a:rPr lang="en-US" altLang="zh-CN" sz="2000">
                <a:solidFill>
                  <a:srgbClr val="3333CC"/>
                </a:solidFill>
                <a:latin typeface="微软雅黑" panose="020B0503020204020204" pitchFamily="34" charset="-122"/>
                <a:ea typeface="微软雅黑" panose="020B0503020204020204" pitchFamily="34" charset="-122"/>
              </a:rPr>
              <a:t>AL</a:t>
            </a:r>
            <a:r>
              <a:rPr lang="zh-CN" altLang="en-US" sz="2000">
                <a:solidFill>
                  <a:srgbClr val="3333CC"/>
                </a:solidFill>
                <a:latin typeface="微软雅黑" panose="020B0503020204020204" pitchFamily="34" charset="-122"/>
                <a:ea typeface="微软雅黑" panose="020B0503020204020204" pitchFamily="34" charset="-122"/>
              </a:rPr>
              <a:t>在栈顶？</a:t>
            </a:r>
          </a:p>
          <a:p>
            <a:pPr eaLnBrk="1" hangingPunct="1">
              <a:lnSpc>
                <a:spcPct val="100000"/>
              </a:lnSpc>
              <a:spcBef>
                <a:spcPct val="50000"/>
              </a:spcBef>
              <a:buFontTx/>
              <a:buNone/>
            </a:pPr>
            <a:r>
              <a:rPr lang="zh-CN" altLang="en-US" sz="2000">
                <a:solidFill>
                  <a:srgbClr val="FF3300"/>
                </a:solidFill>
                <a:latin typeface="微软雅黑" panose="020B0503020204020204" pitchFamily="34" charset="-122"/>
                <a:ea typeface="微软雅黑" panose="020B0503020204020204" pitchFamily="34" charset="-122"/>
              </a:rPr>
              <a:t>小端方式！</a:t>
            </a:r>
          </a:p>
        </p:txBody>
      </p:sp>
    </p:spTree>
    <p:extLst>
      <p:ext uri="{BB962C8B-B14F-4D97-AF65-F5344CB8AC3E}">
        <p14:creationId xmlns:p14="http://schemas.microsoft.com/office/powerpoint/2010/main" val="4675852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21576"/>
                                        </p:tgtEl>
                                        <p:attrNameLst>
                                          <p:attrName>style.visibility</p:attrName>
                                        </p:attrNameLst>
                                      </p:cBhvr>
                                      <p:to>
                                        <p:strVal val="visible"/>
                                      </p:to>
                                    </p:set>
                                    <p:animEffect transition="in" filter="blinds(horizontal)">
                                      <p:cBhvr>
                                        <p:cTn id="7" dur="500"/>
                                        <p:tgtEl>
                                          <p:spTgt spid="6215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21577"/>
                                        </p:tgtEl>
                                        <p:attrNameLst>
                                          <p:attrName>style.visibility</p:attrName>
                                        </p:attrNameLst>
                                      </p:cBhvr>
                                      <p:to>
                                        <p:strVal val="visible"/>
                                      </p:to>
                                    </p:set>
                                    <p:animEffect transition="in" filter="blinds(horizontal)">
                                      <p:cBhvr>
                                        <p:cTn id="12" dur="500"/>
                                        <p:tgtEl>
                                          <p:spTgt spid="62157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21580"/>
                                        </p:tgtEl>
                                        <p:attrNameLst>
                                          <p:attrName>style.visibility</p:attrName>
                                        </p:attrNameLst>
                                      </p:cBhvr>
                                      <p:to>
                                        <p:strVal val="visible"/>
                                      </p:to>
                                    </p:set>
                                    <p:animEffect transition="in" filter="blinds(horizontal)">
                                      <p:cBhvr>
                                        <p:cTn id="17" dur="500"/>
                                        <p:tgtEl>
                                          <p:spTgt spid="62158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21581"/>
                                        </p:tgtEl>
                                        <p:attrNameLst>
                                          <p:attrName>style.visibility</p:attrName>
                                        </p:attrNameLst>
                                      </p:cBhvr>
                                      <p:to>
                                        <p:strVal val="visible"/>
                                      </p:to>
                                    </p:set>
                                    <p:animEffect transition="in" filter="blinds(horizontal)">
                                      <p:cBhvr>
                                        <p:cTn id="22" dur="500"/>
                                        <p:tgtEl>
                                          <p:spTgt spid="62158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21582">
                                            <p:txEl>
                                              <p:pRg st="0" end="0"/>
                                            </p:txEl>
                                          </p:spTgt>
                                        </p:tgtEl>
                                        <p:attrNameLst>
                                          <p:attrName>style.visibility</p:attrName>
                                        </p:attrNameLst>
                                      </p:cBhvr>
                                      <p:to>
                                        <p:strVal val="visible"/>
                                      </p:to>
                                    </p:set>
                                    <p:animEffect transition="in" filter="blinds(horizontal)">
                                      <p:cBhvr>
                                        <p:cTn id="27" dur="500"/>
                                        <p:tgtEl>
                                          <p:spTgt spid="621582">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21582">
                                            <p:txEl>
                                              <p:pRg st="1" end="1"/>
                                            </p:txEl>
                                          </p:spTgt>
                                        </p:tgtEl>
                                        <p:attrNameLst>
                                          <p:attrName>style.visibility</p:attrName>
                                        </p:attrNameLst>
                                      </p:cBhvr>
                                      <p:to>
                                        <p:strVal val="visible"/>
                                      </p:to>
                                    </p:set>
                                    <p:animEffect transition="in" filter="blinds(horizontal)">
                                      <p:cBhvr>
                                        <p:cTn id="32" dur="500"/>
                                        <p:tgtEl>
                                          <p:spTgt spid="62158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1580" grpId="0"/>
      <p:bldP spid="62158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71400"/>
            <a:ext cx="8229600" cy="1143000"/>
          </a:xfrm>
        </p:spPr>
        <p:txBody>
          <a:bodyPr>
            <a:normAutofit/>
          </a:bodyPr>
          <a:lstStyle/>
          <a:p>
            <a:r>
              <a:rPr lang="zh-CN" altLang="en-US" sz="4000" dirty="0">
                <a:solidFill>
                  <a:schemeClr val="accent6">
                    <a:lumMod val="50000"/>
                  </a:schemeClr>
                </a:solidFill>
              </a:rPr>
              <a:t>课程回顾：地址传送指令</a:t>
            </a:r>
          </a:p>
        </p:txBody>
      </p:sp>
      <p:sp>
        <p:nvSpPr>
          <p:cNvPr id="3" name="内容占位符 2"/>
          <p:cNvSpPr>
            <a:spLocks noGrp="1"/>
          </p:cNvSpPr>
          <p:nvPr>
            <p:ph idx="1"/>
          </p:nvPr>
        </p:nvSpPr>
        <p:spPr>
          <a:xfrm>
            <a:off x="0" y="908720"/>
            <a:ext cx="9144000" cy="5328592"/>
          </a:xfrm>
        </p:spPr>
        <p:txBody>
          <a:bodyPr>
            <a:noAutofit/>
          </a:bodyPr>
          <a:lstStyle/>
          <a:p>
            <a:pPr indent="-180000">
              <a:lnSpc>
                <a:spcPct val="150000"/>
              </a:lnSpc>
              <a:spcAft>
                <a:spcPts val="1200"/>
              </a:spcAft>
              <a:buFont typeface="Wingdings" panose="05000000000000000000" pitchFamily="2" charset="2"/>
              <a:buChar char="Ø"/>
            </a:pPr>
            <a:r>
              <a:rPr lang="zh-CN" altLang="en-US" sz="2800" dirty="0">
                <a:solidFill>
                  <a:srgbClr val="0033CC"/>
                </a:solidFill>
              </a:rPr>
              <a:t>传送操作数的存储地址</a:t>
            </a:r>
            <a:endParaRPr lang="en-US" altLang="zh-CN" sz="2800" dirty="0">
              <a:solidFill>
                <a:srgbClr val="0033CC"/>
              </a:solidFill>
            </a:endParaRPr>
          </a:p>
          <a:p>
            <a:pPr indent="-180000">
              <a:lnSpc>
                <a:spcPct val="150000"/>
              </a:lnSpc>
              <a:spcAft>
                <a:spcPts val="1200"/>
              </a:spcAft>
              <a:buFont typeface="Wingdings" panose="05000000000000000000" pitchFamily="2" charset="2"/>
              <a:buChar char="Ø"/>
            </a:pPr>
            <a:r>
              <a:rPr lang="zh-CN" altLang="en-US" sz="2800" dirty="0">
                <a:solidFill>
                  <a:srgbClr val="0033CC"/>
                </a:solidFill>
              </a:rPr>
              <a:t>指定的目的寄存器不能是段寄存器</a:t>
            </a:r>
            <a:endParaRPr lang="en-US" altLang="zh-CN" sz="2800" dirty="0">
              <a:solidFill>
                <a:srgbClr val="0033CC"/>
              </a:solidFill>
            </a:endParaRPr>
          </a:p>
          <a:p>
            <a:pPr indent="-180000">
              <a:lnSpc>
                <a:spcPct val="150000"/>
              </a:lnSpc>
              <a:spcAft>
                <a:spcPts val="1200"/>
              </a:spcAft>
              <a:buFont typeface="Wingdings" panose="05000000000000000000" pitchFamily="2" charset="2"/>
              <a:buChar char="Ø"/>
            </a:pPr>
            <a:r>
              <a:rPr lang="zh-CN" altLang="en-US" sz="2800" dirty="0">
                <a:solidFill>
                  <a:srgbClr val="0033CC"/>
                </a:solidFill>
              </a:rPr>
              <a:t>源操作数必须是存储器寻址方式</a:t>
            </a:r>
            <a:endParaRPr lang="en-US" altLang="zh-CN" sz="2800" dirty="0">
              <a:solidFill>
                <a:srgbClr val="0033CC"/>
              </a:solidFill>
            </a:endParaRPr>
          </a:p>
          <a:p>
            <a:pPr indent="-180000">
              <a:lnSpc>
                <a:spcPct val="150000"/>
              </a:lnSpc>
              <a:spcAft>
                <a:spcPts val="1200"/>
              </a:spcAft>
              <a:buFont typeface="Wingdings" panose="05000000000000000000" pitchFamily="2" charset="2"/>
              <a:buChar char="Ø"/>
            </a:pPr>
            <a:r>
              <a:rPr lang="en-US" altLang="zh-CN" sz="2800" dirty="0">
                <a:solidFill>
                  <a:srgbClr val="0033CC"/>
                </a:solidFill>
              </a:rPr>
              <a:t>LEA</a:t>
            </a:r>
            <a:r>
              <a:rPr lang="zh-CN" altLang="en-US" sz="2800" dirty="0">
                <a:solidFill>
                  <a:srgbClr val="0033CC"/>
                </a:solidFill>
              </a:rPr>
              <a:t>（</a:t>
            </a:r>
            <a:r>
              <a:rPr lang="en-US" altLang="zh-CN" sz="2800" dirty="0">
                <a:solidFill>
                  <a:srgbClr val="0033CC"/>
                </a:solidFill>
              </a:rPr>
              <a:t>Load Effect Address</a:t>
            </a:r>
            <a:r>
              <a:rPr lang="zh-CN" altLang="en-US" sz="2800" dirty="0">
                <a:solidFill>
                  <a:srgbClr val="0033CC"/>
                </a:solidFill>
              </a:rPr>
              <a:t>，加载有效地址指令）</a:t>
            </a:r>
            <a:endParaRPr lang="en-US" altLang="zh-CN" sz="2800" dirty="0">
              <a:solidFill>
                <a:srgbClr val="0033CC"/>
              </a:solidFill>
            </a:endParaRPr>
          </a:p>
          <a:p>
            <a:pPr lvl="1" indent="-180000">
              <a:lnSpc>
                <a:spcPct val="150000"/>
              </a:lnSpc>
              <a:spcAft>
                <a:spcPts val="1200"/>
              </a:spcAft>
              <a:buFont typeface="Arial" panose="020B0604020202020204" pitchFamily="34" charset="0"/>
              <a:buChar char="•"/>
            </a:pPr>
            <a:r>
              <a:rPr lang="zh-CN" altLang="en-US" sz="2000" dirty="0"/>
              <a:t>用来将源操作数的存储地址送到目的寄存器中</a:t>
            </a:r>
            <a:endParaRPr lang="en-US" altLang="zh-CN" sz="2000" dirty="0"/>
          </a:p>
          <a:p>
            <a:pPr lvl="1" indent="-180000">
              <a:lnSpc>
                <a:spcPct val="150000"/>
              </a:lnSpc>
              <a:spcAft>
                <a:spcPts val="1200"/>
              </a:spcAft>
              <a:buFont typeface="Arial" panose="020B0604020202020204" pitchFamily="34" charset="0"/>
              <a:buChar char="•"/>
            </a:pPr>
            <a:r>
              <a:rPr lang="en-US" altLang="zh-CN" sz="2000" dirty="0" err="1"/>
              <a:t>leal</a:t>
            </a:r>
            <a:r>
              <a:rPr lang="zh-CN" altLang="en-US" sz="2000" dirty="0"/>
              <a:t> </a:t>
            </a:r>
            <a:r>
              <a:rPr lang="en-US" altLang="zh-CN" sz="2000" dirty="0"/>
              <a:t>(%</a:t>
            </a:r>
            <a:r>
              <a:rPr lang="en-US" altLang="zh-CN" sz="2000" dirty="0" err="1"/>
              <a:t>edx</a:t>
            </a:r>
            <a:r>
              <a:rPr lang="en-US" altLang="zh-CN" sz="2000" dirty="0"/>
              <a:t>,%</a:t>
            </a:r>
            <a:r>
              <a:rPr lang="en-US" altLang="zh-CN" sz="2000" dirty="0" err="1"/>
              <a:t>eax</a:t>
            </a:r>
            <a:r>
              <a:rPr lang="en-US" altLang="zh-CN" sz="2000" dirty="0"/>
              <a:t>),%</a:t>
            </a:r>
            <a:r>
              <a:rPr lang="en-US" altLang="zh-CN" sz="2000" dirty="0" err="1"/>
              <a:t>eax</a:t>
            </a:r>
            <a:r>
              <a:rPr lang="zh-CN" altLang="en-US" sz="2000" dirty="0"/>
              <a:t>：</a:t>
            </a:r>
            <a:r>
              <a:rPr lang="en-US" altLang="zh-CN" sz="2000" dirty="0"/>
              <a:t>R[</a:t>
            </a:r>
            <a:r>
              <a:rPr lang="en-US" altLang="zh-CN" sz="2000" dirty="0" err="1"/>
              <a:t>eax</a:t>
            </a:r>
            <a:r>
              <a:rPr lang="en-US" altLang="zh-CN" sz="2000" dirty="0"/>
              <a:t>]←R[</a:t>
            </a:r>
            <a:r>
              <a:rPr lang="en-US" altLang="zh-CN" sz="2000" dirty="0" err="1"/>
              <a:t>edx</a:t>
            </a:r>
            <a:r>
              <a:rPr lang="en-US" altLang="zh-CN" sz="2000" dirty="0"/>
              <a:t>]+R[</a:t>
            </a:r>
            <a:r>
              <a:rPr lang="en-US" altLang="zh-CN" sz="2000" dirty="0" err="1"/>
              <a:t>eax</a:t>
            </a:r>
            <a:r>
              <a:rPr lang="en-US" altLang="zh-CN" sz="2000" dirty="0"/>
              <a:t>]</a:t>
            </a:r>
            <a:r>
              <a:rPr lang="zh-CN" altLang="en-US" sz="2000" dirty="0"/>
              <a:t>，执行前，若</a:t>
            </a:r>
            <a:r>
              <a:rPr lang="en-US" altLang="zh-CN" sz="2000" dirty="0"/>
              <a:t>R[</a:t>
            </a:r>
            <a:r>
              <a:rPr lang="en-US" altLang="zh-CN" sz="2000" dirty="0" err="1"/>
              <a:t>edx</a:t>
            </a:r>
            <a:r>
              <a:rPr lang="en-US" altLang="zh-CN" sz="2000" dirty="0"/>
              <a:t>]=</a:t>
            </a:r>
            <a:r>
              <a:rPr lang="en-US" altLang="zh-CN" sz="2000" dirty="0" err="1"/>
              <a:t>i</a:t>
            </a:r>
            <a:r>
              <a:rPr lang="zh-CN" altLang="en-US" sz="2000" dirty="0"/>
              <a:t>，</a:t>
            </a:r>
            <a:r>
              <a:rPr lang="en-US" altLang="zh-CN" sz="2000" dirty="0"/>
              <a:t>R[</a:t>
            </a:r>
            <a:r>
              <a:rPr lang="en-US" altLang="zh-CN" sz="2000" dirty="0" err="1"/>
              <a:t>eax</a:t>
            </a:r>
            <a:r>
              <a:rPr lang="en-US" altLang="zh-CN" sz="2000" dirty="0"/>
              <a:t>]=j</a:t>
            </a:r>
            <a:r>
              <a:rPr lang="zh-CN" altLang="en-US" sz="2000" dirty="0"/>
              <a:t>，则指令执行后，</a:t>
            </a:r>
            <a:r>
              <a:rPr lang="en-US" altLang="zh-CN" sz="2000" dirty="0"/>
              <a:t>R[</a:t>
            </a:r>
            <a:r>
              <a:rPr lang="en-US" altLang="zh-CN" sz="2000" dirty="0" err="1"/>
              <a:t>eax</a:t>
            </a:r>
            <a:r>
              <a:rPr lang="en-US" altLang="zh-CN" sz="2000" dirty="0"/>
              <a:t>]=</a:t>
            </a:r>
            <a:r>
              <a:rPr lang="en-US" altLang="zh-CN" sz="2000" dirty="0" err="1"/>
              <a:t>i+j</a:t>
            </a:r>
            <a:r>
              <a:rPr lang="en-US" altLang="zh-CN" sz="2000" dirty="0"/>
              <a:t> </a:t>
            </a:r>
          </a:p>
          <a:p>
            <a:pPr lvl="1" indent="-180000">
              <a:lnSpc>
                <a:spcPct val="150000"/>
              </a:lnSpc>
              <a:spcAft>
                <a:spcPts val="1200"/>
              </a:spcAft>
              <a:buFont typeface="Arial" panose="020B0604020202020204" pitchFamily="34" charset="0"/>
              <a:buChar char="•"/>
            </a:pPr>
            <a:r>
              <a:rPr lang="en-US" altLang="zh-CN" sz="2000" dirty="0" err="1"/>
              <a:t>leal</a:t>
            </a:r>
            <a:r>
              <a:rPr lang="zh-CN" altLang="en-US" sz="2000" dirty="0"/>
              <a:t> </a:t>
            </a:r>
            <a:r>
              <a:rPr lang="en-US" altLang="zh-CN" sz="2000" dirty="0"/>
              <a:t>8(%edx,%eax,2),%</a:t>
            </a:r>
            <a:r>
              <a:rPr lang="en-US" altLang="zh-CN" sz="2000" dirty="0" err="1"/>
              <a:t>eax</a:t>
            </a:r>
            <a:r>
              <a:rPr lang="zh-CN" altLang="en-US" sz="2000" dirty="0"/>
              <a:t>：</a:t>
            </a:r>
            <a:r>
              <a:rPr lang="en-US" altLang="zh-CN" sz="2000" dirty="0"/>
              <a:t> R[</a:t>
            </a:r>
            <a:r>
              <a:rPr lang="en-US" altLang="zh-CN" sz="2000" dirty="0" err="1"/>
              <a:t>eax</a:t>
            </a:r>
            <a:r>
              <a:rPr lang="en-US" altLang="zh-CN" sz="2000" dirty="0"/>
              <a:t>]←R[</a:t>
            </a:r>
            <a:r>
              <a:rPr lang="en-US" altLang="zh-CN" sz="2000" dirty="0" err="1"/>
              <a:t>edx</a:t>
            </a:r>
            <a:r>
              <a:rPr lang="en-US" altLang="zh-CN" sz="2000" dirty="0"/>
              <a:t>]+2</a:t>
            </a:r>
            <a:r>
              <a:rPr lang="zh-CN" altLang="en-US" sz="2000" dirty="0"/>
              <a:t>*</a:t>
            </a:r>
            <a:r>
              <a:rPr lang="en-US" altLang="zh-CN" sz="2000" dirty="0"/>
              <a:t>R[</a:t>
            </a:r>
            <a:r>
              <a:rPr lang="en-US" altLang="zh-CN" sz="2000" dirty="0" err="1"/>
              <a:t>eax</a:t>
            </a:r>
            <a:r>
              <a:rPr lang="en-US" altLang="zh-CN" sz="2000" dirty="0"/>
              <a:t>]+8</a:t>
            </a:r>
          </a:p>
        </p:txBody>
      </p:sp>
    </p:spTree>
    <p:extLst>
      <p:ext uri="{BB962C8B-B14F-4D97-AF65-F5344CB8AC3E}">
        <p14:creationId xmlns:p14="http://schemas.microsoft.com/office/powerpoint/2010/main" val="3137243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8229600" cy="1143000"/>
          </a:xfrm>
        </p:spPr>
        <p:txBody>
          <a:bodyPr>
            <a:normAutofit/>
          </a:bodyPr>
          <a:lstStyle/>
          <a:p>
            <a:r>
              <a:rPr lang="zh-CN" altLang="en-US" sz="4000" dirty="0">
                <a:solidFill>
                  <a:srgbClr val="C00000"/>
                </a:solidFill>
              </a:rPr>
              <a:t>课程回顾：定点算术运算指令</a:t>
            </a:r>
          </a:p>
        </p:txBody>
      </p:sp>
      <p:sp>
        <p:nvSpPr>
          <p:cNvPr id="3" name="内容占位符 2"/>
          <p:cNvSpPr>
            <a:spLocks noGrp="1"/>
          </p:cNvSpPr>
          <p:nvPr>
            <p:ph idx="1"/>
          </p:nvPr>
        </p:nvSpPr>
        <p:spPr>
          <a:xfrm>
            <a:off x="457200" y="1143000"/>
            <a:ext cx="8229600" cy="5166320"/>
          </a:xfrm>
        </p:spPr>
        <p:txBody>
          <a:bodyPr>
            <a:normAutofit fontScale="92500" lnSpcReduction="20000"/>
          </a:bodyPr>
          <a:lstStyle/>
          <a:p>
            <a:pPr lvl="1" eaLnBrk="0" fontAlgn="base" hangingPunct="0">
              <a:lnSpc>
                <a:spcPct val="110000"/>
              </a:lnSpc>
              <a:spcAft>
                <a:spcPct val="0"/>
              </a:spcAft>
              <a:buFontTx/>
              <a:buChar char="–"/>
            </a:pPr>
            <a:r>
              <a:rPr lang="zh-CN" altLang="en-US" sz="2000" b="1" kern="0" dirty="0">
                <a:solidFill>
                  <a:srgbClr val="0000CC"/>
                </a:solidFill>
                <a:latin typeface="微软雅黑" panose="020B0503020204020204" pitchFamily="34" charset="-122"/>
                <a:ea typeface="微软雅黑" panose="020B0503020204020204" pitchFamily="34" charset="-122"/>
              </a:rPr>
              <a:t>加 </a:t>
            </a:r>
            <a:r>
              <a:rPr lang="en-US" altLang="zh-CN" sz="2000" b="1" kern="0" dirty="0">
                <a:solidFill>
                  <a:srgbClr val="0000CC"/>
                </a:solidFill>
                <a:latin typeface="微软雅黑" panose="020B0503020204020204" pitchFamily="34" charset="-122"/>
                <a:ea typeface="微软雅黑" panose="020B0503020204020204" pitchFamily="34" charset="-122"/>
              </a:rPr>
              <a:t>/ </a:t>
            </a:r>
            <a:r>
              <a:rPr lang="zh-CN" altLang="en-US" sz="2000" b="1" kern="0" dirty="0">
                <a:solidFill>
                  <a:srgbClr val="0000CC"/>
                </a:solidFill>
                <a:latin typeface="微软雅黑" panose="020B0503020204020204" pitchFamily="34" charset="-122"/>
                <a:ea typeface="微软雅黑" panose="020B0503020204020204" pitchFamily="34" charset="-122"/>
              </a:rPr>
              <a:t>减运算（影响标志</a:t>
            </a:r>
            <a:r>
              <a:rPr lang="en-US" altLang="zh-CN" sz="2000" b="1" kern="0" dirty="0">
                <a:solidFill>
                  <a:srgbClr val="0000CC"/>
                </a:solidFill>
                <a:latin typeface="微软雅黑" panose="020B0503020204020204" pitchFamily="34" charset="-122"/>
                <a:ea typeface="微软雅黑" panose="020B0503020204020204" pitchFamily="34" charset="-122"/>
              </a:rPr>
              <a:t>OF/CF/SF/ZF</a:t>
            </a:r>
            <a:r>
              <a:rPr lang="zh-CN" altLang="en-US" sz="2000" b="1" kern="0" dirty="0">
                <a:solidFill>
                  <a:srgbClr val="0000CC"/>
                </a:solidFill>
                <a:latin typeface="微软雅黑" panose="020B0503020204020204" pitchFamily="34" charset="-122"/>
                <a:ea typeface="微软雅黑" panose="020B0503020204020204" pitchFamily="34" charset="-122"/>
              </a:rPr>
              <a:t>、不区分无</a:t>
            </a:r>
            <a:r>
              <a:rPr lang="en-US" altLang="zh-CN" sz="2000" b="1" kern="0" dirty="0">
                <a:solidFill>
                  <a:srgbClr val="0000CC"/>
                </a:solidFill>
                <a:latin typeface="微软雅黑" panose="020B0503020204020204" pitchFamily="34" charset="-122"/>
                <a:ea typeface="微软雅黑" panose="020B0503020204020204" pitchFamily="34" charset="-122"/>
              </a:rPr>
              <a:t>/</a:t>
            </a:r>
            <a:r>
              <a:rPr lang="zh-CN" altLang="en-US" sz="2000" b="1" kern="0" dirty="0">
                <a:solidFill>
                  <a:srgbClr val="0000CC"/>
                </a:solidFill>
                <a:latin typeface="微软雅黑" panose="020B0503020204020204" pitchFamily="34" charset="-122"/>
                <a:ea typeface="微软雅黑" panose="020B0503020204020204" pitchFamily="34" charset="-122"/>
              </a:rPr>
              <a:t>带符号）</a:t>
            </a:r>
          </a:p>
          <a:p>
            <a:pPr lvl="2" eaLnBrk="0" fontAlgn="base" hangingPunct="0">
              <a:lnSpc>
                <a:spcPct val="110000"/>
              </a:lnSpc>
              <a:spcAft>
                <a:spcPct val="0"/>
              </a:spcAft>
              <a:buNone/>
            </a:pPr>
            <a:r>
              <a:rPr lang="en-US" altLang="zh-CN" sz="2000" b="1" kern="0" dirty="0">
                <a:solidFill>
                  <a:srgbClr val="006600"/>
                </a:solidFill>
                <a:latin typeface="微软雅黑" panose="020B0503020204020204" pitchFamily="34" charset="-122"/>
                <a:ea typeface="微软雅黑" panose="020B0503020204020204" pitchFamily="34" charset="-122"/>
              </a:rPr>
              <a:t>ADD</a:t>
            </a:r>
            <a:r>
              <a:rPr lang="zh-CN" altLang="en-US" sz="2000" b="1" kern="0" dirty="0">
                <a:solidFill>
                  <a:srgbClr val="006600"/>
                </a:solidFill>
                <a:latin typeface="微软雅黑" panose="020B0503020204020204" pitchFamily="34" charset="-122"/>
                <a:ea typeface="微软雅黑" panose="020B0503020204020204" pitchFamily="34" charset="-122"/>
              </a:rPr>
              <a:t>：加，包括</a:t>
            </a:r>
            <a:r>
              <a:rPr lang="en-US" altLang="zh-CN" sz="2000" b="1" kern="0" dirty="0" err="1">
                <a:solidFill>
                  <a:srgbClr val="006600"/>
                </a:solidFill>
                <a:latin typeface="微软雅黑" panose="020B0503020204020204" pitchFamily="34" charset="-122"/>
                <a:ea typeface="微软雅黑" panose="020B0503020204020204" pitchFamily="34" charset="-122"/>
              </a:rPr>
              <a:t>addb</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err="1">
                <a:solidFill>
                  <a:srgbClr val="006600"/>
                </a:solidFill>
                <a:latin typeface="微软雅黑" panose="020B0503020204020204" pitchFamily="34" charset="-122"/>
                <a:ea typeface="微软雅黑" panose="020B0503020204020204" pitchFamily="34" charset="-122"/>
              </a:rPr>
              <a:t>addw</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err="1">
                <a:solidFill>
                  <a:srgbClr val="006600"/>
                </a:solidFill>
                <a:latin typeface="微软雅黑" panose="020B0503020204020204" pitchFamily="34" charset="-122"/>
                <a:ea typeface="微软雅黑" panose="020B0503020204020204" pitchFamily="34" charset="-122"/>
              </a:rPr>
              <a:t>addl</a:t>
            </a:r>
            <a:r>
              <a:rPr lang="zh-CN" altLang="en-US" sz="2000" b="1" kern="0" dirty="0">
                <a:solidFill>
                  <a:srgbClr val="006600"/>
                </a:solidFill>
                <a:latin typeface="微软雅黑" panose="020B0503020204020204" pitchFamily="34" charset="-122"/>
                <a:ea typeface="微软雅黑" panose="020B0503020204020204" pitchFamily="34" charset="-122"/>
              </a:rPr>
              <a:t>等</a:t>
            </a:r>
          </a:p>
          <a:p>
            <a:pPr lvl="2" eaLnBrk="0" fontAlgn="base" hangingPunct="0">
              <a:lnSpc>
                <a:spcPct val="110000"/>
              </a:lnSpc>
              <a:spcAft>
                <a:spcPct val="0"/>
              </a:spcAft>
              <a:buNone/>
            </a:pPr>
            <a:r>
              <a:rPr lang="en-US" altLang="zh-CN" sz="2000" b="1" kern="0" dirty="0">
                <a:solidFill>
                  <a:srgbClr val="006600"/>
                </a:solidFill>
                <a:latin typeface="微软雅黑" panose="020B0503020204020204" pitchFamily="34" charset="-122"/>
                <a:ea typeface="微软雅黑" panose="020B0503020204020204" pitchFamily="34" charset="-122"/>
              </a:rPr>
              <a:t>SUB</a:t>
            </a:r>
            <a:r>
              <a:rPr lang="zh-CN" altLang="en-US" sz="2000" b="1" kern="0" dirty="0">
                <a:solidFill>
                  <a:srgbClr val="006600"/>
                </a:solidFill>
                <a:latin typeface="微软雅黑" panose="020B0503020204020204" pitchFamily="34" charset="-122"/>
                <a:ea typeface="微软雅黑" panose="020B0503020204020204" pitchFamily="34" charset="-122"/>
              </a:rPr>
              <a:t>：减，包括</a:t>
            </a:r>
            <a:r>
              <a:rPr lang="en-US" altLang="zh-CN" sz="2000" b="1" kern="0" dirty="0" err="1">
                <a:solidFill>
                  <a:srgbClr val="006600"/>
                </a:solidFill>
                <a:latin typeface="微软雅黑" panose="020B0503020204020204" pitchFamily="34" charset="-122"/>
                <a:ea typeface="微软雅黑" panose="020B0503020204020204" pitchFamily="34" charset="-122"/>
              </a:rPr>
              <a:t>subb</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err="1">
                <a:solidFill>
                  <a:srgbClr val="006600"/>
                </a:solidFill>
                <a:latin typeface="微软雅黑" panose="020B0503020204020204" pitchFamily="34" charset="-122"/>
                <a:ea typeface="微软雅黑" panose="020B0503020204020204" pitchFamily="34" charset="-122"/>
              </a:rPr>
              <a:t>subw</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err="1">
                <a:solidFill>
                  <a:srgbClr val="006600"/>
                </a:solidFill>
                <a:latin typeface="微软雅黑" panose="020B0503020204020204" pitchFamily="34" charset="-122"/>
                <a:ea typeface="微软雅黑" panose="020B0503020204020204" pitchFamily="34" charset="-122"/>
              </a:rPr>
              <a:t>subl</a:t>
            </a:r>
            <a:r>
              <a:rPr lang="zh-CN" altLang="en-US" sz="2000" b="1" kern="0" dirty="0">
                <a:solidFill>
                  <a:srgbClr val="006600"/>
                </a:solidFill>
                <a:latin typeface="微软雅黑" panose="020B0503020204020204" pitchFamily="34" charset="-122"/>
                <a:ea typeface="微软雅黑" panose="020B0503020204020204" pitchFamily="34" charset="-122"/>
              </a:rPr>
              <a:t>等</a:t>
            </a:r>
          </a:p>
          <a:p>
            <a:pPr lvl="1" eaLnBrk="0" fontAlgn="base" hangingPunct="0">
              <a:lnSpc>
                <a:spcPct val="110000"/>
              </a:lnSpc>
              <a:spcAft>
                <a:spcPct val="0"/>
              </a:spcAft>
              <a:buFontTx/>
              <a:buChar char="–"/>
            </a:pPr>
            <a:r>
              <a:rPr lang="zh-CN" altLang="en-US" sz="2000" b="1" kern="0" dirty="0">
                <a:solidFill>
                  <a:srgbClr val="0000CC"/>
                </a:solidFill>
                <a:latin typeface="微软雅黑" panose="020B0503020204020204" pitchFamily="34" charset="-122"/>
                <a:ea typeface="微软雅黑" panose="020B0503020204020204" pitchFamily="34" charset="-122"/>
              </a:rPr>
              <a:t>增</a:t>
            </a:r>
            <a:r>
              <a:rPr lang="en-US" altLang="zh-CN" sz="2000" b="1" kern="0" dirty="0">
                <a:solidFill>
                  <a:srgbClr val="0000CC"/>
                </a:solidFill>
                <a:latin typeface="微软雅黑" panose="020B0503020204020204" pitchFamily="34" charset="-122"/>
                <a:ea typeface="微软雅黑" panose="020B0503020204020204" pitchFamily="34" charset="-122"/>
              </a:rPr>
              <a:t>1 / </a:t>
            </a:r>
            <a:r>
              <a:rPr lang="zh-CN" altLang="en-US" sz="2000" b="1" kern="0" dirty="0">
                <a:solidFill>
                  <a:srgbClr val="0000CC"/>
                </a:solidFill>
                <a:latin typeface="微软雅黑" panose="020B0503020204020204" pitchFamily="34" charset="-122"/>
                <a:ea typeface="微软雅黑" panose="020B0503020204020204" pitchFamily="34" charset="-122"/>
              </a:rPr>
              <a:t>减</a:t>
            </a:r>
            <a:r>
              <a:rPr lang="en-US" altLang="zh-CN" sz="2000" b="1" kern="0" dirty="0">
                <a:solidFill>
                  <a:srgbClr val="0000CC"/>
                </a:solidFill>
                <a:latin typeface="微软雅黑" panose="020B0503020204020204" pitchFamily="34" charset="-122"/>
                <a:ea typeface="微软雅黑" panose="020B0503020204020204" pitchFamily="34" charset="-122"/>
              </a:rPr>
              <a:t>1</a:t>
            </a:r>
            <a:r>
              <a:rPr lang="zh-CN" altLang="en-US" sz="2000" b="1" kern="0" dirty="0">
                <a:solidFill>
                  <a:srgbClr val="0000CC"/>
                </a:solidFill>
                <a:latin typeface="微软雅黑" panose="020B0503020204020204" pitchFamily="34" charset="-122"/>
                <a:ea typeface="微软雅黑" panose="020B0503020204020204" pitchFamily="34" charset="-122"/>
              </a:rPr>
              <a:t>运算（影响除</a:t>
            </a:r>
            <a:r>
              <a:rPr lang="en-US" altLang="zh-CN" sz="2000" b="1" kern="0" dirty="0">
                <a:solidFill>
                  <a:srgbClr val="0000CC"/>
                </a:solidFill>
                <a:latin typeface="微软雅黑" panose="020B0503020204020204" pitchFamily="34" charset="-122"/>
                <a:ea typeface="微软雅黑" panose="020B0503020204020204" pitchFamily="34" charset="-122"/>
              </a:rPr>
              <a:t>CF</a:t>
            </a:r>
            <a:r>
              <a:rPr lang="zh-CN" altLang="en-US" sz="2000" b="1" kern="0" dirty="0">
                <a:solidFill>
                  <a:srgbClr val="0000CC"/>
                </a:solidFill>
                <a:latin typeface="微软雅黑" panose="020B0503020204020204" pitchFamily="34" charset="-122"/>
                <a:ea typeface="微软雅黑" panose="020B0503020204020204" pitchFamily="34" charset="-122"/>
              </a:rPr>
              <a:t>以外的标志、不区分无</a:t>
            </a:r>
            <a:r>
              <a:rPr lang="en-US" altLang="zh-CN" sz="2000" b="1" kern="0" dirty="0">
                <a:solidFill>
                  <a:srgbClr val="0000CC"/>
                </a:solidFill>
                <a:latin typeface="微软雅黑" panose="020B0503020204020204" pitchFamily="34" charset="-122"/>
                <a:ea typeface="微软雅黑" panose="020B0503020204020204" pitchFamily="34" charset="-122"/>
              </a:rPr>
              <a:t>/</a:t>
            </a:r>
            <a:r>
              <a:rPr lang="zh-CN" altLang="en-US" sz="2000" b="1" kern="0" dirty="0">
                <a:solidFill>
                  <a:srgbClr val="0000CC"/>
                </a:solidFill>
                <a:latin typeface="微软雅黑" panose="020B0503020204020204" pitchFamily="34" charset="-122"/>
                <a:ea typeface="微软雅黑" panose="020B0503020204020204" pitchFamily="34" charset="-122"/>
              </a:rPr>
              <a:t>带符号）</a:t>
            </a:r>
          </a:p>
          <a:p>
            <a:pPr lvl="2" eaLnBrk="0" fontAlgn="base" hangingPunct="0">
              <a:lnSpc>
                <a:spcPct val="110000"/>
              </a:lnSpc>
              <a:spcAft>
                <a:spcPct val="0"/>
              </a:spcAft>
              <a:buNone/>
            </a:pPr>
            <a:r>
              <a:rPr lang="en-US" altLang="zh-CN" sz="2000" b="1" kern="0" dirty="0">
                <a:solidFill>
                  <a:srgbClr val="006600"/>
                </a:solidFill>
                <a:latin typeface="微软雅黑" panose="020B0503020204020204" pitchFamily="34" charset="-122"/>
                <a:ea typeface="微软雅黑" panose="020B0503020204020204" pitchFamily="34" charset="-122"/>
              </a:rPr>
              <a:t>INC</a:t>
            </a:r>
            <a:r>
              <a:rPr lang="zh-CN" altLang="en-US" sz="2000" b="1" kern="0" dirty="0">
                <a:solidFill>
                  <a:srgbClr val="006600"/>
                </a:solidFill>
                <a:latin typeface="微软雅黑" panose="020B0503020204020204" pitchFamily="34" charset="-122"/>
                <a:ea typeface="微软雅黑" panose="020B0503020204020204" pitchFamily="34" charset="-122"/>
              </a:rPr>
              <a:t>：加，包括</a:t>
            </a:r>
            <a:r>
              <a:rPr lang="en-US" altLang="zh-CN" sz="2000" b="1" kern="0" dirty="0" err="1">
                <a:solidFill>
                  <a:srgbClr val="006600"/>
                </a:solidFill>
                <a:latin typeface="微软雅黑" panose="020B0503020204020204" pitchFamily="34" charset="-122"/>
                <a:ea typeface="微软雅黑" panose="020B0503020204020204" pitchFamily="34" charset="-122"/>
              </a:rPr>
              <a:t>incb</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err="1">
                <a:solidFill>
                  <a:srgbClr val="006600"/>
                </a:solidFill>
                <a:latin typeface="微软雅黑" panose="020B0503020204020204" pitchFamily="34" charset="-122"/>
                <a:ea typeface="微软雅黑" panose="020B0503020204020204" pitchFamily="34" charset="-122"/>
              </a:rPr>
              <a:t>incw</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err="1">
                <a:solidFill>
                  <a:srgbClr val="006600"/>
                </a:solidFill>
                <a:latin typeface="微软雅黑" panose="020B0503020204020204" pitchFamily="34" charset="-122"/>
                <a:ea typeface="微软雅黑" panose="020B0503020204020204" pitchFamily="34" charset="-122"/>
              </a:rPr>
              <a:t>incl</a:t>
            </a:r>
            <a:r>
              <a:rPr lang="zh-CN" altLang="en-US" sz="2000" b="1" kern="0" dirty="0">
                <a:solidFill>
                  <a:srgbClr val="006600"/>
                </a:solidFill>
                <a:latin typeface="微软雅黑" panose="020B0503020204020204" pitchFamily="34" charset="-122"/>
                <a:ea typeface="微软雅黑" panose="020B0503020204020204" pitchFamily="34" charset="-122"/>
              </a:rPr>
              <a:t>等</a:t>
            </a:r>
          </a:p>
          <a:p>
            <a:pPr lvl="2" eaLnBrk="0" fontAlgn="base" hangingPunct="0">
              <a:lnSpc>
                <a:spcPct val="110000"/>
              </a:lnSpc>
              <a:spcAft>
                <a:spcPct val="0"/>
              </a:spcAft>
              <a:buNone/>
            </a:pPr>
            <a:r>
              <a:rPr lang="en-US" altLang="zh-CN" sz="2000" b="1" kern="0" dirty="0">
                <a:solidFill>
                  <a:srgbClr val="006600"/>
                </a:solidFill>
                <a:latin typeface="微软雅黑" panose="020B0503020204020204" pitchFamily="34" charset="-122"/>
                <a:ea typeface="微软雅黑" panose="020B0503020204020204" pitchFamily="34" charset="-122"/>
              </a:rPr>
              <a:t>DEC</a:t>
            </a:r>
            <a:r>
              <a:rPr lang="zh-CN" altLang="en-US" sz="2000" b="1" kern="0" dirty="0">
                <a:solidFill>
                  <a:srgbClr val="006600"/>
                </a:solidFill>
                <a:latin typeface="微软雅黑" panose="020B0503020204020204" pitchFamily="34" charset="-122"/>
                <a:ea typeface="微软雅黑" panose="020B0503020204020204" pitchFamily="34" charset="-122"/>
              </a:rPr>
              <a:t>：减，包括</a:t>
            </a:r>
            <a:r>
              <a:rPr lang="en-US" altLang="zh-CN" sz="2000" b="1" kern="0" dirty="0" err="1">
                <a:solidFill>
                  <a:srgbClr val="006600"/>
                </a:solidFill>
                <a:latin typeface="微软雅黑" panose="020B0503020204020204" pitchFamily="34" charset="-122"/>
                <a:ea typeface="微软雅黑" panose="020B0503020204020204" pitchFamily="34" charset="-122"/>
              </a:rPr>
              <a:t>decb</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err="1">
                <a:solidFill>
                  <a:srgbClr val="006600"/>
                </a:solidFill>
                <a:latin typeface="微软雅黑" panose="020B0503020204020204" pitchFamily="34" charset="-122"/>
                <a:ea typeface="微软雅黑" panose="020B0503020204020204" pitchFamily="34" charset="-122"/>
              </a:rPr>
              <a:t>decw</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err="1">
                <a:solidFill>
                  <a:srgbClr val="006600"/>
                </a:solidFill>
                <a:latin typeface="微软雅黑" panose="020B0503020204020204" pitchFamily="34" charset="-122"/>
                <a:ea typeface="微软雅黑" panose="020B0503020204020204" pitchFamily="34" charset="-122"/>
              </a:rPr>
              <a:t>decl</a:t>
            </a:r>
            <a:r>
              <a:rPr lang="zh-CN" altLang="en-US" sz="2000" b="1" kern="0" dirty="0">
                <a:solidFill>
                  <a:srgbClr val="006600"/>
                </a:solidFill>
                <a:latin typeface="微软雅黑" panose="020B0503020204020204" pitchFamily="34" charset="-122"/>
                <a:ea typeface="微软雅黑" panose="020B0503020204020204" pitchFamily="34" charset="-122"/>
              </a:rPr>
              <a:t>等</a:t>
            </a:r>
          </a:p>
          <a:p>
            <a:pPr lvl="1" eaLnBrk="0" fontAlgn="base" hangingPunct="0">
              <a:lnSpc>
                <a:spcPct val="110000"/>
              </a:lnSpc>
              <a:spcAft>
                <a:spcPct val="0"/>
              </a:spcAft>
              <a:buFontTx/>
              <a:buChar char="–"/>
            </a:pPr>
            <a:r>
              <a:rPr lang="zh-CN" altLang="en-US" sz="2000" b="1" kern="0" dirty="0">
                <a:solidFill>
                  <a:srgbClr val="0000CC"/>
                </a:solidFill>
                <a:latin typeface="微软雅黑" panose="020B0503020204020204" pitchFamily="34" charset="-122"/>
                <a:ea typeface="微软雅黑" panose="020B0503020204020204" pitchFamily="34" charset="-122"/>
              </a:rPr>
              <a:t>取负运算（影响标志、若对</a:t>
            </a:r>
            <a:r>
              <a:rPr lang="en-US" altLang="zh-CN" sz="2000" b="1" kern="0" dirty="0">
                <a:solidFill>
                  <a:srgbClr val="0000CC"/>
                </a:solidFill>
                <a:latin typeface="微软雅黑" panose="020B0503020204020204" pitchFamily="34" charset="-122"/>
                <a:ea typeface="微软雅黑" panose="020B0503020204020204" pitchFamily="34" charset="-122"/>
              </a:rPr>
              <a:t>0</a:t>
            </a:r>
            <a:r>
              <a:rPr lang="zh-CN" altLang="en-US" sz="2000" b="1" kern="0" dirty="0">
                <a:solidFill>
                  <a:srgbClr val="0000CC"/>
                </a:solidFill>
                <a:latin typeface="微软雅黑" panose="020B0503020204020204" pitchFamily="34" charset="-122"/>
                <a:ea typeface="微软雅黑" panose="020B0503020204020204" pitchFamily="34" charset="-122"/>
              </a:rPr>
              <a:t>取负，则结果为</a:t>
            </a:r>
            <a:r>
              <a:rPr lang="en-US" altLang="zh-CN" sz="2000" b="1" kern="0" dirty="0">
                <a:solidFill>
                  <a:srgbClr val="0000CC"/>
                </a:solidFill>
                <a:latin typeface="微软雅黑" panose="020B0503020204020204" pitchFamily="34" charset="-122"/>
                <a:ea typeface="微软雅黑" panose="020B0503020204020204" pitchFamily="34" charset="-122"/>
              </a:rPr>
              <a:t>0</a:t>
            </a:r>
            <a:r>
              <a:rPr lang="zh-CN" altLang="en-US" sz="2000" b="1" kern="0" dirty="0">
                <a:solidFill>
                  <a:srgbClr val="0000CC"/>
                </a:solidFill>
                <a:latin typeface="微软雅黑" panose="020B0503020204020204" pitchFamily="34" charset="-122"/>
                <a:ea typeface="微软雅黑" panose="020B0503020204020204" pitchFamily="34" charset="-122"/>
              </a:rPr>
              <a:t>且</a:t>
            </a:r>
            <a:r>
              <a:rPr lang="en-US" altLang="zh-CN" sz="2000" b="1" kern="0" dirty="0">
                <a:solidFill>
                  <a:srgbClr val="0000CC"/>
                </a:solidFill>
                <a:latin typeface="微软雅黑" panose="020B0503020204020204" pitchFamily="34" charset="-122"/>
                <a:ea typeface="微软雅黑" panose="020B0503020204020204" pitchFamily="34" charset="-122"/>
              </a:rPr>
              <a:t>CF=0, </a:t>
            </a:r>
            <a:r>
              <a:rPr lang="zh-CN" altLang="en-US" sz="2000" b="1" kern="0" dirty="0">
                <a:solidFill>
                  <a:srgbClr val="0000CC"/>
                </a:solidFill>
                <a:latin typeface="微软雅黑" panose="020B0503020204020204" pitchFamily="34" charset="-122"/>
                <a:ea typeface="微软雅黑" panose="020B0503020204020204" pitchFamily="34" charset="-122"/>
              </a:rPr>
              <a:t>否则</a:t>
            </a:r>
            <a:r>
              <a:rPr lang="en-US" altLang="zh-CN" sz="2000" b="1" kern="0" dirty="0">
                <a:solidFill>
                  <a:srgbClr val="0000CC"/>
                </a:solidFill>
                <a:latin typeface="微软雅黑" panose="020B0503020204020204" pitchFamily="34" charset="-122"/>
                <a:ea typeface="微软雅黑" panose="020B0503020204020204" pitchFamily="34" charset="-122"/>
              </a:rPr>
              <a:t>CF=1</a:t>
            </a:r>
            <a:r>
              <a:rPr lang="zh-CN" altLang="en-US" sz="2000" b="1" kern="0" dirty="0">
                <a:solidFill>
                  <a:srgbClr val="0000CC"/>
                </a:solidFill>
                <a:latin typeface="微软雅黑" panose="020B0503020204020204" pitchFamily="34" charset="-122"/>
                <a:ea typeface="微软雅黑" panose="020B0503020204020204" pitchFamily="34" charset="-122"/>
              </a:rPr>
              <a:t>）</a:t>
            </a:r>
          </a:p>
          <a:p>
            <a:pPr lvl="2" eaLnBrk="0" fontAlgn="base" hangingPunct="0">
              <a:lnSpc>
                <a:spcPct val="110000"/>
              </a:lnSpc>
              <a:spcAft>
                <a:spcPct val="0"/>
              </a:spcAft>
              <a:buNone/>
            </a:pPr>
            <a:r>
              <a:rPr lang="en-US" altLang="zh-CN" sz="2000" b="1" kern="0" dirty="0">
                <a:solidFill>
                  <a:srgbClr val="006600"/>
                </a:solidFill>
                <a:latin typeface="微软雅黑" panose="020B0503020204020204" pitchFamily="34" charset="-122"/>
                <a:ea typeface="微软雅黑" panose="020B0503020204020204" pitchFamily="34" charset="-122"/>
              </a:rPr>
              <a:t>NEG</a:t>
            </a:r>
            <a:r>
              <a:rPr lang="zh-CN" altLang="en-US" sz="2000" b="1" kern="0" dirty="0">
                <a:solidFill>
                  <a:srgbClr val="006600"/>
                </a:solidFill>
                <a:latin typeface="微软雅黑" panose="020B0503020204020204" pitchFamily="34" charset="-122"/>
                <a:ea typeface="微软雅黑" panose="020B0503020204020204" pitchFamily="34" charset="-122"/>
              </a:rPr>
              <a:t>：取负，包括</a:t>
            </a:r>
            <a:r>
              <a:rPr lang="en-US" altLang="zh-CN" sz="2000" b="1" kern="0" dirty="0" err="1">
                <a:solidFill>
                  <a:srgbClr val="006600"/>
                </a:solidFill>
                <a:latin typeface="微软雅黑" panose="020B0503020204020204" pitchFamily="34" charset="-122"/>
                <a:ea typeface="微软雅黑" panose="020B0503020204020204" pitchFamily="34" charset="-122"/>
              </a:rPr>
              <a:t>negb</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err="1">
                <a:solidFill>
                  <a:srgbClr val="006600"/>
                </a:solidFill>
                <a:latin typeface="微软雅黑" panose="020B0503020204020204" pitchFamily="34" charset="-122"/>
                <a:ea typeface="微软雅黑" panose="020B0503020204020204" pitchFamily="34" charset="-122"/>
              </a:rPr>
              <a:t>negw</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err="1">
                <a:solidFill>
                  <a:srgbClr val="006600"/>
                </a:solidFill>
                <a:latin typeface="微软雅黑" panose="020B0503020204020204" pitchFamily="34" charset="-122"/>
                <a:ea typeface="微软雅黑" panose="020B0503020204020204" pitchFamily="34" charset="-122"/>
              </a:rPr>
              <a:t>negl</a:t>
            </a:r>
            <a:r>
              <a:rPr lang="zh-CN" altLang="en-US" sz="2000" b="1" kern="0" dirty="0">
                <a:solidFill>
                  <a:srgbClr val="006600"/>
                </a:solidFill>
                <a:latin typeface="微软雅黑" panose="020B0503020204020204" pitchFamily="34" charset="-122"/>
                <a:ea typeface="微软雅黑" panose="020B0503020204020204" pitchFamily="34" charset="-122"/>
              </a:rPr>
              <a:t>等</a:t>
            </a:r>
            <a:endParaRPr lang="en-US" altLang="zh-CN" sz="2000" b="1" kern="0" dirty="0">
              <a:solidFill>
                <a:srgbClr val="006600"/>
              </a:solidFill>
              <a:latin typeface="微软雅黑" panose="020B0503020204020204" pitchFamily="34" charset="-122"/>
              <a:ea typeface="微软雅黑" panose="020B0503020204020204" pitchFamily="34" charset="-122"/>
            </a:endParaRPr>
          </a:p>
          <a:p>
            <a:pPr lvl="2" eaLnBrk="0" fontAlgn="base" hangingPunct="0">
              <a:lnSpc>
                <a:spcPct val="110000"/>
              </a:lnSpc>
              <a:spcAft>
                <a:spcPct val="0"/>
              </a:spcAft>
              <a:buNone/>
            </a:pPr>
            <a:r>
              <a:rPr lang="zh-CN" altLang="en-US" sz="2000" b="1" kern="0" dirty="0">
                <a:solidFill>
                  <a:srgbClr val="006600"/>
                </a:solidFill>
                <a:latin typeface="微软雅黑" panose="020B0503020204020204" pitchFamily="34" charset="-122"/>
                <a:ea typeface="微软雅黑" panose="020B0503020204020204" pitchFamily="34" charset="-122"/>
              </a:rPr>
              <a:t>各位取反、末位加</a:t>
            </a:r>
            <a:r>
              <a:rPr lang="en-US" altLang="zh-CN" sz="2000" b="1" kern="0" dirty="0">
                <a:solidFill>
                  <a:srgbClr val="006600"/>
                </a:solidFill>
                <a:latin typeface="微软雅黑" panose="020B0503020204020204" pitchFamily="34" charset="-122"/>
                <a:ea typeface="微软雅黑" panose="020B0503020204020204" pitchFamily="34" charset="-122"/>
              </a:rPr>
              <a:t>1</a:t>
            </a:r>
            <a:endParaRPr lang="zh-CN" altLang="en-US" sz="2000" b="1" kern="0" dirty="0">
              <a:solidFill>
                <a:srgbClr val="006600"/>
              </a:solidFill>
              <a:latin typeface="微软雅黑" panose="020B0503020204020204" pitchFamily="34" charset="-122"/>
              <a:ea typeface="微软雅黑" panose="020B0503020204020204" pitchFamily="34" charset="-122"/>
            </a:endParaRPr>
          </a:p>
          <a:p>
            <a:pPr lvl="1" eaLnBrk="0" fontAlgn="base" hangingPunct="0">
              <a:lnSpc>
                <a:spcPct val="110000"/>
              </a:lnSpc>
              <a:spcAft>
                <a:spcPct val="0"/>
              </a:spcAft>
              <a:buFontTx/>
              <a:buChar char="–"/>
            </a:pPr>
            <a:r>
              <a:rPr lang="zh-CN" altLang="en-US" sz="2000" b="1" kern="0" dirty="0">
                <a:solidFill>
                  <a:srgbClr val="0000CC"/>
                </a:solidFill>
                <a:latin typeface="微软雅黑" panose="020B0503020204020204" pitchFamily="34" charset="-122"/>
                <a:ea typeface="微软雅黑" panose="020B0503020204020204" pitchFamily="34" charset="-122"/>
              </a:rPr>
              <a:t>比较运算（做减法得到标志、不区分无</a:t>
            </a:r>
            <a:r>
              <a:rPr lang="en-US" altLang="zh-CN" sz="2000" b="1" kern="0" dirty="0">
                <a:solidFill>
                  <a:srgbClr val="0000CC"/>
                </a:solidFill>
                <a:latin typeface="微软雅黑" panose="020B0503020204020204" pitchFamily="34" charset="-122"/>
                <a:ea typeface="微软雅黑" panose="020B0503020204020204" pitchFamily="34" charset="-122"/>
              </a:rPr>
              <a:t>/</a:t>
            </a:r>
            <a:r>
              <a:rPr lang="zh-CN" altLang="en-US" sz="2000" b="1" kern="0" dirty="0">
                <a:solidFill>
                  <a:srgbClr val="0000CC"/>
                </a:solidFill>
                <a:latin typeface="微软雅黑" panose="020B0503020204020204" pitchFamily="34" charset="-122"/>
                <a:ea typeface="微软雅黑" panose="020B0503020204020204" pitchFamily="34" charset="-122"/>
              </a:rPr>
              <a:t>带符号）</a:t>
            </a:r>
          </a:p>
          <a:p>
            <a:pPr lvl="2" eaLnBrk="0" fontAlgn="base" hangingPunct="0">
              <a:lnSpc>
                <a:spcPct val="110000"/>
              </a:lnSpc>
              <a:spcAft>
                <a:spcPct val="0"/>
              </a:spcAft>
              <a:buNone/>
            </a:pPr>
            <a:r>
              <a:rPr lang="en-US" altLang="zh-CN" sz="2000" b="1" kern="0" dirty="0">
                <a:solidFill>
                  <a:srgbClr val="006600"/>
                </a:solidFill>
                <a:latin typeface="微软雅黑" panose="020B0503020204020204" pitchFamily="34" charset="-122"/>
                <a:ea typeface="微软雅黑" panose="020B0503020204020204" pitchFamily="34" charset="-122"/>
              </a:rPr>
              <a:t>CMP</a:t>
            </a:r>
            <a:r>
              <a:rPr lang="zh-CN" altLang="en-US" sz="2000" b="1" kern="0" dirty="0">
                <a:solidFill>
                  <a:srgbClr val="006600"/>
                </a:solidFill>
                <a:latin typeface="微软雅黑" panose="020B0503020204020204" pitchFamily="34" charset="-122"/>
                <a:ea typeface="微软雅黑" panose="020B0503020204020204" pitchFamily="34" charset="-122"/>
              </a:rPr>
              <a:t>：比较，包括</a:t>
            </a:r>
            <a:r>
              <a:rPr lang="en-US" altLang="zh-CN" sz="2000" b="1" kern="0" dirty="0" err="1">
                <a:solidFill>
                  <a:srgbClr val="006600"/>
                </a:solidFill>
                <a:latin typeface="微软雅黑" panose="020B0503020204020204" pitchFamily="34" charset="-122"/>
                <a:ea typeface="微软雅黑" panose="020B0503020204020204" pitchFamily="34" charset="-122"/>
              </a:rPr>
              <a:t>cmpb</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err="1">
                <a:solidFill>
                  <a:srgbClr val="006600"/>
                </a:solidFill>
                <a:latin typeface="微软雅黑" panose="020B0503020204020204" pitchFamily="34" charset="-122"/>
                <a:ea typeface="微软雅黑" panose="020B0503020204020204" pitchFamily="34" charset="-122"/>
              </a:rPr>
              <a:t>cmpw</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err="1">
                <a:solidFill>
                  <a:srgbClr val="006600"/>
                </a:solidFill>
                <a:latin typeface="微软雅黑" panose="020B0503020204020204" pitchFamily="34" charset="-122"/>
                <a:ea typeface="微软雅黑" panose="020B0503020204020204" pitchFamily="34" charset="-122"/>
              </a:rPr>
              <a:t>cmpl</a:t>
            </a:r>
            <a:r>
              <a:rPr lang="zh-CN" altLang="en-US" sz="2000" b="1" kern="0" dirty="0">
                <a:solidFill>
                  <a:srgbClr val="006600"/>
                </a:solidFill>
                <a:latin typeface="微软雅黑" panose="020B0503020204020204" pitchFamily="34" charset="-122"/>
                <a:ea typeface="微软雅黑" panose="020B0503020204020204" pitchFamily="34" charset="-122"/>
              </a:rPr>
              <a:t>等</a:t>
            </a:r>
            <a:endParaRPr lang="en-US" altLang="zh-CN" sz="2000" b="1" kern="0" dirty="0">
              <a:solidFill>
                <a:srgbClr val="006600"/>
              </a:solidFill>
              <a:latin typeface="微软雅黑" panose="020B0503020204020204" pitchFamily="34" charset="-122"/>
              <a:ea typeface="微软雅黑" panose="020B0503020204020204" pitchFamily="34" charset="-122"/>
            </a:endParaRPr>
          </a:p>
          <a:p>
            <a:pPr lvl="2" eaLnBrk="0" fontAlgn="base" hangingPunct="0">
              <a:lnSpc>
                <a:spcPct val="110000"/>
              </a:lnSpc>
              <a:spcAft>
                <a:spcPct val="0"/>
              </a:spcAft>
              <a:buNone/>
            </a:pPr>
            <a:r>
              <a:rPr lang="zh-CN" altLang="en-US" sz="2000" b="1" kern="0" dirty="0">
                <a:solidFill>
                  <a:srgbClr val="006600"/>
                </a:solidFill>
                <a:latin typeface="微软雅黑" panose="020B0503020204020204" pitchFamily="34" charset="-122"/>
                <a:ea typeface="微软雅黑" panose="020B0503020204020204" pitchFamily="34" charset="-122"/>
              </a:rPr>
              <a:t>用目的操作数减去源操作数，结果不送回目的操作数</a:t>
            </a:r>
          </a:p>
          <a:p>
            <a:pPr lvl="1" eaLnBrk="0" fontAlgn="base" hangingPunct="0">
              <a:lnSpc>
                <a:spcPct val="110000"/>
              </a:lnSpc>
              <a:spcAft>
                <a:spcPct val="0"/>
              </a:spcAft>
              <a:buFontTx/>
              <a:buChar char="–"/>
            </a:pPr>
            <a:r>
              <a:rPr lang="zh-CN" altLang="en-US" sz="2000" b="1" kern="0" dirty="0">
                <a:solidFill>
                  <a:srgbClr val="0000CC"/>
                </a:solidFill>
                <a:latin typeface="微软雅黑" panose="020B0503020204020204" pitchFamily="34" charset="-122"/>
                <a:ea typeface="微软雅黑" panose="020B0503020204020204" pitchFamily="34" charset="-122"/>
              </a:rPr>
              <a:t>乘 </a:t>
            </a:r>
            <a:r>
              <a:rPr lang="en-US" altLang="zh-CN" sz="2000" b="1" kern="0" dirty="0">
                <a:solidFill>
                  <a:srgbClr val="0000CC"/>
                </a:solidFill>
                <a:latin typeface="微软雅黑" panose="020B0503020204020204" pitchFamily="34" charset="-122"/>
                <a:ea typeface="微软雅黑" panose="020B0503020204020204" pitchFamily="34" charset="-122"/>
              </a:rPr>
              <a:t>/ </a:t>
            </a:r>
            <a:r>
              <a:rPr lang="zh-CN" altLang="en-US" sz="2000" b="1" kern="0" dirty="0">
                <a:solidFill>
                  <a:srgbClr val="0000CC"/>
                </a:solidFill>
                <a:latin typeface="微软雅黑" panose="020B0503020204020204" pitchFamily="34" charset="-122"/>
                <a:ea typeface="微软雅黑" panose="020B0503020204020204" pitchFamily="34" charset="-122"/>
              </a:rPr>
              <a:t>除运算（区分无</a:t>
            </a:r>
            <a:r>
              <a:rPr lang="en-US" altLang="zh-CN" sz="2000" b="1" kern="0" dirty="0">
                <a:solidFill>
                  <a:srgbClr val="0000CC"/>
                </a:solidFill>
                <a:latin typeface="微软雅黑" panose="020B0503020204020204" pitchFamily="34" charset="-122"/>
                <a:ea typeface="微软雅黑" panose="020B0503020204020204" pitchFamily="34" charset="-122"/>
              </a:rPr>
              <a:t>/</a:t>
            </a:r>
            <a:r>
              <a:rPr lang="zh-CN" altLang="en-US" sz="2000" b="1" kern="0" dirty="0">
                <a:solidFill>
                  <a:srgbClr val="0000CC"/>
                </a:solidFill>
                <a:latin typeface="微软雅黑" panose="020B0503020204020204" pitchFamily="34" charset="-122"/>
                <a:ea typeface="微软雅黑" panose="020B0503020204020204" pitchFamily="34" charset="-122"/>
              </a:rPr>
              <a:t>带符号）</a:t>
            </a:r>
          </a:p>
          <a:p>
            <a:pPr lvl="2" eaLnBrk="0" fontAlgn="base" hangingPunct="0">
              <a:lnSpc>
                <a:spcPct val="110000"/>
              </a:lnSpc>
              <a:spcAft>
                <a:spcPct val="0"/>
              </a:spcAft>
              <a:buNone/>
            </a:pPr>
            <a:r>
              <a:rPr lang="en-US" altLang="zh-CN" sz="2000" b="1" kern="0" dirty="0">
                <a:solidFill>
                  <a:srgbClr val="006600"/>
                </a:solidFill>
                <a:latin typeface="微软雅黑" panose="020B0503020204020204" pitchFamily="34" charset="-122"/>
                <a:ea typeface="微软雅黑" panose="020B0503020204020204" pitchFamily="34" charset="-122"/>
              </a:rPr>
              <a:t>MUL / IMUL</a:t>
            </a:r>
            <a:r>
              <a:rPr lang="zh-CN" altLang="en-US" sz="2000" b="1" kern="0" dirty="0">
                <a:solidFill>
                  <a:srgbClr val="006600"/>
                </a:solidFill>
                <a:latin typeface="微软雅黑" panose="020B0503020204020204" pitchFamily="34" charset="-122"/>
                <a:ea typeface="微软雅黑" panose="020B0503020204020204" pitchFamily="34" charset="-122"/>
              </a:rPr>
              <a:t>：无符号乘 </a:t>
            </a:r>
            <a:r>
              <a:rPr lang="en-US" altLang="zh-CN" sz="2000" b="1" kern="0" dirty="0">
                <a:solidFill>
                  <a:srgbClr val="006600"/>
                </a:solidFill>
                <a:latin typeface="微软雅黑" panose="020B0503020204020204" pitchFamily="34" charset="-122"/>
                <a:ea typeface="微软雅黑" panose="020B0503020204020204" pitchFamily="34" charset="-122"/>
              </a:rPr>
              <a:t>/ </a:t>
            </a:r>
            <a:r>
              <a:rPr lang="zh-CN" altLang="en-US" sz="2000" b="1" kern="0" dirty="0">
                <a:solidFill>
                  <a:srgbClr val="006600"/>
                </a:solidFill>
                <a:latin typeface="微软雅黑" panose="020B0503020204020204" pitchFamily="34" charset="-122"/>
                <a:ea typeface="微软雅黑" panose="020B0503020204020204" pitchFamily="34" charset="-122"/>
              </a:rPr>
              <a:t>带符号乘</a:t>
            </a:r>
            <a:r>
              <a:rPr lang="zh-CN" altLang="en-US" sz="2000" b="1" kern="0" dirty="0">
                <a:solidFill>
                  <a:srgbClr val="3333CC"/>
                </a:solidFill>
                <a:latin typeface="微软雅黑" panose="020B0503020204020204" pitchFamily="34" charset="-122"/>
                <a:ea typeface="微软雅黑" panose="020B0503020204020204" pitchFamily="34" charset="-122"/>
              </a:rPr>
              <a:t>（影响标志</a:t>
            </a:r>
            <a:r>
              <a:rPr lang="en-US" altLang="zh-CN" sz="2000" b="1" kern="0" dirty="0">
                <a:solidFill>
                  <a:srgbClr val="3333CC"/>
                </a:solidFill>
                <a:latin typeface="微软雅黑" panose="020B0503020204020204" pitchFamily="34" charset="-122"/>
                <a:ea typeface="微软雅黑" panose="020B0503020204020204" pitchFamily="34" charset="-122"/>
              </a:rPr>
              <a:t>OF</a:t>
            </a:r>
            <a:r>
              <a:rPr lang="zh-CN" altLang="en-US" sz="2000" b="1" kern="0" dirty="0">
                <a:solidFill>
                  <a:srgbClr val="3333CC"/>
                </a:solidFill>
                <a:latin typeface="微软雅黑" panose="020B0503020204020204" pitchFamily="34" charset="-122"/>
                <a:ea typeface="微软雅黑" panose="020B0503020204020204" pitchFamily="34" charset="-122"/>
              </a:rPr>
              <a:t>和</a:t>
            </a:r>
            <a:r>
              <a:rPr lang="en-US" altLang="zh-CN" sz="2000" b="1" kern="0" dirty="0">
                <a:solidFill>
                  <a:srgbClr val="3333CC"/>
                </a:solidFill>
                <a:latin typeface="微软雅黑" panose="020B0503020204020204" pitchFamily="34" charset="-122"/>
                <a:ea typeface="微软雅黑" panose="020B0503020204020204" pitchFamily="34" charset="-122"/>
              </a:rPr>
              <a:t>CF</a:t>
            </a:r>
            <a:r>
              <a:rPr lang="zh-CN" altLang="en-US" sz="2000" b="1" kern="0" dirty="0">
                <a:solidFill>
                  <a:srgbClr val="3333CC"/>
                </a:solidFill>
                <a:latin typeface="微软雅黑" panose="020B0503020204020204" pitchFamily="34" charset="-122"/>
                <a:ea typeface="微软雅黑" panose="020B0503020204020204" pitchFamily="34" charset="-122"/>
              </a:rPr>
              <a:t>）</a:t>
            </a:r>
          </a:p>
          <a:p>
            <a:pPr lvl="2" eaLnBrk="0" fontAlgn="base" hangingPunct="0">
              <a:lnSpc>
                <a:spcPct val="110000"/>
              </a:lnSpc>
              <a:spcAft>
                <a:spcPct val="0"/>
              </a:spcAft>
              <a:buNone/>
            </a:pPr>
            <a:r>
              <a:rPr lang="en-US" altLang="zh-CN" sz="2000" b="1" kern="0" dirty="0">
                <a:solidFill>
                  <a:srgbClr val="006600"/>
                </a:solidFill>
                <a:latin typeface="微软雅黑" panose="020B0503020204020204" pitchFamily="34" charset="-122"/>
                <a:ea typeface="微软雅黑" panose="020B0503020204020204" pitchFamily="34" charset="-122"/>
              </a:rPr>
              <a:t>DIV/ IDIV</a:t>
            </a:r>
            <a:r>
              <a:rPr lang="zh-CN" altLang="en-US" sz="2000" b="1" kern="0" dirty="0">
                <a:solidFill>
                  <a:srgbClr val="006600"/>
                </a:solidFill>
                <a:latin typeface="微软雅黑" panose="020B0503020204020204" pitchFamily="34" charset="-122"/>
                <a:ea typeface="微软雅黑" panose="020B0503020204020204" pitchFamily="34" charset="-122"/>
              </a:rPr>
              <a:t>：带无符号除 </a:t>
            </a:r>
            <a:r>
              <a:rPr lang="en-US" altLang="zh-CN" sz="2000" b="1" kern="0" dirty="0">
                <a:solidFill>
                  <a:srgbClr val="006600"/>
                </a:solidFill>
                <a:latin typeface="微软雅黑" panose="020B0503020204020204" pitchFamily="34" charset="-122"/>
                <a:ea typeface="微软雅黑" panose="020B0503020204020204" pitchFamily="34" charset="-122"/>
              </a:rPr>
              <a:t>/ </a:t>
            </a:r>
            <a:r>
              <a:rPr lang="zh-CN" altLang="en-US" sz="2000" b="1" kern="0" dirty="0">
                <a:solidFill>
                  <a:srgbClr val="006600"/>
                </a:solidFill>
                <a:latin typeface="微软雅黑" panose="020B0503020204020204" pitchFamily="34" charset="-122"/>
                <a:ea typeface="微软雅黑" panose="020B0503020204020204" pitchFamily="34" charset="-122"/>
              </a:rPr>
              <a:t>带符号除</a:t>
            </a:r>
          </a:p>
        </p:txBody>
      </p:sp>
      <p:sp>
        <p:nvSpPr>
          <p:cNvPr id="4" name="文本框 3"/>
          <p:cNvSpPr txBox="1"/>
          <p:nvPr/>
        </p:nvSpPr>
        <p:spPr>
          <a:xfrm>
            <a:off x="1327017" y="5860350"/>
            <a:ext cx="5575565" cy="369332"/>
          </a:xfrm>
          <a:prstGeom prst="rect">
            <a:avLst/>
          </a:prstGeom>
          <a:noFill/>
        </p:spPr>
        <p:txBody>
          <a:bodyPr wrap="none" rtlCol="0">
            <a:spAutoFit/>
          </a:bodyPr>
          <a:lstStyle/>
          <a:p>
            <a:r>
              <a:rPr lang="en-US" altLang="zh-CN" dirty="0">
                <a:solidFill>
                  <a:srgbClr val="FF0000"/>
                </a:solidFill>
              </a:rPr>
              <a:t>OF</a:t>
            </a:r>
            <a:r>
              <a:rPr lang="zh-CN" altLang="en-US" dirty="0">
                <a:solidFill>
                  <a:srgbClr val="FF0000"/>
                </a:solidFill>
              </a:rPr>
              <a:t>：溢出标志，反映带符号数运算结果是否超过范围</a:t>
            </a:r>
          </a:p>
        </p:txBody>
      </p:sp>
      <p:sp>
        <p:nvSpPr>
          <p:cNvPr id="5" name="文本框 4"/>
          <p:cNvSpPr txBox="1"/>
          <p:nvPr/>
        </p:nvSpPr>
        <p:spPr>
          <a:xfrm>
            <a:off x="1327017" y="6202396"/>
            <a:ext cx="5663730" cy="369332"/>
          </a:xfrm>
          <a:prstGeom prst="rect">
            <a:avLst/>
          </a:prstGeom>
          <a:noFill/>
        </p:spPr>
        <p:txBody>
          <a:bodyPr wrap="none" rtlCol="0">
            <a:spAutoFit/>
          </a:bodyPr>
          <a:lstStyle/>
          <a:p>
            <a:r>
              <a:rPr lang="en-US" altLang="zh-CN" dirty="0">
                <a:solidFill>
                  <a:srgbClr val="FF0000"/>
                </a:solidFill>
              </a:rPr>
              <a:t>CF</a:t>
            </a:r>
            <a:r>
              <a:rPr lang="zh-CN" altLang="en-US" dirty="0">
                <a:solidFill>
                  <a:srgbClr val="FF0000"/>
                </a:solidFill>
              </a:rPr>
              <a:t>：进</a:t>
            </a:r>
            <a:r>
              <a:rPr lang="en-US" altLang="zh-CN" dirty="0">
                <a:solidFill>
                  <a:srgbClr val="FF0000"/>
                </a:solidFill>
              </a:rPr>
              <a:t>/</a:t>
            </a:r>
            <a:r>
              <a:rPr lang="zh-CN" altLang="en-US" dirty="0">
                <a:solidFill>
                  <a:srgbClr val="FF0000"/>
                </a:solidFill>
              </a:rPr>
              <a:t>借位标志，反映无符号数加减后的进借位情况</a:t>
            </a:r>
          </a:p>
        </p:txBody>
      </p:sp>
      <p:sp>
        <p:nvSpPr>
          <p:cNvPr id="6" name="文本框 5"/>
          <p:cNvSpPr txBox="1"/>
          <p:nvPr/>
        </p:nvSpPr>
        <p:spPr>
          <a:xfrm>
            <a:off x="4812021" y="202168"/>
            <a:ext cx="3874779" cy="369332"/>
          </a:xfrm>
          <a:prstGeom prst="rect">
            <a:avLst/>
          </a:prstGeom>
          <a:noFill/>
        </p:spPr>
        <p:txBody>
          <a:bodyPr wrap="none" rtlCol="0">
            <a:spAutoFit/>
          </a:bodyPr>
          <a:lstStyle/>
          <a:p>
            <a:r>
              <a:rPr lang="en-US" altLang="zh-CN" dirty="0">
                <a:solidFill>
                  <a:srgbClr val="FF0000"/>
                </a:solidFill>
              </a:rPr>
              <a:t>SF</a:t>
            </a:r>
            <a:r>
              <a:rPr lang="zh-CN" altLang="en-US" dirty="0">
                <a:solidFill>
                  <a:srgbClr val="FF0000"/>
                </a:solidFill>
              </a:rPr>
              <a:t>：符号标志，为相应数据的最高位</a:t>
            </a:r>
            <a:endParaRPr lang="en-US" altLang="zh-CN" dirty="0">
              <a:solidFill>
                <a:srgbClr val="FF0000"/>
              </a:solidFill>
            </a:endParaRPr>
          </a:p>
        </p:txBody>
      </p:sp>
      <p:sp>
        <p:nvSpPr>
          <p:cNvPr id="7" name="文本框 6"/>
          <p:cNvSpPr txBox="1"/>
          <p:nvPr/>
        </p:nvSpPr>
        <p:spPr>
          <a:xfrm>
            <a:off x="4816830" y="571500"/>
            <a:ext cx="3869970" cy="369332"/>
          </a:xfrm>
          <a:prstGeom prst="rect">
            <a:avLst/>
          </a:prstGeom>
          <a:noFill/>
        </p:spPr>
        <p:txBody>
          <a:bodyPr wrap="none" rtlCol="0">
            <a:spAutoFit/>
          </a:bodyPr>
          <a:lstStyle/>
          <a:p>
            <a:r>
              <a:rPr lang="en-US" altLang="zh-CN" dirty="0">
                <a:solidFill>
                  <a:srgbClr val="FF0000"/>
                </a:solidFill>
              </a:rPr>
              <a:t>ZF</a:t>
            </a:r>
            <a:r>
              <a:rPr lang="zh-CN" altLang="en-US" dirty="0">
                <a:solidFill>
                  <a:srgbClr val="FF0000"/>
                </a:solidFill>
              </a:rPr>
              <a:t>：零标志，反映运算结果是否为零</a:t>
            </a:r>
          </a:p>
        </p:txBody>
      </p:sp>
    </p:spTree>
    <p:extLst>
      <p:ext uri="{BB962C8B-B14F-4D97-AF65-F5344CB8AC3E}">
        <p14:creationId xmlns:p14="http://schemas.microsoft.com/office/powerpoint/2010/main" val="3251068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1+#ppt_w/2"/>
                                          </p:val>
                                        </p:tav>
                                        <p:tav tm="100000">
                                          <p:val>
                                            <p:strVal val="#ppt_x"/>
                                          </p:val>
                                        </p:tav>
                                      </p:tavLst>
                                    </p:anim>
                                    <p:anim calcmode="lin" valueType="num">
                                      <p:cBhvr additive="base">
                                        <p:cTn id="26"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334" y="0"/>
            <a:ext cx="8229600" cy="1143000"/>
          </a:xfrm>
        </p:spPr>
        <p:txBody>
          <a:bodyPr>
            <a:normAutofit/>
          </a:bodyPr>
          <a:lstStyle/>
          <a:p>
            <a:r>
              <a:rPr lang="zh-CN" altLang="en-US" sz="4000" dirty="0">
                <a:solidFill>
                  <a:srgbClr val="C00000"/>
                </a:solidFill>
              </a:rPr>
              <a:t>课程回顾：整数乘法指令</a:t>
            </a:r>
          </a:p>
        </p:txBody>
      </p:sp>
      <p:sp>
        <p:nvSpPr>
          <p:cNvPr id="5" name="Rectangle 3"/>
          <p:cNvSpPr txBox="1">
            <a:spLocks noChangeArrowheads="1"/>
          </p:cNvSpPr>
          <p:nvPr/>
        </p:nvSpPr>
        <p:spPr bwMode="auto">
          <a:xfrm>
            <a:off x="107504" y="980728"/>
            <a:ext cx="8893175" cy="602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15000"/>
              </a:lnSpc>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lnSpc>
                <a:spcPct val="115000"/>
              </a:lnSpc>
              <a:spcBef>
                <a:spcPct val="20000"/>
              </a:spcBef>
              <a:spcAft>
                <a:spcPct val="0"/>
              </a:spcAft>
              <a:buChar char="–"/>
              <a:defRPr sz="2000" b="1">
                <a:solidFill>
                  <a:srgbClr val="0000CC"/>
                </a:solidFill>
                <a:latin typeface="+mn-lt"/>
                <a:ea typeface="+mn-ea"/>
              </a:defRPr>
            </a:lvl2pPr>
            <a:lvl3pPr marL="1143000" indent="-228600" algn="l" rtl="0" eaLnBrk="0" fontAlgn="base" hangingPunct="0">
              <a:lnSpc>
                <a:spcPct val="115000"/>
              </a:lnSpc>
              <a:spcBef>
                <a:spcPct val="20000"/>
              </a:spcBef>
              <a:spcAft>
                <a:spcPct val="0"/>
              </a:spcAft>
              <a:buChar char="•"/>
              <a:defRPr sz="2400" b="1">
                <a:solidFill>
                  <a:srgbClr val="006600"/>
                </a:solidFill>
                <a:latin typeface="+mn-lt"/>
                <a:ea typeface="+mn-ea"/>
              </a:defRPr>
            </a:lvl3pPr>
            <a:lvl4pPr marL="1600200" indent="-228600" algn="l" rtl="0" eaLnBrk="0" fontAlgn="base" hangingPunct="0">
              <a:lnSpc>
                <a:spcPct val="115000"/>
              </a:lnSpc>
              <a:spcBef>
                <a:spcPct val="20000"/>
              </a:spcBef>
              <a:spcAft>
                <a:spcPct val="0"/>
              </a:spcAft>
              <a:buChar char="–"/>
              <a:defRPr sz="1600" b="1">
                <a:solidFill>
                  <a:srgbClr val="CC3300"/>
                </a:solidFill>
                <a:latin typeface="+mn-lt"/>
                <a:ea typeface="+mn-ea"/>
              </a:defRPr>
            </a:lvl4pPr>
            <a:lvl5pPr marL="2057400" indent="-228600" algn="l" rtl="0" eaLnBrk="0" fontAlgn="base" hangingPunct="0">
              <a:lnSpc>
                <a:spcPct val="115000"/>
              </a:lnSpc>
              <a:spcBef>
                <a:spcPct val="20000"/>
              </a:spcBef>
              <a:spcAft>
                <a:spcPct val="0"/>
              </a:spcAft>
              <a:buChar char="»"/>
              <a:defRPr sz="1500" b="1">
                <a:solidFill>
                  <a:srgbClr val="996600"/>
                </a:solidFill>
                <a:latin typeface="+mn-lt"/>
                <a:ea typeface="+mn-ea"/>
              </a:defRPr>
            </a:lvl5pPr>
            <a:lvl6pPr marL="2514600" indent="-228600" algn="l" rtl="0" fontAlgn="base">
              <a:lnSpc>
                <a:spcPct val="115000"/>
              </a:lnSpc>
              <a:spcBef>
                <a:spcPct val="20000"/>
              </a:spcBef>
              <a:spcAft>
                <a:spcPct val="0"/>
              </a:spcAft>
              <a:buChar char="»"/>
              <a:defRPr sz="1500" b="1">
                <a:solidFill>
                  <a:srgbClr val="996600"/>
                </a:solidFill>
                <a:latin typeface="+mn-lt"/>
                <a:ea typeface="+mn-ea"/>
              </a:defRPr>
            </a:lvl6pPr>
            <a:lvl7pPr marL="2971800" indent="-228600" algn="l" rtl="0" fontAlgn="base">
              <a:lnSpc>
                <a:spcPct val="115000"/>
              </a:lnSpc>
              <a:spcBef>
                <a:spcPct val="20000"/>
              </a:spcBef>
              <a:spcAft>
                <a:spcPct val="0"/>
              </a:spcAft>
              <a:buChar char="»"/>
              <a:defRPr sz="1500" b="1">
                <a:solidFill>
                  <a:srgbClr val="996600"/>
                </a:solidFill>
                <a:latin typeface="+mn-lt"/>
                <a:ea typeface="+mn-ea"/>
              </a:defRPr>
            </a:lvl7pPr>
            <a:lvl8pPr marL="3429000" indent="-228600" algn="l" rtl="0" fontAlgn="base">
              <a:lnSpc>
                <a:spcPct val="115000"/>
              </a:lnSpc>
              <a:spcBef>
                <a:spcPct val="20000"/>
              </a:spcBef>
              <a:spcAft>
                <a:spcPct val="0"/>
              </a:spcAft>
              <a:buChar char="»"/>
              <a:defRPr sz="1500" b="1">
                <a:solidFill>
                  <a:srgbClr val="996600"/>
                </a:solidFill>
                <a:latin typeface="+mn-lt"/>
                <a:ea typeface="+mn-ea"/>
              </a:defRPr>
            </a:lvl8pPr>
            <a:lvl9pPr marL="3886200" indent="-228600" algn="l" rtl="0" fontAlgn="base">
              <a:lnSpc>
                <a:spcPct val="115000"/>
              </a:lnSpc>
              <a:spcBef>
                <a:spcPct val="20000"/>
              </a:spcBef>
              <a:spcAft>
                <a:spcPct val="0"/>
              </a:spcAft>
              <a:buChar char="»"/>
              <a:defRPr sz="1500" b="1">
                <a:solidFill>
                  <a:srgbClr val="996600"/>
                </a:solidFill>
                <a:latin typeface="+mn-lt"/>
                <a:ea typeface="+mn-ea"/>
              </a:defRPr>
            </a:lvl9pPr>
          </a:lstStyle>
          <a:p>
            <a:pPr marL="342900" marR="0" lvl="0" indent="-342900" algn="l" defTabSz="914400" rtl="0" eaLnBrk="0" fontAlgn="base" latinLnBrk="0" hangingPunct="0">
              <a:lnSpc>
                <a:spcPct val="115000"/>
              </a:lnSpc>
              <a:spcBef>
                <a:spcPct val="30000"/>
              </a:spcBef>
              <a:buClrTx/>
              <a:buSzTx/>
              <a:buFontTx/>
              <a:buChar char="•"/>
              <a:tabLst/>
              <a:defRPr/>
            </a:pPr>
            <a:r>
              <a:rPr kumimoji="0" lang="zh-CN" altLang="en-US" sz="2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乘法指令：</a:t>
            </a:r>
            <a:r>
              <a:rPr kumimoji="0" lang="en-US" altLang="zh-CN" sz="2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IMUL</a:t>
            </a:r>
            <a:r>
              <a:rPr kumimoji="0" lang="zh-CN" altLang="en-US" sz="2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可给出</a:t>
            </a:r>
            <a:r>
              <a:rPr kumimoji="0" lang="en-US" altLang="zh-CN" sz="2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1/2/3</a:t>
            </a:r>
            <a:r>
              <a:rPr kumimoji="0" lang="zh-CN" altLang="en-US" sz="2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操作数</a:t>
            </a:r>
            <a:r>
              <a:rPr kumimoji="0" lang="en-US" altLang="zh-CN" sz="2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MUL</a:t>
            </a:r>
            <a:r>
              <a:rPr lang="zh-CN" altLang="en-US" sz="2000" kern="0" dirty="0">
                <a:solidFill>
                  <a:srgbClr val="000000"/>
                </a:solidFill>
                <a:latin typeface="微软雅黑" panose="020B0503020204020204" pitchFamily="34" charset="-122"/>
                <a:ea typeface="微软雅黑" panose="020B0503020204020204" pitchFamily="34" charset="-122"/>
              </a:rPr>
              <a:t>只能给出</a:t>
            </a:r>
            <a:r>
              <a:rPr lang="en-US" altLang="zh-CN" sz="2000" kern="0" dirty="0">
                <a:solidFill>
                  <a:srgbClr val="000000"/>
                </a:solidFill>
                <a:latin typeface="微软雅黑" panose="020B0503020204020204" pitchFamily="34" charset="-122"/>
                <a:ea typeface="微软雅黑" panose="020B0503020204020204" pitchFamily="34" charset="-122"/>
              </a:rPr>
              <a:t>1</a:t>
            </a:r>
            <a:r>
              <a:rPr lang="zh-CN" altLang="en-US" sz="2000" kern="0" dirty="0">
                <a:solidFill>
                  <a:srgbClr val="000000"/>
                </a:solidFill>
                <a:latin typeface="微软雅黑" panose="020B0503020204020204" pitchFamily="34" charset="-122"/>
                <a:ea typeface="微软雅黑" panose="020B0503020204020204" pitchFamily="34" charset="-122"/>
              </a:rPr>
              <a:t>个操作数</a:t>
            </a:r>
            <a:endParaRPr kumimoji="0" lang="zh-CN" altLang="en-US" sz="2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0" fontAlgn="base" latinLnBrk="0" hangingPunct="0">
              <a:lnSpc>
                <a:spcPct val="115000"/>
              </a:lnSpc>
              <a:spcBef>
                <a:spcPct val="30000"/>
              </a:spcBef>
              <a:buClrTx/>
              <a:buSzTx/>
              <a:buFontTx/>
              <a:buChar char="–"/>
              <a:tabLst/>
              <a:defRPr/>
            </a:pP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若给出</a:t>
            </a:r>
            <a:r>
              <a:rPr kumimoji="0" lang="zh-CN" altLang="en-US" sz="1800" b="1" i="0" u="none" strike="noStrike" kern="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rPr>
              <a:t>一个操作数</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SRC</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，则另一个源操作数隐含在</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AL/AX/EAX</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中，将</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SRC</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和累加器内容相乘，结果存放在</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AX</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16</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位）或</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DX-AX</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32</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位）或</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EDX-EAX</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64</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位）中。</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DX-AX</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表示</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32</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位乘积的高、低</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16</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位分别在</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DX</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和</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AX</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中。 </a:t>
            </a:r>
            <a:r>
              <a:rPr kumimoji="0" lang="en-US" altLang="zh-CN"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n</a:t>
            </a:r>
            <a:r>
              <a:rPr kumimoji="0" lang="zh-CN" altLang="en-US"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位</a:t>
            </a:r>
            <a:r>
              <a:rPr kumimoji="0" lang="pt-BR" altLang="zh-CN"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 </a:t>
            </a:r>
            <a:r>
              <a:rPr kumimoji="0" lang="en-US" altLang="zh-CN"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n</a:t>
            </a:r>
            <a:r>
              <a:rPr kumimoji="0" lang="zh-CN" altLang="en-US"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位</a:t>
            </a:r>
            <a:r>
              <a:rPr kumimoji="0" lang="en-US" altLang="zh-CN"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=2n</a:t>
            </a:r>
            <a:r>
              <a:rPr kumimoji="0" lang="zh-CN" altLang="en-US"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位</a:t>
            </a:r>
            <a:endPar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endParaRPr>
          </a:p>
          <a:p>
            <a:pPr marL="742950" marR="0" lvl="1" indent="-285750" algn="l" defTabSz="914400" rtl="0" eaLnBrk="0" fontAlgn="base" latinLnBrk="0" hangingPunct="0">
              <a:lnSpc>
                <a:spcPct val="115000"/>
              </a:lnSpc>
              <a:spcBef>
                <a:spcPct val="30000"/>
              </a:spcBef>
              <a:buClrTx/>
              <a:buSzTx/>
              <a:buFontTx/>
              <a:buChar char="–"/>
              <a:tabLst/>
              <a:defRPr/>
            </a:pP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若指令中给出</a:t>
            </a:r>
            <a:r>
              <a:rPr kumimoji="0" lang="zh-CN" altLang="en-US" sz="1800" b="1" i="0" u="none" strike="noStrike" kern="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rPr>
              <a:t>两个操作数</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DST</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和</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SRC</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，则将</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DST</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和</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SRC</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相乘，结果在</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DST</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中。</a:t>
            </a:r>
            <a:r>
              <a:rPr kumimoji="0" lang="en-US" altLang="zh-CN"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n</a:t>
            </a:r>
            <a:r>
              <a:rPr kumimoji="0" lang="zh-CN" altLang="en-US"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位</a:t>
            </a:r>
            <a:r>
              <a:rPr kumimoji="0" lang="pt-BR" altLang="zh-CN"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 </a:t>
            </a:r>
            <a:r>
              <a:rPr kumimoji="0" lang="en-US" altLang="zh-CN"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n</a:t>
            </a:r>
            <a:r>
              <a:rPr kumimoji="0" lang="zh-CN" altLang="en-US"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位</a:t>
            </a:r>
            <a:r>
              <a:rPr kumimoji="0" lang="en-US" altLang="zh-CN"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=n</a:t>
            </a:r>
            <a:r>
              <a:rPr kumimoji="0" lang="zh-CN" altLang="en-US"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位</a:t>
            </a:r>
          </a:p>
          <a:p>
            <a:pPr marL="742950" marR="0" lvl="1" indent="-285750" algn="l" defTabSz="914400" rtl="0" eaLnBrk="0" fontAlgn="base" latinLnBrk="0" hangingPunct="0">
              <a:lnSpc>
                <a:spcPct val="115000"/>
              </a:lnSpc>
              <a:spcBef>
                <a:spcPct val="30000"/>
              </a:spcBef>
              <a:buClrTx/>
              <a:buSzTx/>
              <a:buFontTx/>
              <a:buChar char="–"/>
              <a:tabLst/>
              <a:defRPr/>
            </a:pP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若指令中给出</a:t>
            </a:r>
            <a:r>
              <a:rPr kumimoji="0" lang="zh-CN" altLang="en-US" sz="1800" b="1" i="0" u="none" strike="noStrike" kern="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rPr>
              <a:t>三个操作数</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REG</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SRC</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和</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IMM</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，则将</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SRC</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和立即数</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IMM</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相乘，结果在</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REG</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中。</a:t>
            </a:r>
            <a:r>
              <a:rPr kumimoji="0" lang="en-US" altLang="zh-CN"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n</a:t>
            </a:r>
            <a:r>
              <a:rPr kumimoji="0" lang="zh-CN" altLang="en-US"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位</a:t>
            </a:r>
            <a:r>
              <a:rPr kumimoji="0" lang="pt-BR" altLang="zh-CN"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 </a:t>
            </a:r>
            <a:r>
              <a:rPr kumimoji="0" lang="en-US" altLang="zh-CN"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n</a:t>
            </a:r>
            <a:r>
              <a:rPr kumimoji="0" lang="zh-CN" altLang="en-US"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位</a:t>
            </a:r>
            <a:r>
              <a:rPr kumimoji="0" lang="en-US" altLang="zh-CN"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=n</a:t>
            </a:r>
            <a:r>
              <a:rPr kumimoji="0" lang="zh-CN" altLang="en-US"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位</a:t>
            </a:r>
            <a:endParaRPr kumimoji="0" lang="en-US" altLang="zh-CN"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endParaRPr>
          </a:p>
          <a:p>
            <a:pPr marL="742950" marR="0" lvl="1" indent="-285750" algn="l" defTabSz="914400" rtl="0" eaLnBrk="0" fontAlgn="base" latinLnBrk="0" hangingPunct="0">
              <a:lnSpc>
                <a:spcPct val="115000"/>
              </a:lnSpc>
              <a:spcBef>
                <a:spcPct val="30000"/>
              </a:spcBef>
              <a:buClrTx/>
              <a:buSzTx/>
              <a:buFontTx/>
              <a:buChar char="–"/>
              <a:tabLst/>
              <a:defRPr/>
            </a:pPr>
            <a:r>
              <a:rPr lang="zh-CN" altLang="en-US" sz="1800" kern="0" dirty="0">
                <a:latin typeface="微软雅黑" panose="020B0503020204020204" pitchFamily="34" charset="-122"/>
                <a:ea typeface="微软雅黑" panose="020B0503020204020204" pitchFamily="34" charset="-122"/>
              </a:rPr>
              <a:t>对于</a:t>
            </a:r>
            <a:r>
              <a:rPr lang="en-US" altLang="zh-CN" sz="1800" kern="0" dirty="0" err="1">
                <a:latin typeface="微软雅黑" panose="020B0503020204020204" pitchFamily="34" charset="-122"/>
                <a:ea typeface="微软雅黑" panose="020B0503020204020204" pitchFamily="34" charset="-122"/>
              </a:rPr>
              <a:t>mul</a:t>
            </a:r>
            <a:r>
              <a:rPr lang="zh-CN" altLang="en-US" sz="1800" kern="0" dirty="0">
                <a:latin typeface="微软雅黑" panose="020B0503020204020204" pitchFamily="34" charset="-122"/>
                <a:ea typeface="微软雅黑" panose="020B0503020204020204" pitchFamily="34" charset="-122"/>
              </a:rPr>
              <a:t>指令，若</a:t>
            </a:r>
            <a:r>
              <a:rPr lang="zh-CN" altLang="en-US" sz="1800" kern="0" dirty="0">
                <a:solidFill>
                  <a:srgbClr val="FF0000"/>
                </a:solidFill>
                <a:latin typeface="微软雅黑" panose="020B0503020204020204" pitchFamily="34" charset="-122"/>
                <a:ea typeface="微软雅黑" panose="020B0503020204020204" pitchFamily="34" charset="-122"/>
              </a:rPr>
              <a:t>乘积高</a:t>
            </a:r>
            <a:r>
              <a:rPr lang="en-US" altLang="zh-CN" sz="1800" kern="0" dirty="0">
                <a:solidFill>
                  <a:srgbClr val="FF0000"/>
                </a:solidFill>
                <a:latin typeface="微软雅黑" panose="020B0503020204020204" pitchFamily="34" charset="-122"/>
                <a:ea typeface="微软雅黑" panose="020B0503020204020204" pitchFamily="34" charset="-122"/>
              </a:rPr>
              <a:t>n</a:t>
            </a:r>
            <a:r>
              <a:rPr lang="zh-CN" altLang="en-US" sz="1800" kern="0" dirty="0">
                <a:solidFill>
                  <a:srgbClr val="FF0000"/>
                </a:solidFill>
                <a:latin typeface="微软雅黑" panose="020B0503020204020204" pitchFamily="34" charset="-122"/>
                <a:ea typeface="微软雅黑" panose="020B0503020204020204" pitchFamily="34" charset="-122"/>
              </a:rPr>
              <a:t>位全</a:t>
            </a:r>
            <a:r>
              <a:rPr lang="en-US" altLang="zh-CN" sz="1800" kern="0" dirty="0">
                <a:solidFill>
                  <a:srgbClr val="FF0000"/>
                </a:solidFill>
                <a:latin typeface="微软雅黑" panose="020B0503020204020204" pitchFamily="34" charset="-122"/>
                <a:ea typeface="微软雅黑" panose="020B0503020204020204" pitchFamily="34" charset="-122"/>
              </a:rPr>
              <a:t>0</a:t>
            </a:r>
            <a:r>
              <a:rPr lang="zh-CN" altLang="en-US" sz="1800" kern="0" dirty="0">
                <a:latin typeface="微软雅黑" panose="020B0503020204020204" pitchFamily="34" charset="-122"/>
                <a:ea typeface="微软雅黑" panose="020B0503020204020204" pitchFamily="34" charset="-122"/>
              </a:rPr>
              <a:t>，则</a:t>
            </a:r>
            <a:r>
              <a:rPr lang="en-US" altLang="zh-CN" sz="1800" kern="0" dirty="0">
                <a:latin typeface="微软雅黑" panose="020B0503020204020204" pitchFamily="34" charset="-122"/>
                <a:ea typeface="微软雅黑" panose="020B0503020204020204" pitchFamily="34" charset="-122"/>
              </a:rPr>
              <a:t>OF</a:t>
            </a:r>
            <a:r>
              <a:rPr lang="zh-CN" altLang="en-US" sz="1800" kern="0" dirty="0">
                <a:latin typeface="微软雅黑" panose="020B0503020204020204" pitchFamily="34" charset="-122"/>
                <a:ea typeface="微软雅黑" panose="020B0503020204020204" pitchFamily="34" charset="-122"/>
              </a:rPr>
              <a:t>和</a:t>
            </a:r>
            <a:r>
              <a:rPr lang="en-US" altLang="zh-CN" sz="1800" kern="0" dirty="0">
                <a:latin typeface="微软雅黑" panose="020B0503020204020204" pitchFamily="34" charset="-122"/>
                <a:ea typeface="微软雅黑" panose="020B0503020204020204" pitchFamily="34" charset="-122"/>
              </a:rPr>
              <a:t>CF</a:t>
            </a:r>
            <a:r>
              <a:rPr lang="zh-CN" altLang="en-US" sz="1800" kern="0" dirty="0">
                <a:latin typeface="微软雅黑" panose="020B0503020204020204" pitchFamily="34" charset="-122"/>
                <a:ea typeface="微软雅黑" panose="020B0503020204020204" pitchFamily="34" charset="-122"/>
              </a:rPr>
              <a:t>皆为</a:t>
            </a:r>
            <a:r>
              <a:rPr lang="en-US" altLang="zh-CN" sz="1800" kern="0" dirty="0">
                <a:latin typeface="微软雅黑" panose="020B0503020204020204" pitchFamily="34" charset="-122"/>
                <a:ea typeface="微软雅黑" panose="020B0503020204020204" pitchFamily="34" charset="-122"/>
              </a:rPr>
              <a:t>0</a:t>
            </a:r>
            <a:r>
              <a:rPr lang="zh-CN" altLang="en-US" sz="1800" kern="0" dirty="0">
                <a:latin typeface="微软雅黑" panose="020B0503020204020204" pitchFamily="34" charset="-122"/>
                <a:ea typeface="微软雅黑" panose="020B0503020204020204" pitchFamily="34" charset="-122"/>
              </a:rPr>
              <a:t>，否则皆为</a:t>
            </a:r>
            <a:r>
              <a:rPr lang="en-US" altLang="zh-CN" sz="1800" kern="0" dirty="0">
                <a:latin typeface="微软雅黑" panose="020B0503020204020204" pitchFamily="34" charset="-122"/>
                <a:ea typeface="微软雅黑" panose="020B0503020204020204" pitchFamily="34" charset="-122"/>
              </a:rPr>
              <a:t>1</a:t>
            </a:r>
          </a:p>
          <a:p>
            <a:pPr lvl="1">
              <a:spcBef>
                <a:spcPct val="30000"/>
              </a:spcBef>
              <a:defRPr/>
            </a:pPr>
            <a:r>
              <a:rPr lang="zh-CN" altLang="en-US" sz="1800" kern="0" dirty="0">
                <a:latin typeface="微软雅黑" panose="020B0503020204020204" pitchFamily="34" charset="-122"/>
                <a:ea typeface="微软雅黑" panose="020B0503020204020204" pitchFamily="34" charset="-122"/>
              </a:rPr>
              <a:t>对于</a:t>
            </a:r>
            <a:r>
              <a:rPr lang="en-US" altLang="zh-CN" sz="1800" kern="0" dirty="0" err="1">
                <a:latin typeface="微软雅黑" panose="020B0503020204020204" pitchFamily="34" charset="-122"/>
                <a:ea typeface="微软雅黑" panose="020B0503020204020204" pitchFamily="34" charset="-122"/>
              </a:rPr>
              <a:t>imul</a:t>
            </a:r>
            <a:r>
              <a:rPr lang="zh-CN" altLang="en-US" sz="1800" kern="0" dirty="0">
                <a:latin typeface="微软雅黑" panose="020B0503020204020204" pitchFamily="34" charset="-122"/>
                <a:ea typeface="微软雅黑" panose="020B0503020204020204" pitchFamily="34" charset="-122"/>
              </a:rPr>
              <a:t>指令，若</a:t>
            </a:r>
            <a:r>
              <a:rPr lang="zh-CN" altLang="en-US" sz="1800" kern="0" dirty="0">
                <a:solidFill>
                  <a:srgbClr val="FF0000"/>
                </a:solidFill>
                <a:latin typeface="微软雅黑" panose="020B0503020204020204" pitchFamily="34" charset="-122"/>
                <a:ea typeface="微软雅黑" panose="020B0503020204020204" pitchFamily="34" charset="-122"/>
              </a:rPr>
              <a:t>乘积高</a:t>
            </a:r>
            <a:r>
              <a:rPr lang="en-US" altLang="zh-CN" sz="1800" kern="0" dirty="0">
                <a:solidFill>
                  <a:srgbClr val="FF0000"/>
                </a:solidFill>
                <a:latin typeface="微软雅黑" panose="020B0503020204020204" pitchFamily="34" charset="-122"/>
                <a:ea typeface="微软雅黑" panose="020B0503020204020204" pitchFamily="34" charset="-122"/>
              </a:rPr>
              <a:t>n+1</a:t>
            </a:r>
            <a:r>
              <a:rPr lang="zh-CN" altLang="en-US" sz="1800" kern="0" dirty="0">
                <a:solidFill>
                  <a:srgbClr val="FF0000"/>
                </a:solidFill>
                <a:latin typeface="微软雅黑" panose="020B0503020204020204" pitchFamily="34" charset="-122"/>
                <a:ea typeface="微软雅黑" panose="020B0503020204020204" pitchFamily="34" charset="-122"/>
              </a:rPr>
              <a:t>位全</a:t>
            </a:r>
            <a:r>
              <a:rPr lang="en-US" altLang="zh-CN" sz="1800" kern="0" dirty="0">
                <a:solidFill>
                  <a:srgbClr val="FF0000"/>
                </a:solidFill>
                <a:latin typeface="微软雅黑" panose="020B0503020204020204" pitchFamily="34" charset="-122"/>
                <a:ea typeface="微软雅黑" panose="020B0503020204020204" pitchFamily="34" charset="-122"/>
              </a:rPr>
              <a:t>0</a:t>
            </a:r>
            <a:r>
              <a:rPr lang="zh-CN" altLang="en-US" sz="1800" kern="0" dirty="0">
                <a:solidFill>
                  <a:srgbClr val="FF0000"/>
                </a:solidFill>
                <a:latin typeface="微软雅黑" panose="020B0503020204020204" pitchFamily="34" charset="-122"/>
                <a:ea typeface="微软雅黑" panose="020B0503020204020204" pitchFamily="34" charset="-122"/>
              </a:rPr>
              <a:t>或全</a:t>
            </a:r>
            <a:r>
              <a:rPr lang="en-US" altLang="zh-CN" sz="1800" kern="0" dirty="0">
                <a:solidFill>
                  <a:srgbClr val="FF0000"/>
                </a:solidFill>
                <a:latin typeface="微软雅黑" panose="020B0503020204020204" pitchFamily="34" charset="-122"/>
                <a:ea typeface="微软雅黑" panose="020B0503020204020204" pitchFamily="34" charset="-122"/>
              </a:rPr>
              <a:t>1</a:t>
            </a:r>
            <a:r>
              <a:rPr lang="zh-CN" altLang="en-US" sz="1800" kern="0" dirty="0">
                <a:latin typeface="微软雅黑" panose="020B0503020204020204" pitchFamily="34" charset="-122"/>
                <a:ea typeface="微软雅黑" panose="020B0503020204020204" pitchFamily="34" charset="-122"/>
              </a:rPr>
              <a:t>，则</a:t>
            </a:r>
            <a:r>
              <a:rPr lang="en-US" altLang="zh-CN" sz="1800" kern="0" dirty="0">
                <a:latin typeface="微软雅黑" panose="020B0503020204020204" pitchFamily="34" charset="-122"/>
                <a:ea typeface="微软雅黑" panose="020B0503020204020204" pitchFamily="34" charset="-122"/>
              </a:rPr>
              <a:t>OF</a:t>
            </a:r>
            <a:r>
              <a:rPr lang="zh-CN" altLang="en-US" sz="1800" kern="0" dirty="0">
                <a:latin typeface="微软雅黑" panose="020B0503020204020204" pitchFamily="34" charset="-122"/>
                <a:ea typeface="微软雅黑" panose="020B0503020204020204" pitchFamily="34" charset="-122"/>
              </a:rPr>
              <a:t>和</a:t>
            </a:r>
            <a:r>
              <a:rPr lang="en-US" altLang="zh-CN" sz="1800" kern="0" dirty="0">
                <a:latin typeface="微软雅黑" panose="020B0503020204020204" pitchFamily="34" charset="-122"/>
                <a:ea typeface="微软雅黑" panose="020B0503020204020204" pitchFamily="34" charset="-122"/>
              </a:rPr>
              <a:t>CF</a:t>
            </a:r>
            <a:r>
              <a:rPr lang="zh-CN" altLang="en-US" sz="1800" kern="0" dirty="0">
                <a:latin typeface="微软雅黑" panose="020B0503020204020204" pitchFamily="34" charset="-122"/>
                <a:ea typeface="微软雅黑" panose="020B0503020204020204" pitchFamily="34" charset="-122"/>
              </a:rPr>
              <a:t>皆为</a:t>
            </a:r>
            <a:r>
              <a:rPr lang="en-US" altLang="zh-CN" sz="1800" kern="0" dirty="0">
                <a:latin typeface="微软雅黑" panose="020B0503020204020204" pitchFamily="34" charset="-122"/>
                <a:ea typeface="微软雅黑" panose="020B0503020204020204" pitchFamily="34" charset="-122"/>
              </a:rPr>
              <a:t>0</a:t>
            </a:r>
            <a:r>
              <a:rPr lang="zh-CN" altLang="en-US" sz="1800" kern="0" dirty="0">
                <a:latin typeface="微软雅黑" panose="020B0503020204020204" pitchFamily="34" charset="-122"/>
                <a:ea typeface="微软雅黑" panose="020B0503020204020204" pitchFamily="34" charset="-122"/>
              </a:rPr>
              <a:t>，否则皆为</a:t>
            </a:r>
            <a:r>
              <a:rPr lang="en-US" altLang="zh-CN" sz="1800" kern="0" dirty="0">
                <a:latin typeface="微软雅黑" panose="020B0503020204020204" pitchFamily="34" charset="-122"/>
                <a:ea typeface="微软雅黑" panose="020B0503020204020204" pitchFamily="34" charset="-122"/>
              </a:rPr>
              <a:t>1</a:t>
            </a:r>
            <a:endParaRPr lang="zh-CN" altLang="en-US" sz="1800" kern="0" dirty="0">
              <a:latin typeface="微软雅黑" panose="020B0503020204020204" pitchFamily="34" charset="-122"/>
              <a:ea typeface="微软雅黑" panose="020B0503020204020204" pitchFamily="34" charset="-122"/>
            </a:endParaRPr>
          </a:p>
          <a:p>
            <a:pPr marL="342900" marR="0" lvl="0" indent="-342900" algn="l" defTabSz="914400" rtl="0" eaLnBrk="0" fontAlgn="base" latinLnBrk="0" hangingPunct="0">
              <a:lnSpc>
                <a:spcPct val="115000"/>
              </a:lnSpc>
              <a:spcBef>
                <a:spcPct val="30000"/>
              </a:spcBef>
              <a:buClrTx/>
              <a:buSzTx/>
              <a:buFontTx/>
              <a:buChar char="•"/>
              <a:tabLst/>
              <a:defRPr/>
            </a:pPr>
            <a:r>
              <a:rPr kumimoji="0" lang="zh-CN" altLang="en-US" sz="2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除法指令：只明显指出除数</a:t>
            </a:r>
          </a:p>
          <a:p>
            <a:pPr marL="742950" marR="0" lvl="1" indent="-285750" algn="l" defTabSz="914400" rtl="0" eaLnBrk="0" fontAlgn="base" latinLnBrk="0" hangingPunct="0">
              <a:lnSpc>
                <a:spcPct val="115000"/>
              </a:lnSpc>
              <a:spcBef>
                <a:spcPct val="30000"/>
              </a:spcBef>
              <a:buClrTx/>
              <a:buSzTx/>
              <a:buFontTx/>
              <a:buChar char="–"/>
              <a:tabLst/>
              <a:defRPr/>
            </a:pP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若为</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8</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位，则</a:t>
            </a:r>
            <a:r>
              <a:rPr kumimoji="0" lang="en-US" altLang="zh-CN"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16</a:t>
            </a:r>
            <a:r>
              <a:rPr kumimoji="0" lang="zh-CN" altLang="en-US"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位被除数</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在</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AX</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寄存器中，商送回</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AL</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，余数在</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AH</a:t>
            </a:r>
            <a:endPar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endParaRPr>
          </a:p>
          <a:p>
            <a:pPr marL="742950" marR="0" lvl="1" indent="-285750" algn="l" defTabSz="914400" rtl="0" eaLnBrk="0" fontAlgn="base" latinLnBrk="0" hangingPunct="0">
              <a:lnSpc>
                <a:spcPct val="115000"/>
              </a:lnSpc>
              <a:spcBef>
                <a:spcPct val="30000"/>
              </a:spcBef>
              <a:buClrTx/>
              <a:buSzTx/>
              <a:buFontTx/>
              <a:buChar char="–"/>
              <a:tabLst/>
              <a:defRPr/>
            </a:pP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若为</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16</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位，则</a:t>
            </a:r>
            <a:r>
              <a:rPr kumimoji="0" lang="en-US" altLang="zh-CN"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32</a:t>
            </a:r>
            <a:r>
              <a:rPr kumimoji="0" lang="zh-CN" altLang="en-US"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位被除数</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在</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DX-AX</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寄存器中，商送回</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AX</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，余数在</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DX</a:t>
            </a:r>
            <a:endPar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endParaRPr>
          </a:p>
          <a:p>
            <a:pPr marL="742950" marR="0" lvl="1" indent="-285750" algn="l" defTabSz="914400" rtl="0" eaLnBrk="0" fontAlgn="base" latinLnBrk="0" hangingPunct="0">
              <a:lnSpc>
                <a:spcPct val="115000"/>
              </a:lnSpc>
              <a:spcBef>
                <a:spcPct val="30000"/>
              </a:spcBef>
              <a:spcAft>
                <a:spcPct val="0"/>
              </a:spcAft>
              <a:buClrTx/>
              <a:buSzTx/>
              <a:buFontTx/>
              <a:buChar char="–"/>
              <a:tabLst/>
              <a:defRPr/>
            </a:pP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若为</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32</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位，则</a:t>
            </a:r>
            <a:r>
              <a:rPr kumimoji="0" lang="zh-CN" altLang="en-US" sz="1800"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被除数</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在</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EDX-EAX</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寄存器中，商送</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EAX</a:t>
            </a:r>
            <a:r>
              <a:rPr kumimoji="0" lang="zh-CN" altLang="en-US"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，余数在</a:t>
            </a:r>
            <a:r>
              <a:rPr kumimoji="0" lang="en-US" altLang="zh-CN" sz="1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rPr>
              <a:t>EDX</a:t>
            </a:r>
            <a:r>
              <a:rPr kumimoji="0" lang="zh-CN" altLang="en-US" sz="1800" b="1" i="0" u="none" strike="noStrike" kern="0" cap="none" spc="0" normalizeH="0" baseline="0" noProof="0" dirty="0">
                <a:ln>
                  <a:noFill/>
                </a:ln>
                <a:solidFill>
                  <a:srgbClr val="0000CC"/>
                </a:solidFill>
                <a:effectLst/>
                <a:uLnTx/>
                <a:uFillTx/>
                <a:latin typeface="Arial"/>
                <a:ea typeface="宋体"/>
              </a:rPr>
              <a:t> </a:t>
            </a:r>
          </a:p>
        </p:txBody>
      </p:sp>
    </p:spTree>
    <p:extLst>
      <p:ext uri="{BB962C8B-B14F-4D97-AF65-F5344CB8AC3E}">
        <p14:creationId xmlns:p14="http://schemas.microsoft.com/office/powerpoint/2010/main" val="427305395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blinds(horizontal)">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blinds(horizontal)">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blinds(horizontal)">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blinds(horizontal)">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blinds(horizontal)">
                                      <p:cBhvr>
                                        <p:cTn id="32" dur="500"/>
                                        <p:tgtEl>
                                          <p:spTgt spid="5">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
                                            <p:txEl>
                                              <p:pRg st="8" end="8"/>
                                            </p:txEl>
                                          </p:spTgt>
                                        </p:tgtEl>
                                        <p:attrNameLst>
                                          <p:attrName>style.visibility</p:attrName>
                                        </p:attrNameLst>
                                      </p:cBhvr>
                                      <p:to>
                                        <p:strVal val="visible"/>
                                      </p:to>
                                    </p:set>
                                    <p:animEffect transition="in" filter="blinds(horizontal)">
                                      <p:cBhvr>
                                        <p:cTn id="37" dur="500"/>
                                        <p:tgtEl>
                                          <p:spTgt spid="5">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
                                            <p:txEl>
                                              <p:pRg st="9" end="9"/>
                                            </p:txEl>
                                          </p:spTgt>
                                        </p:tgtEl>
                                        <p:attrNameLst>
                                          <p:attrName>style.visibility</p:attrName>
                                        </p:attrNameLst>
                                      </p:cBhvr>
                                      <p:to>
                                        <p:strVal val="visible"/>
                                      </p:to>
                                    </p:set>
                                    <p:animEffect transition="in" filter="blinds(horizontal)">
                                      <p:cBhvr>
                                        <p:cTn id="42"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normAutofit fontScale="90000"/>
          </a:bodyPr>
          <a:lstStyle/>
          <a:p>
            <a:pPr>
              <a:lnSpc>
                <a:spcPct val="150000"/>
              </a:lnSpc>
            </a:pPr>
            <a:r>
              <a:rPr lang="zh-CN" altLang="en-US" dirty="0">
                <a:solidFill>
                  <a:schemeClr val="accent6">
                    <a:lumMod val="50000"/>
                  </a:schemeClr>
                </a:solidFill>
              </a:rPr>
              <a:t>第三章 程序的转换与机器级表示</a:t>
            </a:r>
            <a:br>
              <a:rPr lang="en-US" altLang="zh-CN" dirty="0">
                <a:solidFill>
                  <a:schemeClr val="accent6">
                    <a:lumMod val="50000"/>
                  </a:schemeClr>
                </a:solidFill>
              </a:rPr>
            </a:br>
            <a:r>
              <a:rPr lang="zh-CN" altLang="en-US" dirty="0">
                <a:solidFill>
                  <a:schemeClr val="accent6">
                    <a:lumMod val="50000"/>
                  </a:schemeClr>
                </a:solidFill>
              </a:rPr>
              <a:t>第</a:t>
            </a:r>
            <a:r>
              <a:rPr lang="en-US" altLang="zh-CN" dirty="0">
                <a:solidFill>
                  <a:schemeClr val="accent6">
                    <a:lumMod val="50000"/>
                  </a:schemeClr>
                </a:solidFill>
              </a:rPr>
              <a:t>3</a:t>
            </a:r>
            <a:r>
              <a:rPr lang="zh-CN" altLang="en-US" dirty="0">
                <a:solidFill>
                  <a:schemeClr val="accent6">
                    <a:lumMod val="50000"/>
                  </a:schemeClr>
                </a:solidFill>
              </a:rPr>
              <a:t>课 </a:t>
            </a:r>
            <a:r>
              <a:rPr lang="en-US" altLang="zh-CN" dirty="0">
                <a:solidFill>
                  <a:schemeClr val="accent6">
                    <a:lumMod val="50000"/>
                  </a:schemeClr>
                </a:solidFill>
              </a:rPr>
              <a:t>IA-32</a:t>
            </a:r>
            <a:r>
              <a:rPr lang="zh-CN" altLang="en-US" dirty="0">
                <a:solidFill>
                  <a:schemeClr val="accent6">
                    <a:lumMod val="50000"/>
                  </a:schemeClr>
                </a:solidFill>
              </a:rPr>
              <a:t>常用指令类型及其操作（下）</a:t>
            </a:r>
          </a:p>
        </p:txBody>
      </p:sp>
    </p:spTree>
    <p:extLst>
      <p:ext uri="{BB962C8B-B14F-4D97-AF65-F5344CB8AC3E}">
        <p14:creationId xmlns:p14="http://schemas.microsoft.com/office/powerpoint/2010/main" val="2683559290"/>
      </p:ext>
    </p:extLst>
  </p:cSld>
  <p:clrMapOvr>
    <a:masterClrMapping/>
  </p:clrMapOvr>
  <mc:AlternateContent xmlns:mc="http://schemas.openxmlformats.org/markup-compatibility/2006" xmlns:p14="http://schemas.microsoft.com/office/powerpoint/2010/main">
    <mc:Choice Requires="p14">
      <p:transition spd="slow" p14:dur="999" advTm="1245"/>
    </mc:Choice>
    <mc:Fallback xmlns="">
      <p:transition spd="slow" advTm="124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chemeClr val="accent6">
                    <a:lumMod val="50000"/>
                  </a:schemeClr>
                </a:solidFill>
              </a:rPr>
              <a:t>提纲</a:t>
            </a:r>
          </a:p>
        </p:txBody>
      </p:sp>
      <p:sp>
        <p:nvSpPr>
          <p:cNvPr id="3" name="内容占位符 2"/>
          <p:cNvSpPr>
            <a:spLocks noGrp="1"/>
          </p:cNvSpPr>
          <p:nvPr>
            <p:ph idx="1"/>
          </p:nvPr>
        </p:nvSpPr>
        <p:spPr/>
        <p:txBody>
          <a:bodyPr>
            <a:normAutofit/>
          </a:bodyPr>
          <a:lstStyle/>
          <a:p>
            <a:pPr indent="-540000">
              <a:lnSpc>
                <a:spcPct val="150000"/>
              </a:lnSpc>
              <a:buFont typeface="Wingdings" panose="05000000000000000000" pitchFamily="2" charset="2"/>
              <a:buChar char="Ø"/>
            </a:pPr>
            <a:r>
              <a:rPr lang="zh-CN" altLang="en-US" dirty="0"/>
              <a:t>传送指令</a:t>
            </a:r>
            <a:endParaRPr lang="en-US" altLang="zh-CN" dirty="0"/>
          </a:p>
          <a:p>
            <a:pPr indent="-540000">
              <a:lnSpc>
                <a:spcPct val="150000"/>
              </a:lnSpc>
              <a:buFont typeface="Wingdings" panose="05000000000000000000" pitchFamily="2" charset="2"/>
              <a:buChar char="Ø"/>
            </a:pPr>
            <a:r>
              <a:rPr lang="zh-CN" altLang="en-US" dirty="0"/>
              <a:t>定点算术运算指令</a:t>
            </a:r>
            <a:endParaRPr lang="en-US" altLang="zh-CN" dirty="0"/>
          </a:p>
          <a:p>
            <a:pPr indent="-540000">
              <a:lnSpc>
                <a:spcPct val="150000"/>
              </a:lnSpc>
              <a:buFont typeface="Wingdings" panose="05000000000000000000" pitchFamily="2" charset="2"/>
              <a:buChar char="Ø"/>
            </a:pPr>
            <a:r>
              <a:rPr lang="zh-CN" altLang="en-US" dirty="0">
                <a:solidFill>
                  <a:srgbClr val="FF0000"/>
                </a:solidFill>
              </a:rPr>
              <a:t>按位运算指令</a:t>
            </a:r>
            <a:endParaRPr lang="en-US" altLang="zh-CN" dirty="0">
              <a:solidFill>
                <a:srgbClr val="FF0000"/>
              </a:solidFill>
            </a:endParaRPr>
          </a:p>
          <a:p>
            <a:pPr indent="-540000">
              <a:lnSpc>
                <a:spcPct val="150000"/>
              </a:lnSpc>
              <a:buFont typeface="Wingdings" panose="05000000000000000000" pitchFamily="2" charset="2"/>
              <a:buChar char="Ø"/>
            </a:pPr>
            <a:r>
              <a:rPr lang="zh-CN" altLang="en-US" dirty="0"/>
              <a:t>控制转移指令</a:t>
            </a:r>
            <a:endParaRPr lang="en-US" altLang="zh-CN" dirty="0"/>
          </a:p>
          <a:p>
            <a:pPr indent="-540000">
              <a:lnSpc>
                <a:spcPct val="150000"/>
              </a:lnSpc>
              <a:buFont typeface="Wingdings" panose="05000000000000000000" pitchFamily="2" charset="2"/>
              <a:buChar char="Ø"/>
            </a:pPr>
            <a:r>
              <a:rPr lang="en-US" altLang="zh-CN" dirty="0"/>
              <a:t>x87</a:t>
            </a:r>
            <a:r>
              <a:rPr lang="zh-CN" altLang="en-US" dirty="0"/>
              <a:t>浮点处理指令和</a:t>
            </a:r>
            <a:r>
              <a:rPr lang="en-US" altLang="zh-CN" dirty="0"/>
              <a:t>MMX/SSE</a:t>
            </a:r>
            <a:r>
              <a:rPr lang="zh-CN" altLang="en-US" dirty="0"/>
              <a:t>指令集</a:t>
            </a:r>
            <a:endParaRPr lang="en-US" altLang="zh-CN" dirty="0"/>
          </a:p>
        </p:txBody>
      </p:sp>
    </p:spTree>
    <p:extLst>
      <p:ext uri="{BB962C8B-B14F-4D97-AF65-F5344CB8AC3E}">
        <p14:creationId xmlns:p14="http://schemas.microsoft.com/office/powerpoint/2010/main" val="4259669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8229600" cy="1143000"/>
          </a:xfrm>
        </p:spPr>
        <p:txBody>
          <a:bodyPr>
            <a:normAutofit/>
          </a:bodyPr>
          <a:lstStyle/>
          <a:p>
            <a:r>
              <a:rPr lang="zh-CN" altLang="en-US" sz="4000" dirty="0">
                <a:solidFill>
                  <a:srgbClr val="C00000"/>
                </a:solidFill>
              </a:rPr>
              <a:t>按位运算指令</a:t>
            </a:r>
          </a:p>
        </p:txBody>
      </p:sp>
      <p:sp>
        <p:nvSpPr>
          <p:cNvPr id="3" name="内容占位符 2"/>
          <p:cNvSpPr>
            <a:spLocks noGrp="1"/>
          </p:cNvSpPr>
          <p:nvPr>
            <p:ph idx="1"/>
          </p:nvPr>
        </p:nvSpPr>
        <p:spPr>
          <a:xfrm>
            <a:off x="457200" y="1143000"/>
            <a:ext cx="8229600" cy="5166320"/>
          </a:xfrm>
        </p:spPr>
        <p:txBody>
          <a:bodyPr>
            <a:normAutofit/>
          </a:bodyPr>
          <a:lstStyle/>
          <a:p>
            <a:pPr lvl="1" eaLnBrk="0" fontAlgn="base" hangingPunct="0">
              <a:lnSpc>
                <a:spcPct val="110000"/>
              </a:lnSpc>
              <a:spcAft>
                <a:spcPct val="0"/>
              </a:spcAft>
              <a:buFontTx/>
              <a:buChar char="–"/>
            </a:pPr>
            <a:r>
              <a:rPr lang="zh-CN" altLang="en-US" sz="2000" b="1" kern="0" dirty="0">
                <a:solidFill>
                  <a:srgbClr val="0000CC"/>
                </a:solidFill>
                <a:latin typeface="微软雅黑" panose="020B0503020204020204" pitchFamily="34" charset="-122"/>
                <a:ea typeface="微软雅黑" panose="020B0503020204020204" pitchFamily="34" charset="-122"/>
              </a:rPr>
              <a:t>逻辑运算（仅</a:t>
            </a:r>
            <a:r>
              <a:rPr lang="en-US" altLang="zh-CN" sz="2000" b="1" kern="0" dirty="0">
                <a:solidFill>
                  <a:srgbClr val="0000CC"/>
                </a:solidFill>
                <a:latin typeface="微软雅黑" panose="020B0503020204020204" pitchFamily="34" charset="-122"/>
                <a:ea typeface="微软雅黑" panose="020B0503020204020204" pitchFamily="34" charset="-122"/>
              </a:rPr>
              <a:t>NOT</a:t>
            </a:r>
            <a:r>
              <a:rPr lang="zh-CN" altLang="en-US" sz="2000" b="1" kern="0" dirty="0">
                <a:solidFill>
                  <a:srgbClr val="0000CC"/>
                </a:solidFill>
                <a:latin typeface="微软雅黑" panose="020B0503020204020204" pitchFamily="34" charset="-122"/>
                <a:ea typeface="微软雅黑" panose="020B0503020204020204" pitchFamily="34" charset="-122"/>
              </a:rPr>
              <a:t>不影响标志，其他指令</a:t>
            </a:r>
            <a:r>
              <a:rPr lang="en-US" altLang="zh-CN" sz="2000" b="1" kern="0" dirty="0">
                <a:solidFill>
                  <a:srgbClr val="0000CC"/>
                </a:solidFill>
                <a:latin typeface="微软雅黑" panose="020B0503020204020204" pitchFamily="34" charset="-122"/>
                <a:ea typeface="微软雅黑" panose="020B0503020204020204" pitchFamily="34" charset="-122"/>
              </a:rPr>
              <a:t>OF=CF=0</a:t>
            </a:r>
            <a:r>
              <a:rPr lang="zh-CN" altLang="en-US" sz="2000" b="1" kern="0" dirty="0">
                <a:solidFill>
                  <a:srgbClr val="0000CC"/>
                </a:solidFill>
                <a:latin typeface="微软雅黑" panose="020B0503020204020204" pitchFamily="34" charset="-122"/>
                <a:ea typeface="微软雅黑" panose="020B0503020204020204" pitchFamily="34" charset="-122"/>
              </a:rPr>
              <a:t>，而</a:t>
            </a:r>
            <a:r>
              <a:rPr lang="en-US" altLang="zh-CN" sz="2000" b="1" kern="0" dirty="0">
                <a:solidFill>
                  <a:srgbClr val="0000CC"/>
                </a:solidFill>
                <a:latin typeface="微软雅黑" panose="020B0503020204020204" pitchFamily="34" charset="-122"/>
                <a:ea typeface="微软雅黑" panose="020B0503020204020204" pitchFamily="34" charset="-122"/>
              </a:rPr>
              <a:t>ZF</a:t>
            </a:r>
            <a:r>
              <a:rPr lang="zh-CN" altLang="en-US" sz="2000" b="1" kern="0" dirty="0">
                <a:solidFill>
                  <a:srgbClr val="0000CC"/>
                </a:solidFill>
                <a:latin typeface="微软雅黑" panose="020B0503020204020204" pitchFamily="34" charset="-122"/>
                <a:ea typeface="微软雅黑" panose="020B0503020204020204" pitchFamily="34" charset="-122"/>
              </a:rPr>
              <a:t>和</a:t>
            </a:r>
            <a:r>
              <a:rPr lang="en-US" altLang="zh-CN" sz="2000" b="1" kern="0" dirty="0">
                <a:solidFill>
                  <a:srgbClr val="0000CC"/>
                </a:solidFill>
                <a:latin typeface="微软雅黑" panose="020B0503020204020204" pitchFamily="34" charset="-122"/>
                <a:ea typeface="微软雅黑" panose="020B0503020204020204" pitchFamily="34" charset="-122"/>
              </a:rPr>
              <a:t>SF</a:t>
            </a:r>
            <a:r>
              <a:rPr lang="zh-CN" altLang="en-US" sz="2000" b="1" kern="0" dirty="0">
                <a:solidFill>
                  <a:srgbClr val="0000CC"/>
                </a:solidFill>
                <a:latin typeface="微软雅黑" panose="020B0503020204020204" pitchFamily="34" charset="-122"/>
                <a:ea typeface="微软雅黑" panose="020B0503020204020204" pitchFamily="34" charset="-122"/>
              </a:rPr>
              <a:t>根据结果设置：若全</a:t>
            </a:r>
            <a:r>
              <a:rPr lang="en-US" altLang="zh-CN" sz="2000" b="1" kern="0" dirty="0">
                <a:solidFill>
                  <a:srgbClr val="0000CC"/>
                </a:solidFill>
                <a:latin typeface="微软雅黑" panose="020B0503020204020204" pitchFamily="34" charset="-122"/>
                <a:ea typeface="微软雅黑" panose="020B0503020204020204" pitchFamily="34" charset="-122"/>
              </a:rPr>
              <a:t>0</a:t>
            </a:r>
            <a:r>
              <a:rPr lang="zh-CN" altLang="en-US" sz="2000" b="1" kern="0" dirty="0">
                <a:solidFill>
                  <a:srgbClr val="0000CC"/>
                </a:solidFill>
                <a:latin typeface="微软雅黑" panose="020B0503020204020204" pitchFamily="34" charset="-122"/>
                <a:ea typeface="微软雅黑" panose="020B0503020204020204" pitchFamily="34" charset="-122"/>
              </a:rPr>
              <a:t>，则</a:t>
            </a:r>
            <a:r>
              <a:rPr lang="en-US" altLang="zh-CN" sz="2000" b="1" kern="0" dirty="0">
                <a:solidFill>
                  <a:srgbClr val="0000CC"/>
                </a:solidFill>
                <a:latin typeface="微软雅黑" panose="020B0503020204020204" pitchFamily="34" charset="-122"/>
                <a:ea typeface="微软雅黑" panose="020B0503020204020204" pitchFamily="34" charset="-122"/>
              </a:rPr>
              <a:t>ZF=1</a:t>
            </a:r>
            <a:r>
              <a:rPr lang="zh-CN" altLang="en-US" sz="2000" b="1" kern="0" dirty="0">
                <a:solidFill>
                  <a:srgbClr val="0000CC"/>
                </a:solidFill>
                <a:latin typeface="微软雅黑" panose="020B0503020204020204" pitchFamily="34" charset="-122"/>
                <a:ea typeface="微软雅黑" panose="020B0503020204020204" pitchFamily="34" charset="-122"/>
              </a:rPr>
              <a:t>；若最高位为</a:t>
            </a:r>
            <a:r>
              <a:rPr lang="en-US" altLang="zh-CN" sz="2000" b="1" kern="0" dirty="0">
                <a:solidFill>
                  <a:srgbClr val="0000CC"/>
                </a:solidFill>
                <a:latin typeface="微软雅黑" panose="020B0503020204020204" pitchFamily="34" charset="-122"/>
                <a:ea typeface="微软雅黑" panose="020B0503020204020204" pitchFamily="34" charset="-122"/>
              </a:rPr>
              <a:t>1</a:t>
            </a:r>
            <a:r>
              <a:rPr lang="zh-CN" altLang="en-US" sz="2000" b="1" kern="0" dirty="0">
                <a:solidFill>
                  <a:srgbClr val="0000CC"/>
                </a:solidFill>
                <a:latin typeface="微软雅黑" panose="020B0503020204020204" pitchFamily="34" charset="-122"/>
                <a:ea typeface="微软雅黑" panose="020B0503020204020204" pitchFamily="34" charset="-122"/>
              </a:rPr>
              <a:t>，则</a:t>
            </a:r>
            <a:r>
              <a:rPr lang="en-US" altLang="zh-CN" sz="2000" b="1" kern="0" dirty="0">
                <a:solidFill>
                  <a:srgbClr val="0000CC"/>
                </a:solidFill>
                <a:latin typeface="微软雅黑" panose="020B0503020204020204" pitchFamily="34" charset="-122"/>
                <a:ea typeface="微软雅黑" panose="020B0503020204020204" pitchFamily="34" charset="-122"/>
              </a:rPr>
              <a:t>SF=1 </a:t>
            </a:r>
            <a:r>
              <a:rPr lang="zh-CN" altLang="en-US" sz="2000" b="1" kern="0" dirty="0">
                <a:solidFill>
                  <a:srgbClr val="0000CC"/>
                </a:solidFill>
                <a:latin typeface="微软雅黑" panose="020B0503020204020204" pitchFamily="34" charset="-122"/>
                <a:ea typeface="微软雅黑" panose="020B0503020204020204" pitchFamily="34" charset="-122"/>
              </a:rPr>
              <a:t>）</a:t>
            </a:r>
          </a:p>
          <a:p>
            <a:pPr lvl="2" eaLnBrk="0" fontAlgn="base" hangingPunct="0">
              <a:lnSpc>
                <a:spcPct val="110000"/>
              </a:lnSpc>
              <a:spcAft>
                <a:spcPct val="0"/>
              </a:spcAft>
              <a:buNone/>
            </a:pPr>
            <a:r>
              <a:rPr lang="en-US" altLang="zh-CN" sz="2000" b="1" kern="0" dirty="0">
                <a:solidFill>
                  <a:srgbClr val="006600"/>
                </a:solidFill>
                <a:latin typeface="微软雅黑" panose="020B0503020204020204" pitchFamily="34" charset="-122"/>
                <a:ea typeface="微软雅黑" panose="020B0503020204020204" pitchFamily="34" charset="-122"/>
              </a:rPr>
              <a:t>NOT</a:t>
            </a:r>
            <a:r>
              <a:rPr lang="zh-CN" altLang="en-US" sz="2000" b="1" kern="0" dirty="0">
                <a:solidFill>
                  <a:srgbClr val="006600"/>
                </a:solidFill>
                <a:latin typeface="微软雅黑" panose="020B0503020204020204" pitchFamily="34" charset="-122"/>
                <a:ea typeface="微软雅黑" panose="020B0503020204020204" pitchFamily="34" charset="-122"/>
              </a:rPr>
              <a:t>：非，按位取反，包括 </a:t>
            </a:r>
            <a:r>
              <a:rPr lang="en-US" altLang="zh-CN" sz="2000" b="1" kern="0" dirty="0" err="1">
                <a:solidFill>
                  <a:srgbClr val="006600"/>
                </a:solidFill>
                <a:latin typeface="微软雅黑" panose="020B0503020204020204" pitchFamily="34" charset="-122"/>
                <a:ea typeface="微软雅黑" panose="020B0503020204020204" pitchFamily="34" charset="-122"/>
              </a:rPr>
              <a:t>notb</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err="1">
                <a:solidFill>
                  <a:srgbClr val="006600"/>
                </a:solidFill>
                <a:latin typeface="微软雅黑" panose="020B0503020204020204" pitchFamily="34" charset="-122"/>
                <a:ea typeface="微软雅黑" panose="020B0503020204020204" pitchFamily="34" charset="-122"/>
              </a:rPr>
              <a:t>notw</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err="1">
                <a:solidFill>
                  <a:srgbClr val="006600"/>
                </a:solidFill>
                <a:latin typeface="微软雅黑" panose="020B0503020204020204" pitchFamily="34" charset="-122"/>
                <a:ea typeface="微软雅黑" panose="020B0503020204020204" pitchFamily="34" charset="-122"/>
              </a:rPr>
              <a:t>notl</a:t>
            </a:r>
            <a:r>
              <a:rPr lang="zh-CN" altLang="en-US" sz="2000" b="1" kern="0" dirty="0">
                <a:solidFill>
                  <a:srgbClr val="006600"/>
                </a:solidFill>
                <a:latin typeface="微软雅黑" panose="020B0503020204020204" pitchFamily="34" charset="-122"/>
                <a:ea typeface="微软雅黑" panose="020B0503020204020204" pitchFamily="34" charset="-122"/>
              </a:rPr>
              <a:t>等</a:t>
            </a:r>
          </a:p>
          <a:p>
            <a:pPr lvl="2" eaLnBrk="0" fontAlgn="base" hangingPunct="0">
              <a:lnSpc>
                <a:spcPct val="110000"/>
              </a:lnSpc>
              <a:spcAft>
                <a:spcPct val="0"/>
              </a:spcAft>
              <a:buNone/>
            </a:pPr>
            <a:r>
              <a:rPr lang="en-US" altLang="zh-CN" sz="2000" b="1" kern="0" dirty="0">
                <a:solidFill>
                  <a:srgbClr val="006600"/>
                </a:solidFill>
                <a:latin typeface="微软雅黑" panose="020B0503020204020204" pitchFamily="34" charset="-122"/>
                <a:ea typeface="微软雅黑" panose="020B0503020204020204" pitchFamily="34" charset="-122"/>
              </a:rPr>
              <a:t>AND</a:t>
            </a:r>
            <a:r>
              <a:rPr lang="zh-CN" altLang="en-US" sz="2000" b="1" kern="0" dirty="0">
                <a:solidFill>
                  <a:srgbClr val="006600"/>
                </a:solidFill>
                <a:latin typeface="微软雅黑" panose="020B0503020204020204" pitchFamily="34" charset="-122"/>
                <a:ea typeface="微软雅黑" panose="020B0503020204020204" pitchFamily="34" charset="-122"/>
              </a:rPr>
              <a:t>：按位与，包括 </a:t>
            </a:r>
            <a:r>
              <a:rPr lang="en-US" altLang="zh-CN" sz="2000" b="1" kern="0" dirty="0" err="1">
                <a:solidFill>
                  <a:srgbClr val="006600"/>
                </a:solidFill>
                <a:latin typeface="微软雅黑" panose="020B0503020204020204" pitchFamily="34" charset="-122"/>
                <a:ea typeface="微软雅黑" panose="020B0503020204020204" pitchFamily="34" charset="-122"/>
              </a:rPr>
              <a:t>andb</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err="1">
                <a:solidFill>
                  <a:srgbClr val="006600"/>
                </a:solidFill>
                <a:latin typeface="微软雅黑" panose="020B0503020204020204" pitchFamily="34" charset="-122"/>
                <a:ea typeface="微软雅黑" panose="020B0503020204020204" pitchFamily="34" charset="-122"/>
              </a:rPr>
              <a:t>andw</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err="1">
                <a:solidFill>
                  <a:srgbClr val="006600"/>
                </a:solidFill>
                <a:latin typeface="微软雅黑" panose="020B0503020204020204" pitchFamily="34" charset="-122"/>
                <a:ea typeface="微软雅黑" panose="020B0503020204020204" pitchFamily="34" charset="-122"/>
              </a:rPr>
              <a:t>andl</a:t>
            </a:r>
            <a:r>
              <a:rPr lang="zh-CN" altLang="en-US" sz="2000" b="1" kern="0" dirty="0">
                <a:solidFill>
                  <a:srgbClr val="006600"/>
                </a:solidFill>
                <a:latin typeface="微软雅黑" panose="020B0503020204020204" pitchFamily="34" charset="-122"/>
                <a:ea typeface="微软雅黑" panose="020B0503020204020204" pitchFamily="34" charset="-122"/>
              </a:rPr>
              <a:t>等</a:t>
            </a:r>
          </a:p>
          <a:p>
            <a:pPr lvl="2" eaLnBrk="0" fontAlgn="base" hangingPunct="0">
              <a:lnSpc>
                <a:spcPct val="110000"/>
              </a:lnSpc>
              <a:spcAft>
                <a:spcPct val="0"/>
              </a:spcAft>
              <a:buNone/>
            </a:pPr>
            <a:r>
              <a:rPr lang="en-US" altLang="zh-CN" sz="2000" b="1" kern="0" dirty="0">
                <a:solidFill>
                  <a:srgbClr val="006600"/>
                </a:solidFill>
                <a:latin typeface="微软雅黑" panose="020B0503020204020204" pitchFamily="34" charset="-122"/>
                <a:ea typeface="微软雅黑" panose="020B0503020204020204" pitchFamily="34" charset="-122"/>
              </a:rPr>
              <a:t>OR</a:t>
            </a:r>
            <a:r>
              <a:rPr lang="zh-CN" altLang="en-US" sz="2000" b="1" kern="0" dirty="0">
                <a:solidFill>
                  <a:srgbClr val="006600"/>
                </a:solidFill>
                <a:latin typeface="微软雅黑" panose="020B0503020204020204" pitchFamily="34" charset="-122"/>
                <a:ea typeface="微软雅黑" panose="020B0503020204020204" pitchFamily="34" charset="-122"/>
              </a:rPr>
              <a:t>：按位或，包括 </a:t>
            </a:r>
            <a:r>
              <a:rPr lang="en-US" altLang="zh-CN" sz="2000" b="1" kern="0" dirty="0">
                <a:solidFill>
                  <a:srgbClr val="006600"/>
                </a:solidFill>
                <a:latin typeface="微软雅黑" panose="020B0503020204020204" pitchFamily="34" charset="-122"/>
                <a:ea typeface="微软雅黑" panose="020B0503020204020204" pitchFamily="34" charset="-122"/>
              </a:rPr>
              <a:t>orb</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err="1">
                <a:solidFill>
                  <a:srgbClr val="006600"/>
                </a:solidFill>
                <a:latin typeface="微软雅黑" panose="020B0503020204020204" pitchFamily="34" charset="-122"/>
                <a:ea typeface="微软雅黑" panose="020B0503020204020204" pitchFamily="34" charset="-122"/>
              </a:rPr>
              <a:t>orw</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err="1">
                <a:solidFill>
                  <a:srgbClr val="006600"/>
                </a:solidFill>
                <a:latin typeface="微软雅黑" panose="020B0503020204020204" pitchFamily="34" charset="-122"/>
                <a:ea typeface="微软雅黑" panose="020B0503020204020204" pitchFamily="34" charset="-122"/>
              </a:rPr>
              <a:t>orl</a:t>
            </a:r>
            <a:r>
              <a:rPr lang="zh-CN" altLang="en-US" sz="2000" b="1" kern="0" dirty="0">
                <a:solidFill>
                  <a:srgbClr val="006600"/>
                </a:solidFill>
                <a:latin typeface="微软雅黑" panose="020B0503020204020204" pitchFamily="34" charset="-122"/>
                <a:ea typeface="微软雅黑" panose="020B0503020204020204" pitchFamily="34" charset="-122"/>
              </a:rPr>
              <a:t>等</a:t>
            </a:r>
          </a:p>
          <a:p>
            <a:pPr lvl="2" eaLnBrk="0" fontAlgn="base" hangingPunct="0">
              <a:lnSpc>
                <a:spcPct val="110000"/>
              </a:lnSpc>
              <a:spcAft>
                <a:spcPct val="0"/>
              </a:spcAft>
              <a:buNone/>
            </a:pPr>
            <a:r>
              <a:rPr lang="en-US" altLang="zh-CN" sz="2000" b="1" kern="0" dirty="0">
                <a:solidFill>
                  <a:srgbClr val="006600"/>
                </a:solidFill>
                <a:latin typeface="微软雅黑" panose="020B0503020204020204" pitchFamily="34" charset="-122"/>
                <a:ea typeface="微软雅黑" panose="020B0503020204020204" pitchFamily="34" charset="-122"/>
              </a:rPr>
              <a:t>XOR</a:t>
            </a:r>
            <a:r>
              <a:rPr lang="zh-CN" altLang="en-US" sz="2000" b="1" kern="0" dirty="0">
                <a:solidFill>
                  <a:srgbClr val="006600"/>
                </a:solidFill>
                <a:latin typeface="微软雅黑" panose="020B0503020204020204" pitchFamily="34" charset="-122"/>
                <a:ea typeface="微软雅黑" panose="020B0503020204020204" pitchFamily="34" charset="-122"/>
              </a:rPr>
              <a:t>：按位异或，包括 </a:t>
            </a:r>
            <a:r>
              <a:rPr lang="en-US" altLang="zh-CN" sz="2000" b="1" kern="0" dirty="0" err="1">
                <a:solidFill>
                  <a:srgbClr val="006600"/>
                </a:solidFill>
                <a:latin typeface="微软雅黑" panose="020B0503020204020204" pitchFamily="34" charset="-122"/>
                <a:ea typeface="微软雅黑" panose="020B0503020204020204" pitchFamily="34" charset="-122"/>
              </a:rPr>
              <a:t>xorb</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err="1">
                <a:solidFill>
                  <a:srgbClr val="006600"/>
                </a:solidFill>
                <a:latin typeface="微软雅黑" panose="020B0503020204020204" pitchFamily="34" charset="-122"/>
                <a:ea typeface="微软雅黑" panose="020B0503020204020204" pitchFamily="34" charset="-122"/>
              </a:rPr>
              <a:t>xorw</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err="1">
                <a:solidFill>
                  <a:srgbClr val="006600"/>
                </a:solidFill>
                <a:latin typeface="微软雅黑" panose="020B0503020204020204" pitchFamily="34" charset="-122"/>
                <a:ea typeface="微软雅黑" panose="020B0503020204020204" pitchFamily="34" charset="-122"/>
              </a:rPr>
              <a:t>xorl</a:t>
            </a:r>
            <a:r>
              <a:rPr lang="zh-CN" altLang="en-US" sz="2000" b="1" kern="0" dirty="0">
                <a:solidFill>
                  <a:srgbClr val="006600"/>
                </a:solidFill>
                <a:latin typeface="微软雅黑" panose="020B0503020204020204" pitchFamily="34" charset="-122"/>
                <a:ea typeface="微软雅黑" panose="020B0503020204020204" pitchFamily="34" charset="-122"/>
              </a:rPr>
              <a:t>等</a:t>
            </a:r>
          </a:p>
          <a:p>
            <a:pPr lvl="2" eaLnBrk="0" fontAlgn="base" hangingPunct="0">
              <a:lnSpc>
                <a:spcPct val="110000"/>
              </a:lnSpc>
              <a:spcAft>
                <a:spcPct val="0"/>
              </a:spcAft>
              <a:buNone/>
            </a:pPr>
            <a:r>
              <a:rPr lang="en-US" altLang="zh-CN" sz="2000" b="1" kern="0" dirty="0">
                <a:solidFill>
                  <a:srgbClr val="006600"/>
                </a:solidFill>
                <a:latin typeface="微软雅黑" panose="020B0503020204020204" pitchFamily="34" charset="-122"/>
                <a:ea typeface="微软雅黑" panose="020B0503020204020204" pitchFamily="34" charset="-122"/>
              </a:rPr>
              <a:t>TEST</a:t>
            </a:r>
            <a:r>
              <a:rPr lang="zh-CN" altLang="en-US" sz="2000" b="1" kern="0" dirty="0">
                <a:solidFill>
                  <a:srgbClr val="006600"/>
                </a:solidFill>
                <a:latin typeface="微软雅黑" panose="020B0503020204020204" pitchFamily="34" charset="-122"/>
                <a:ea typeface="微软雅黑" panose="020B0503020204020204" pitchFamily="34" charset="-122"/>
              </a:rPr>
              <a:t>：做“与”操作测试，仅影响标志</a:t>
            </a:r>
          </a:p>
          <a:p>
            <a:pPr lvl="1" eaLnBrk="0" fontAlgn="base" hangingPunct="0">
              <a:lnSpc>
                <a:spcPct val="110000"/>
              </a:lnSpc>
              <a:spcAft>
                <a:spcPct val="0"/>
              </a:spcAft>
              <a:buFontTx/>
              <a:buChar char="–"/>
            </a:pPr>
            <a:r>
              <a:rPr lang="zh-CN" altLang="en-US" sz="2000" b="1" kern="0" dirty="0">
                <a:solidFill>
                  <a:srgbClr val="0000CC"/>
                </a:solidFill>
                <a:latin typeface="微软雅黑" panose="020B0503020204020204" pitchFamily="34" charset="-122"/>
                <a:ea typeface="微软雅黑" panose="020B0503020204020204" pitchFamily="34" charset="-122"/>
              </a:rPr>
              <a:t>移位运算（左</a:t>
            </a:r>
            <a:r>
              <a:rPr lang="en-US" altLang="zh-CN" sz="2000" b="1" kern="0" dirty="0">
                <a:solidFill>
                  <a:srgbClr val="0000CC"/>
                </a:solidFill>
                <a:latin typeface="微软雅黑" panose="020B0503020204020204" pitchFamily="34" charset="-122"/>
                <a:ea typeface="微软雅黑" panose="020B0503020204020204" pitchFamily="34" charset="-122"/>
              </a:rPr>
              <a:t>/</a:t>
            </a:r>
            <a:r>
              <a:rPr lang="zh-CN" altLang="en-US" sz="2000" b="1" kern="0" dirty="0">
                <a:solidFill>
                  <a:srgbClr val="0000CC"/>
                </a:solidFill>
                <a:latin typeface="微软雅黑" panose="020B0503020204020204" pitchFamily="34" charset="-122"/>
                <a:ea typeface="微软雅黑" panose="020B0503020204020204" pitchFamily="34" charset="-122"/>
              </a:rPr>
              <a:t>右移时，最高</a:t>
            </a:r>
            <a:r>
              <a:rPr lang="en-US" altLang="zh-CN" sz="2000" b="1" kern="0" dirty="0">
                <a:solidFill>
                  <a:srgbClr val="0000CC"/>
                </a:solidFill>
                <a:latin typeface="微软雅黑" panose="020B0503020204020204" pitchFamily="34" charset="-122"/>
                <a:ea typeface="微软雅黑" panose="020B0503020204020204" pitchFamily="34" charset="-122"/>
              </a:rPr>
              <a:t>/</a:t>
            </a:r>
            <a:r>
              <a:rPr lang="zh-CN" altLang="en-US" sz="2000" b="1" kern="0" dirty="0">
                <a:solidFill>
                  <a:srgbClr val="0000CC"/>
                </a:solidFill>
                <a:latin typeface="微软雅黑" panose="020B0503020204020204" pitchFamily="34" charset="-122"/>
                <a:ea typeface="微软雅黑" panose="020B0503020204020204" pitchFamily="34" charset="-122"/>
              </a:rPr>
              <a:t>最低位送</a:t>
            </a:r>
            <a:r>
              <a:rPr lang="en-US" altLang="zh-CN" sz="2000" b="1" kern="0" dirty="0">
                <a:solidFill>
                  <a:srgbClr val="0000CC"/>
                </a:solidFill>
                <a:latin typeface="微软雅黑" panose="020B0503020204020204" pitchFamily="34" charset="-122"/>
                <a:ea typeface="微软雅黑" panose="020B0503020204020204" pitchFamily="34" charset="-122"/>
              </a:rPr>
              <a:t>CF</a:t>
            </a:r>
            <a:r>
              <a:rPr lang="zh-CN" altLang="en-US" sz="2000" b="1" kern="0" dirty="0">
                <a:solidFill>
                  <a:srgbClr val="0000CC"/>
                </a:solidFill>
                <a:latin typeface="微软雅黑" panose="020B0503020204020204" pitchFamily="34" charset="-122"/>
                <a:ea typeface="微软雅黑" panose="020B0503020204020204" pitchFamily="34" charset="-122"/>
              </a:rPr>
              <a:t>）</a:t>
            </a:r>
          </a:p>
          <a:p>
            <a:pPr lvl="2" eaLnBrk="0" fontAlgn="base" hangingPunct="0">
              <a:lnSpc>
                <a:spcPct val="110000"/>
              </a:lnSpc>
              <a:spcAft>
                <a:spcPct val="0"/>
              </a:spcAft>
              <a:buNone/>
            </a:pPr>
            <a:r>
              <a:rPr lang="en-US" altLang="zh-CN" sz="2000" b="1" kern="0" dirty="0">
                <a:solidFill>
                  <a:srgbClr val="006600"/>
                </a:solidFill>
                <a:latin typeface="微软雅黑" panose="020B0503020204020204" pitchFamily="34" charset="-122"/>
                <a:ea typeface="微软雅黑" panose="020B0503020204020204" pitchFamily="34" charset="-122"/>
              </a:rPr>
              <a:t>SHL/SHR</a:t>
            </a:r>
            <a:r>
              <a:rPr lang="zh-CN" altLang="en-US" sz="2000" b="1" kern="0" dirty="0">
                <a:solidFill>
                  <a:srgbClr val="006600"/>
                </a:solidFill>
                <a:latin typeface="微软雅黑" panose="020B0503020204020204" pitchFamily="34" charset="-122"/>
                <a:ea typeface="微软雅黑" panose="020B0503020204020204" pitchFamily="34" charset="-122"/>
              </a:rPr>
              <a:t>：逻辑左</a:t>
            </a:r>
            <a:r>
              <a:rPr lang="en-US" altLang="zh-CN" sz="2000" b="1" kern="0" dirty="0">
                <a:solidFill>
                  <a:srgbClr val="006600"/>
                </a:solidFill>
                <a:latin typeface="微软雅黑" panose="020B0503020204020204" pitchFamily="34" charset="-122"/>
                <a:ea typeface="微软雅黑" panose="020B0503020204020204" pitchFamily="34" charset="-122"/>
              </a:rPr>
              <a:t>/</a:t>
            </a:r>
            <a:r>
              <a:rPr lang="zh-CN" altLang="en-US" sz="2000" b="1" kern="0" dirty="0">
                <a:solidFill>
                  <a:srgbClr val="006600"/>
                </a:solidFill>
                <a:latin typeface="微软雅黑" panose="020B0503020204020204" pitchFamily="34" charset="-122"/>
                <a:ea typeface="微软雅黑" panose="020B0503020204020204" pitchFamily="34" charset="-122"/>
              </a:rPr>
              <a:t>右移，补</a:t>
            </a:r>
            <a:r>
              <a:rPr lang="en-US" altLang="zh-CN" sz="2000" b="1" kern="0" dirty="0">
                <a:solidFill>
                  <a:srgbClr val="006600"/>
                </a:solidFill>
                <a:latin typeface="微软雅黑" panose="020B0503020204020204" pitchFamily="34" charset="-122"/>
                <a:ea typeface="微软雅黑" panose="020B0503020204020204" pitchFamily="34" charset="-122"/>
              </a:rPr>
              <a:t>0</a:t>
            </a:r>
            <a:r>
              <a:rPr lang="zh-CN" altLang="en-US" sz="2000" b="1" kern="0" dirty="0">
                <a:solidFill>
                  <a:srgbClr val="006600"/>
                </a:solidFill>
                <a:latin typeface="微软雅黑" panose="020B0503020204020204" pitchFamily="34" charset="-122"/>
                <a:ea typeface="微软雅黑" panose="020B0503020204020204" pitchFamily="34" charset="-122"/>
              </a:rPr>
              <a:t>，包括 </a:t>
            </a:r>
            <a:r>
              <a:rPr lang="en-US" altLang="zh-CN" sz="2000" b="1" kern="0" dirty="0" err="1">
                <a:solidFill>
                  <a:srgbClr val="006600"/>
                </a:solidFill>
                <a:latin typeface="微软雅黑" panose="020B0503020204020204" pitchFamily="34" charset="-122"/>
                <a:ea typeface="微软雅黑" panose="020B0503020204020204" pitchFamily="34" charset="-122"/>
              </a:rPr>
              <a:t>shlb</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err="1">
                <a:solidFill>
                  <a:srgbClr val="006600"/>
                </a:solidFill>
                <a:latin typeface="微软雅黑" panose="020B0503020204020204" pitchFamily="34" charset="-122"/>
                <a:ea typeface="微软雅黑" panose="020B0503020204020204" pitchFamily="34" charset="-122"/>
              </a:rPr>
              <a:t>shrw</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err="1">
                <a:solidFill>
                  <a:srgbClr val="006600"/>
                </a:solidFill>
                <a:latin typeface="微软雅黑" panose="020B0503020204020204" pitchFamily="34" charset="-122"/>
                <a:ea typeface="微软雅黑" panose="020B0503020204020204" pitchFamily="34" charset="-122"/>
              </a:rPr>
              <a:t>shrl</a:t>
            </a:r>
            <a:r>
              <a:rPr lang="zh-CN" altLang="en-US" sz="2000" b="1" kern="0" dirty="0">
                <a:solidFill>
                  <a:srgbClr val="006600"/>
                </a:solidFill>
                <a:latin typeface="微软雅黑" panose="020B0503020204020204" pitchFamily="34" charset="-122"/>
                <a:ea typeface="微软雅黑" panose="020B0503020204020204" pitchFamily="34" charset="-122"/>
              </a:rPr>
              <a:t>等</a:t>
            </a:r>
          </a:p>
          <a:p>
            <a:pPr lvl="2" eaLnBrk="0" fontAlgn="base" hangingPunct="0">
              <a:lnSpc>
                <a:spcPct val="110000"/>
              </a:lnSpc>
              <a:spcAft>
                <a:spcPct val="0"/>
              </a:spcAft>
              <a:buNone/>
            </a:pPr>
            <a:r>
              <a:rPr lang="en-US" altLang="zh-CN" sz="2000" b="1" kern="0" dirty="0">
                <a:solidFill>
                  <a:srgbClr val="006600"/>
                </a:solidFill>
                <a:latin typeface="微软雅黑" panose="020B0503020204020204" pitchFamily="34" charset="-122"/>
                <a:ea typeface="微软雅黑" panose="020B0503020204020204" pitchFamily="34" charset="-122"/>
              </a:rPr>
              <a:t>SAL/SAR</a:t>
            </a:r>
            <a:r>
              <a:rPr lang="zh-CN" altLang="en-US" sz="2000" b="1" kern="0" dirty="0">
                <a:solidFill>
                  <a:srgbClr val="006600"/>
                </a:solidFill>
                <a:latin typeface="微软雅黑" panose="020B0503020204020204" pitchFamily="34" charset="-122"/>
                <a:ea typeface="微软雅黑" panose="020B0503020204020204" pitchFamily="34" charset="-122"/>
              </a:rPr>
              <a:t>：算术左</a:t>
            </a:r>
            <a:r>
              <a:rPr lang="en-US" altLang="zh-CN" sz="2000" b="1" kern="0" dirty="0">
                <a:solidFill>
                  <a:srgbClr val="006600"/>
                </a:solidFill>
                <a:latin typeface="微软雅黑" panose="020B0503020204020204" pitchFamily="34" charset="-122"/>
                <a:ea typeface="微软雅黑" panose="020B0503020204020204" pitchFamily="34" charset="-122"/>
              </a:rPr>
              <a:t>/</a:t>
            </a:r>
            <a:r>
              <a:rPr lang="zh-CN" altLang="en-US" sz="2000" b="1" kern="0" dirty="0">
                <a:solidFill>
                  <a:srgbClr val="006600"/>
                </a:solidFill>
                <a:latin typeface="微软雅黑" panose="020B0503020204020204" pitchFamily="34" charset="-122"/>
                <a:ea typeface="微软雅黑" panose="020B0503020204020204" pitchFamily="34" charset="-122"/>
              </a:rPr>
              <a:t>右移，</a:t>
            </a:r>
            <a:r>
              <a:rPr lang="zh-CN" altLang="en-US" sz="2000" b="1" kern="0" dirty="0">
                <a:solidFill>
                  <a:srgbClr val="FF3300"/>
                </a:solidFill>
                <a:latin typeface="微软雅黑" panose="020B0503020204020204" pitchFamily="34" charset="-122"/>
                <a:ea typeface="微软雅黑" panose="020B0503020204020204" pitchFamily="34" charset="-122"/>
              </a:rPr>
              <a:t>左移判溢出</a:t>
            </a:r>
            <a:r>
              <a:rPr lang="zh-CN" altLang="en-US" sz="2000" b="1" kern="0" dirty="0">
                <a:solidFill>
                  <a:srgbClr val="006600"/>
                </a:solidFill>
                <a:latin typeface="微软雅黑" panose="020B0503020204020204" pitchFamily="34" charset="-122"/>
                <a:ea typeface="微软雅黑" panose="020B0503020204020204" pitchFamily="34" charset="-122"/>
              </a:rPr>
              <a:t>，右移高位补符</a:t>
            </a:r>
          </a:p>
          <a:p>
            <a:pPr lvl="2" eaLnBrk="0" fontAlgn="base" hangingPunct="0">
              <a:lnSpc>
                <a:spcPct val="110000"/>
              </a:lnSpc>
              <a:spcAft>
                <a:spcPct val="0"/>
              </a:spcAft>
              <a:buNone/>
            </a:pPr>
            <a:r>
              <a:rPr lang="zh-CN" altLang="en-US" sz="2000" b="1" kern="0" dirty="0">
                <a:solidFill>
                  <a:srgbClr val="FF3300"/>
                </a:solidFill>
                <a:latin typeface="微软雅黑" panose="020B0503020204020204" pitchFamily="34" charset="-122"/>
                <a:ea typeface="微软雅黑" panose="020B0503020204020204" pitchFamily="34" charset="-122"/>
              </a:rPr>
              <a:t>（移位前、后符号位发生变化，则</a:t>
            </a:r>
            <a:r>
              <a:rPr lang="en-US" altLang="zh-CN" sz="2000" b="1" kern="0" dirty="0">
                <a:solidFill>
                  <a:srgbClr val="FF3300"/>
                </a:solidFill>
                <a:latin typeface="微软雅黑" panose="020B0503020204020204" pitchFamily="34" charset="-122"/>
                <a:ea typeface="微软雅黑" panose="020B0503020204020204" pitchFamily="34" charset="-122"/>
              </a:rPr>
              <a:t>OF=1 </a:t>
            </a:r>
            <a:r>
              <a:rPr lang="zh-CN" altLang="en-US" sz="2000" b="1" kern="0" dirty="0">
                <a:solidFill>
                  <a:srgbClr val="FF3300"/>
                </a:solidFill>
                <a:latin typeface="微软雅黑" panose="020B0503020204020204" pitchFamily="34" charset="-122"/>
                <a:ea typeface="微软雅黑" panose="020B0503020204020204" pitchFamily="34" charset="-122"/>
              </a:rPr>
              <a:t>）</a:t>
            </a:r>
            <a:endParaRPr lang="zh-CN" altLang="en-US" sz="2000" b="1" kern="0" dirty="0">
              <a:solidFill>
                <a:srgbClr val="006600"/>
              </a:solidFill>
              <a:latin typeface="微软雅黑" panose="020B0503020204020204" pitchFamily="34" charset="-122"/>
              <a:ea typeface="微软雅黑" panose="020B0503020204020204" pitchFamily="34" charset="-122"/>
            </a:endParaRPr>
          </a:p>
          <a:p>
            <a:pPr lvl="2" eaLnBrk="0" fontAlgn="base" hangingPunct="0">
              <a:lnSpc>
                <a:spcPct val="110000"/>
              </a:lnSpc>
              <a:spcAft>
                <a:spcPct val="0"/>
              </a:spcAft>
              <a:buNone/>
            </a:pPr>
            <a:r>
              <a:rPr lang="en-US" altLang="zh-CN" sz="2000" b="1" kern="0" dirty="0">
                <a:solidFill>
                  <a:srgbClr val="006600"/>
                </a:solidFill>
                <a:latin typeface="微软雅黑" panose="020B0503020204020204" pitchFamily="34" charset="-122"/>
                <a:ea typeface="微软雅黑" panose="020B0503020204020204" pitchFamily="34" charset="-122"/>
              </a:rPr>
              <a:t>ROL/ROR:</a:t>
            </a:r>
            <a:r>
              <a:rPr lang="zh-CN" altLang="en-US" sz="2000" b="1" kern="0" dirty="0">
                <a:solidFill>
                  <a:srgbClr val="006600"/>
                </a:solidFill>
                <a:latin typeface="微软雅黑" panose="020B0503020204020204" pitchFamily="34" charset="-122"/>
                <a:ea typeface="微软雅黑" panose="020B0503020204020204" pitchFamily="34" charset="-122"/>
              </a:rPr>
              <a:t> 循环左</a:t>
            </a:r>
            <a:r>
              <a:rPr lang="en-US" altLang="zh-CN" sz="2000" b="1" kern="0" dirty="0">
                <a:solidFill>
                  <a:srgbClr val="006600"/>
                </a:solidFill>
                <a:latin typeface="微软雅黑" panose="020B0503020204020204" pitchFamily="34" charset="-122"/>
                <a:ea typeface="微软雅黑" panose="020B0503020204020204" pitchFamily="34" charset="-122"/>
              </a:rPr>
              <a:t>/</a:t>
            </a:r>
            <a:r>
              <a:rPr lang="zh-CN" altLang="en-US" sz="2000" b="1" kern="0" dirty="0">
                <a:solidFill>
                  <a:srgbClr val="006600"/>
                </a:solidFill>
                <a:latin typeface="微软雅黑" panose="020B0503020204020204" pitchFamily="34" charset="-122"/>
                <a:ea typeface="微软雅黑" panose="020B0503020204020204" pitchFamily="34" charset="-122"/>
              </a:rPr>
              <a:t>右移，包括 </a:t>
            </a:r>
            <a:r>
              <a:rPr lang="en-US" altLang="zh-CN" sz="2000" b="1" kern="0" dirty="0" err="1">
                <a:solidFill>
                  <a:srgbClr val="006600"/>
                </a:solidFill>
                <a:latin typeface="微软雅黑" panose="020B0503020204020204" pitchFamily="34" charset="-122"/>
                <a:ea typeface="微软雅黑" panose="020B0503020204020204" pitchFamily="34" charset="-122"/>
              </a:rPr>
              <a:t>rolb</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err="1">
                <a:solidFill>
                  <a:srgbClr val="006600"/>
                </a:solidFill>
                <a:latin typeface="微软雅黑" panose="020B0503020204020204" pitchFamily="34" charset="-122"/>
                <a:ea typeface="微软雅黑" panose="020B0503020204020204" pitchFamily="34" charset="-122"/>
              </a:rPr>
              <a:t>rorw</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a:solidFill>
                  <a:srgbClr val="006600"/>
                </a:solidFill>
                <a:latin typeface="微软雅黑" panose="020B0503020204020204" pitchFamily="34" charset="-122"/>
                <a:ea typeface="微软雅黑" panose="020B0503020204020204" pitchFamily="34" charset="-122"/>
              </a:rPr>
              <a:t>roll</a:t>
            </a:r>
            <a:r>
              <a:rPr lang="zh-CN" altLang="en-US" sz="2000" b="1" kern="0" dirty="0">
                <a:solidFill>
                  <a:srgbClr val="006600"/>
                </a:solidFill>
                <a:latin typeface="微软雅黑" panose="020B0503020204020204" pitchFamily="34" charset="-122"/>
                <a:ea typeface="微软雅黑" panose="020B0503020204020204" pitchFamily="34" charset="-122"/>
              </a:rPr>
              <a:t>等</a:t>
            </a:r>
            <a:endParaRPr lang="en-US" altLang="zh-CN" sz="2000" b="1" kern="0" dirty="0">
              <a:solidFill>
                <a:srgbClr val="006600"/>
              </a:solidFill>
              <a:latin typeface="微软雅黑" panose="020B0503020204020204" pitchFamily="34" charset="-122"/>
              <a:ea typeface="微软雅黑" panose="020B0503020204020204" pitchFamily="34" charset="-122"/>
            </a:endParaRPr>
          </a:p>
          <a:p>
            <a:pPr lvl="2" eaLnBrk="0" fontAlgn="base" hangingPunct="0">
              <a:lnSpc>
                <a:spcPct val="110000"/>
              </a:lnSpc>
              <a:spcAft>
                <a:spcPct val="0"/>
              </a:spcAft>
              <a:buNone/>
            </a:pPr>
            <a:r>
              <a:rPr lang="en-US" altLang="zh-CN" sz="2000" b="1" kern="0" dirty="0">
                <a:solidFill>
                  <a:srgbClr val="006600"/>
                </a:solidFill>
                <a:latin typeface="微软雅黑" panose="020B0503020204020204" pitchFamily="34" charset="-122"/>
                <a:ea typeface="微软雅黑" panose="020B0503020204020204" pitchFamily="34" charset="-122"/>
              </a:rPr>
              <a:t>RCL/RCR:</a:t>
            </a:r>
            <a:r>
              <a:rPr lang="zh-CN" altLang="en-US" sz="2000" b="1" kern="0" dirty="0">
                <a:solidFill>
                  <a:srgbClr val="006600"/>
                </a:solidFill>
                <a:latin typeface="微软雅黑" panose="020B0503020204020204" pitchFamily="34" charset="-122"/>
                <a:ea typeface="微软雅黑" panose="020B0503020204020204" pitchFamily="34" charset="-122"/>
              </a:rPr>
              <a:t> 带循环左</a:t>
            </a:r>
            <a:r>
              <a:rPr lang="en-US" altLang="zh-CN" sz="2000" b="1" kern="0" dirty="0">
                <a:solidFill>
                  <a:srgbClr val="006600"/>
                </a:solidFill>
                <a:latin typeface="微软雅黑" panose="020B0503020204020204" pitchFamily="34" charset="-122"/>
                <a:ea typeface="微软雅黑" panose="020B0503020204020204" pitchFamily="34" charset="-122"/>
              </a:rPr>
              <a:t>/</a:t>
            </a:r>
            <a:r>
              <a:rPr lang="zh-CN" altLang="en-US" sz="2000" b="1" kern="0" dirty="0">
                <a:solidFill>
                  <a:srgbClr val="006600"/>
                </a:solidFill>
                <a:latin typeface="微软雅黑" panose="020B0503020204020204" pitchFamily="34" charset="-122"/>
                <a:ea typeface="微软雅黑" panose="020B0503020204020204" pitchFamily="34" charset="-122"/>
              </a:rPr>
              <a:t>右移，将</a:t>
            </a:r>
            <a:r>
              <a:rPr lang="en-US" altLang="zh-CN" sz="2000" b="1" kern="0" dirty="0">
                <a:solidFill>
                  <a:srgbClr val="006600"/>
                </a:solidFill>
                <a:latin typeface="微软雅黑" panose="020B0503020204020204" pitchFamily="34" charset="-122"/>
                <a:ea typeface="微软雅黑" panose="020B0503020204020204" pitchFamily="34" charset="-122"/>
              </a:rPr>
              <a:t>CF</a:t>
            </a:r>
            <a:r>
              <a:rPr lang="zh-CN" altLang="en-US" sz="2000" b="1" kern="0" dirty="0">
                <a:solidFill>
                  <a:srgbClr val="006600"/>
                </a:solidFill>
                <a:latin typeface="微软雅黑" panose="020B0503020204020204" pitchFamily="34" charset="-122"/>
                <a:ea typeface="微软雅黑" panose="020B0503020204020204" pitchFamily="34" charset="-122"/>
              </a:rPr>
              <a:t>作为操作数一部分循环移位</a:t>
            </a:r>
          </a:p>
        </p:txBody>
      </p:sp>
      <p:sp>
        <p:nvSpPr>
          <p:cNvPr id="4" name="文本框 3"/>
          <p:cNvSpPr txBox="1"/>
          <p:nvPr/>
        </p:nvSpPr>
        <p:spPr>
          <a:xfrm>
            <a:off x="3790945" y="773668"/>
            <a:ext cx="4978863" cy="369332"/>
          </a:xfrm>
          <a:prstGeom prst="rect">
            <a:avLst/>
          </a:prstGeom>
          <a:noFill/>
        </p:spPr>
        <p:txBody>
          <a:bodyPr wrap="none" rtlCol="0">
            <a:spAutoFit/>
          </a:bodyPr>
          <a:lstStyle/>
          <a:p>
            <a:r>
              <a:rPr lang="en-US" altLang="zh-CN"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XOR</a:t>
            </a:r>
            <a:r>
              <a:rPr lang="zh-CN" altLang="en-US"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1⊕1=0</a:t>
            </a:r>
            <a:r>
              <a:rPr lang="zh-CN" altLang="en-US"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 0⊕0=0</a:t>
            </a:r>
            <a:r>
              <a:rPr lang="zh-CN" altLang="en-US"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 0⊕1=1</a:t>
            </a:r>
            <a:r>
              <a:rPr lang="zh-CN" altLang="en-US"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 1⊕0=1</a:t>
            </a:r>
            <a:endParaRPr lang="zh-CN" altLang="en-US" b="1" dirty="0">
              <a:solidFill>
                <a:srgbClr val="FF0000"/>
              </a:solidFill>
            </a:endParaRPr>
          </a:p>
        </p:txBody>
      </p:sp>
      <p:sp>
        <p:nvSpPr>
          <p:cNvPr id="8" name="文本框 7"/>
          <p:cNvSpPr txBox="1"/>
          <p:nvPr/>
        </p:nvSpPr>
        <p:spPr>
          <a:xfrm>
            <a:off x="3779405" y="66890"/>
            <a:ext cx="5330305" cy="369332"/>
          </a:xfrm>
          <a:prstGeom prst="rect">
            <a:avLst/>
          </a:prstGeom>
          <a:noFill/>
        </p:spPr>
        <p:txBody>
          <a:bodyPr wrap="none" rtlCol="0">
            <a:spAutoFit/>
          </a:bodyPr>
          <a:lstStyle/>
          <a:p>
            <a:r>
              <a:rPr lang="en-US" altLang="zh-CN"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AND</a:t>
            </a:r>
            <a:r>
              <a:rPr lang="zh-CN" altLang="en-US"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 1&amp;1=1 </a:t>
            </a:r>
            <a:r>
              <a:rPr lang="zh-CN" altLang="en-US"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 0&amp;0=0</a:t>
            </a:r>
            <a:r>
              <a:rPr lang="zh-CN" altLang="en-US"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 0&amp;1=0</a:t>
            </a:r>
            <a:r>
              <a:rPr lang="zh-CN" altLang="en-US"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 1&amp;0=0</a:t>
            </a:r>
            <a:endParaRPr lang="zh-CN" altLang="en-US" b="1" dirty="0">
              <a:solidFill>
                <a:srgbClr val="FF0000"/>
              </a:solidFill>
            </a:endParaRPr>
          </a:p>
        </p:txBody>
      </p:sp>
      <p:sp>
        <p:nvSpPr>
          <p:cNvPr id="9" name="文本框 8"/>
          <p:cNvSpPr txBox="1"/>
          <p:nvPr/>
        </p:nvSpPr>
        <p:spPr>
          <a:xfrm>
            <a:off x="3790945" y="404336"/>
            <a:ext cx="4594528" cy="369332"/>
          </a:xfrm>
          <a:prstGeom prst="rect">
            <a:avLst/>
          </a:prstGeom>
          <a:noFill/>
        </p:spPr>
        <p:txBody>
          <a:bodyPr wrap="none" rtlCol="0">
            <a:spAutoFit/>
          </a:bodyPr>
          <a:lstStyle/>
          <a:p>
            <a:r>
              <a:rPr lang="en-US" altLang="zh-CN"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OR</a:t>
            </a:r>
            <a:r>
              <a:rPr lang="zh-CN" altLang="en-US"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 1|1=1 </a:t>
            </a:r>
            <a:r>
              <a:rPr lang="zh-CN" altLang="en-US"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 0|0=0</a:t>
            </a:r>
            <a:r>
              <a:rPr lang="zh-CN" altLang="en-US"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 0|1=1</a:t>
            </a:r>
            <a:r>
              <a:rPr lang="zh-CN" altLang="en-US"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 1|0=1</a:t>
            </a:r>
            <a:endParaRPr lang="zh-CN" altLang="en-US" b="1" dirty="0">
              <a:solidFill>
                <a:srgbClr val="FF0000"/>
              </a:solidFill>
            </a:endParaRPr>
          </a:p>
        </p:txBody>
      </p:sp>
    </p:spTree>
    <p:extLst>
      <p:ext uri="{BB962C8B-B14F-4D97-AF65-F5344CB8AC3E}">
        <p14:creationId xmlns:p14="http://schemas.microsoft.com/office/powerpoint/2010/main" val="2092100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8229600" cy="1143000"/>
          </a:xfrm>
        </p:spPr>
        <p:txBody>
          <a:bodyPr>
            <a:normAutofit/>
          </a:bodyPr>
          <a:lstStyle/>
          <a:p>
            <a:r>
              <a:rPr lang="zh-CN" altLang="en-US" sz="4000" dirty="0">
                <a:solidFill>
                  <a:srgbClr val="C00000"/>
                </a:solidFill>
              </a:rPr>
              <a:t>例</a:t>
            </a:r>
            <a:r>
              <a:rPr lang="en-US" altLang="zh-CN" sz="4000" dirty="0">
                <a:solidFill>
                  <a:srgbClr val="C00000"/>
                </a:solidFill>
              </a:rPr>
              <a:t>3.6</a:t>
            </a:r>
            <a:endParaRPr lang="zh-CN" altLang="en-US" sz="4000" dirty="0">
              <a:solidFill>
                <a:srgbClr val="C00000"/>
              </a:solidFill>
            </a:endParaRPr>
          </a:p>
        </p:txBody>
      </p:sp>
      <p:sp>
        <p:nvSpPr>
          <p:cNvPr id="10" name="Rectangle 3"/>
          <p:cNvSpPr txBox="1">
            <a:spLocks noChangeArrowheads="1"/>
          </p:cNvSpPr>
          <p:nvPr/>
        </p:nvSpPr>
        <p:spPr>
          <a:xfrm>
            <a:off x="296863" y="836613"/>
            <a:ext cx="8596312" cy="551815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20000"/>
              </a:lnSpc>
              <a:spcBef>
                <a:spcPct val="15000"/>
              </a:spcBef>
              <a:buFontTx/>
              <a:buNone/>
            </a:pPr>
            <a:r>
              <a:rPr lang="zh-CN" altLang="en-US" sz="2200" dirty="0">
                <a:latin typeface="微软雅黑" panose="020B0503020204020204" pitchFamily="34" charset="-122"/>
                <a:ea typeface="微软雅黑" panose="020B0503020204020204" pitchFamily="34" charset="-122"/>
              </a:rPr>
              <a:t>    假设</a:t>
            </a:r>
            <a:r>
              <a:rPr lang="en-US" altLang="zh-CN" sz="2200" dirty="0">
                <a:latin typeface="微软雅黑" panose="020B0503020204020204" pitchFamily="34" charset="-122"/>
                <a:ea typeface="微软雅黑" panose="020B0503020204020204" pitchFamily="34" charset="-122"/>
              </a:rPr>
              <a:t>short</a:t>
            </a:r>
            <a:r>
              <a:rPr lang="zh-CN" altLang="en-US" sz="2200" dirty="0">
                <a:latin typeface="微软雅黑" panose="020B0503020204020204" pitchFamily="34" charset="-122"/>
                <a:ea typeface="微软雅黑" panose="020B0503020204020204" pitchFamily="34" charset="-122"/>
              </a:rPr>
              <a:t>型变量</a:t>
            </a:r>
            <a:r>
              <a:rPr lang="en-US" altLang="zh-CN" sz="2200" dirty="0">
                <a:latin typeface="微软雅黑" panose="020B0503020204020204" pitchFamily="34" charset="-122"/>
                <a:ea typeface="微软雅黑" panose="020B0503020204020204" pitchFamily="34" charset="-122"/>
              </a:rPr>
              <a:t>x</a:t>
            </a:r>
            <a:r>
              <a:rPr lang="zh-CN" altLang="en-US" sz="2200" dirty="0">
                <a:latin typeface="微软雅黑" panose="020B0503020204020204" pitchFamily="34" charset="-122"/>
                <a:ea typeface="微软雅黑" panose="020B0503020204020204" pitchFamily="34" charset="-122"/>
              </a:rPr>
              <a:t>被编译器分配在寄存器</a:t>
            </a:r>
            <a:r>
              <a:rPr lang="en-US" altLang="zh-CN" sz="2200" dirty="0">
                <a:latin typeface="微软雅黑" panose="020B0503020204020204" pitchFamily="34" charset="-122"/>
                <a:ea typeface="微软雅黑" panose="020B0503020204020204" pitchFamily="34" charset="-122"/>
              </a:rPr>
              <a:t>AX</a:t>
            </a:r>
            <a:r>
              <a:rPr lang="zh-CN" altLang="en-US" sz="2200" dirty="0">
                <a:latin typeface="微软雅黑" panose="020B0503020204020204" pitchFamily="34" charset="-122"/>
                <a:ea typeface="微软雅黑" panose="020B0503020204020204" pitchFamily="34" charset="-122"/>
              </a:rPr>
              <a:t>中，</a:t>
            </a:r>
            <a:r>
              <a:rPr lang="en-US" altLang="zh-CN" sz="2200" dirty="0">
                <a:latin typeface="微软雅黑" panose="020B0503020204020204" pitchFamily="34" charset="-122"/>
                <a:ea typeface="微软雅黑" panose="020B0503020204020204" pitchFamily="34" charset="-122"/>
              </a:rPr>
              <a:t>R[ax]=FF80H</a:t>
            </a:r>
            <a:r>
              <a:rPr lang="zh-CN" altLang="en-US" sz="2200" dirty="0">
                <a:latin typeface="微软雅黑" panose="020B0503020204020204" pitchFamily="34" charset="-122"/>
                <a:ea typeface="微软雅黑" panose="020B0503020204020204" pitchFamily="34" charset="-122"/>
              </a:rPr>
              <a:t>，则以下汇编代码段执行后变量</a:t>
            </a:r>
            <a:r>
              <a:rPr lang="en-US" altLang="zh-CN" sz="2200" dirty="0">
                <a:latin typeface="微软雅黑" panose="020B0503020204020204" pitchFamily="34" charset="-122"/>
                <a:ea typeface="微软雅黑" panose="020B0503020204020204" pitchFamily="34" charset="-122"/>
              </a:rPr>
              <a:t>x</a:t>
            </a:r>
            <a:r>
              <a:rPr lang="zh-CN" altLang="en-US" sz="2200" dirty="0">
                <a:latin typeface="微软雅黑" panose="020B0503020204020204" pitchFamily="34" charset="-122"/>
                <a:ea typeface="微软雅黑" panose="020B0503020204020204" pitchFamily="34" charset="-122"/>
              </a:rPr>
              <a:t>的机器数和真值分别是多少？</a:t>
            </a:r>
          </a:p>
          <a:p>
            <a:pPr>
              <a:lnSpc>
                <a:spcPct val="120000"/>
              </a:lnSpc>
              <a:spcBef>
                <a:spcPct val="0"/>
              </a:spcBef>
              <a:buFontTx/>
              <a:buNone/>
            </a:pPr>
            <a:r>
              <a:rPr lang="zh-CN" altLang="en-US" sz="2200" dirty="0">
                <a:latin typeface="微软雅黑" panose="020B0503020204020204" pitchFamily="34" charset="-122"/>
                <a:ea typeface="微软雅黑" panose="020B0503020204020204" pitchFamily="34" charset="-122"/>
              </a:rPr>
              <a:t>     </a:t>
            </a:r>
            <a:r>
              <a:rPr lang="en-US" altLang="zh-CN" sz="2200" dirty="0" err="1">
                <a:latin typeface="微软雅黑" panose="020B0503020204020204" pitchFamily="34" charset="-122"/>
                <a:ea typeface="微软雅黑" panose="020B0503020204020204" pitchFamily="34" charset="-122"/>
              </a:rPr>
              <a:t>movw</a:t>
            </a:r>
            <a:r>
              <a:rPr lang="en-US" altLang="zh-CN" sz="2200" dirty="0">
                <a:latin typeface="微软雅黑" panose="020B0503020204020204" pitchFamily="34" charset="-122"/>
                <a:ea typeface="微软雅黑" panose="020B0503020204020204" pitchFamily="34" charset="-122"/>
              </a:rPr>
              <a:t> %ax, %dx   </a:t>
            </a:r>
          </a:p>
          <a:p>
            <a:pPr>
              <a:lnSpc>
                <a:spcPct val="120000"/>
              </a:lnSpc>
              <a:spcBef>
                <a:spcPct val="0"/>
              </a:spcBef>
              <a:buFontTx/>
              <a:buNone/>
            </a:pPr>
            <a:r>
              <a:rPr lang="en-US" altLang="zh-CN" sz="2200" dirty="0">
                <a:latin typeface="微软雅黑" panose="020B0503020204020204" pitchFamily="34" charset="-122"/>
                <a:ea typeface="微软雅黑" panose="020B0503020204020204" pitchFamily="34" charset="-122"/>
              </a:rPr>
              <a:t>     </a:t>
            </a:r>
            <a:r>
              <a:rPr lang="en-US" altLang="zh-CN" sz="2200" dirty="0" err="1">
                <a:latin typeface="微软雅黑" panose="020B0503020204020204" pitchFamily="34" charset="-122"/>
                <a:ea typeface="微软雅黑" panose="020B0503020204020204" pitchFamily="34" charset="-122"/>
              </a:rPr>
              <a:t>salw</a:t>
            </a:r>
            <a:r>
              <a:rPr lang="en-US" altLang="zh-CN" sz="2200" dirty="0">
                <a:latin typeface="微软雅黑" panose="020B0503020204020204" pitchFamily="34" charset="-122"/>
                <a:ea typeface="微软雅黑" panose="020B0503020204020204" pitchFamily="34" charset="-122"/>
              </a:rPr>
              <a:t>   $2, %ax         </a:t>
            </a:r>
          </a:p>
          <a:p>
            <a:pPr>
              <a:lnSpc>
                <a:spcPct val="120000"/>
              </a:lnSpc>
              <a:spcBef>
                <a:spcPct val="0"/>
              </a:spcBef>
              <a:buFontTx/>
              <a:buNone/>
            </a:pPr>
            <a:r>
              <a:rPr lang="en-US" altLang="zh-CN" sz="2200" dirty="0">
                <a:latin typeface="微软雅黑" panose="020B0503020204020204" pitchFamily="34" charset="-122"/>
                <a:ea typeface="微软雅黑" panose="020B0503020204020204" pitchFamily="34" charset="-122"/>
              </a:rPr>
              <a:t>     </a:t>
            </a:r>
            <a:r>
              <a:rPr lang="en-US" altLang="zh-CN" sz="2200" dirty="0" err="1">
                <a:latin typeface="微软雅黑" panose="020B0503020204020204" pitchFamily="34" charset="-122"/>
                <a:ea typeface="微软雅黑" panose="020B0503020204020204" pitchFamily="34" charset="-122"/>
              </a:rPr>
              <a:t>addw</a:t>
            </a:r>
            <a:r>
              <a:rPr lang="en-US" altLang="zh-CN" sz="2200" dirty="0">
                <a:latin typeface="微软雅黑" panose="020B0503020204020204" pitchFamily="34" charset="-122"/>
                <a:ea typeface="微软雅黑" panose="020B0503020204020204" pitchFamily="34" charset="-122"/>
              </a:rPr>
              <a:t>   %dx, %ax</a:t>
            </a:r>
          </a:p>
          <a:p>
            <a:pPr>
              <a:lnSpc>
                <a:spcPct val="120000"/>
              </a:lnSpc>
              <a:spcBef>
                <a:spcPct val="0"/>
              </a:spcBef>
              <a:buFontTx/>
              <a:buNone/>
            </a:pPr>
            <a:r>
              <a:rPr lang="en-US" altLang="zh-CN" sz="2200" dirty="0">
                <a:latin typeface="微软雅黑" panose="020B0503020204020204" pitchFamily="34" charset="-122"/>
                <a:ea typeface="微软雅黑" panose="020B0503020204020204" pitchFamily="34" charset="-122"/>
              </a:rPr>
              <a:t>     </a:t>
            </a:r>
            <a:r>
              <a:rPr lang="en-US" altLang="zh-CN" sz="2200" dirty="0" err="1">
                <a:latin typeface="微软雅黑" panose="020B0503020204020204" pitchFamily="34" charset="-122"/>
                <a:ea typeface="微软雅黑" panose="020B0503020204020204" pitchFamily="34" charset="-122"/>
              </a:rPr>
              <a:t>sarw</a:t>
            </a:r>
            <a:r>
              <a:rPr lang="en-US" altLang="zh-CN" sz="2200" dirty="0">
                <a:latin typeface="微软雅黑" panose="020B0503020204020204" pitchFamily="34" charset="-122"/>
                <a:ea typeface="微软雅黑" panose="020B0503020204020204" pitchFamily="34" charset="-122"/>
              </a:rPr>
              <a:t>   $1, %ax</a:t>
            </a:r>
          </a:p>
          <a:p>
            <a:pPr>
              <a:lnSpc>
                <a:spcPct val="120000"/>
              </a:lnSpc>
              <a:spcBef>
                <a:spcPct val="30000"/>
              </a:spcBef>
              <a:buFontTx/>
              <a:buNone/>
            </a:pPr>
            <a:r>
              <a:rPr lang="zh-CN" altLang="en-US" sz="2200" dirty="0">
                <a:solidFill>
                  <a:srgbClr val="FF3300"/>
                </a:solidFill>
                <a:latin typeface="微软雅黑" panose="020B0503020204020204" pitchFamily="34" charset="-122"/>
                <a:ea typeface="微软雅黑" panose="020B0503020204020204" pitchFamily="34" charset="-122"/>
              </a:rPr>
              <a:t>解：</a:t>
            </a:r>
            <a:r>
              <a:rPr lang="en-US" altLang="zh-CN" sz="2200" dirty="0">
                <a:solidFill>
                  <a:srgbClr val="FF3300"/>
                </a:solidFill>
                <a:latin typeface="微软雅黑" panose="020B0503020204020204" pitchFamily="34" charset="-122"/>
                <a:ea typeface="微软雅黑" panose="020B0503020204020204" pitchFamily="34" charset="-122"/>
              </a:rPr>
              <a:t>$2</a:t>
            </a:r>
            <a:r>
              <a:rPr lang="zh-CN" altLang="en-US" sz="2200" dirty="0">
                <a:solidFill>
                  <a:srgbClr val="FF3300"/>
                </a:solidFill>
                <a:latin typeface="微软雅黑" panose="020B0503020204020204" pitchFamily="34" charset="-122"/>
                <a:ea typeface="微软雅黑" panose="020B0503020204020204" pitchFamily="34" charset="-122"/>
              </a:rPr>
              <a:t>和</a:t>
            </a:r>
            <a:r>
              <a:rPr lang="en-US" altLang="zh-CN" sz="2200" dirty="0">
                <a:solidFill>
                  <a:srgbClr val="FF3300"/>
                </a:solidFill>
                <a:latin typeface="微软雅黑" panose="020B0503020204020204" pitchFamily="34" charset="-122"/>
                <a:ea typeface="微软雅黑" panose="020B0503020204020204" pitchFamily="34" charset="-122"/>
              </a:rPr>
              <a:t>$1</a:t>
            </a:r>
            <a:r>
              <a:rPr lang="zh-CN" altLang="en-US" sz="2200" dirty="0">
                <a:solidFill>
                  <a:srgbClr val="FF3300"/>
                </a:solidFill>
                <a:latin typeface="微软雅黑" panose="020B0503020204020204" pitchFamily="34" charset="-122"/>
                <a:ea typeface="微软雅黑" panose="020B0503020204020204" pitchFamily="34" charset="-122"/>
              </a:rPr>
              <a:t>分别表示立即数</a:t>
            </a:r>
            <a:r>
              <a:rPr lang="en-US" altLang="zh-CN" sz="2200" dirty="0">
                <a:solidFill>
                  <a:srgbClr val="FF3300"/>
                </a:solidFill>
                <a:latin typeface="微软雅黑" panose="020B0503020204020204" pitchFamily="34" charset="-122"/>
                <a:ea typeface="微软雅黑" panose="020B0503020204020204" pitchFamily="34" charset="-122"/>
              </a:rPr>
              <a:t>2</a:t>
            </a:r>
            <a:r>
              <a:rPr lang="zh-CN" altLang="en-US" sz="2200" dirty="0">
                <a:solidFill>
                  <a:srgbClr val="FF3300"/>
                </a:solidFill>
                <a:latin typeface="微软雅黑" panose="020B0503020204020204" pitchFamily="34" charset="-122"/>
                <a:ea typeface="微软雅黑" panose="020B0503020204020204" pitchFamily="34" charset="-122"/>
              </a:rPr>
              <a:t>和</a:t>
            </a:r>
            <a:r>
              <a:rPr lang="en-US" altLang="zh-CN" sz="2200" dirty="0">
                <a:solidFill>
                  <a:srgbClr val="FF3300"/>
                </a:solidFill>
                <a:latin typeface="微软雅黑" panose="020B0503020204020204" pitchFamily="34" charset="-122"/>
                <a:ea typeface="微软雅黑" panose="020B0503020204020204" pitchFamily="34" charset="-122"/>
              </a:rPr>
              <a:t>1 </a:t>
            </a:r>
            <a:r>
              <a:rPr lang="zh-CN" altLang="en-US" sz="2200" dirty="0">
                <a:solidFill>
                  <a:srgbClr val="FF3300"/>
                </a:solidFill>
                <a:latin typeface="微软雅黑" panose="020B0503020204020204" pitchFamily="34" charset="-122"/>
                <a:ea typeface="微软雅黑" panose="020B0503020204020204" pitchFamily="34" charset="-122"/>
              </a:rPr>
              <a:t>。</a:t>
            </a:r>
          </a:p>
          <a:p>
            <a:pPr>
              <a:lnSpc>
                <a:spcPct val="120000"/>
              </a:lnSpc>
              <a:spcBef>
                <a:spcPct val="0"/>
              </a:spcBef>
              <a:buFontTx/>
              <a:buNone/>
            </a:pPr>
            <a:r>
              <a:rPr lang="zh-CN" altLang="en-US" sz="2200" dirty="0">
                <a:solidFill>
                  <a:srgbClr val="FF3300"/>
                </a:solidFill>
                <a:latin typeface="微软雅黑" panose="020B0503020204020204" pitchFamily="34" charset="-122"/>
                <a:ea typeface="微软雅黑" panose="020B0503020204020204" pitchFamily="34" charset="-122"/>
              </a:rPr>
              <a:t>    </a:t>
            </a:r>
            <a:r>
              <a:rPr lang="en-US" altLang="zh-CN" sz="2200" dirty="0">
                <a:solidFill>
                  <a:srgbClr val="FF3300"/>
                </a:solidFill>
                <a:latin typeface="微软雅黑" panose="020B0503020204020204" pitchFamily="34" charset="-122"/>
                <a:ea typeface="微软雅黑" panose="020B0503020204020204" pitchFamily="34" charset="-122"/>
              </a:rPr>
              <a:t>x</a:t>
            </a:r>
            <a:r>
              <a:rPr lang="zh-CN" altLang="en-US" sz="2200" dirty="0">
                <a:solidFill>
                  <a:srgbClr val="FF3300"/>
                </a:solidFill>
                <a:latin typeface="微软雅黑" panose="020B0503020204020204" pitchFamily="34" charset="-122"/>
                <a:ea typeface="微软雅黑" panose="020B0503020204020204" pitchFamily="34" charset="-122"/>
              </a:rPr>
              <a:t>是</a:t>
            </a:r>
            <a:r>
              <a:rPr lang="en-US" altLang="zh-CN" sz="2200" dirty="0">
                <a:solidFill>
                  <a:srgbClr val="FF3300"/>
                </a:solidFill>
                <a:latin typeface="微软雅黑" panose="020B0503020204020204" pitchFamily="34" charset="-122"/>
                <a:ea typeface="微软雅黑" panose="020B0503020204020204" pitchFamily="34" charset="-122"/>
              </a:rPr>
              <a:t>short</a:t>
            </a:r>
            <a:r>
              <a:rPr lang="zh-CN" altLang="en-US" sz="2200" dirty="0">
                <a:solidFill>
                  <a:srgbClr val="FF3300"/>
                </a:solidFill>
                <a:latin typeface="微软雅黑" panose="020B0503020204020204" pitchFamily="34" charset="-122"/>
                <a:ea typeface="微软雅黑" panose="020B0503020204020204" pitchFamily="34" charset="-122"/>
              </a:rPr>
              <a:t>型变量，故都是算术移位指令，并进行带符号整数加。</a:t>
            </a:r>
          </a:p>
          <a:p>
            <a:pPr>
              <a:lnSpc>
                <a:spcPct val="120000"/>
              </a:lnSpc>
              <a:spcBef>
                <a:spcPct val="0"/>
              </a:spcBef>
              <a:buFontTx/>
              <a:buNone/>
            </a:pPr>
            <a:r>
              <a:rPr lang="zh-CN" altLang="en-US" sz="2200" dirty="0">
                <a:solidFill>
                  <a:srgbClr val="FF3300"/>
                </a:solidFill>
                <a:latin typeface="微软雅黑" panose="020B0503020204020204" pitchFamily="34" charset="-122"/>
                <a:ea typeface="微软雅黑" panose="020B0503020204020204" pitchFamily="34" charset="-122"/>
              </a:rPr>
              <a:t>    假设上述代码段执行前</a:t>
            </a:r>
            <a:r>
              <a:rPr lang="en-US" altLang="zh-CN" sz="2200" dirty="0">
                <a:solidFill>
                  <a:srgbClr val="FF3300"/>
                </a:solidFill>
                <a:latin typeface="微软雅黑" panose="020B0503020204020204" pitchFamily="34" charset="-122"/>
                <a:ea typeface="微软雅黑" panose="020B0503020204020204" pitchFamily="34" charset="-122"/>
              </a:rPr>
              <a:t>R[ax]=x</a:t>
            </a:r>
            <a:r>
              <a:rPr lang="zh-CN" altLang="en-US" sz="2200" dirty="0">
                <a:solidFill>
                  <a:srgbClr val="FF3300"/>
                </a:solidFill>
                <a:latin typeface="微软雅黑" panose="020B0503020204020204" pitchFamily="34" charset="-122"/>
                <a:ea typeface="微软雅黑" panose="020B0503020204020204" pitchFamily="34" charset="-122"/>
              </a:rPr>
              <a:t>，则执行</a:t>
            </a:r>
            <a:r>
              <a:rPr lang="en-US" altLang="zh-CN" sz="2200" dirty="0">
                <a:solidFill>
                  <a:srgbClr val="FF3300"/>
                </a:solidFill>
                <a:latin typeface="微软雅黑" panose="020B0503020204020204" pitchFamily="34" charset="-122"/>
                <a:ea typeface="微软雅黑" panose="020B0503020204020204" pitchFamily="34" charset="-122"/>
              </a:rPr>
              <a:t>((x&lt;&lt;2)+x)&gt;&gt;1</a:t>
            </a:r>
            <a:r>
              <a:rPr lang="zh-CN" altLang="en-US" sz="2200" dirty="0">
                <a:solidFill>
                  <a:srgbClr val="FF3300"/>
                </a:solidFill>
                <a:latin typeface="微软雅黑" panose="020B0503020204020204" pitchFamily="34" charset="-122"/>
                <a:ea typeface="微软雅黑" panose="020B0503020204020204" pitchFamily="34" charset="-122"/>
              </a:rPr>
              <a:t>后，</a:t>
            </a:r>
            <a:r>
              <a:rPr lang="en-US" altLang="zh-CN" sz="2200" dirty="0">
                <a:solidFill>
                  <a:srgbClr val="FF3300"/>
                </a:solidFill>
                <a:latin typeface="微软雅黑" panose="020B0503020204020204" pitchFamily="34" charset="-122"/>
                <a:ea typeface="微软雅黑" panose="020B0503020204020204" pitchFamily="34" charset="-122"/>
              </a:rPr>
              <a:t>R[ax]=5x/2</a:t>
            </a:r>
            <a:r>
              <a:rPr lang="zh-CN" altLang="en-US" sz="2200" dirty="0">
                <a:solidFill>
                  <a:srgbClr val="FF3300"/>
                </a:solidFill>
                <a:latin typeface="微软雅黑" panose="020B0503020204020204" pitchFamily="34" charset="-122"/>
                <a:ea typeface="微软雅黑" panose="020B0503020204020204" pitchFamily="34" charset="-122"/>
              </a:rPr>
              <a:t>。</a:t>
            </a:r>
            <a:r>
              <a:rPr lang="zh-CN" altLang="en-US" sz="2200" dirty="0">
                <a:solidFill>
                  <a:srgbClr val="007635"/>
                </a:solidFill>
                <a:latin typeface="微软雅黑" panose="020B0503020204020204" pitchFamily="34" charset="-122"/>
                <a:ea typeface="微软雅黑" panose="020B0503020204020204" pitchFamily="34" charset="-122"/>
              </a:rPr>
              <a:t>算术左移时，</a:t>
            </a:r>
            <a:r>
              <a:rPr lang="en-US" altLang="zh-CN" sz="2200" dirty="0">
                <a:solidFill>
                  <a:srgbClr val="007635"/>
                </a:solidFill>
                <a:latin typeface="微软雅黑" panose="020B0503020204020204" pitchFamily="34" charset="-122"/>
                <a:ea typeface="微软雅黑" panose="020B0503020204020204" pitchFamily="34" charset="-122"/>
              </a:rPr>
              <a:t>AX</a:t>
            </a:r>
            <a:r>
              <a:rPr lang="zh-CN" altLang="en-US" sz="2200" dirty="0">
                <a:solidFill>
                  <a:srgbClr val="007635"/>
                </a:solidFill>
                <a:latin typeface="微软雅黑" panose="020B0503020204020204" pitchFamily="34" charset="-122"/>
                <a:ea typeface="微软雅黑" panose="020B0503020204020204" pitchFamily="34" charset="-122"/>
              </a:rPr>
              <a:t>中的内容在移位前、后符号未发生变化，故</a:t>
            </a:r>
            <a:r>
              <a:rPr lang="en-US" altLang="zh-CN" sz="2200" dirty="0">
                <a:solidFill>
                  <a:srgbClr val="007635"/>
                </a:solidFill>
                <a:latin typeface="微软雅黑" panose="020B0503020204020204" pitchFamily="34" charset="-122"/>
                <a:ea typeface="微软雅黑" panose="020B0503020204020204" pitchFamily="34" charset="-122"/>
              </a:rPr>
              <a:t>OF=0</a:t>
            </a:r>
            <a:r>
              <a:rPr lang="zh-CN" altLang="en-US" sz="2200" dirty="0">
                <a:solidFill>
                  <a:srgbClr val="FF3300"/>
                </a:solidFill>
                <a:latin typeface="微软雅黑" panose="020B0503020204020204" pitchFamily="34" charset="-122"/>
                <a:ea typeface="微软雅黑" panose="020B0503020204020204" pitchFamily="34" charset="-122"/>
              </a:rPr>
              <a:t>，没有溢出。最终</a:t>
            </a:r>
            <a:r>
              <a:rPr lang="en-US" altLang="zh-CN" sz="2200" dirty="0">
                <a:solidFill>
                  <a:srgbClr val="FF3300"/>
                </a:solidFill>
                <a:latin typeface="微软雅黑" panose="020B0503020204020204" pitchFamily="34" charset="-122"/>
                <a:ea typeface="微软雅黑" panose="020B0503020204020204" pitchFamily="34" charset="-122"/>
              </a:rPr>
              <a:t>AX</a:t>
            </a:r>
            <a:r>
              <a:rPr lang="zh-CN" altLang="en-US" sz="2200" dirty="0">
                <a:solidFill>
                  <a:srgbClr val="FF3300"/>
                </a:solidFill>
                <a:latin typeface="微软雅黑" panose="020B0503020204020204" pitchFamily="34" charset="-122"/>
                <a:ea typeface="微软雅黑" panose="020B0503020204020204" pitchFamily="34" charset="-122"/>
              </a:rPr>
              <a:t>的内容为</a:t>
            </a:r>
            <a:r>
              <a:rPr lang="en-US" altLang="zh-CN" sz="2200" dirty="0">
                <a:solidFill>
                  <a:srgbClr val="3333CC"/>
                </a:solidFill>
                <a:latin typeface="微软雅黑" panose="020B0503020204020204" pitchFamily="34" charset="-122"/>
                <a:ea typeface="微软雅黑" panose="020B0503020204020204" pitchFamily="34" charset="-122"/>
              </a:rPr>
              <a:t>FEC0H</a:t>
            </a:r>
            <a:r>
              <a:rPr lang="zh-CN" altLang="en-US" sz="2200" dirty="0">
                <a:solidFill>
                  <a:srgbClr val="FF3300"/>
                </a:solidFill>
                <a:latin typeface="微软雅黑" panose="020B0503020204020204" pitchFamily="34" charset="-122"/>
                <a:ea typeface="微软雅黑" panose="020B0503020204020204" pitchFamily="34" charset="-122"/>
              </a:rPr>
              <a:t>，解释为</a:t>
            </a:r>
            <a:r>
              <a:rPr lang="en-US" altLang="zh-CN" sz="2200" dirty="0">
                <a:solidFill>
                  <a:srgbClr val="FF3300"/>
                </a:solidFill>
                <a:latin typeface="微软雅黑" panose="020B0503020204020204" pitchFamily="34" charset="-122"/>
                <a:ea typeface="微软雅黑" panose="020B0503020204020204" pitchFamily="34" charset="-122"/>
              </a:rPr>
              <a:t>short</a:t>
            </a:r>
            <a:r>
              <a:rPr lang="zh-CN" altLang="en-US" sz="2200" dirty="0">
                <a:solidFill>
                  <a:srgbClr val="FF3300"/>
                </a:solidFill>
                <a:latin typeface="微软雅黑" panose="020B0503020204020204" pitchFamily="34" charset="-122"/>
                <a:ea typeface="微软雅黑" panose="020B0503020204020204" pitchFamily="34" charset="-122"/>
              </a:rPr>
              <a:t>型整数时，其值为</a:t>
            </a:r>
            <a:r>
              <a:rPr lang="en-US" altLang="zh-CN" sz="2200" dirty="0">
                <a:solidFill>
                  <a:srgbClr val="FF3300"/>
                </a:solidFill>
                <a:latin typeface="微软雅黑" panose="020B0503020204020204" pitchFamily="34" charset="-122"/>
                <a:ea typeface="微软雅黑" panose="020B0503020204020204" pitchFamily="34" charset="-122"/>
              </a:rPr>
              <a:t>-320</a:t>
            </a:r>
            <a:r>
              <a:rPr lang="zh-CN" altLang="en-US" sz="2200" dirty="0">
                <a:solidFill>
                  <a:srgbClr val="FF3300"/>
                </a:solidFill>
                <a:latin typeface="微软雅黑" panose="020B0503020204020204" pitchFamily="34" charset="-122"/>
                <a:ea typeface="微软雅黑" panose="020B0503020204020204" pitchFamily="34" charset="-122"/>
              </a:rPr>
              <a:t>。验证：</a:t>
            </a:r>
            <a:r>
              <a:rPr lang="en-US" altLang="zh-CN" sz="2200" dirty="0">
                <a:solidFill>
                  <a:srgbClr val="FF3300"/>
                </a:solidFill>
                <a:latin typeface="微软雅黑" panose="020B0503020204020204" pitchFamily="34" charset="-122"/>
                <a:ea typeface="微软雅黑" panose="020B0503020204020204" pitchFamily="34" charset="-122"/>
              </a:rPr>
              <a:t>x=-128</a:t>
            </a:r>
            <a:r>
              <a:rPr lang="zh-CN" altLang="en-US" sz="2200" dirty="0">
                <a:solidFill>
                  <a:srgbClr val="FF3300"/>
                </a:solidFill>
                <a:latin typeface="微软雅黑" panose="020B0503020204020204" pitchFamily="34" charset="-122"/>
                <a:ea typeface="微软雅黑" panose="020B0503020204020204" pitchFamily="34" charset="-122"/>
              </a:rPr>
              <a:t>，</a:t>
            </a:r>
            <a:r>
              <a:rPr lang="en-US" altLang="zh-CN" sz="2200" dirty="0">
                <a:solidFill>
                  <a:srgbClr val="FF3300"/>
                </a:solidFill>
                <a:latin typeface="微软雅黑" panose="020B0503020204020204" pitchFamily="34" charset="-122"/>
                <a:ea typeface="微软雅黑" panose="020B0503020204020204" pitchFamily="34" charset="-122"/>
              </a:rPr>
              <a:t>5x/2=-320</a:t>
            </a:r>
            <a:r>
              <a:rPr lang="zh-CN" altLang="en-US" sz="2200" dirty="0">
                <a:solidFill>
                  <a:srgbClr val="FF3300"/>
                </a:solidFill>
                <a:latin typeface="微软雅黑" panose="020B0503020204020204" pitchFamily="34" charset="-122"/>
                <a:ea typeface="微软雅黑" panose="020B0503020204020204" pitchFamily="34" charset="-122"/>
              </a:rPr>
              <a:t>。经验证，结果正确。</a:t>
            </a:r>
          </a:p>
        </p:txBody>
      </p:sp>
      <p:sp>
        <p:nvSpPr>
          <p:cNvPr id="11" name="Text Box 4"/>
          <p:cNvSpPr txBox="1">
            <a:spLocks noChangeArrowheads="1"/>
          </p:cNvSpPr>
          <p:nvPr/>
        </p:nvSpPr>
        <p:spPr bwMode="auto">
          <a:xfrm>
            <a:off x="3175000" y="2124075"/>
            <a:ext cx="36464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en-US" altLang="zh-CN" sz="2000">
                <a:solidFill>
                  <a:srgbClr val="CC3300"/>
                </a:solidFill>
                <a:ea typeface="微软雅黑" panose="020B0503020204020204" pitchFamily="34" charset="-122"/>
              </a:rPr>
              <a:t>1111 1111 1000 0000&lt;&lt;2</a:t>
            </a:r>
          </a:p>
        </p:txBody>
      </p:sp>
      <p:sp>
        <p:nvSpPr>
          <p:cNvPr id="12" name="Text Box 5"/>
          <p:cNvSpPr txBox="1">
            <a:spLocks noChangeArrowheads="1"/>
          </p:cNvSpPr>
          <p:nvPr/>
        </p:nvSpPr>
        <p:spPr bwMode="auto">
          <a:xfrm>
            <a:off x="3176588" y="2484438"/>
            <a:ext cx="5535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en-US" altLang="zh-CN" sz="2000">
                <a:solidFill>
                  <a:srgbClr val="CC3300"/>
                </a:solidFill>
                <a:ea typeface="微软雅黑" panose="020B0503020204020204" pitchFamily="34" charset="-122"/>
              </a:rPr>
              <a:t>1111 1111 1000 0000+</a:t>
            </a:r>
            <a:r>
              <a:rPr lang="en-US" altLang="zh-CN" sz="2000">
                <a:solidFill>
                  <a:srgbClr val="CC3300"/>
                </a:solidFill>
              </a:rPr>
              <a:t>1111 1110 0000 0000</a:t>
            </a:r>
          </a:p>
        </p:txBody>
      </p:sp>
      <p:sp>
        <p:nvSpPr>
          <p:cNvPr id="13" name="Text Box 6"/>
          <p:cNvSpPr txBox="1">
            <a:spLocks noChangeArrowheads="1"/>
          </p:cNvSpPr>
          <p:nvPr/>
        </p:nvSpPr>
        <p:spPr bwMode="auto">
          <a:xfrm>
            <a:off x="3176588" y="2897188"/>
            <a:ext cx="57610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en-US" altLang="zh-CN" sz="2000">
                <a:solidFill>
                  <a:srgbClr val="CC3300"/>
                </a:solidFill>
                <a:ea typeface="微软雅黑" panose="020B0503020204020204" pitchFamily="34" charset="-122"/>
              </a:rPr>
              <a:t>1111 1101 1000 0000&gt;&gt;</a:t>
            </a:r>
            <a:r>
              <a:rPr lang="en-US" altLang="zh-CN" sz="2000">
                <a:solidFill>
                  <a:srgbClr val="3333CC"/>
                </a:solidFill>
                <a:ea typeface="微软雅黑" panose="020B0503020204020204" pitchFamily="34" charset="-122"/>
              </a:rPr>
              <a:t>1=1111 1110 1100 0000</a:t>
            </a:r>
          </a:p>
        </p:txBody>
      </p:sp>
      <p:sp>
        <p:nvSpPr>
          <p:cNvPr id="14" name="Text Box 7"/>
          <p:cNvSpPr txBox="1">
            <a:spLocks noChangeArrowheads="1"/>
          </p:cNvSpPr>
          <p:nvPr/>
        </p:nvSpPr>
        <p:spPr bwMode="auto">
          <a:xfrm>
            <a:off x="746125" y="6219825"/>
            <a:ext cx="7426325"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zh-CN" altLang="en-US" sz="2000" dirty="0">
                <a:solidFill>
                  <a:srgbClr val="0066FF"/>
                </a:solidFill>
                <a:latin typeface="微软雅黑" panose="020B0503020204020204" pitchFamily="34" charset="-122"/>
                <a:ea typeface="微软雅黑" panose="020B0503020204020204" pitchFamily="34" charset="-122"/>
              </a:rPr>
              <a:t>逆向工程：从汇编指令推出高级语言程序代码</a:t>
            </a:r>
          </a:p>
        </p:txBody>
      </p:sp>
    </p:spTree>
    <p:extLst>
      <p:ext uri="{BB962C8B-B14F-4D97-AF65-F5344CB8AC3E}">
        <p14:creationId xmlns:p14="http://schemas.microsoft.com/office/powerpoint/2010/main" val="333849267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
                                            <p:txEl>
                                              <p:pRg st="5" end="5"/>
                                            </p:txEl>
                                          </p:spTgt>
                                        </p:tgtEl>
                                        <p:attrNameLst>
                                          <p:attrName>style.visibility</p:attrName>
                                        </p:attrNameLst>
                                      </p:cBhvr>
                                      <p:to>
                                        <p:strVal val="visible"/>
                                      </p:to>
                                    </p:set>
                                    <p:animEffect transition="in" filter="blinds(horizontal)">
                                      <p:cBhvr>
                                        <p:cTn id="22" dur="500"/>
                                        <p:tgtEl>
                                          <p:spTgt spid="10">
                                            <p:txEl>
                                              <p:pRg st="5" end="5"/>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animEffect transition="in" filter="blinds(horizontal)">
                                      <p:cBhvr>
                                        <p:cTn id="25" dur="500"/>
                                        <p:tgtEl>
                                          <p:spTgt spid="10">
                                            <p:txEl>
                                              <p:pRg st="6" end="6"/>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10">
                                            <p:txEl>
                                              <p:pRg st="7" end="7"/>
                                            </p:txEl>
                                          </p:spTgt>
                                        </p:tgtEl>
                                        <p:attrNameLst>
                                          <p:attrName>style.visibility</p:attrName>
                                        </p:attrNameLst>
                                      </p:cBhvr>
                                      <p:to>
                                        <p:strVal val="visible"/>
                                      </p:to>
                                    </p:set>
                                    <p:animEffect transition="in" filter="blinds(horizontal)">
                                      <p:cBhvr>
                                        <p:cTn id="28" dur="500"/>
                                        <p:tgtEl>
                                          <p:spTgt spid="10">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blinds(horizontal)">
                                      <p:cBhvr>
                                        <p:cTn id="3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noChangeArrowheads="1"/>
          </p:cNvSpPr>
          <p:nvPr>
            <p:ph type="title" idx="4294967295"/>
          </p:nvPr>
        </p:nvSpPr>
        <p:spPr>
          <a:xfrm>
            <a:off x="5427663" y="98425"/>
            <a:ext cx="3330575" cy="561975"/>
          </a:xfrm>
        </p:spPr>
        <p:txBody>
          <a:bodyPr>
            <a:normAutofit fontScale="90000"/>
          </a:bodyPr>
          <a:lstStyle/>
          <a:p>
            <a:r>
              <a:rPr lang="zh-CN" altLang="en-US" sz="3600"/>
              <a:t>移位指令举例</a:t>
            </a:r>
          </a:p>
        </p:txBody>
      </p:sp>
      <p:sp>
        <p:nvSpPr>
          <p:cNvPr id="46083" name="内容占位符 2"/>
          <p:cNvSpPr>
            <a:spLocks noGrp="1" noChangeArrowheads="1"/>
          </p:cNvSpPr>
          <p:nvPr>
            <p:ph idx="4294967295"/>
          </p:nvPr>
        </p:nvSpPr>
        <p:spPr/>
        <p:txBody>
          <a:bodyPr/>
          <a:lstStyle/>
          <a:p>
            <a:endParaRPr lang="zh-CN" altLang="en-US"/>
          </a:p>
        </p:txBody>
      </p:sp>
      <p:pic>
        <p:nvPicPr>
          <p:cNvPr id="73830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3213" y="654050"/>
            <a:ext cx="7570787" cy="61499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73830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75" y="233363"/>
            <a:ext cx="3897313" cy="3014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738310" name="Line 6"/>
          <p:cNvSpPr>
            <a:spLocks noChangeShapeType="1"/>
          </p:cNvSpPr>
          <p:nvPr/>
        </p:nvSpPr>
        <p:spPr bwMode="auto">
          <a:xfrm>
            <a:off x="2862263" y="1449388"/>
            <a:ext cx="4995862" cy="719137"/>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8311" name="Line 7"/>
          <p:cNvSpPr>
            <a:spLocks noChangeShapeType="1"/>
          </p:cNvSpPr>
          <p:nvPr/>
        </p:nvSpPr>
        <p:spPr bwMode="auto">
          <a:xfrm>
            <a:off x="3267075" y="2033588"/>
            <a:ext cx="4995863" cy="719137"/>
          </a:xfrm>
          <a:prstGeom prst="line">
            <a:avLst/>
          </a:prstGeom>
          <a:noFill/>
          <a:ln w="38100">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738312" name="Group 8"/>
          <p:cNvGrpSpPr>
            <a:grpSpLocks/>
          </p:cNvGrpSpPr>
          <p:nvPr/>
        </p:nvGrpSpPr>
        <p:grpSpPr bwMode="auto">
          <a:xfrm>
            <a:off x="3941763" y="2393950"/>
            <a:ext cx="4456112" cy="2430463"/>
            <a:chOff x="2483" y="1508"/>
            <a:chExt cx="2807" cy="1531"/>
          </a:xfrm>
        </p:grpSpPr>
        <p:sp>
          <p:nvSpPr>
            <p:cNvPr id="46096" name="Rectangle 9"/>
            <p:cNvSpPr>
              <a:spLocks noChangeArrowheads="1"/>
            </p:cNvSpPr>
            <p:nvPr/>
          </p:nvSpPr>
          <p:spPr bwMode="auto">
            <a:xfrm>
              <a:off x="3419" y="2132"/>
              <a:ext cx="1871" cy="907"/>
            </a:xfrm>
            <a:prstGeom prst="rect">
              <a:avLst/>
            </a:prstGeom>
            <a:noFill/>
            <a:ln w="28575" algn="ctr">
              <a:solidFill>
                <a:srgbClr val="FF33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800">
                <a:latin typeface="微软雅黑" panose="020B0503020204020204" pitchFamily="34" charset="-122"/>
                <a:ea typeface="微软雅黑" panose="020B0503020204020204" pitchFamily="34" charset="-122"/>
              </a:endParaRPr>
            </a:p>
          </p:txBody>
        </p:sp>
        <p:sp>
          <p:nvSpPr>
            <p:cNvPr id="46097" name="Line 10"/>
            <p:cNvSpPr>
              <a:spLocks noChangeShapeType="1"/>
            </p:cNvSpPr>
            <p:nvPr/>
          </p:nvSpPr>
          <p:spPr bwMode="auto">
            <a:xfrm>
              <a:off x="2483" y="1508"/>
              <a:ext cx="907" cy="595"/>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738315" name="Group 11"/>
          <p:cNvGrpSpPr>
            <a:grpSpLocks/>
          </p:cNvGrpSpPr>
          <p:nvPr/>
        </p:nvGrpSpPr>
        <p:grpSpPr bwMode="auto">
          <a:xfrm>
            <a:off x="3851275" y="2798763"/>
            <a:ext cx="4546600" cy="3484562"/>
            <a:chOff x="2426" y="1791"/>
            <a:chExt cx="2864" cy="2195"/>
          </a:xfrm>
        </p:grpSpPr>
        <p:sp>
          <p:nvSpPr>
            <p:cNvPr id="46094" name="Rectangle 12"/>
            <p:cNvSpPr>
              <a:spLocks noChangeArrowheads="1"/>
            </p:cNvSpPr>
            <p:nvPr/>
          </p:nvSpPr>
          <p:spPr bwMode="auto">
            <a:xfrm>
              <a:off x="3419" y="3067"/>
              <a:ext cx="1871" cy="919"/>
            </a:xfrm>
            <a:prstGeom prst="rect">
              <a:avLst/>
            </a:prstGeom>
            <a:noFill/>
            <a:ln w="38100" algn="ctr">
              <a:solidFill>
                <a:srgbClr val="3333CC"/>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800">
                <a:latin typeface="微软雅黑" panose="020B0503020204020204" pitchFamily="34" charset="-122"/>
                <a:ea typeface="微软雅黑" panose="020B0503020204020204" pitchFamily="34" charset="-122"/>
              </a:endParaRPr>
            </a:p>
          </p:txBody>
        </p:sp>
        <p:sp>
          <p:nvSpPr>
            <p:cNvPr id="46095" name="Line 13"/>
            <p:cNvSpPr>
              <a:spLocks noChangeShapeType="1"/>
            </p:cNvSpPr>
            <p:nvPr/>
          </p:nvSpPr>
          <p:spPr bwMode="auto">
            <a:xfrm>
              <a:off x="2426" y="1791"/>
              <a:ext cx="964" cy="1305"/>
            </a:xfrm>
            <a:prstGeom prst="line">
              <a:avLst/>
            </a:prstGeom>
            <a:noFill/>
            <a:ln w="38100">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738318" name="Line 14"/>
          <p:cNvSpPr>
            <a:spLocks noChangeShapeType="1"/>
          </p:cNvSpPr>
          <p:nvPr/>
        </p:nvSpPr>
        <p:spPr bwMode="auto">
          <a:xfrm>
            <a:off x="5381625" y="3924300"/>
            <a:ext cx="3600450" cy="0"/>
          </a:xfrm>
          <a:prstGeom prst="line">
            <a:avLst/>
          </a:prstGeom>
          <a:noFill/>
          <a:ln w="57150">
            <a:solidFill>
              <a:srgbClr val="FF33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8319" name="Line 15"/>
          <p:cNvSpPr>
            <a:spLocks noChangeShapeType="1"/>
          </p:cNvSpPr>
          <p:nvPr/>
        </p:nvSpPr>
        <p:spPr bwMode="auto">
          <a:xfrm flipV="1">
            <a:off x="5291138" y="5364163"/>
            <a:ext cx="3781425" cy="44450"/>
          </a:xfrm>
          <a:prstGeom prst="line">
            <a:avLst/>
          </a:prstGeom>
          <a:noFill/>
          <a:ln w="57150">
            <a:solidFill>
              <a:srgbClr val="33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8320" name="Text Box 16"/>
          <p:cNvSpPr txBox="1">
            <a:spLocks noChangeArrowheads="1"/>
          </p:cNvSpPr>
          <p:nvPr/>
        </p:nvSpPr>
        <p:spPr bwMode="auto">
          <a:xfrm>
            <a:off x="8442325" y="3563938"/>
            <a:ext cx="468313"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zh-CN" altLang="en-US" sz="1800">
                <a:latin typeface="微软雅黑" panose="020B0503020204020204" pitchFamily="34" charset="-122"/>
                <a:ea typeface="微软雅黑" panose="020B0503020204020204" pitchFamily="34" charset="-122"/>
              </a:rPr>
              <a:t>算术</a:t>
            </a:r>
          </a:p>
        </p:txBody>
      </p:sp>
      <p:sp>
        <p:nvSpPr>
          <p:cNvPr id="738321" name="Text Box 17"/>
          <p:cNvSpPr txBox="1">
            <a:spLocks noChangeArrowheads="1"/>
          </p:cNvSpPr>
          <p:nvPr/>
        </p:nvSpPr>
        <p:spPr bwMode="auto">
          <a:xfrm>
            <a:off x="8486775" y="4959350"/>
            <a:ext cx="468313"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zh-CN" altLang="en-US" sz="1800">
                <a:latin typeface="微软雅黑" panose="020B0503020204020204" pitchFamily="34" charset="-122"/>
                <a:ea typeface="微软雅黑" panose="020B0503020204020204" pitchFamily="34" charset="-122"/>
              </a:rPr>
              <a:t>逻辑</a:t>
            </a:r>
          </a:p>
        </p:txBody>
      </p:sp>
    </p:spTree>
    <p:extLst>
      <p:ext uri="{BB962C8B-B14F-4D97-AF65-F5344CB8AC3E}">
        <p14:creationId xmlns:p14="http://schemas.microsoft.com/office/powerpoint/2010/main" val="35164740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38309"/>
                                        </p:tgtEl>
                                        <p:attrNameLst>
                                          <p:attrName>style.visibility</p:attrName>
                                        </p:attrNameLst>
                                      </p:cBhvr>
                                      <p:to>
                                        <p:strVal val="visible"/>
                                      </p:to>
                                    </p:set>
                                    <p:animEffect transition="in" filter="blinds(horizontal)">
                                      <p:cBhvr>
                                        <p:cTn id="7" dur="500"/>
                                        <p:tgtEl>
                                          <p:spTgt spid="73830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38308"/>
                                        </p:tgtEl>
                                        <p:attrNameLst>
                                          <p:attrName>style.visibility</p:attrName>
                                        </p:attrNameLst>
                                      </p:cBhvr>
                                      <p:to>
                                        <p:strVal val="visible"/>
                                      </p:to>
                                    </p:set>
                                    <p:animEffect transition="in" filter="blinds(horizontal)">
                                      <p:cBhvr>
                                        <p:cTn id="12" dur="500"/>
                                        <p:tgtEl>
                                          <p:spTgt spid="7383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38310"/>
                                        </p:tgtEl>
                                        <p:attrNameLst>
                                          <p:attrName>style.visibility</p:attrName>
                                        </p:attrNameLst>
                                      </p:cBhvr>
                                      <p:to>
                                        <p:strVal val="visible"/>
                                      </p:to>
                                    </p:set>
                                    <p:animEffect transition="in" filter="blinds(horizontal)">
                                      <p:cBhvr>
                                        <p:cTn id="17" dur="500"/>
                                        <p:tgtEl>
                                          <p:spTgt spid="7383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38311"/>
                                        </p:tgtEl>
                                        <p:attrNameLst>
                                          <p:attrName>style.visibility</p:attrName>
                                        </p:attrNameLst>
                                      </p:cBhvr>
                                      <p:to>
                                        <p:strVal val="visible"/>
                                      </p:to>
                                    </p:set>
                                    <p:animEffect transition="in" filter="blinds(horizontal)">
                                      <p:cBhvr>
                                        <p:cTn id="22" dur="500"/>
                                        <p:tgtEl>
                                          <p:spTgt spid="7383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38312"/>
                                        </p:tgtEl>
                                        <p:attrNameLst>
                                          <p:attrName>style.visibility</p:attrName>
                                        </p:attrNameLst>
                                      </p:cBhvr>
                                      <p:to>
                                        <p:strVal val="visible"/>
                                      </p:to>
                                    </p:set>
                                    <p:animEffect transition="in" filter="blinds(horizontal)">
                                      <p:cBhvr>
                                        <p:cTn id="27" dur="500"/>
                                        <p:tgtEl>
                                          <p:spTgt spid="7383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38318"/>
                                        </p:tgtEl>
                                        <p:attrNameLst>
                                          <p:attrName>style.visibility</p:attrName>
                                        </p:attrNameLst>
                                      </p:cBhvr>
                                      <p:to>
                                        <p:strVal val="visible"/>
                                      </p:to>
                                    </p:set>
                                    <p:animEffect transition="in" filter="blinds(horizontal)">
                                      <p:cBhvr>
                                        <p:cTn id="32" dur="500"/>
                                        <p:tgtEl>
                                          <p:spTgt spid="73831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38320"/>
                                        </p:tgtEl>
                                        <p:attrNameLst>
                                          <p:attrName>style.visibility</p:attrName>
                                        </p:attrNameLst>
                                      </p:cBhvr>
                                      <p:to>
                                        <p:strVal val="visible"/>
                                      </p:to>
                                    </p:set>
                                    <p:animEffect transition="in" filter="blinds(horizontal)">
                                      <p:cBhvr>
                                        <p:cTn id="37" dur="500"/>
                                        <p:tgtEl>
                                          <p:spTgt spid="73832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738315"/>
                                        </p:tgtEl>
                                        <p:attrNameLst>
                                          <p:attrName>style.visibility</p:attrName>
                                        </p:attrNameLst>
                                      </p:cBhvr>
                                      <p:to>
                                        <p:strVal val="visible"/>
                                      </p:to>
                                    </p:set>
                                    <p:animEffect transition="in" filter="blinds(horizontal)">
                                      <p:cBhvr>
                                        <p:cTn id="42" dur="500"/>
                                        <p:tgtEl>
                                          <p:spTgt spid="73831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738319"/>
                                        </p:tgtEl>
                                        <p:attrNameLst>
                                          <p:attrName>style.visibility</p:attrName>
                                        </p:attrNameLst>
                                      </p:cBhvr>
                                      <p:to>
                                        <p:strVal val="visible"/>
                                      </p:to>
                                    </p:set>
                                    <p:animEffect transition="in" filter="blinds(horizontal)">
                                      <p:cBhvr>
                                        <p:cTn id="47" dur="500"/>
                                        <p:tgtEl>
                                          <p:spTgt spid="73831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738321"/>
                                        </p:tgtEl>
                                        <p:attrNameLst>
                                          <p:attrName>style.visibility</p:attrName>
                                        </p:attrNameLst>
                                      </p:cBhvr>
                                      <p:to>
                                        <p:strVal val="visible"/>
                                      </p:to>
                                    </p:set>
                                    <p:animEffect transition="in" filter="blinds(horizontal)">
                                      <p:cBhvr>
                                        <p:cTn id="52" dur="500"/>
                                        <p:tgtEl>
                                          <p:spTgt spid="7383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8320" grpId="0"/>
      <p:bldP spid="73832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假设</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short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型变量</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x</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被分配在寄存器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AX</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中，若</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R[ax]=FF70H</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，则执行指令“</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salw</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$2, %ax</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”后，变量</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x</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的机器数和真值分别是（）</a:t>
            </a:r>
          </a:p>
        </p:txBody>
      </p:sp>
      <p:sp>
        <p:nvSpPr>
          <p:cNvPr id="4" name="文本框 3"/>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FDC0H</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-576</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FFDCH</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-36</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FDC3H</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-573</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3FDCH</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16384</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椭圆 7"/>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19" name="矩形 18"/>
          <p:cNvSpPr/>
          <p:nvPr>
            <p:custDataLst>
              <p:tags r:id="rId12"/>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24" name="文本框 23"/>
          <p:cNvSpPr txBox="1"/>
          <p:nvPr>
            <p:custDataLst>
              <p:tags r:id="rId13"/>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可为此题添加文本、图片、公式等解析，且需将内容全部放在本区域内。正常使用需</a:t>
            </a:r>
            <a:r>
              <a:rPr lang="en-US" altLang="zh-CN" sz="12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a:t>
            </a:r>
          </a:p>
        </p:txBody>
      </p:sp>
      <p:sp>
        <p:nvSpPr>
          <p:cNvPr id="25" name="文本框 24"/>
          <p:cNvSpPr txBox="1"/>
          <p:nvPr>
            <p:custDataLst>
              <p:tags r:id="rId14"/>
            </p:custDataLst>
          </p:nvPr>
        </p:nvSpPr>
        <p:spPr>
          <a:xfrm>
            <a:off x="9525000" y="1282045"/>
            <a:ext cx="3840480" cy="400110"/>
          </a:xfrm>
          <a:prstGeom prst="rect">
            <a:avLst/>
          </a:prstGeom>
          <a:noFill/>
        </p:spPr>
        <p:txBody>
          <a:bodyPr vert="horz" wrap="square" rtlCol="0" anchor="t" anchorCtr="0">
            <a:spAutoFit/>
          </a:bodyPr>
          <a:lstStyle/>
          <a:p>
            <a:pPr lvl="0"/>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23" name="组合 22"/>
          <p:cNvGrpSpPr/>
          <p:nvPr>
            <p:custDataLst>
              <p:tags r:id="rId15"/>
            </p:custDataLst>
          </p:nvPr>
        </p:nvGrpSpPr>
        <p:grpSpPr>
          <a:xfrm>
            <a:off x="9537700" y="0"/>
            <a:ext cx="3815080" cy="647700"/>
            <a:chOff x="9537700" y="0"/>
            <a:chExt cx="3815080" cy="647700"/>
          </a:xfrm>
        </p:grpSpPr>
        <p:sp>
          <p:nvSpPr>
            <p:cNvPr id="20" name="RemarkBack"/>
            <p:cNvSpPr/>
            <p:nvPr>
              <p:custDataLst>
                <p:tags r:id="rId25"/>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emarkBlock"/>
            <p:cNvSpPr/>
            <p:nvPr>
              <p:custDataLst>
                <p:tags r:id="rId26"/>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markTitleText"/>
            <p:cNvSpPr txBox="1"/>
            <p:nvPr>
              <p:custDataLst>
                <p:tags r:id="rId27"/>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sp>
        <p:nvSpPr>
          <p:cNvPr id="18" name="RemarkBack"/>
          <p:cNvSpPr/>
          <p:nvPr>
            <p:custDataLst>
              <p:tags r:id="rId16"/>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RemarkBlock"/>
          <p:cNvSpPr/>
          <p:nvPr>
            <p:custDataLst>
              <p:tags r:id="rId17"/>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RemarkTitleText"/>
          <p:cNvSpPr txBox="1"/>
          <p:nvPr>
            <p:custDataLst>
              <p:tags r:id="rId18"/>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nvGrpSpPr>
          <p:cNvPr id="17" name="组合 16"/>
          <p:cNvGrpSpPr/>
          <p:nvPr>
            <p:custDataLst>
              <p:tags r:id="rId19"/>
            </p:custDataLst>
          </p:nvPr>
        </p:nvGrpSpPr>
        <p:grpSpPr>
          <a:xfrm>
            <a:off x="0" y="0"/>
            <a:ext cx="9144000" cy="635000"/>
            <a:chOff x="0" y="0"/>
            <a:chExt cx="9144000" cy="635000"/>
          </a:xfrm>
        </p:grpSpPr>
        <p:sp>
          <p:nvSpPr>
            <p:cNvPr id="13" name="TitleBackground"/>
            <p:cNvSpPr/>
            <p:nvPr>
              <p:custDataLst>
                <p:tags r:id="rId21"/>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22"/>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23"/>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24"/>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20"/>
            </p:custDataLst>
          </p:nvPr>
        </p:nvPicPr>
        <p:blipFill>
          <a:blip r:embed="rId2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4069006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0" nodeType="clickEffect">
                                  <p:stCondLst>
                                    <p:cond delay="0"/>
                                  </p:stCondLst>
                                  <p:childTnLst>
                                    <p:animClr clrSpc="rgb" dir="cw">
                                      <p:cBhvr override="childStyle">
                                        <p:cTn id="6" dur="500" fill="hold"/>
                                        <p:tgtEl>
                                          <p:spTgt spid="8"/>
                                        </p:tgtEl>
                                        <p:attrNameLst>
                                          <p:attrName>style.color</p:attrName>
                                        </p:attrNameLst>
                                      </p:cBhvr>
                                      <p:to>
                                        <a:srgbClr val="FF0000"/>
                                      </p:to>
                                    </p:animClr>
                                    <p:animClr clrSpc="rgb" dir="cw">
                                      <p:cBhvr>
                                        <p:cTn id="7" dur="500" fill="hold"/>
                                        <p:tgtEl>
                                          <p:spTgt spid="8"/>
                                        </p:tgtEl>
                                        <p:attrNameLst>
                                          <p:attrName>fillcolor</p:attrName>
                                        </p:attrNameLst>
                                      </p:cBhvr>
                                      <p:to>
                                        <a:srgbClr val="FF0000"/>
                                      </p:to>
                                    </p:animClr>
                                    <p:set>
                                      <p:cBhvr>
                                        <p:cTn id="8" dur="500" fill="hold"/>
                                        <p:tgtEl>
                                          <p:spTgt spid="8"/>
                                        </p:tgtEl>
                                        <p:attrNameLst>
                                          <p:attrName>fill.type</p:attrName>
                                        </p:attrNameLst>
                                      </p:cBhvr>
                                      <p:to>
                                        <p:strVal val="solid"/>
                                      </p:to>
                                    </p:set>
                                    <p:set>
                                      <p:cBhvr>
                                        <p:cTn id="9" dur="500" fill="hold"/>
                                        <p:tgtEl>
                                          <p:spTgt spid="8"/>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chemeClr val="accent6">
                    <a:lumMod val="50000"/>
                  </a:schemeClr>
                </a:solidFill>
              </a:rPr>
              <a:t>提纲</a:t>
            </a:r>
          </a:p>
        </p:txBody>
      </p:sp>
      <p:sp>
        <p:nvSpPr>
          <p:cNvPr id="3" name="内容占位符 2"/>
          <p:cNvSpPr>
            <a:spLocks noGrp="1"/>
          </p:cNvSpPr>
          <p:nvPr>
            <p:ph idx="1"/>
          </p:nvPr>
        </p:nvSpPr>
        <p:spPr/>
        <p:txBody>
          <a:bodyPr>
            <a:normAutofit/>
          </a:bodyPr>
          <a:lstStyle/>
          <a:p>
            <a:pPr indent="-540000">
              <a:lnSpc>
                <a:spcPct val="150000"/>
              </a:lnSpc>
              <a:buFont typeface="Wingdings" panose="05000000000000000000" pitchFamily="2" charset="2"/>
              <a:buChar char="Ø"/>
            </a:pPr>
            <a:r>
              <a:rPr lang="zh-CN" altLang="en-US" dirty="0"/>
              <a:t>传送指令</a:t>
            </a:r>
            <a:endParaRPr lang="en-US" altLang="zh-CN" dirty="0"/>
          </a:p>
          <a:p>
            <a:pPr indent="-540000">
              <a:lnSpc>
                <a:spcPct val="150000"/>
              </a:lnSpc>
              <a:buFont typeface="Wingdings" panose="05000000000000000000" pitchFamily="2" charset="2"/>
              <a:buChar char="Ø"/>
            </a:pPr>
            <a:r>
              <a:rPr lang="zh-CN" altLang="en-US" dirty="0"/>
              <a:t>定点算术运算指令</a:t>
            </a:r>
            <a:endParaRPr lang="en-US" altLang="zh-CN" dirty="0"/>
          </a:p>
          <a:p>
            <a:pPr indent="-540000">
              <a:lnSpc>
                <a:spcPct val="150000"/>
              </a:lnSpc>
              <a:buFont typeface="Wingdings" panose="05000000000000000000" pitchFamily="2" charset="2"/>
              <a:buChar char="Ø"/>
            </a:pPr>
            <a:r>
              <a:rPr lang="zh-CN" altLang="en-US" dirty="0"/>
              <a:t>按位运算指令</a:t>
            </a:r>
            <a:endParaRPr lang="en-US" altLang="zh-CN" dirty="0"/>
          </a:p>
          <a:p>
            <a:pPr indent="-540000">
              <a:lnSpc>
                <a:spcPct val="150000"/>
              </a:lnSpc>
              <a:buFont typeface="Wingdings" panose="05000000000000000000" pitchFamily="2" charset="2"/>
              <a:buChar char="Ø"/>
            </a:pPr>
            <a:r>
              <a:rPr lang="zh-CN" altLang="en-US" dirty="0">
                <a:solidFill>
                  <a:srgbClr val="FF0000"/>
                </a:solidFill>
              </a:rPr>
              <a:t>控制转移指令</a:t>
            </a:r>
            <a:endParaRPr lang="en-US" altLang="zh-CN" dirty="0">
              <a:solidFill>
                <a:srgbClr val="FF0000"/>
              </a:solidFill>
            </a:endParaRPr>
          </a:p>
          <a:p>
            <a:pPr indent="-540000">
              <a:lnSpc>
                <a:spcPct val="150000"/>
              </a:lnSpc>
              <a:buFont typeface="Wingdings" panose="05000000000000000000" pitchFamily="2" charset="2"/>
              <a:buChar char="Ø"/>
            </a:pPr>
            <a:r>
              <a:rPr lang="en-US" altLang="zh-CN" dirty="0"/>
              <a:t>x87</a:t>
            </a:r>
            <a:r>
              <a:rPr lang="zh-CN" altLang="en-US" dirty="0"/>
              <a:t>浮点处理指令和</a:t>
            </a:r>
            <a:r>
              <a:rPr lang="en-US" altLang="zh-CN" dirty="0"/>
              <a:t>MMX/SSE</a:t>
            </a:r>
            <a:r>
              <a:rPr lang="zh-CN" altLang="en-US" dirty="0"/>
              <a:t>指令集</a:t>
            </a:r>
            <a:endParaRPr lang="en-US" altLang="zh-CN" dirty="0"/>
          </a:p>
        </p:txBody>
      </p:sp>
    </p:spTree>
    <p:extLst>
      <p:ext uri="{BB962C8B-B14F-4D97-AF65-F5344CB8AC3E}">
        <p14:creationId xmlns:p14="http://schemas.microsoft.com/office/powerpoint/2010/main" val="3536576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8229600" cy="1143000"/>
          </a:xfrm>
        </p:spPr>
        <p:txBody>
          <a:bodyPr>
            <a:normAutofit/>
          </a:bodyPr>
          <a:lstStyle/>
          <a:p>
            <a:r>
              <a:rPr lang="zh-CN" altLang="en-US" sz="4000" dirty="0">
                <a:solidFill>
                  <a:srgbClr val="C00000"/>
                </a:solidFill>
              </a:rPr>
              <a:t>控制转移指令</a:t>
            </a:r>
          </a:p>
        </p:txBody>
      </p:sp>
      <p:sp>
        <p:nvSpPr>
          <p:cNvPr id="3" name="内容占位符 2"/>
          <p:cNvSpPr>
            <a:spLocks noGrp="1"/>
          </p:cNvSpPr>
          <p:nvPr>
            <p:ph idx="1"/>
          </p:nvPr>
        </p:nvSpPr>
        <p:spPr>
          <a:xfrm>
            <a:off x="457200" y="1143000"/>
            <a:ext cx="8229600" cy="5166320"/>
          </a:xfrm>
        </p:spPr>
        <p:txBody>
          <a:bodyPr>
            <a:normAutofit/>
          </a:bodyPr>
          <a:lstStyle/>
          <a:p>
            <a:pPr lvl="0" eaLnBrk="0" fontAlgn="base" hangingPunct="0">
              <a:lnSpc>
                <a:spcPct val="115000"/>
              </a:lnSpc>
              <a:spcAft>
                <a:spcPct val="0"/>
              </a:spcAft>
              <a:buNone/>
            </a:pPr>
            <a:r>
              <a:rPr lang="zh-CN" altLang="en-US" sz="2000" b="1" kern="0" dirty="0">
                <a:solidFill>
                  <a:srgbClr val="000000"/>
                </a:solidFill>
                <a:latin typeface="微软雅黑" panose="020B0503020204020204" pitchFamily="34" charset="-122"/>
                <a:ea typeface="微软雅黑" panose="020B0503020204020204" pitchFamily="34" charset="-122"/>
              </a:rPr>
              <a:t>指令执行可</a:t>
            </a:r>
            <a:r>
              <a:rPr lang="zh-CN" altLang="en-US" sz="2000" b="1" kern="0" dirty="0">
                <a:solidFill>
                  <a:srgbClr val="FF3300"/>
                </a:solidFill>
                <a:latin typeface="微软雅黑" panose="020B0503020204020204" pitchFamily="34" charset="-122"/>
                <a:ea typeface="微软雅黑" panose="020B0503020204020204" pitchFamily="34" charset="-122"/>
              </a:rPr>
              <a:t>按顺序</a:t>
            </a:r>
            <a:r>
              <a:rPr lang="zh-CN" altLang="en-US" sz="2000" b="1" kern="0" dirty="0">
                <a:solidFill>
                  <a:srgbClr val="000000"/>
                </a:solidFill>
                <a:latin typeface="微软雅黑" panose="020B0503020204020204" pitchFamily="34" charset="-122"/>
                <a:ea typeface="微软雅黑" panose="020B0503020204020204" pitchFamily="34" charset="-122"/>
              </a:rPr>
              <a:t> 或 </a:t>
            </a:r>
            <a:r>
              <a:rPr lang="zh-CN" altLang="en-US" sz="2000" b="1" kern="0" dirty="0">
                <a:solidFill>
                  <a:srgbClr val="FF3300"/>
                </a:solidFill>
                <a:latin typeface="微软雅黑" panose="020B0503020204020204" pitchFamily="34" charset="-122"/>
                <a:ea typeface="微软雅黑" panose="020B0503020204020204" pitchFamily="34" charset="-122"/>
              </a:rPr>
              <a:t>跳转到转移目标指令处</a:t>
            </a:r>
            <a:r>
              <a:rPr lang="zh-CN" altLang="en-US" sz="2000" b="1" kern="0" dirty="0">
                <a:solidFill>
                  <a:srgbClr val="000000"/>
                </a:solidFill>
                <a:latin typeface="微软雅黑" panose="020B0503020204020204" pitchFamily="34" charset="-122"/>
                <a:ea typeface="微软雅黑" panose="020B0503020204020204" pitchFamily="34" charset="-122"/>
              </a:rPr>
              <a:t>执行</a:t>
            </a:r>
          </a:p>
          <a:p>
            <a:pPr lvl="1" eaLnBrk="0" fontAlgn="base" hangingPunct="0">
              <a:lnSpc>
                <a:spcPct val="110000"/>
              </a:lnSpc>
              <a:spcAft>
                <a:spcPct val="0"/>
              </a:spcAft>
              <a:buFontTx/>
              <a:buChar char="–"/>
            </a:pPr>
            <a:r>
              <a:rPr lang="zh-CN" altLang="en-US" sz="2000" b="1" kern="0" dirty="0">
                <a:solidFill>
                  <a:srgbClr val="0000CC"/>
                </a:solidFill>
                <a:latin typeface="微软雅黑" panose="020B0503020204020204" pitchFamily="34" charset="-122"/>
                <a:ea typeface="微软雅黑" panose="020B0503020204020204" pitchFamily="34" charset="-122"/>
              </a:rPr>
              <a:t>无条件转移指令</a:t>
            </a:r>
          </a:p>
          <a:p>
            <a:pPr lvl="2" eaLnBrk="0" fontAlgn="base" hangingPunct="0">
              <a:lnSpc>
                <a:spcPct val="110000"/>
              </a:lnSpc>
              <a:spcAft>
                <a:spcPct val="0"/>
              </a:spcAft>
              <a:buNone/>
            </a:pPr>
            <a:r>
              <a:rPr lang="en-US" altLang="zh-CN" sz="2000" b="1" kern="0" dirty="0">
                <a:solidFill>
                  <a:srgbClr val="006600"/>
                </a:solidFill>
                <a:latin typeface="微软雅黑" panose="020B0503020204020204" pitchFamily="34" charset="-122"/>
                <a:ea typeface="微软雅黑" panose="020B0503020204020204" pitchFamily="34" charset="-122"/>
              </a:rPr>
              <a:t>JMP DST</a:t>
            </a:r>
            <a:r>
              <a:rPr lang="zh-CN" altLang="en-US" sz="2000" b="1" kern="0" dirty="0">
                <a:solidFill>
                  <a:srgbClr val="006600"/>
                </a:solidFill>
                <a:latin typeface="微软雅黑" panose="020B0503020204020204" pitchFamily="34" charset="-122"/>
                <a:ea typeface="微软雅黑" panose="020B0503020204020204" pitchFamily="34" charset="-122"/>
              </a:rPr>
              <a:t>：无条件转移到目标指令</a:t>
            </a:r>
            <a:r>
              <a:rPr lang="en-US" altLang="zh-CN" sz="2000" b="1" kern="0" dirty="0">
                <a:solidFill>
                  <a:srgbClr val="006600"/>
                </a:solidFill>
                <a:latin typeface="微软雅黑" panose="020B0503020204020204" pitchFamily="34" charset="-122"/>
                <a:ea typeface="微软雅黑" panose="020B0503020204020204" pitchFamily="34" charset="-122"/>
              </a:rPr>
              <a:t>DST</a:t>
            </a:r>
            <a:r>
              <a:rPr lang="zh-CN" altLang="en-US" sz="2000" b="1" kern="0" dirty="0">
                <a:solidFill>
                  <a:srgbClr val="006600"/>
                </a:solidFill>
                <a:latin typeface="微软雅黑" panose="020B0503020204020204" pitchFamily="34" charset="-122"/>
                <a:ea typeface="微软雅黑" panose="020B0503020204020204" pitchFamily="34" charset="-122"/>
              </a:rPr>
              <a:t>处执行</a:t>
            </a:r>
          </a:p>
          <a:p>
            <a:pPr lvl="1" eaLnBrk="0" fontAlgn="base" hangingPunct="0">
              <a:lnSpc>
                <a:spcPct val="110000"/>
              </a:lnSpc>
              <a:spcAft>
                <a:spcPct val="0"/>
              </a:spcAft>
              <a:buFontTx/>
              <a:buChar char="–"/>
            </a:pPr>
            <a:r>
              <a:rPr lang="zh-CN" altLang="en-US" sz="2000" b="1" kern="0" dirty="0">
                <a:solidFill>
                  <a:srgbClr val="0000CC"/>
                </a:solidFill>
                <a:latin typeface="微软雅黑" panose="020B0503020204020204" pitchFamily="34" charset="-122"/>
                <a:ea typeface="微软雅黑" panose="020B0503020204020204" pitchFamily="34" charset="-122"/>
                <a:hlinkClick r:id="" action="ppaction://hlinkshowjump?jump=nextslide"/>
              </a:rPr>
              <a:t>条件转移</a:t>
            </a:r>
            <a:endParaRPr lang="zh-CN" altLang="en-US" sz="2000" b="1" kern="0" dirty="0">
              <a:solidFill>
                <a:srgbClr val="0000CC"/>
              </a:solidFill>
              <a:latin typeface="微软雅黑" panose="020B0503020204020204" pitchFamily="34" charset="-122"/>
              <a:ea typeface="微软雅黑" panose="020B0503020204020204" pitchFamily="34" charset="-122"/>
            </a:endParaRPr>
          </a:p>
          <a:p>
            <a:pPr lvl="2" eaLnBrk="0" fontAlgn="base" hangingPunct="0">
              <a:lnSpc>
                <a:spcPct val="110000"/>
              </a:lnSpc>
              <a:spcAft>
                <a:spcPct val="0"/>
              </a:spcAft>
              <a:buNone/>
            </a:pPr>
            <a:r>
              <a:rPr lang="en-US" altLang="zh-CN" sz="2000" b="1" kern="0" dirty="0" err="1">
                <a:solidFill>
                  <a:srgbClr val="006600"/>
                </a:solidFill>
                <a:latin typeface="微软雅黑" panose="020B0503020204020204" pitchFamily="34" charset="-122"/>
                <a:ea typeface="微软雅黑" panose="020B0503020204020204" pitchFamily="34" charset="-122"/>
              </a:rPr>
              <a:t>Jcc</a:t>
            </a:r>
            <a:r>
              <a:rPr lang="en-US" altLang="zh-CN" sz="2000" b="1" kern="0" dirty="0">
                <a:solidFill>
                  <a:srgbClr val="006600"/>
                </a:solidFill>
                <a:latin typeface="微软雅黑" panose="020B0503020204020204" pitchFamily="34" charset="-122"/>
                <a:ea typeface="微软雅黑" panose="020B0503020204020204" pitchFamily="34" charset="-122"/>
              </a:rPr>
              <a:t> DST</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a:solidFill>
                  <a:srgbClr val="006600"/>
                </a:solidFill>
                <a:latin typeface="微软雅黑" panose="020B0503020204020204" pitchFamily="34" charset="-122"/>
                <a:ea typeface="微软雅黑" panose="020B0503020204020204" pitchFamily="34" charset="-122"/>
              </a:rPr>
              <a:t>cc</a:t>
            </a:r>
            <a:r>
              <a:rPr lang="zh-CN" altLang="en-US" sz="2000" b="1" kern="0" dirty="0">
                <a:solidFill>
                  <a:srgbClr val="006600"/>
                </a:solidFill>
                <a:latin typeface="微软雅黑" panose="020B0503020204020204" pitchFamily="34" charset="-122"/>
                <a:ea typeface="微软雅黑" panose="020B0503020204020204" pitchFamily="34" charset="-122"/>
              </a:rPr>
              <a:t>为条件码，根据标志（条件码）判断是否满足条件，若满足，则转移到目标指令</a:t>
            </a:r>
            <a:r>
              <a:rPr lang="en-US" altLang="zh-CN" sz="2000" b="1" kern="0" dirty="0">
                <a:solidFill>
                  <a:srgbClr val="006600"/>
                </a:solidFill>
                <a:latin typeface="微软雅黑" panose="020B0503020204020204" pitchFamily="34" charset="-122"/>
                <a:ea typeface="微软雅黑" panose="020B0503020204020204" pitchFamily="34" charset="-122"/>
              </a:rPr>
              <a:t>DST</a:t>
            </a:r>
            <a:r>
              <a:rPr lang="zh-CN" altLang="en-US" sz="2000" b="1" kern="0" dirty="0">
                <a:solidFill>
                  <a:srgbClr val="006600"/>
                </a:solidFill>
                <a:latin typeface="微软雅黑" panose="020B0503020204020204" pitchFamily="34" charset="-122"/>
                <a:ea typeface="微软雅黑" panose="020B0503020204020204" pitchFamily="34" charset="-122"/>
              </a:rPr>
              <a:t>处执行，否则按顺序执行</a:t>
            </a:r>
          </a:p>
          <a:p>
            <a:pPr lvl="1" eaLnBrk="0" fontAlgn="base" hangingPunct="0">
              <a:lnSpc>
                <a:spcPct val="110000"/>
              </a:lnSpc>
              <a:spcAft>
                <a:spcPct val="0"/>
              </a:spcAft>
              <a:buFontTx/>
              <a:buChar char="–"/>
            </a:pPr>
            <a:r>
              <a:rPr lang="zh-CN" altLang="en-US" sz="2000" b="1" kern="0" dirty="0">
                <a:solidFill>
                  <a:srgbClr val="0000CC"/>
                </a:solidFill>
                <a:latin typeface="微软雅黑" panose="020B0503020204020204" pitchFamily="34" charset="-122"/>
                <a:ea typeface="微软雅黑" panose="020B0503020204020204" pitchFamily="34" charset="-122"/>
              </a:rPr>
              <a:t>条件设置</a:t>
            </a:r>
          </a:p>
          <a:p>
            <a:pPr lvl="2" eaLnBrk="0" fontAlgn="base" hangingPunct="0">
              <a:lnSpc>
                <a:spcPct val="110000"/>
              </a:lnSpc>
              <a:spcAft>
                <a:spcPct val="0"/>
              </a:spcAft>
              <a:buNone/>
            </a:pPr>
            <a:r>
              <a:rPr lang="en-US" altLang="zh-CN" sz="2000" b="1" kern="0" dirty="0" err="1">
                <a:solidFill>
                  <a:srgbClr val="006600"/>
                </a:solidFill>
                <a:latin typeface="微软雅黑" panose="020B0503020204020204" pitchFamily="34" charset="-122"/>
                <a:ea typeface="微软雅黑" panose="020B0503020204020204" pitchFamily="34" charset="-122"/>
              </a:rPr>
              <a:t>SETcc</a:t>
            </a:r>
            <a:r>
              <a:rPr lang="en-US" altLang="zh-CN" sz="2000" b="1" kern="0" dirty="0">
                <a:solidFill>
                  <a:srgbClr val="006600"/>
                </a:solidFill>
                <a:latin typeface="微软雅黑" panose="020B0503020204020204" pitchFamily="34" charset="-122"/>
                <a:ea typeface="微软雅黑" panose="020B0503020204020204" pitchFamily="34" charset="-122"/>
              </a:rPr>
              <a:t> DST</a:t>
            </a:r>
            <a:r>
              <a:rPr lang="zh-CN" altLang="en-US" sz="2000" b="1" kern="0" dirty="0">
                <a:solidFill>
                  <a:srgbClr val="006600"/>
                </a:solidFill>
                <a:latin typeface="微软雅黑" panose="020B0503020204020204" pitchFamily="34" charset="-122"/>
                <a:ea typeface="微软雅黑" panose="020B0503020204020204" pitchFamily="34" charset="-122"/>
              </a:rPr>
              <a:t>：将条件码</a:t>
            </a:r>
            <a:r>
              <a:rPr lang="en-US" altLang="zh-CN" sz="2000" b="1" kern="0" dirty="0">
                <a:solidFill>
                  <a:srgbClr val="006600"/>
                </a:solidFill>
                <a:latin typeface="微软雅黑" panose="020B0503020204020204" pitchFamily="34" charset="-122"/>
                <a:ea typeface="微软雅黑" panose="020B0503020204020204" pitchFamily="34" charset="-122"/>
              </a:rPr>
              <a:t>cc</a:t>
            </a:r>
            <a:r>
              <a:rPr lang="zh-CN" altLang="en-US" sz="2000" b="1" kern="0" dirty="0">
                <a:solidFill>
                  <a:srgbClr val="006600"/>
                </a:solidFill>
                <a:latin typeface="微软雅黑" panose="020B0503020204020204" pitchFamily="34" charset="-122"/>
                <a:ea typeface="微软雅黑" panose="020B0503020204020204" pitchFamily="34" charset="-122"/>
              </a:rPr>
              <a:t>保存到</a:t>
            </a:r>
            <a:r>
              <a:rPr lang="en-US" altLang="zh-CN" sz="2000" b="1" kern="0" dirty="0">
                <a:solidFill>
                  <a:srgbClr val="006600"/>
                </a:solidFill>
                <a:latin typeface="微软雅黑" panose="020B0503020204020204" pitchFamily="34" charset="-122"/>
                <a:ea typeface="微软雅黑" panose="020B0503020204020204" pitchFamily="34" charset="-122"/>
              </a:rPr>
              <a:t>DST</a:t>
            </a:r>
            <a:r>
              <a:rPr lang="zh-CN" altLang="en-US" sz="2000" b="1" kern="0" dirty="0">
                <a:solidFill>
                  <a:srgbClr val="006600"/>
                </a:solidFill>
                <a:latin typeface="微软雅黑" panose="020B0503020204020204" pitchFamily="34" charset="-122"/>
                <a:ea typeface="微软雅黑" panose="020B0503020204020204" pitchFamily="34" charset="-122"/>
              </a:rPr>
              <a:t>（通常是一个</a:t>
            </a:r>
            <a:r>
              <a:rPr lang="en-US" altLang="zh-CN" sz="2000" b="1" kern="0" dirty="0">
                <a:solidFill>
                  <a:srgbClr val="006600"/>
                </a:solidFill>
                <a:latin typeface="微软雅黑" panose="020B0503020204020204" pitchFamily="34" charset="-122"/>
                <a:ea typeface="微软雅黑" panose="020B0503020204020204" pitchFamily="34" charset="-122"/>
              </a:rPr>
              <a:t>8</a:t>
            </a:r>
            <a:r>
              <a:rPr lang="zh-CN" altLang="en-US" sz="2000" b="1" kern="0" dirty="0">
                <a:solidFill>
                  <a:srgbClr val="006600"/>
                </a:solidFill>
                <a:latin typeface="微软雅黑" panose="020B0503020204020204" pitchFamily="34" charset="-122"/>
                <a:ea typeface="微软雅黑" panose="020B0503020204020204" pitchFamily="34" charset="-122"/>
              </a:rPr>
              <a:t>位寄存器 ）</a:t>
            </a:r>
          </a:p>
          <a:p>
            <a:pPr lvl="1" eaLnBrk="0" fontAlgn="base" hangingPunct="0">
              <a:lnSpc>
                <a:spcPct val="110000"/>
              </a:lnSpc>
              <a:spcAft>
                <a:spcPct val="0"/>
              </a:spcAft>
              <a:buFontTx/>
              <a:buChar char="–"/>
            </a:pPr>
            <a:r>
              <a:rPr lang="zh-CN" altLang="en-US" sz="2000" b="1" kern="0" dirty="0">
                <a:solidFill>
                  <a:srgbClr val="0000CC"/>
                </a:solidFill>
                <a:latin typeface="Arial"/>
                <a:ea typeface="微软雅黑" panose="020B0503020204020204" pitchFamily="34" charset="-122"/>
              </a:rPr>
              <a:t>调用和返回指令</a:t>
            </a:r>
            <a:r>
              <a:rPr lang="zh-CN" altLang="en-US" sz="2000" b="1" kern="0" dirty="0">
                <a:solidFill>
                  <a:srgbClr val="0000CC"/>
                </a:solidFill>
                <a:latin typeface="Arial"/>
                <a:ea typeface="宋体"/>
              </a:rPr>
              <a:t> </a:t>
            </a:r>
            <a:r>
              <a:rPr lang="zh-CN" altLang="en-US" sz="2000" b="1" kern="0" dirty="0">
                <a:solidFill>
                  <a:srgbClr val="CC3300"/>
                </a:solidFill>
                <a:latin typeface="Arial"/>
                <a:ea typeface="微软雅黑" panose="020B0503020204020204" pitchFamily="34" charset="-122"/>
              </a:rPr>
              <a:t>（用于过程调用）</a:t>
            </a:r>
          </a:p>
          <a:p>
            <a:pPr lvl="2" eaLnBrk="0" fontAlgn="base" hangingPunct="0">
              <a:lnSpc>
                <a:spcPct val="110000"/>
              </a:lnSpc>
              <a:spcAft>
                <a:spcPct val="0"/>
              </a:spcAft>
              <a:buNone/>
            </a:pPr>
            <a:r>
              <a:rPr lang="en-US" altLang="zh-CN" sz="2000" b="1" kern="0" dirty="0">
                <a:solidFill>
                  <a:srgbClr val="006600"/>
                </a:solidFill>
                <a:latin typeface="微软雅黑" panose="020B0503020204020204" pitchFamily="34" charset="-122"/>
                <a:ea typeface="微软雅黑" panose="020B0503020204020204" pitchFamily="34" charset="-122"/>
              </a:rPr>
              <a:t>CALL DST</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zh-CN" altLang="en-US" sz="2000" b="1" kern="0" dirty="0">
                <a:solidFill>
                  <a:srgbClr val="FF3300"/>
                </a:solidFill>
                <a:latin typeface="微软雅黑" panose="020B0503020204020204" pitchFamily="34" charset="-122"/>
                <a:ea typeface="微软雅黑" panose="020B0503020204020204" pitchFamily="34" charset="-122"/>
              </a:rPr>
              <a:t>返回地址</a:t>
            </a:r>
            <a:r>
              <a:rPr lang="en-US" altLang="zh-CN" sz="2000" b="1" kern="0" dirty="0">
                <a:solidFill>
                  <a:srgbClr val="FF3300"/>
                </a:solidFill>
                <a:latin typeface="微软雅黑" panose="020B0503020204020204" pitchFamily="34" charset="-122"/>
                <a:ea typeface="微软雅黑" panose="020B0503020204020204" pitchFamily="34" charset="-122"/>
              </a:rPr>
              <a:t>RA</a:t>
            </a:r>
            <a:r>
              <a:rPr lang="zh-CN" altLang="en-US" sz="2000" b="1" kern="0" dirty="0">
                <a:solidFill>
                  <a:srgbClr val="006600"/>
                </a:solidFill>
                <a:latin typeface="微软雅黑" panose="020B0503020204020204" pitchFamily="34" charset="-122"/>
                <a:ea typeface="微软雅黑" panose="020B0503020204020204" pitchFamily="34" charset="-122"/>
              </a:rPr>
              <a:t>入栈，转</a:t>
            </a:r>
            <a:r>
              <a:rPr lang="en-US" altLang="zh-CN" sz="2000" b="1" kern="0" dirty="0">
                <a:solidFill>
                  <a:srgbClr val="006600"/>
                </a:solidFill>
                <a:latin typeface="微软雅黑" panose="020B0503020204020204" pitchFamily="34" charset="-122"/>
                <a:ea typeface="微软雅黑" panose="020B0503020204020204" pitchFamily="34" charset="-122"/>
              </a:rPr>
              <a:t>DST</a:t>
            </a:r>
            <a:r>
              <a:rPr lang="zh-CN" altLang="en-US" sz="2000" b="1" kern="0" dirty="0">
                <a:solidFill>
                  <a:srgbClr val="006600"/>
                </a:solidFill>
                <a:latin typeface="微软雅黑" panose="020B0503020204020204" pitchFamily="34" charset="-122"/>
                <a:ea typeface="微软雅黑" panose="020B0503020204020204" pitchFamily="34" charset="-122"/>
              </a:rPr>
              <a:t>处执行</a:t>
            </a:r>
          </a:p>
          <a:p>
            <a:pPr lvl="2" eaLnBrk="0" fontAlgn="base" hangingPunct="0">
              <a:lnSpc>
                <a:spcPct val="110000"/>
              </a:lnSpc>
              <a:spcAft>
                <a:spcPct val="0"/>
              </a:spcAft>
              <a:buNone/>
            </a:pPr>
            <a:r>
              <a:rPr lang="en-US" altLang="zh-CN" sz="2000" b="1" kern="0" dirty="0">
                <a:solidFill>
                  <a:srgbClr val="006600"/>
                </a:solidFill>
                <a:latin typeface="微软雅黑" panose="020B0503020204020204" pitchFamily="34" charset="-122"/>
                <a:ea typeface="微软雅黑" panose="020B0503020204020204" pitchFamily="34" charset="-122"/>
              </a:rPr>
              <a:t>RET</a:t>
            </a:r>
            <a:r>
              <a:rPr lang="zh-CN" altLang="en-US" sz="2000" b="1" kern="0" dirty="0">
                <a:solidFill>
                  <a:srgbClr val="006600"/>
                </a:solidFill>
                <a:latin typeface="微软雅黑" panose="020B0503020204020204" pitchFamily="34" charset="-122"/>
                <a:ea typeface="微软雅黑" panose="020B0503020204020204" pitchFamily="34" charset="-122"/>
              </a:rPr>
              <a:t>：从栈中取出返回地址</a:t>
            </a:r>
            <a:r>
              <a:rPr lang="en-US" altLang="zh-CN" sz="2000" b="1" kern="0" dirty="0">
                <a:solidFill>
                  <a:srgbClr val="006600"/>
                </a:solidFill>
                <a:latin typeface="微软雅黑" panose="020B0503020204020204" pitchFamily="34" charset="-122"/>
                <a:ea typeface="微软雅黑" panose="020B0503020204020204" pitchFamily="34" charset="-122"/>
              </a:rPr>
              <a:t>RA</a:t>
            </a:r>
            <a:r>
              <a:rPr lang="zh-CN" altLang="en-US" sz="2000" b="1" kern="0" dirty="0">
                <a:solidFill>
                  <a:srgbClr val="006600"/>
                </a:solidFill>
                <a:latin typeface="微软雅黑" panose="020B0503020204020204" pitchFamily="34" charset="-122"/>
                <a:ea typeface="微软雅黑" panose="020B0503020204020204" pitchFamily="34" charset="-122"/>
              </a:rPr>
              <a:t>，转到</a:t>
            </a:r>
            <a:r>
              <a:rPr lang="en-US" altLang="zh-CN" sz="2000" b="1" kern="0" dirty="0">
                <a:solidFill>
                  <a:srgbClr val="006600"/>
                </a:solidFill>
                <a:latin typeface="微软雅黑" panose="020B0503020204020204" pitchFamily="34" charset="-122"/>
                <a:ea typeface="微软雅黑" panose="020B0503020204020204" pitchFamily="34" charset="-122"/>
              </a:rPr>
              <a:t>RA</a:t>
            </a:r>
            <a:r>
              <a:rPr lang="zh-CN" altLang="en-US" sz="2000" b="1" kern="0" dirty="0">
                <a:solidFill>
                  <a:srgbClr val="006600"/>
                </a:solidFill>
                <a:latin typeface="微软雅黑" panose="020B0503020204020204" pitchFamily="34" charset="-122"/>
                <a:ea typeface="微软雅黑" panose="020B0503020204020204" pitchFamily="34" charset="-122"/>
              </a:rPr>
              <a:t>处执行</a:t>
            </a:r>
          </a:p>
          <a:p>
            <a:pPr lvl="1" eaLnBrk="0" fontAlgn="base" hangingPunct="0">
              <a:lnSpc>
                <a:spcPct val="110000"/>
              </a:lnSpc>
              <a:spcAft>
                <a:spcPct val="0"/>
              </a:spcAft>
              <a:buFontTx/>
              <a:buChar char="–"/>
            </a:pPr>
            <a:r>
              <a:rPr lang="zh-CN" altLang="en-US" sz="2000" b="1" kern="0" dirty="0">
                <a:solidFill>
                  <a:srgbClr val="0000CC"/>
                </a:solidFill>
                <a:latin typeface="Arial"/>
                <a:ea typeface="微软雅黑" panose="020B0503020204020204" pitchFamily="34" charset="-122"/>
              </a:rPr>
              <a:t>中断指令</a:t>
            </a:r>
            <a:r>
              <a:rPr lang="zh-CN" altLang="en-US" sz="2000" b="1" kern="0" dirty="0">
                <a:solidFill>
                  <a:srgbClr val="0000CC"/>
                </a:solidFill>
                <a:latin typeface="Arial"/>
                <a:ea typeface="宋体"/>
              </a:rPr>
              <a:t> </a:t>
            </a:r>
            <a:r>
              <a:rPr lang="zh-CN" altLang="en-US" sz="2000" b="1" kern="0" dirty="0">
                <a:solidFill>
                  <a:srgbClr val="0000CC"/>
                </a:solidFill>
                <a:latin typeface="微软雅黑" panose="020B0503020204020204" pitchFamily="34" charset="-122"/>
                <a:ea typeface="微软雅黑" panose="020B0503020204020204" pitchFamily="34" charset="-122"/>
              </a:rPr>
              <a:t>（详见第</a:t>
            </a:r>
            <a:r>
              <a:rPr lang="en-US" altLang="zh-CN" sz="2000" b="1" kern="0" dirty="0">
                <a:solidFill>
                  <a:srgbClr val="0000CC"/>
                </a:solidFill>
                <a:latin typeface="微软雅黑" panose="020B0503020204020204" pitchFamily="34" charset="-122"/>
                <a:ea typeface="微软雅黑" panose="020B0503020204020204" pitchFamily="34" charset="-122"/>
              </a:rPr>
              <a:t>7</a:t>
            </a:r>
            <a:r>
              <a:rPr lang="zh-CN" altLang="en-US" sz="2000" b="1" kern="0" dirty="0">
                <a:solidFill>
                  <a:srgbClr val="0000CC"/>
                </a:solidFill>
                <a:latin typeface="微软雅黑" panose="020B0503020204020204" pitchFamily="34" charset="-122"/>
                <a:ea typeface="微软雅黑" panose="020B0503020204020204" pitchFamily="34" charset="-122"/>
              </a:rPr>
              <a:t>、</a:t>
            </a:r>
            <a:r>
              <a:rPr lang="en-US" altLang="zh-CN" sz="2000" b="1" kern="0" dirty="0">
                <a:solidFill>
                  <a:srgbClr val="0000CC"/>
                </a:solidFill>
                <a:latin typeface="微软雅黑" panose="020B0503020204020204" pitchFamily="34" charset="-122"/>
                <a:ea typeface="微软雅黑" panose="020B0503020204020204" pitchFamily="34" charset="-122"/>
              </a:rPr>
              <a:t>8</a:t>
            </a:r>
            <a:r>
              <a:rPr lang="zh-CN" altLang="en-US" sz="2000" b="1" kern="0" dirty="0">
                <a:solidFill>
                  <a:srgbClr val="0000CC"/>
                </a:solidFill>
                <a:latin typeface="微软雅黑" panose="020B0503020204020204" pitchFamily="34" charset="-122"/>
                <a:ea typeface="微软雅黑" panose="020B0503020204020204" pitchFamily="34" charset="-122"/>
              </a:rPr>
              <a:t>章）</a:t>
            </a:r>
            <a:endParaRPr lang="zh-CN" altLang="en-US" sz="1800" b="1" kern="0" dirty="0">
              <a:solidFill>
                <a:srgbClr val="0000CC"/>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908696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15888" y="107519"/>
            <a:ext cx="8229600" cy="561975"/>
          </a:xfrm>
        </p:spPr>
        <p:txBody>
          <a:bodyPr>
            <a:normAutofit fontScale="90000"/>
          </a:bodyPr>
          <a:lstStyle/>
          <a:p>
            <a:r>
              <a:rPr lang="zh-CN" altLang="en-US" sz="3600" dirty="0">
                <a:solidFill>
                  <a:srgbClr val="C00000"/>
                </a:solidFill>
              </a:rPr>
              <a:t>条件转移指令</a:t>
            </a:r>
          </a:p>
        </p:txBody>
      </p:sp>
      <p:sp>
        <p:nvSpPr>
          <p:cNvPr id="633859" name="Rectangle 3"/>
          <p:cNvSpPr>
            <a:spLocks noGrp="1" noChangeArrowheads="1"/>
          </p:cNvSpPr>
          <p:nvPr>
            <p:ph type="body" idx="1"/>
          </p:nvPr>
        </p:nvSpPr>
        <p:spPr>
          <a:xfrm>
            <a:off x="115888" y="911225"/>
            <a:ext cx="1709737" cy="5218113"/>
          </a:xfrm>
        </p:spPr>
        <p:txBody>
          <a:bodyPr/>
          <a:lstStyle/>
          <a:p>
            <a:pPr>
              <a:buFontTx/>
              <a:buNone/>
            </a:pPr>
            <a:r>
              <a:rPr lang="zh-CN" altLang="en-US">
                <a:ea typeface="微软雅黑" panose="020B0503020204020204" pitchFamily="34" charset="-122"/>
              </a:rPr>
              <a:t>分三类：</a:t>
            </a:r>
          </a:p>
          <a:p>
            <a:pPr>
              <a:spcBef>
                <a:spcPct val="45000"/>
              </a:spcBef>
              <a:buFontTx/>
              <a:buNone/>
            </a:pPr>
            <a:r>
              <a:rPr lang="en-US" altLang="zh-CN" sz="2200">
                <a:solidFill>
                  <a:srgbClr val="3333CC"/>
                </a:solidFill>
                <a:latin typeface="微软雅黑" panose="020B0503020204020204" pitchFamily="34" charset="-122"/>
                <a:ea typeface="微软雅黑" panose="020B0503020204020204" pitchFamily="34" charset="-122"/>
              </a:rPr>
              <a:t>(1)</a:t>
            </a:r>
            <a:r>
              <a:rPr lang="zh-CN" altLang="en-US" sz="2200">
                <a:solidFill>
                  <a:srgbClr val="3333CC"/>
                </a:solidFill>
                <a:latin typeface="微软雅黑" panose="020B0503020204020204" pitchFamily="34" charset="-122"/>
                <a:ea typeface="微软雅黑" panose="020B0503020204020204" pitchFamily="34" charset="-122"/>
              </a:rPr>
              <a:t>根据单个标志的值转移</a:t>
            </a:r>
          </a:p>
          <a:p>
            <a:pPr>
              <a:spcBef>
                <a:spcPct val="45000"/>
              </a:spcBef>
              <a:buFontTx/>
              <a:buNone/>
            </a:pPr>
            <a:r>
              <a:rPr lang="en-US" altLang="zh-CN" sz="2200">
                <a:solidFill>
                  <a:srgbClr val="3333CC"/>
                </a:solidFill>
                <a:latin typeface="微软雅黑" panose="020B0503020204020204" pitchFamily="34" charset="-122"/>
                <a:ea typeface="微软雅黑" panose="020B0503020204020204" pitchFamily="34" charset="-122"/>
              </a:rPr>
              <a:t>(2)</a:t>
            </a:r>
            <a:r>
              <a:rPr lang="zh-CN" altLang="en-US" sz="2200">
                <a:solidFill>
                  <a:srgbClr val="3333CC"/>
                </a:solidFill>
                <a:latin typeface="微软雅黑" panose="020B0503020204020204" pitchFamily="34" charset="-122"/>
                <a:ea typeface="微软雅黑" panose="020B0503020204020204" pitchFamily="34" charset="-122"/>
              </a:rPr>
              <a:t>按无符号整数比较转移</a:t>
            </a:r>
          </a:p>
          <a:p>
            <a:pPr>
              <a:spcBef>
                <a:spcPct val="45000"/>
              </a:spcBef>
              <a:buFontTx/>
              <a:buNone/>
            </a:pPr>
            <a:r>
              <a:rPr lang="en-US" altLang="zh-CN" sz="2200">
                <a:solidFill>
                  <a:srgbClr val="3333CC"/>
                </a:solidFill>
                <a:latin typeface="微软雅黑" panose="020B0503020204020204" pitchFamily="34" charset="-122"/>
                <a:ea typeface="微软雅黑" panose="020B0503020204020204" pitchFamily="34" charset="-122"/>
              </a:rPr>
              <a:t>(3)</a:t>
            </a:r>
            <a:r>
              <a:rPr lang="zh-CN" altLang="en-US" sz="2200">
                <a:solidFill>
                  <a:srgbClr val="3333CC"/>
                </a:solidFill>
                <a:latin typeface="微软雅黑" panose="020B0503020204020204" pitchFamily="34" charset="-122"/>
                <a:ea typeface="微软雅黑" panose="020B0503020204020204" pitchFamily="34" charset="-122"/>
              </a:rPr>
              <a:t>按带符号整数比较转移</a:t>
            </a:r>
          </a:p>
        </p:txBody>
      </p:sp>
      <p:grpSp>
        <p:nvGrpSpPr>
          <p:cNvPr id="633864" name="Group 8"/>
          <p:cNvGrpSpPr>
            <a:grpSpLocks/>
          </p:cNvGrpSpPr>
          <p:nvPr/>
        </p:nvGrpSpPr>
        <p:grpSpPr bwMode="auto">
          <a:xfrm>
            <a:off x="1825625" y="261193"/>
            <a:ext cx="7227888" cy="6480175"/>
            <a:chOff x="1207" y="516"/>
            <a:chExt cx="4496" cy="3685"/>
          </a:xfrm>
        </p:grpSpPr>
        <p:pic>
          <p:nvPicPr>
            <p:cNvPr id="4813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7" y="516"/>
              <a:ext cx="4496" cy="3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4" name="Rectangle 5"/>
            <p:cNvSpPr>
              <a:spLocks noChangeArrowheads="1"/>
            </p:cNvSpPr>
            <p:nvPr/>
          </p:nvSpPr>
          <p:spPr bwMode="auto">
            <a:xfrm>
              <a:off x="1633" y="743"/>
              <a:ext cx="4025" cy="1700"/>
            </a:xfrm>
            <a:prstGeom prst="rect">
              <a:avLst/>
            </a:prstGeom>
            <a:solidFill>
              <a:schemeClr val="accent1">
                <a:alpha val="18039"/>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800">
                <a:latin typeface="微软雅黑" panose="020B0503020204020204" pitchFamily="34" charset="-122"/>
                <a:ea typeface="微软雅黑" panose="020B0503020204020204" pitchFamily="34" charset="-122"/>
              </a:endParaRPr>
            </a:p>
          </p:txBody>
        </p:sp>
        <p:sp>
          <p:nvSpPr>
            <p:cNvPr id="48135" name="Rectangle 6"/>
            <p:cNvSpPr>
              <a:spLocks noChangeArrowheads="1"/>
            </p:cNvSpPr>
            <p:nvPr/>
          </p:nvSpPr>
          <p:spPr bwMode="auto">
            <a:xfrm>
              <a:off x="1633" y="2443"/>
              <a:ext cx="4025" cy="851"/>
            </a:xfrm>
            <a:prstGeom prst="rect">
              <a:avLst/>
            </a:prstGeom>
            <a:solidFill>
              <a:srgbClr val="FF0000">
                <a:alpha val="18039"/>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800" dirty="0">
                <a:latin typeface="微软雅黑" panose="020B0503020204020204" pitchFamily="34" charset="-122"/>
                <a:ea typeface="微软雅黑" panose="020B0503020204020204" pitchFamily="34" charset="-122"/>
              </a:endParaRPr>
            </a:p>
          </p:txBody>
        </p:sp>
        <p:sp>
          <p:nvSpPr>
            <p:cNvPr id="48136" name="Rectangle 7"/>
            <p:cNvSpPr>
              <a:spLocks noChangeArrowheads="1"/>
            </p:cNvSpPr>
            <p:nvPr/>
          </p:nvSpPr>
          <p:spPr bwMode="auto">
            <a:xfrm>
              <a:off x="1633" y="3294"/>
              <a:ext cx="4025" cy="850"/>
            </a:xfrm>
            <a:prstGeom prst="rect">
              <a:avLst/>
            </a:prstGeom>
            <a:solidFill>
              <a:srgbClr val="FFFF00">
                <a:alpha val="18039"/>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80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0325061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33864"/>
                                        </p:tgtEl>
                                        <p:attrNameLst>
                                          <p:attrName>style.visibility</p:attrName>
                                        </p:attrNameLst>
                                      </p:cBhvr>
                                      <p:to>
                                        <p:strVal val="visible"/>
                                      </p:to>
                                    </p:set>
                                    <p:animEffect transition="in" filter="blinds(horizontal)">
                                      <p:cBhvr>
                                        <p:cTn id="7" dur="500"/>
                                        <p:tgtEl>
                                          <p:spTgt spid="6338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33859">
                                            <p:txEl>
                                              <p:pRg st="0" end="0"/>
                                            </p:txEl>
                                          </p:spTgt>
                                        </p:tgtEl>
                                        <p:attrNameLst>
                                          <p:attrName>style.visibility</p:attrName>
                                        </p:attrNameLst>
                                      </p:cBhvr>
                                      <p:to>
                                        <p:strVal val="visible"/>
                                      </p:to>
                                    </p:set>
                                    <p:animEffect transition="in" filter="blinds(horizontal)">
                                      <p:cBhvr>
                                        <p:cTn id="12" dur="500"/>
                                        <p:tgtEl>
                                          <p:spTgt spid="63385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33859">
                                            <p:txEl>
                                              <p:pRg st="1" end="1"/>
                                            </p:txEl>
                                          </p:spTgt>
                                        </p:tgtEl>
                                        <p:attrNameLst>
                                          <p:attrName>style.visibility</p:attrName>
                                        </p:attrNameLst>
                                      </p:cBhvr>
                                      <p:to>
                                        <p:strVal val="visible"/>
                                      </p:to>
                                    </p:set>
                                    <p:animEffect transition="in" filter="blinds(horizontal)">
                                      <p:cBhvr>
                                        <p:cTn id="17" dur="500"/>
                                        <p:tgtEl>
                                          <p:spTgt spid="63385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33859">
                                            <p:txEl>
                                              <p:pRg st="2" end="2"/>
                                            </p:txEl>
                                          </p:spTgt>
                                        </p:tgtEl>
                                        <p:attrNameLst>
                                          <p:attrName>style.visibility</p:attrName>
                                        </p:attrNameLst>
                                      </p:cBhvr>
                                      <p:to>
                                        <p:strVal val="visible"/>
                                      </p:to>
                                    </p:set>
                                    <p:animEffect transition="in" filter="blinds(horizontal)">
                                      <p:cBhvr>
                                        <p:cTn id="22" dur="500"/>
                                        <p:tgtEl>
                                          <p:spTgt spid="633859">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33859">
                                            <p:txEl>
                                              <p:pRg st="3" end="3"/>
                                            </p:txEl>
                                          </p:spTgt>
                                        </p:tgtEl>
                                        <p:attrNameLst>
                                          <p:attrName>style.visibility</p:attrName>
                                        </p:attrNameLst>
                                      </p:cBhvr>
                                      <p:to>
                                        <p:strVal val="visible"/>
                                      </p:to>
                                    </p:set>
                                    <p:animEffect transition="in" filter="blinds(horizontal)">
                                      <p:cBhvr>
                                        <p:cTn id="27" dur="500"/>
                                        <p:tgtEl>
                                          <p:spTgt spid="6338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3859"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idx="4294967295"/>
          </p:nvPr>
        </p:nvSpPr>
        <p:spPr>
          <a:xfrm>
            <a:off x="522288" y="100013"/>
            <a:ext cx="8156575" cy="543739"/>
          </a:xfrm>
          <a:noFill/>
        </p:spPr>
        <p:txBody>
          <a:bodyPr lIns="63500" tIns="25400" rIns="63500" bIns="25400" anchor="t">
            <a:spAutoFit/>
          </a:bodyPr>
          <a:lstStyle/>
          <a:p>
            <a:pPr algn="l"/>
            <a:r>
              <a:rPr lang="zh-CN" altLang="en-US" sz="3200" dirty="0">
                <a:solidFill>
                  <a:srgbClr val="C00000"/>
                </a:solidFill>
                <a:ea typeface="宋体" panose="02010600030101010101" pitchFamily="2" charset="-122"/>
              </a:rPr>
              <a:t>标志信息是干什么的？</a:t>
            </a:r>
          </a:p>
        </p:txBody>
      </p:sp>
      <p:sp>
        <p:nvSpPr>
          <p:cNvPr id="49155" name="Rectangle 3"/>
          <p:cNvSpPr>
            <a:spLocks noGrp="1" noChangeArrowheads="1"/>
          </p:cNvSpPr>
          <p:nvPr>
            <p:ph type="body" idx="4294967295"/>
          </p:nvPr>
        </p:nvSpPr>
        <p:spPr>
          <a:xfrm>
            <a:off x="296863" y="1089025"/>
            <a:ext cx="8574087" cy="803275"/>
          </a:xfrm>
          <a:noFill/>
        </p:spPr>
        <p:txBody>
          <a:bodyPr lIns="63500" tIns="25400" rIns="63500" bIns="25400">
            <a:spAutoFit/>
          </a:bodyPr>
          <a:lstStyle/>
          <a:p>
            <a:pPr>
              <a:lnSpc>
                <a:spcPct val="95000"/>
              </a:lnSpc>
              <a:spcBef>
                <a:spcPct val="0"/>
              </a:spcBef>
              <a:buFontTx/>
              <a:buNone/>
            </a:pPr>
            <a:r>
              <a:rPr lang="en-US" altLang="zh-CN" sz="2500" dirty="0"/>
              <a:t>Ex1:   X=1001                                  X=1100</a:t>
            </a:r>
            <a:endParaRPr lang="zh-CN" altLang="en-US" sz="2500" dirty="0"/>
          </a:p>
          <a:p>
            <a:pPr>
              <a:lnSpc>
                <a:spcPct val="80000"/>
              </a:lnSpc>
              <a:spcBef>
                <a:spcPct val="0"/>
              </a:spcBef>
              <a:buFontTx/>
              <a:buNone/>
            </a:pPr>
            <a:r>
              <a:rPr lang="en-US" altLang="zh-CN" sz="3200" dirty="0"/>
              <a:t>        </a:t>
            </a:r>
            <a:r>
              <a:rPr lang="en-US" altLang="zh-CN" sz="2500" dirty="0"/>
              <a:t>Y=1100</a:t>
            </a:r>
            <a:r>
              <a:rPr lang="en-US" altLang="zh-CN" sz="2500" dirty="0">
                <a:cs typeface="Arial" panose="020B0604020202020204" pitchFamily="34" charset="0"/>
              </a:rPr>
              <a:t>	</a:t>
            </a:r>
            <a:r>
              <a:rPr lang="en-US" altLang="zh-CN" sz="2500" dirty="0"/>
              <a:t>	               Y=1001</a:t>
            </a:r>
            <a:endParaRPr lang="en-US" altLang="zh-CN" sz="2500" dirty="0">
              <a:cs typeface="Arial" panose="020B0604020202020204" pitchFamily="34" charset="0"/>
            </a:endParaRPr>
          </a:p>
        </p:txBody>
      </p:sp>
      <p:sp>
        <p:nvSpPr>
          <p:cNvPr id="49156" name="Rectangle 4"/>
          <p:cNvSpPr>
            <a:spLocks noChangeArrowheads="1"/>
          </p:cNvSpPr>
          <p:nvPr/>
        </p:nvSpPr>
        <p:spPr bwMode="auto">
          <a:xfrm>
            <a:off x="1935163" y="2468563"/>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dirty="0">
                <a:cs typeface="Arial" panose="020B0604020202020204" pitchFamily="34" charset="0"/>
              </a:rPr>
              <a:t>1</a:t>
            </a:r>
          </a:p>
        </p:txBody>
      </p:sp>
      <p:sp>
        <p:nvSpPr>
          <p:cNvPr id="49157" name="Rectangle 8"/>
          <p:cNvSpPr>
            <a:spLocks noChangeArrowheads="1"/>
          </p:cNvSpPr>
          <p:nvPr/>
        </p:nvSpPr>
        <p:spPr bwMode="auto">
          <a:xfrm>
            <a:off x="1935163" y="2849563"/>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dirty="0">
                <a:cs typeface="Arial" panose="020B0604020202020204" pitchFamily="34" charset="0"/>
              </a:rPr>
              <a:t>0</a:t>
            </a:r>
            <a:endParaRPr lang="zh-CN" altLang="en-US" sz="1800" dirty="0">
              <a:cs typeface="Arial" panose="020B0604020202020204" pitchFamily="34" charset="0"/>
            </a:endParaRPr>
          </a:p>
        </p:txBody>
      </p:sp>
      <p:sp>
        <p:nvSpPr>
          <p:cNvPr id="49158" name="Rectangle 12"/>
          <p:cNvSpPr>
            <a:spLocks noChangeArrowheads="1"/>
          </p:cNvSpPr>
          <p:nvPr/>
        </p:nvSpPr>
        <p:spPr bwMode="auto">
          <a:xfrm>
            <a:off x="1173163" y="2849563"/>
            <a:ext cx="33182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2000">
                <a:cs typeface="Arial" panose="020B0604020202020204" pitchFamily="34" charset="0"/>
              </a:rPr>
              <a:t>+</a:t>
            </a:r>
          </a:p>
        </p:txBody>
      </p:sp>
      <p:sp>
        <p:nvSpPr>
          <p:cNvPr id="49159" name="Line 13"/>
          <p:cNvSpPr>
            <a:spLocks noChangeShapeType="1"/>
          </p:cNvSpPr>
          <p:nvPr/>
        </p:nvSpPr>
        <p:spPr bwMode="auto">
          <a:xfrm>
            <a:off x="1193800" y="3154363"/>
            <a:ext cx="28067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62" name="Line 41"/>
          <p:cNvSpPr>
            <a:spLocks noChangeShapeType="1"/>
          </p:cNvSpPr>
          <p:nvPr/>
        </p:nvSpPr>
        <p:spPr bwMode="auto">
          <a:xfrm flipH="1" flipV="1">
            <a:off x="1562100" y="2309813"/>
            <a:ext cx="393700" cy="6985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63" name="Rectangle 87"/>
          <p:cNvSpPr>
            <a:spLocks noChangeArrowheads="1"/>
          </p:cNvSpPr>
          <p:nvPr/>
        </p:nvSpPr>
        <p:spPr bwMode="auto">
          <a:xfrm>
            <a:off x="2527300" y="2484438"/>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a:cs typeface="Arial" panose="020B0604020202020204" pitchFamily="34" charset="0"/>
              </a:rPr>
              <a:t>0</a:t>
            </a:r>
          </a:p>
        </p:txBody>
      </p:sp>
      <p:sp>
        <p:nvSpPr>
          <p:cNvPr id="49164" name="Rectangle 88"/>
          <p:cNvSpPr>
            <a:spLocks noChangeArrowheads="1"/>
          </p:cNvSpPr>
          <p:nvPr/>
        </p:nvSpPr>
        <p:spPr bwMode="auto">
          <a:xfrm>
            <a:off x="3119438" y="2495550"/>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a:cs typeface="Arial" panose="020B0604020202020204" pitchFamily="34" charset="0"/>
              </a:rPr>
              <a:t>0</a:t>
            </a:r>
          </a:p>
        </p:txBody>
      </p:sp>
      <p:sp>
        <p:nvSpPr>
          <p:cNvPr id="49165" name="Rectangle 89"/>
          <p:cNvSpPr>
            <a:spLocks noChangeArrowheads="1"/>
          </p:cNvSpPr>
          <p:nvPr/>
        </p:nvSpPr>
        <p:spPr bwMode="auto">
          <a:xfrm>
            <a:off x="3138488" y="2816225"/>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dirty="0">
                <a:cs typeface="Arial" panose="020B0604020202020204" pitchFamily="34" charset="0"/>
              </a:rPr>
              <a:t>0</a:t>
            </a:r>
            <a:endParaRPr lang="zh-CN" altLang="en-US" sz="1800" dirty="0">
              <a:cs typeface="Arial" panose="020B0604020202020204" pitchFamily="34" charset="0"/>
            </a:endParaRPr>
          </a:p>
        </p:txBody>
      </p:sp>
      <p:sp>
        <p:nvSpPr>
          <p:cNvPr id="49166" name="Rectangle 90"/>
          <p:cNvSpPr>
            <a:spLocks noChangeArrowheads="1"/>
          </p:cNvSpPr>
          <p:nvPr/>
        </p:nvSpPr>
        <p:spPr bwMode="auto">
          <a:xfrm>
            <a:off x="3743325" y="2486025"/>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800">
                <a:cs typeface="Arial" panose="020B0604020202020204" pitchFamily="34" charset="0"/>
              </a:rPr>
              <a:t>1</a:t>
            </a:r>
          </a:p>
        </p:txBody>
      </p:sp>
      <p:sp>
        <p:nvSpPr>
          <p:cNvPr id="49167" name="Rectangle 91"/>
          <p:cNvSpPr>
            <a:spLocks noChangeArrowheads="1"/>
          </p:cNvSpPr>
          <p:nvPr/>
        </p:nvSpPr>
        <p:spPr bwMode="auto">
          <a:xfrm>
            <a:off x="3743325" y="3243263"/>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800">
                <a:cs typeface="Arial" panose="020B0604020202020204" pitchFamily="34" charset="0"/>
              </a:rPr>
              <a:t>1</a:t>
            </a:r>
          </a:p>
        </p:txBody>
      </p:sp>
      <p:sp>
        <p:nvSpPr>
          <p:cNvPr id="49168" name="Rectangle 103"/>
          <p:cNvSpPr>
            <a:spLocks noChangeArrowheads="1"/>
          </p:cNvSpPr>
          <p:nvPr/>
        </p:nvSpPr>
        <p:spPr bwMode="auto">
          <a:xfrm>
            <a:off x="1228200" y="2040650"/>
            <a:ext cx="612348"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dirty="0">
                <a:cs typeface="Arial" panose="020B0604020202020204" pitchFamily="34" charset="0"/>
              </a:rPr>
              <a:t>C=0</a:t>
            </a:r>
            <a:endParaRPr lang="zh-CN" altLang="en-US" sz="1800" dirty="0">
              <a:cs typeface="Arial" panose="020B0604020202020204" pitchFamily="34" charset="0"/>
            </a:endParaRPr>
          </a:p>
        </p:txBody>
      </p:sp>
      <p:sp>
        <p:nvSpPr>
          <p:cNvPr id="49169" name="Rectangle 104"/>
          <p:cNvSpPr>
            <a:spLocks noChangeArrowheads="1"/>
          </p:cNvSpPr>
          <p:nvPr/>
        </p:nvSpPr>
        <p:spPr bwMode="auto">
          <a:xfrm>
            <a:off x="1936750" y="3213100"/>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dirty="0">
                <a:cs typeface="Arial" panose="020B0604020202020204" pitchFamily="34" charset="0"/>
              </a:rPr>
              <a:t>1</a:t>
            </a:r>
          </a:p>
        </p:txBody>
      </p:sp>
      <p:sp>
        <p:nvSpPr>
          <p:cNvPr id="49170" name="Rectangle 105"/>
          <p:cNvSpPr>
            <a:spLocks noChangeArrowheads="1"/>
          </p:cNvSpPr>
          <p:nvPr/>
        </p:nvSpPr>
        <p:spPr bwMode="auto">
          <a:xfrm>
            <a:off x="2524125" y="3228975"/>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dirty="0">
                <a:cs typeface="Arial" panose="020B0604020202020204" pitchFamily="34" charset="0"/>
              </a:rPr>
              <a:t>1</a:t>
            </a:r>
            <a:endParaRPr lang="zh-CN" altLang="en-US" sz="1800" dirty="0">
              <a:cs typeface="Arial" panose="020B0604020202020204" pitchFamily="34" charset="0"/>
            </a:endParaRPr>
          </a:p>
        </p:txBody>
      </p:sp>
      <p:sp>
        <p:nvSpPr>
          <p:cNvPr id="49171" name="Rectangle 106"/>
          <p:cNvSpPr>
            <a:spLocks noChangeArrowheads="1"/>
          </p:cNvSpPr>
          <p:nvPr/>
        </p:nvSpPr>
        <p:spPr bwMode="auto">
          <a:xfrm>
            <a:off x="2525713" y="2859088"/>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dirty="0">
                <a:cs typeface="Arial" panose="020B0604020202020204" pitchFamily="34" charset="0"/>
              </a:rPr>
              <a:t>1</a:t>
            </a:r>
            <a:endParaRPr lang="zh-CN" altLang="en-US" sz="1800" dirty="0">
              <a:cs typeface="Arial" panose="020B0604020202020204" pitchFamily="34" charset="0"/>
            </a:endParaRPr>
          </a:p>
        </p:txBody>
      </p:sp>
      <p:sp>
        <p:nvSpPr>
          <p:cNvPr id="49172" name="Rectangle 107"/>
          <p:cNvSpPr>
            <a:spLocks noChangeArrowheads="1"/>
          </p:cNvSpPr>
          <p:nvPr/>
        </p:nvSpPr>
        <p:spPr bwMode="auto">
          <a:xfrm>
            <a:off x="3125788" y="3230563"/>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dirty="0">
                <a:cs typeface="Arial" panose="020B0604020202020204" pitchFamily="34" charset="0"/>
              </a:rPr>
              <a:t>0</a:t>
            </a:r>
          </a:p>
        </p:txBody>
      </p:sp>
      <p:sp>
        <p:nvSpPr>
          <p:cNvPr id="49173" name="Rectangle 108"/>
          <p:cNvSpPr>
            <a:spLocks noChangeArrowheads="1"/>
          </p:cNvSpPr>
          <p:nvPr/>
        </p:nvSpPr>
        <p:spPr bwMode="auto">
          <a:xfrm>
            <a:off x="3741738" y="2832100"/>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800">
                <a:cs typeface="Arial" panose="020B0604020202020204" pitchFamily="34" charset="0"/>
              </a:rPr>
              <a:t>0</a:t>
            </a:r>
          </a:p>
        </p:txBody>
      </p:sp>
      <p:sp>
        <p:nvSpPr>
          <p:cNvPr id="49174" name="Text Box 132"/>
          <p:cNvSpPr txBox="1">
            <a:spLocks noChangeArrowheads="1"/>
          </p:cNvSpPr>
          <p:nvPr/>
        </p:nvSpPr>
        <p:spPr bwMode="auto">
          <a:xfrm>
            <a:off x="1165542" y="1984059"/>
            <a:ext cx="675006" cy="365125"/>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endParaRPr lang="zh-CN" altLang="en-US" sz="1600">
              <a:latin typeface="Times New Roman" panose="02020603050405020304" pitchFamily="18" charset="0"/>
            </a:endParaRPr>
          </a:p>
        </p:txBody>
      </p:sp>
      <p:sp>
        <p:nvSpPr>
          <p:cNvPr id="49175" name="Rectangle 145"/>
          <p:cNvSpPr>
            <a:spLocks noChangeArrowheads="1"/>
          </p:cNvSpPr>
          <p:nvPr/>
        </p:nvSpPr>
        <p:spPr bwMode="auto">
          <a:xfrm>
            <a:off x="1930400" y="2447925"/>
            <a:ext cx="377825" cy="1089025"/>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49176" name="Text Box 61"/>
          <p:cNvSpPr txBox="1">
            <a:spLocks noChangeArrowheads="1"/>
          </p:cNvSpPr>
          <p:nvPr/>
        </p:nvSpPr>
        <p:spPr bwMode="auto">
          <a:xfrm>
            <a:off x="296863" y="5003800"/>
            <a:ext cx="44100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15000"/>
              </a:spcBef>
              <a:buFontTx/>
              <a:buNone/>
            </a:pPr>
            <a:r>
              <a:rPr lang="zh-CN" altLang="en-US" sz="2000" dirty="0">
                <a:solidFill>
                  <a:srgbClr val="008000"/>
                </a:solidFill>
                <a:latin typeface="微软雅黑" panose="020B0503020204020204" pitchFamily="34" charset="-122"/>
                <a:ea typeface="微软雅黑" panose="020B0503020204020204" pitchFamily="34" charset="-122"/>
              </a:rPr>
              <a:t>无符号数：</a:t>
            </a:r>
            <a:r>
              <a:rPr lang="en-US" altLang="zh-CN" sz="2000" dirty="0">
                <a:solidFill>
                  <a:srgbClr val="008000"/>
                </a:solidFill>
                <a:latin typeface="微软雅黑" panose="020B0503020204020204" pitchFamily="34" charset="-122"/>
                <a:ea typeface="微软雅黑" panose="020B0503020204020204" pitchFamily="34" charset="-122"/>
              </a:rPr>
              <a:t>CF=1 AND ZF=0</a:t>
            </a:r>
            <a:r>
              <a:rPr lang="zh-CN" altLang="en-US" sz="2000" dirty="0">
                <a:solidFill>
                  <a:srgbClr val="008000"/>
                </a:solidFill>
                <a:latin typeface="微软雅黑" panose="020B0503020204020204" pitchFamily="34" charset="-122"/>
                <a:ea typeface="微软雅黑" panose="020B0503020204020204" pitchFamily="34" charset="-122"/>
              </a:rPr>
              <a:t>，</a:t>
            </a:r>
            <a:r>
              <a:rPr lang="en-US" altLang="zh-CN" sz="2000" dirty="0">
                <a:solidFill>
                  <a:srgbClr val="008000"/>
                </a:solidFill>
                <a:latin typeface="微软雅黑" panose="020B0503020204020204" pitchFamily="34" charset="-122"/>
                <a:ea typeface="微软雅黑" panose="020B0503020204020204" pitchFamily="34" charset="-122"/>
              </a:rPr>
              <a:t>X&lt;Y</a:t>
            </a:r>
            <a:endParaRPr lang="zh-CN" altLang="en-US" sz="2000" dirty="0">
              <a:solidFill>
                <a:srgbClr val="008000"/>
              </a:solidFill>
              <a:latin typeface="微软雅黑" panose="020B0503020204020204" pitchFamily="34" charset="-122"/>
              <a:ea typeface="微软雅黑" panose="020B0503020204020204" pitchFamily="34" charset="-122"/>
            </a:endParaRPr>
          </a:p>
        </p:txBody>
      </p:sp>
      <p:sp>
        <p:nvSpPr>
          <p:cNvPr id="49177" name="Text Box 63"/>
          <p:cNvSpPr txBox="1">
            <a:spLocks noChangeArrowheads="1"/>
          </p:cNvSpPr>
          <p:nvPr/>
        </p:nvSpPr>
        <p:spPr bwMode="auto">
          <a:xfrm>
            <a:off x="611188" y="3760788"/>
            <a:ext cx="4095750"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15000"/>
              </a:spcBef>
              <a:buFontTx/>
              <a:buNone/>
            </a:pPr>
            <a:r>
              <a:rPr lang="en-US" altLang="zh-CN" sz="2000" dirty="0">
                <a:solidFill>
                  <a:srgbClr val="FF3300"/>
                </a:solidFill>
                <a:latin typeface="微软雅黑" panose="020B0503020204020204" pitchFamily="34" charset="-122"/>
                <a:ea typeface="微软雅黑" panose="020B0503020204020204" pitchFamily="34" charset="-122"/>
              </a:rPr>
              <a:t>OF=0</a:t>
            </a:r>
            <a:r>
              <a:rPr lang="zh-CN" altLang="en-US" sz="2000" dirty="0">
                <a:solidFill>
                  <a:srgbClr val="FF3300"/>
                </a:solidFill>
                <a:latin typeface="微软雅黑" panose="020B0503020204020204" pitchFamily="34" charset="-122"/>
                <a:ea typeface="微软雅黑" panose="020B0503020204020204" pitchFamily="34" charset="-122"/>
              </a:rPr>
              <a:t>、</a:t>
            </a:r>
            <a:r>
              <a:rPr lang="en-US" altLang="zh-CN" sz="2000" dirty="0">
                <a:solidFill>
                  <a:srgbClr val="FF3300"/>
                </a:solidFill>
                <a:latin typeface="微软雅黑" panose="020B0503020204020204" pitchFamily="34" charset="-122"/>
                <a:ea typeface="微软雅黑" panose="020B0503020204020204" pitchFamily="34" charset="-122"/>
              </a:rPr>
              <a:t>ZF=0</a:t>
            </a:r>
          </a:p>
          <a:p>
            <a:pPr>
              <a:lnSpc>
                <a:spcPct val="100000"/>
              </a:lnSpc>
              <a:spcBef>
                <a:spcPct val="15000"/>
              </a:spcBef>
              <a:buFontTx/>
              <a:buNone/>
            </a:pPr>
            <a:r>
              <a:rPr lang="en-US" altLang="zh-CN" sz="2000" dirty="0">
                <a:solidFill>
                  <a:srgbClr val="FF3300"/>
                </a:solidFill>
                <a:latin typeface="微软雅黑" panose="020B0503020204020204" pitchFamily="34" charset="-122"/>
                <a:ea typeface="微软雅黑" panose="020B0503020204020204" pitchFamily="34" charset="-122"/>
              </a:rPr>
              <a:t>SF=1</a:t>
            </a:r>
            <a:r>
              <a:rPr lang="zh-CN" altLang="en-US" sz="2000" dirty="0">
                <a:solidFill>
                  <a:srgbClr val="FF3300"/>
                </a:solidFill>
                <a:latin typeface="微软雅黑" panose="020B0503020204020204" pitchFamily="34" charset="-122"/>
                <a:ea typeface="微软雅黑" panose="020B0503020204020204" pitchFamily="34" charset="-122"/>
              </a:rPr>
              <a:t>、借位</a:t>
            </a:r>
            <a:r>
              <a:rPr lang="en-US" altLang="zh-CN" sz="2000" dirty="0">
                <a:solidFill>
                  <a:srgbClr val="FF3300"/>
                </a:solidFill>
                <a:latin typeface="微软雅黑" panose="020B0503020204020204" pitchFamily="34" charset="-122"/>
                <a:ea typeface="微软雅黑" panose="020B0503020204020204" pitchFamily="34" charset="-122"/>
              </a:rPr>
              <a:t>CF=</a:t>
            </a:r>
            <a:r>
              <a:rPr lang="en-US" altLang="zh-CN" sz="2000" dirty="0" err="1">
                <a:solidFill>
                  <a:srgbClr val="FF3300"/>
                </a:solidFill>
                <a:latin typeface="微软雅黑" panose="020B0503020204020204" pitchFamily="34" charset="-122"/>
                <a:ea typeface="微软雅黑" panose="020B0503020204020204" pitchFamily="34" charset="-122"/>
              </a:rPr>
              <a:t>sub⊕C</a:t>
            </a:r>
            <a:r>
              <a:rPr lang="en-US" altLang="zh-CN" sz="2000" dirty="0">
                <a:solidFill>
                  <a:srgbClr val="FF3300"/>
                </a:solidFill>
                <a:latin typeface="微软雅黑" panose="020B0503020204020204" pitchFamily="34" charset="-122"/>
                <a:ea typeface="微软雅黑" panose="020B0503020204020204" pitchFamily="34" charset="-122"/>
              </a:rPr>
              <a:t>=1 ⊕0=1</a:t>
            </a:r>
          </a:p>
        </p:txBody>
      </p:sp>
      <p:sp>
        <p:nvSpPr>
          <p:cNvPr id="49178" name="Rectangle 28"/>
          <p:cNvSpPr>
            <a:spLocks noChangeArrowheads="1"/>
          </p:cNvSpPr>
          <p:nvPr/>
        </p:nvSpPr>
        <p:spPr bwMode="auto">
          <a:xfrm>
            <a:off x="5211763" y="2849563"/>
            <a:ext cx="33182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2000">
                <a:cs typeface="Arial" panose="020B0604020202020204" pitchFamily="34" charset="0"/>
              </a:rPr>
              <a:t>+</a:t>
            </a:r>
          </a:p>
        </p:txBody>
      </p:sp>
      <p:sp>
        <p:nvSpPr>
          <p:cNvPr id="49179" name="Line 29"/>
          <p:cNvSpPr>
            <a:spLocks noChangeShapeType="1"/>
          </p:cNvSpPr>
          <p:nvPr/>
        </p:nvSpPr>
        <p:spPr bwMode="auto">
          <a:xfrm>
            <a:off x="5232400" y="3154363"/>
            <a:ext cx="27305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80" name="Rectangle 92"/>
          <p:cNvSpPr>
            <a:spLocks noChangeArrowheads="1"/>
          </p:cNvSpPr>
          <p:nvPr/>
        </p:nvSpPr>
        <p:spPr bwMode="auto">
          <a:xfrm>
            <a:off x="5929313" y="3228975"/>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dirty="0">
                <a:cs typeface="Arial" panose="020B0604020202020204" pitchFamily="34" charset="0"/>
              </a:rPr>
              <a:t>0</a:t>
            </a:r>
            <a:endParaRPr lang="zh-CN" altLang="en-US" sz="1800" dirty="0">
              <a:cs typeface="Arial" panose="020B0604020202020204" pitchFamily="34" charset="0"/>
            </a:endParaRPr>
          </a:p>
        </p:txBody>
      </p:sp>
      <p:sp>
        <p:nvSpPr>
          <p:cNvPr id="49181" name="Rectangle 93"/>
          <p:cNvSpPr>
            <a:spLocks noChangeArrowheads="1"/>
          </p:cNvSpPr>
          <p:nvPr/>
        </p:nvSpPr>
        <p:spPr bwMode="auto">
          <a:xfrm>
            <a:off x="6516688" y="3244850"/>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dirty="0">
                <a:cs typeface="Arial" panose="020B0604020202020204" pitchFamily="34" charset="0"/>
              </a:rPr>
              <a:t>0</a:t>
            </a:r>
          </a:p>
        </p:txBody>
      </p:sp>
      <p:sp>
        <p:nvSpPr>
          <p:cNvPr id="49182" name="Rectangle 94"/>
          <p:cNvSpPr>
            <a:spLocks noChangeArrowheads="1"/>
          </p:cNvSpPr>
          <p:nvPr/>
        </p:nvSpPr>
        <p:spPr bwMode="auto">
          <a:xfrm>
            <a:off x="7089775" y="3260725"/>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dirty="0">
                <a:cs typeface="Arial" panose="020B0604020202020204" pitchFamily="34" charset="0"/>
              </a:rPr>
              <a:t>1</a:t>
            </a:r>
          </a:p>
        </p:txBody>
      </p:sp>
      <p:sp>
        <p:nvSpPr>
          <p:cNvPr id="49183" name="Rectangle 95"/>
          <p:cNvSpPr>
            <a:spLocks noChangeArrowheads="1"/>
          </p:cNvSpPr>
          <p:nvPr/>
        </p:nvSpPr>
        <p:spPr bwMode="auto">
          <a:xfrm>
            <a:off x="7091363" y="2805113"/>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800">
                <a:cs typeface="Arial" panose="020B0604020202020204" pitchFamily="34" charset="0"/>
              </a:rPr>
              <a:t>1</a:t>
            </a:r>
          </a:p>
        </p:txBody>
      </p:sp>
      <p:sp>
        <p:nvSpPr>
          <p:cNvPr id="49184" name="Rectangle 96"/>
          <p:cNvSpPr>
            <a:spLocks noChangeArrowheads="1"/>
          </p:cNvSpPr>
          <p:nvPr/>
        </p:nvSpPr>
        <p:spPr bwMode="auto">
          <a:xfrm>
            <a:off x="7721600" y="2835275"/>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800">
                <a:cs typeface="Arial" panose="020B0604020202020204" pitchFamily="34" charset="0"/>
              </a:rPr>
              <a:t>1</a:t>
            </a:r>
          </a:p>
        </p:txBody>
      </p:sp>
      <p:sp>
        <p:nvSpPr>
          <p:cNvPr id="49185" name="Rectangle 97"/>
          <p:cNvSpPr>
            <a:spLocks noChangeArrowheads="1"/>
          </p:cNvSpPr>
          <p:nvPr/>
        </p:nvSpPr>
        <p:spPr bwMode="auto">
          <a:xfrm>
            <a:off x="7721600" y="2501900"/>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a:cs typeface="Arial" panose="020B0604020202020204" pitchFamily="34" charset="0"/>
              </a:rPr>
              <a:t>0</a:t>
            </a:r>
          </a:p>
        </p:txBody>
      </p:sp>
      <p:sp>
        <p:nvSpPr>
          <p:cNvPr id="49186" name="Rectangle 98"/>
          <p:cNvSpPr>
            <a:spLocks noChangeArrowheads="1"/>
          </p:cNvSpPr>
          <p:nvPr/>
        </p:nvSpPr>
        <p:spPr bwMode="auto">
          <a:xfrm>
            <a:off x="7081838" y="2495550"/>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dirty="0">
                <a:cs typeface="Arial" panose="020B0604020202020204" pitchFamily="34" charset="0"/>
              </a:rPr>
              <a:t>0</a:t>
            </a:r>
          </a:p>
        </p:txBody>
      </p:sp>
      <p:sp>
        <p:nvSpPr>
          <p:cNvPr id="49187" name="Rectangle 99"/>
          <p:cNvSpPr>
            <a:spLocks noChangeArrowheads="1"/>
          </p:cNvSpPr>
          <p:nvPr/>
        </p:nvSpPr>
        <p:spPr bwMode="auto">
          <a:xfrm>
            <a:off x="5930900" y="2805113"/>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a:cs typeface="Arial" panose="020B0604020202020204" pitchFamily="34" charset="0"/>
              </a:rPr>
              <a:t>0</a:t>
            </a:r>
          </a:p>
        </p:txBody>
      </p:sp>
      <p:grpSp>
        <p:nvGrpSpPr>
          <p:cNvPr id="49188" name="Group 137"/>
          <p:cNvGrpSpPr>
            <a:grpSpLocks/>
          </p:cNvGrpSpPr>
          <p:nvPr/>
        </p:nvGrpSpPr>
        <p:grpSpPr bwMode="auto">
          <a:xfrm>
            <a:off x="6462713" y="2141538"/>
            <a:ext cx="1277937" cy="849312"/>
            <a:chOff x="4075" y="797"/>
            <a:chExt cx="805" cy="535"/>
          </a:xfrm>
        </p:grpSpPr>
        <p:sp>
          <p:nvSpPr>
            <p:cNvPr id="49199" name="Line 34"/>
            <p:cNvSpPr>
              <a:spLocks noChangeShapeType="1"/>
            </p:cNvSpPr>
            <p:nvPr/>
          </p:nvSpPr>
          <p:spPr bwMode="auto">
            <a:xfrm flipH="1" flipV="1">
              <a:off x="4248" y="892"/>
              <a:ext cx="248" cy="44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200" name="Line 37"/>
            <p:cNvSpPr>
              <a:spLocks noChangeShapeType="1"/>
            </p:cNvSpPr>
            <p:nvPr/>
          </p:nvSpPr>
          <p:spPr bwMode="auto">
            <a:xfrm flipH="1" flipV="1">
              <a:off x="4632" y="892"/>
              <a:ext cx="248" cy="44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201" name="Rectangle 100"/>
            <p:cNvSpPr>
              <a:spLocks noChangeArrowheads="1"/>
            </p:cNvSpPr>
            <p:nvPr/>
          </p:nvSpPr>
          <p:spPr bwMode="auto">
            <a:xfrm>
              <a:off x="4470" y="79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a:cs typeface="Arial" panose="020B0604020202020204" pitchFamily="34" charset="0"/>
                </a:rPr>
                <a:t>0</a:t>
              </a:r>
            </a:p>
          </p:txBody>
        </p:sp>
        <p:sp>
          <p:nvSpPr>
            <p:cNvPr id="49202" name="Rectangle 101"/>
            <p:cNvSpPr>
              <a:spLocks noChangeArrowheads="1"/>
            </p:cNvSpPr>
            <p:nvPr/>
          </p:nvSpPr>
          <p:spPr bwMode="auto">
            <a:xfrm>
              <a:off x="4075" y="79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800">
                  <a:cs typeface="Arial" panose="020B0604020202020204" pitchFamily="34" charset="0"/>
                </a:rPr>
                <a:t>1</a:t>
              </a:r>
            </a:p>
          </p:txBody>
        </p:sp>
      </p:grpSp>
      <p:sp>
        <p:nvSpPr>
          <p:cNvPr id="49189" name="Rectangle 109"/>
          <p:cNvSpPr>
            <a:spLocks noChangeArrowheads="1"/>
          </p:cNvSpPr>
          <p:nvPr/>
        </p:nvSpPr>
        <p:spPr bwMode="auto">
          <a:xfrm>
            <a:off x="7716838" y="3273425"/>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a:cs typeface="Arial" panose="020B0604020202020204" pitchFamily="34" charset="0"/>
              </a:rPr>
              <a:t>1</a:t>
            </a:r>
          </a:p>
        </p:txBody>
      </p:sp>
      <p:sp>
        <p:nvSpPr>
          <p:cNvPr id="49190" name="Rectangle 110"/>
          <p:cNvSpPr>
            <a:spLocks noChangeArrowheads="1"/>
          </p:cNvSpPr>
          <p:nvPr/>
        </p:nvSpPr>
        <p:spPr bwMode="auto">
          <a:xfrm>
            <a:off x="6518275" y="2803525"/>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a:cs typeface="Arial" panose="020B0604020202020204" pitchFamily="34" charset="0"/>
              </a:rPr>
              <a:t>1</a:t>
            </a:r>
          </a:p>
        </p:txBody>
      </p:sp>
      <p:sp>
        <p:nvSpPr>
          <p:cNvPr id="49191" name="Rectangle 111"/>
          <p:cNvSpPr>
            <a:spLocks noChangeArrowheads="1"/>
          </p:cNvSpPr>
          <p:nvPr/>
        </p:nvSpPr>
        <p:spPr bwMode="auto">
          <a:xfrm>
            <a:off x="6519863" y="2490788"/>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a:cs typeface="Arial" panose="020B0604020202020204" pitchFamily="34" charset="0"/>
              </a:rPr>
              <a:t>1</a:t>
            </a:r>
          </a:p>
        </p:txBody>
      </p:sp>
      <p:sp>
        <p:nvSpPr>
          <p:cNvPr id="49192" name="Rectangle 112"/>
          <p:cNvSpPr>
            <a:spLocks noChangeArrowheads="1"/>
          </p:cNvSpPr>
          <p:nvPr/>
        </p:nvSpPr>
        <p:spPr bwMode="auto">
          <a:xfrm>
            <a:off x="5949950" y="2492375"/>
            <a:ext cx="310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dirty="0">
                <a:cs typeface="Arial" panose="020B0604020202020204" pitchFamily="34" charset="0"/>
              </a:rPr>
              <a:t>1</a:t>
            </a:r>
          </a:p>
        </p:txBody>
      </p:sp>
      <p:grpSp>
        <p:nvGrpSpPr>
          <p:cNvPr id="49193" name="Group 138"/>
          <p:cNvGrpSpPr>
            <a:grpSpLocks/>
          </p:cNvGrpSpPr>
          <p:nvPr/>
        </p:nvGrpSpPr>
        <p:grpSpPr bwMode="auto">
          <a:xfrm>
            <a:off x="5256213" y="2022475"/>
            <a:ext cx="1277937" cy="973138"/>
            <a:chOff x="4075" y="719"/>
            <a:chExt cx="805" cy="613"/>
          </a:xfrm>
        </p:grpSpPr>
        <p:sp>
          <p:nvSpPr>
            <p:cNvPr id="49195" name="Line 139"/>
            <p:cNvSpPr>
              <a:spLocks noChangeShapeType="1"/>
            </p:cNvSpPr>
            <p:nvPr/>
          </p:nvSpPr>
          <p:spPr bwMode="auto">
            <a:xfrm flipH="1" flipV="1">
              <a:off x="4248" y="892"/>
              <a:ext cx="248" cy="44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96" name="Line 140"/>
            <p:cNvSpPr>
              <a:spLocks noChangeShapeType="1"/>
            </p:cNvSpPr>
            <p:nvPr/>
          </p:nvSpPr>
          <p:spPr bwMode="auto">
            <a:xfrm flipH="1" flipV="1">
              <a:off x="4632" y="892"/>
              <a:ext cx="248" cy="44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97" name="Rectangle 141"/>
            <p:cNvSpPr>
              <a:spLocks noChangeArrowheads="1"/>
            </p:cNvSpPr>
            <p:nvPr/>
          </p:nvSpPr>
          <p:spPr bwMode="auto">
            <a:xfrm>
              <a:off x="4470" y="79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800">
                  <a:cs typeface="Arial" panose="020B0604020202020204" pitchFamily="34" charset="0"/>
                </a:rPr>
                <a:t>1</a:t>
              </a:r>
            </a:p>
          </p:txBody>
        </p:sp>
        <p:sp>
          <p:nvSpPr>
            <p:cNvPr id="49198" name="Rectangle 142"/>
            <p:cNvSpPr>
              <a:spLocks noChangeArrowheads="1"/>
            </p:cNvSpPr>
            <p:nvPr/>
          </p:nvSpPr>
          <p:spPr bwMode="auto">
            <a:xfrm>
              <a:off x="4075" y="719"/>
              <a:ext cx="38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dirty="0">
                  <a:cs typeface="Arial" panose="020B0604020202020204" pitchFamily="34" charset="0"/>
                </a:rPr>
                <a:t>C=1</a:t>
              </a:r>
            </a:p>
          </p:txBody>
        </p:sp>
      </p:grpSp>
      <p:sp>
        <p:nvSpPr>
          <p:cNvPr id="49194" name="Text Box 90"/>
          <p:cNvSpPr txBox="1">
            <a:spLocks noChangeArrowheads="1"/>
          </p:cNvSpPr>
          <p:nvPr/>
        </p:nvSpPr>
        <p:spPr bwMode="auto">
          <a:xfrm>
            <a:off x="5076056" y="3806825"/>
            <a:ext cx="4067945"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15000"/>
              </a:spcBef>
              <a:buFontTx/>
              <a:buNone/>
            </a:pPr>
            <a:r>
              <a:rPr lang="en-US" altLang="zh-CN" sz="2000" dirty="0">
                <a:solidFill>
                  <a:srgbClr val="FF3300"/>
                </a:solidFill>
                <a:latin typeface="微软雅黑" panose="020B0503020204020204" pitchFamily="34" charset="-122"/>
                <a:ea typeface="微软雅黑" panose="020B0503020204020204" pitchFamily="34" charset="-122"/>
              </a:rPr>
              <a:t>OF=0</a:t>
            </a:r>
            <a:r>
              <a:rPr lang="zh-CN" altLang="en-US" sz="2000" dirty="0">
                <a:solidFill>
                  <a:srgbClr val="FF3300"/>
                </a:solidFill>
                <a:latin typeface="微软雅黑" panose="020B0503020204020204" pitchFamily="34" charset="-122"/>
                <a:ea typeface="微软雅黑" panose="020B0503020204020204" pitchFamily="34" charset="-122"/>
              </a:rPr>
              <a:t>、</a:t>
            </a:r>
            <a:r>
              <a:rPr lang="en-US" altLang="zh-CN" sz="2000" dirty="0">
                <a:solidFill>
                  <a:srgbClr val="FF3300"/>
                </a:solidFill>
                <a:latin typeface="微软雅黑" panose="020B0503020204020204" pitchFamily="34" charset="-122"/>
                <a:ea typeface="微软雅黑" panose="020B0503020204020204" pitchFamily="34" charset="-122"/>
              </a:rPr>
              <a:t>ZF=0</a:t>
            </a:r>
          </a:p>
          <a:p>
            <a:pPr>
              <a:lnSpc>
                <a:spcPct val="100000"/>
              </a:lnSpc>
              <a:spcBef>
                <a:spcPct val="15000"/>
              </a:spcBef>
              <a:buFontTx/>
              <a:buNone/>
            </a:pPr>
            <a:r>
              <a:rPr lang="en-US" altLang="zh-CN" sz="2000" dirty="0">
                <a:solidFill>
                  <a:srgbClr val="FF3300"/>
                </a:solidFill>
                <a:latin typeface="微软雅黑" panose="020B0503020204020204" pitchFamily="34" charset="-122"/>
                <a:ea typeface="微软雅黑" panose="020B0503020204020204" pitchFamily="34" charset="-122"/>
              </a:rPr>
              <a:t>SF=0</a:t>
            </a:r>
            <a:r>
              <a:rPr lang="zh-CN" altLang="en-US" sz="2000" dirty="0">
                <a:solidFill>
                  <a:srgbClr val="FF3300"/>
                </a:solidFill>
                <a:latin typeface="微软雅黑" panose="020B0503020204020204" pitchFamily="34" charset="-122"/>
                <a:ea typeface="微软雅黑" panose="020B0503020204020204" pitchFamily="34" charset="-122"/>
              </a:rPr>
              <a:t>、借位</a:t>
            </a:r>
            <a:r>
              <a:rPr lang="en-US" altLang="zh-CN" sz="2000" dirty="0">
                <a:solidFill>
                  <a:srgbClr val="FF3300"/>
                </a:solidFill>
                <a:latin typeface="微软雅黑" panose="020B0503020204020204" pitchFamily="34" charset="-122"/>
                <a:ea typeface="微软雅黑" panose="020B0503020204020204" pitchFamily="34" charset="-122"/>
              </a:rPr>
              <a:t>CF=</a:t>
            </a:r>
            <a:r>
              <a:rPr lang="en-US" altLang="zh-CN" sz="2000" dirty="0" err="1">
                <a:solidFill>
                  <a:srgbClr val="FF3300"/>
                </a:solidFill>
                <a:latin typeface="微软雅黑" panose="020B0503020204020204" pitchFamily="34" charset="-122"/>
                <a:ea typeface="微软雅黑" panose="020B0503020204020204" pitchFamily="34" charset="-122"/>
              </a:rPr>
              <a:t>sub⊕C</a:t>
            </a:r>
            <a:r>
              <a:rPr lang="en-US" altLang="zh-CN" sz="2000" dirty="0">
                <a:solidFill>
                  <a:srgbClr val="FF3300"/>
                </a:solidFill>
                <a:latin typeface="微软雅黑" panose="020B0503020204020204" pitchFamily="34" charset="-122"/>
                <a:ea typeface="微软雅黑" panose="020B0503020204020204" pitchFamily="34" charset="-122"/>
              </a:rPr>
              <a:t>=1⊕1=0</a:t>
            </a:r>
          </a:p>
        </p:txBody>
      </p:sp>
      <p:sp>
        <p:nvSpPr>
          <p:cNvPr id="51" name="Text Box 61"/>
          <p:cNvSpPr txBox="1">
            <a:spLocks noChangeArrowheads="1"/>
          </p:cNvSpPr>
          <p:nvPr/>
        </p:nvSpPr>
        <p:spPr bwMode="auto">
          <a:xfrm>
            <a:off x="296862" y="5442555"/>
            <a:ext cx="45631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15000"/>
              </a:spcBef>
              <a:buFontTx/>
              <a:buNone/>
            </a:pPr>
            <a:r>
              <a:rPr lang="zh-CN" altLang="en-US" sz="2000" dirty="0">
                <a:solidFill>
                  <a:srgbClr val="008000"/>
                </a:solidFill>
                <a:latin typeface="微软雅黑" panose="020B0503020204020204" pitchFamily="34" charset="-122"/>
                <a:ea typeface="微软雅黑" panose="020B0503020204020204" pitchFamily="34" charset="-122"/>
              </a:rPr>
              <a:t>带符号数：</a:t>
            </a:r>
            <a:r>
              <a:rPr lang="en-US" altLang="zh-CN" sz="2000" dirty="0">
                <a:solidFill>
                  <a:srgbClr val="008000"/>
                </a:solidFill>
                <a:latin typeface="微软雅黑" panose="020B0503020204020204" pitchFamily="34" charset="-122"/>
                <a:ea typeface="微软雅黑" panose="020B0503020204020204" pitchFamily="34" charset="-122"/>
              </a:rPr>
              <a:t>OF</a:t>
            </a:r>
            <a:r>
              <a:rPr lang="zh-CN" altLang="en-US" sz="2000" dirty="0">
                <a:solidFill>
                  <a:srgbClr val="008000"/>
                </a:solidFill>
                <a:latin typeface="微软雅黑" panose="020B0503020204020204" pitchFamily="34" charset="-122"/>
                <a:ea typeface="微软雅黑" panose="020B0503020204020204" pitchFamily="34" charset="-122"/>
              </a:rPr>
              <a:t>≠</a:t>
            </a:r>
            <a:r>
              <a:rPr lang="en-US" altLang="zh-CN" sz="2000" dirty="0">
                <a:solidFill>
                  <a:srgbClr val="008000"/>
                </a:solidFill>
                <a:latin typeface="微软雅黑" panose="020B0503020204020204" pitchFamily="34" charset="-122"/>
                <a:ea typeface="微软雅黑" panose="020B0503020204020204" pitchFamily="34" charset="-122"/>
              </a:rPr>
              <a:t>SF AND ZF=0</a:t>
            </a:r>
            <a:r>
              <a:rPr lang="zh-CN" altLang="en-US" sz="2000" dirty="0">
                <a:solidFill>
                  <a:srgbClr val="008000"/>
                </a:solidFill>
                <a:latin typeface="微软雅黑" panose="020B0503020204020204" pitchFamily="34" charset="-122"/>
                <a:ea typeface="微软雅黑" panose="020B0503020204020204" pitchFamily="34" charset="-122"/>
              </a:rPr>
              <a:t>，</a:t>
            </a:r>
            <a:r>
              <a:rPr lang="en-US" altLang="zh-CN" sz="2000" dirty="0">
                <a:solidFill>
                  <a:srgbClr val="008000"/>
                </a:solidFill>
                <a:latin typeface="微软雅黑" panose="020B0503020204020204" pitchFamily="34" charset="-122"/>
                <a:ea typeface="微软雅黑" panose="020B0503020204020204" pitchFamily="34" charset="-122"/>
              </a:rPr>
              <a:t>X&lt;Y</a:t>
            </a:r>
            <a:endParaRPr lang="zh-CN" altLang="en-US" sz="2000" dirty="0">
              <a:solidFill>
                <a:srgbClr val="008000"/>
              </a:solidFill>
              <a:latin typeface="微软雅黑" panose="020B0503020204020204" pitchFamily="34" charset="-122"/>
              <a:ea typeface="微软雅黑" panose="020B0503020204020204" pitchFamily="34" charset="-122"/>
            </a:endParaRPr>
          </a:p>
        </p:txBody>
      </p:sp>
      <p:sp>
        <p:nvSpPr>
          <p:cNvPr id="52" name="Text Box 61"/>
          <p:cNvSpPr txBox="1">
            <a:spLocks noChangeArrowheads="1"/>
          </p:cNvSpPr>
          <p:nvPr/>
        </p:nvSpPr>
        <p:spPr bwMode="auto">
          <a:xfrm>
            <a:off x="4757262" y="4998998"/>
            <a:ext cx="44100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15000"/>
              </a:spcBef>
              <a:buFontTx/>
              <a:buNone/>
            </a:pPr>
            <a:r>
              <a:rPr lang="zh-CN" altLang="en-US" sz="2000" dirty="0">
                <a:solidFill>
                  <a:srgbClr val="008000"/>
                </a:solidFill>
                <a:latin typeface="微软雅黑" panose="020B0503020204020204" pitchFamily="34" charset="-122"/>
                <a:ea typeface="微软雅黑" panose="020B0503020204020204" pitchFamily="34" charset="-122"/>
              </a:rPr>
              <a:t>无符号数：</a:t>
            </a:r>
            <a:r>
              <a:rPr lang="en-US" altLang="zh-CN" sz="2000" dirty="0">
                <a:solidFill>
                  <a:srgbClr val="008000"/>
                </a:solidFill>
                <a:latin typeface="微软雅黑" panose="020B0503020204020204" pitchFamily="34" charset="-122"/>
                <a:ea typeface="微软雅黑" panose="020B0503020204020204" pitchFamily="34" charset="-122"/>
              </a:rPr>
              <a:t>CF=0 AND ZF=0</a:t>
            </a:r>
            <a:r>
              <a:rPr lang="zh-CN" altLang="en-US" sz="2000" dirty="0">
                <a:solidFill>
                  <a:srgbClr val="008000"/>
                </a:solidFill>
                <a:latin typeface="微软雅黑" panose="020B0503020204020204" pitchFamily="34" charset="-122"/>
                <a:ea typeface="微软雅黑" panose="020B0503020204020204" pitchFamily="34" charset="-122"/>
              </a:rPr>
              <a:t>，</a:t>
            </a:r>
            <a:r>
              <a:rPr lang="en-US" altLang="zh-CN" sz="2000" dirty="0">
                <a:solidFill>
                  <a:srgbClr val="008000"/>
                </a:solidFill>
                <a:latin typeface="微软雅黑" panose="020B0503020204020204" pitchFamily="34" charset="-122"/>
                <a:ea typeface="微软雅黑" panose="020B0503020204020204" pitchFamily="34" charset="-122"/>
              </a:rPr>
              <a:t>X&gt;Y</a:t>
            </a:r>
            <a:endParaRPr lang="zh-CN" altLang="en-US" sz="2000" dirty="0">
              <a:solidFill>
                <a:srgbClr val="008000"/>
              </a:solidFill>
              <a:latin typeface="微软雅黑" panose="020B0503020204020204" pitchFamily="34" charset="-122"/>
              <a:ea typeface="微软雅黑" panose="020B0503020204020204" pitchFamily="34" charset="-122"/>
            </a:endParaRPr>
          </a:p>
        </p:txBody>
      </p:sp>
      <p:sp>
        <p:nvSpPr>
          <p:cNvPr id="53" name="Text Box 61"/>
          <p:cNvSpPr txBox="1">
            <a:spLocks noChangeArrowheads="1"/>
          </p:cNvSpPr>
          <p:nvPr/>
        </p:nvSpPr>
        <p:spPr bwMode="auto">
          <a:xfrm>
            <a:off x="4757262" y="5411718"/>
            <a:ext cx="45631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15000"/>
              </a:spcBef>
              <a:buFontTx/>
              <a:buNone/>
            </a:pPr>
            <a:r>
              <a:rPr lang="zh-CN" altLang="en-US" sz="2000" dirty="0">
                <a:solidFill>
                  <a:srgbClr val="008000"/>
                </a:solidFill>
                <a:latin typeface="微软雅黑" panose="020B0503020204020204" pitchFamily="34" charset="-122"/>
                <a:ea typeface="微软雅黑" panose="020B0503020204020204" pitchFamily="34" charset="-122"/>
              </a:rPr>
              <a:t>带符号数：</a:t>
            </a:r>
            <a:r>
              <a:rPr lang="en-US" altLang="zh-CN" sz="2000" dirty="0">
                <a:solidFill>
                  <a:srgbClr val="008000"/>
                </a:solidFill>
                <a:latin typeface="微软雅黑" panose="020B0503020204020204" pitchFamily="34" charset="-122"/>
                <a:ea typeface="微软雅黑" panose="020B0503020204020204" pitchFamily="34" charset="-122"/>
              </a:rPr>
              <a:t>OF=SF AND ZF=0</a:t>
            </a:r>
            <a:r>
              <a:rPr lang="zh-CN" altLang="en-US" sz="2000" dirty="0">
                <a:solidFill>
                  <a:srgbClr val="008000"/>
                </a:solidFill>
                <a:latin typeface="微软雅黑" panose="020B0503020204020204" pitchFamily="34" charset="-122"/>
                <a:ea typeface="微软雅黑" panose="020B0503020204020204" pitchFamily="34" charset="-122"/>
              </a:rPr>
              <a:t>，</a:t>
            </a:r>
            <a:r>
              <a:rPr lang="en-US" altLang="zh-CN" sz="2000" dirty="0">
                <a:solidFill>
                  <a:srgbClr val="008000"/>
                </a:solidFill>
                <a:latin typeface="微软雅黑" panose="020B0503020204020204" pitchFamily="34" charset="-122"/>
                <a:ea typeface="微软雅黑" panose="020B0503020204020204" pitchFamily="34" charset="-122"/>
              </a:rPr>
              <a:t>X&gt;Y</a:t>
            </a:r>
            <a:endParaRPr lang="zh-CN" altLang="en-US" sz="2000" dirty="0">
              <a:solidFill>
                <a:srgbClr val="008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2659655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8229600" cy="1143000"/>
          </a:xfrm>
        </p:spPr>
        <p:txBody>
          <a:bodyPr>
            <a:normAutofit/>
          </a:bodyPr>
          <a:lstStyle/>
          <a:p>
            <a:r>
              <a:rPr lang="zh-CN" altLang="en-US" sz="4000" dirty="0">
                <a:solidFill>
                  <a:srgbClr val="C00000"/>
                </a:solidFill>
              </a:rPr>
              <a:t>条件设置指令</a:t>
            </a:r>
          </a:p>
        </p:txBody>
      </p:sp>
      <p:sp>
        <p:nvSpPr>
          <p:cNvPr id="3" name="内容占位符 2"/>
          <p:cNvSpPr>
            <a:spLocks noGrp="1"/>
          </p:cNvSpPr>
          <p:nvPr>
            <p:ph idx="1"/>
          </p:nvPr>
        </p:nvSpPr>
        <p:spPr>
          <a:xfrm>
            <a:off x="457200" y="1143000"/>
            <a:ext cx="8229600" cy="5166320"/>
          </a:xfrm>
        </p:spPr>
        <p:txBody>
          <a:bodyPr>
            <a:normAutofit/>
          </a:bodyPr>
          <a:lstStyle/>
          <a:p>
            <a:pPr lvl="0" eaLnBrk="0" fontAlgn="base" hangingPunct="0">
              <a:lnSpc>
                <a:spcPct val="115000"/>
              </a:lnSpc>
              <a:spcAft>
                <a:spcPct val="0"/>
              </a:spcAft>
              <a:buNone/>
            </a:pPr>
            <a:r>
              <a:rPr lang="en-US" altLang="zh-CN" sz="2000" b="1" kern="0" dirty="0" err="1">
                <a:solidFill>
                  <a:srgbClr val="000000"/>
                </a:solidFill>
                <a:latin typeface="微软雅黑" panose="020B0503020204020204" pitchFamily="34" charset="-122"/>
                <a:ea typeface="微软雅黑" panose="020B0503020204020204" pitchFamily="34" charset="-122"/>
              </a:rPr>
              <a:t>SETcc</a:t>
            </a:r>
            <a:r>
              <a:rPr lang="en-US" altLang="zh-CN" sz="2000" b="1" kern="0" dirty="0">
                <a:solidFill>
                  <a:srgbClr val="000000"/>
                </a:solidFill>
                <a:latin typeface="微软雅黑" panose="020B0503020204020204" pitchFamily="34" charset="-122"/>
                <a:ea typeface="微软雅黑" panose="020B0503020204020204" pitchFamily="34" charset="-122"/>
              </a:rPr>
              <a:t> DST</a:t>
            </a:r>
            <a:endParaRPr lang="zh-CN" altLang="en-US" sz="2000" b="1" kern="0" dirty="0">
              <a:solidFill>
                <a:srgbClr val="000000"/>
              </a:solidFill>
              <a:latin typeface="微软雅黑" panose="020B0503020204020204" pitchFamily="34" charset="-122"/>
              <a:ea typeface="微软雅黑" panose="020B0503020204020204" pitchFamily="34" charset="-122"/>
            </a:endParaRPr>
          </a:p>
          <a:p>
            <a:pPr lvl="1" eaLnBrk="0" fontAlgn="base" hangingPunct="0">
              <a:lnSpc>
                <a:spcPct val="110000"/>
              </a:lnSpc>
              <a:spcAft>
                <a:spcPct val="0"/>
              </a:spcAft>
              <a:buFontTx/>
              <a:buChar char="–"/>
            </a:pPr>
            <a:r>
              <a:rPr lang="zh-CN" altLang="en-US" sz="2000" b="1" kern="0" dirty="0">
                <a:solidFill>
                  <a:srgbClr val="0000CC"/>
                </a:solidFill>
                <a:latin typeface="微软雅黑" panose="020B0503020204020204" pitchFamily="34" charset="-122"/>
                <a:ea typeface="微软雅黑" panose="020B0503020204020204" pitchFamily="34" charset="-122"/>
              </a:rPr>
              <a:t>将条件标志组合得到的条件值设置到一个</a:t>
            </a:r>
            <a:r>
              <a:rPr lang="en-US" altLang="zh-CN" sz="2000" b="1" kern="0" dirty="0">
                <a:solidFill>
                  <a:srgbClr val="0000CC"/>
                </a:solidFill>
                <a:latin typeface="微软雅黑" panose="020B0503020204020204" pitchFamily="34" charset="-122"/>
                <a:ea typeface="微软雅黑" panose="020B0503020204020204" pitchFamily="34" charset="-122"/>
              </a:rPr>
              <a:t>8</a:t>
            </a:r>
            <a:r>
              <a:rPr lang="zh-CN" altLang="en-US" sz="2000" b="1" kern="0" dirty="0">
                <a:solidFill>
                  <a:srgbClr val="0000CC"/>
                </a:solidFill>
                <a:latin typeface="微软雅黑" panose="020B0503020204020204" pitchFamily="34" charset="-122"/>
                <a:ea typeface="微软雅黑" panose="020B0503020204020204" pitchFamily="34" charset="-122"/>
              </a:rPr>
              <a:t>位通用寄存机中</a:t>
            </a:r>
          </a:p>
          <a:p>
            <a:pPr lvl="2" eaLnBrk="0" fontAlgn="base" hangingPunct="0">
              <a:lnSpc>
                <a:spcPct val="110000"/>
              </a:lnSpc>
              <a:spcAft>
                <a:spcPct val="0"/>
              </a:spcAft>
              <a:buNone/>
            </a:pPr>
            <a:endParaRPr lang="zh-CN" altLang="en-US" sz="2000" b="1" kern="0" dirty="0">
              <a:solidFill>
                <a:srgbClr val="006600"/>
              </a:solidFill>
              <a:latin typeface="微软雅黑" panose="020B0503020204020204" pitchFamily="34" charset="-122"/>
              <a:ea typeface="微软雅黑" panose="020B0503020204020204" pitchFamily="34" charset="-122"/>
            </a:endParaRPr>
          </a:p>
          <a:p>
            <a:pPr lvl="1" eaLnBrk="0" fontAlgn="base" hangingPunct="0">
              <a:lnSpc>
                <a:spcPct val="110000"/>
              </a:lnSpc>
              <a:spcAft>
                <a:spcPct val="0"/>
              </a:spcAft>
              <a:buFontTx/>
              <a:buChar char="–"/>
            </a:pPr>
            <a:r>
              <a:rPr lang="zh-CN" altLang="en-US" sz="2000" b="1" kern="0" dirty="0">
                <a:solidFill>
                  <a:srgbClr val="0000CC"/>
                </a:solidFill>
                <a:latin typeface="微软雅黑" panose="020B0503020204020204" pitchFamily="34" charset="-122"/>
                <a:ea typeface="微软雅黑" panose="020B0503020204020204" pitchFamily="34" charset="-122"/>
              </a:rPr>
              <a:t>设置的条件值与表</a:t>
            </a:r>
            <a:r>
              <a:rPr lang="en-US" altLang="zh-CN" sz="2000" b="1" kern="0" dirty="0">
                <a:solidFill>
                  <a:srgbClr val="0000CC"/>
                </a:solidFill>
                <a:latin typeface="微软雅黑" panose="020B0503020204020204" pitchFamily="34" charset="-122"/>
                <a:ea typeface="微软雅黑" panose="020B0503020204020204" pitchFamily="34" charset="-122"/>
              </a:rPr>
              <a:t>3.6</a:t>
            </a:r>
            <a:r>
              <a:rPr lang="zh-CN" altLang="en-US" sz="2000" b="1" kern="0" dirty="0">
                <a:solidFill>
                  <a:srgbClr val="0000CC"/>
                </a:solidFill>
                <a:latin typeface="微软雅黑" panose="020B0503020204020204" pitchFamily="34" charset="-122"/>
                <a:ea typeface="微软雅黑" panose="020B0503020204020204" pitchFamily="34" charset="-122"/>
              </a:rPr>
              <a:t>中条件转移指令的转移条件值完全一样</a:t>
            </a:r>
            <a:endParaRPr lang="en-US" altLang="zh-CN" sz="2000" b="1" kern="0" dirty="0">
              <a:solidFill>
                <a:srgbClr val="0000CC"/>
              </a:solidFill>
              <a:latin typeface="微软雅黑" panose="020B0503020204020204" pitchFamily="34" charset="-122"/>
              <a:ea typeface="微软雅黑" panose="020B0503020204020204" pitchFamily="34" charset="-122"/>
            </a:endParaRPr>
          </a:p>
          <a:p>
            <a:pPr marL="914400" lvl="2" indent="0" eaLnBrk="0" fontAlgn="base" hangingPunct="0">
              <a:lnSpc>
                <a:spcPct val="110000"/>
              </a:lnSpc>
              <a:spcAft>
                <a:spcPct val="0"/>
              </a:spcAft>
              <a:buNone/>
            </a:pPr>
            <a:endParaRPr lang="zh-CN" altLang="en-US" sz="2000" b="1" kern="0" dirty="0">
              <a:solidFill>
                <a:srgbClr val="006600"/>
              </a:solidFill>
              <a:latin typeface="微软雅黑" panose="020B0503020204020204" pitchFamily="34" charset="-122"/>
              <a:ea typeface="微软雅黑" panose="020B0503020204020204" pitchFamily="34" charset="-122"/>
            </a:endParaRPr>
          </a:p>
          <a:p>
            <a:pPr lvl="1" eaLnBrk="0" fontAlgn="base" hangingPunct="0">
              <a:lnSpc>
                <a:spcPct val="110000"/>
              </a:lnSpc>
              <a:spcAft>
                <a:spcPct val="0"/>
              </a:spcAft>
              <a:buFontTx/>
              <a:buChar char="–"/>
            </a:pPr>
            <a:r>
              <a:rPr lang="en-US" altLang="zh-CN" sz="2000" b="1" kern="0" dirty="0" err="1">
                <a:solidFill>
                  <a:srgbClr val="0000CC"/>
                </a:solidFill>
                <a:latin typeface="微软雅黑" panose="020B0503020204020204" pitchFamily="34" charset="-122"/>
                <a:ea typeface="微软雅黑" panose="020B0503020204020204" pitchFamily="34" charset="-122"/>
              </a:rPr>
              <a:t>setc</a:t>
            </a:r>
            <a:r>
              <a:rPr lang="en-US" altLang="zh-CN" sz="2000" b="1" kern="0" dirty="0">
                <a:solidFill>
                  <a:srgbClr val="0000CC"/>
                </a:solidFill>
                <a:latin typeface="微软雅黑" panose="020B0503020204020204" pitchFamily="34" charset="-122"/>
                <a:ea typeface="微软雅黑" panose="020B0503020204020204" pitchFamily="34" charset="-122"/>
              </a:rPr>
              <a:t> %dl</a:t>
            </a:r>
            <a:endParaRPr lang="zh-CN" altLang="en-US" sz="2000" b="1" kern="0" dirty="0">
              <a:solidFill>
                <a:srgbClr val="0000CC"/>
              </a:solidFill>
              <a:latin typeface="微软雅黑" panose="020B0503020204020204" pitchFamily="34" charset="-122"/>
              <a:ea typeface="微软雅黑" panose="020B0503020204020204" pitchFamily="34" charset="-122"/>
            </a:endParaRPr>
          </a:p>
          <a:p>
            <a:pPr lvl="2" eaLnBrk="0" fontAlgn="base" hangingPunct="0">
              <a:lnSpc>
                <a:spcPct val="110000"/>
              </a:lnSpc>
              <a:spcAft>
                <a:spcPct val="0"/>
              </a:spcAft>
              <a:buNone/>
            </a:pPr>
            <a:r>
              <a:rPr lang="zh-CN" altLang="en-US" sz="2000" b="1" kern="0" dirty="0">
                <a:solidFill>
                  <a:srgbClr val="006600"/>
                </a:solidFill>
                <a:latin typeface="微软雅黑" panose="020B0503020204020204" pitchFamily="34" charset="-122"/>
                <a:ea typeface="微软雅黑" panose="020B0503020204020204" pitchFamily="34" charset="-122"/>
              </a:rPr>
              <a:t>若</a:t>
            </a:r>
            <a:r>
              <a:rPr lang="en-US" altLang="zh-CN" sz="2000" b="1" kern="0" dirty="0">
                <a:solidFill>
                  <a:srgbClr val="006600"/>
                </a:solidFill>
                <a:latin typeface="微软雅黑" panose="020B0503020204020204" pitchFamily="34" charset="-122"/>
                <a:ea typeface="微软雅黑" panose="020B0503020204020204" pitchFamily="34" charset="-122"/>
              </a:rPr>
              <a:t>CF=1</a:t>
            </a:r>
            <a:r>
              <a:rPr lang="zh-CN" altLang="en-US" sz="2000" b="1" kern="0" dirty="0">
                <a:solidFill>
                  <a:srgbClr val="006600"/>
                </a:solidFill>
                <a:latin typeface="微软雅黑" panose="020B0503020204020204" pitchFamily="34" charset="-122"/>
                <a:ea typeface="微软雅黑" panose="020B0503020204020204" pitchFamily="34" charset="-122"/>
              </a:rPr>
              <a:t>，则</a:t>
            </a:r>
            <a:r>
              <a:rPr lang="en-US" altLang="zh-CN" sz="2000" b="1" kern="0" dirty="0">
                <a:solidFill>
                  <a:srgbClr val="006600"/>
                </a:solidFill>
                <a:latin typeface="微软雅黑" panose="020B0503020204020204" pitchFamily="34" charset="-122"/>
                <a:ea typeface="微软雅黑" panose="020B0503020204020204" pitchFamily="34" charset="-122"/>
              </a:rPr>
              <a:t>R[dl]=1</a:t>
            </a:r>
            <a:r>
              <a:rPr lang="zh-CN" altLang="en-US" sz="2000" b="1" kern="0" dirty="0">
                <a:solidFill>
                  <a:srgbClr val="006600"/>
                </a:solidFill>
                <a:latin typeface="微软雅黑" panose="020B0503020204020204" pitchFamily="34" charset="-122"/>
                <a:ea typeface="微软雅黑" panose="020B0503020204020204" pitchFamily="34" charset="-122"/>
              </a:rPr>
              <a:t>；否则</a:t>
            </a:r>
            <a:r>
              <a:rPr lang="en-US" altLang="zh-CN" sz="2000" b="1" kern="0" dirty="0">
                <a:solidFill>
                  <a:srgbClr val="006600"/>
                </a:solidFill>
                <a:latin typeface="微软雅黑" panose="020B0503020204020204" pitchFamily="34" charset="-122"/>
                <a:ea typeface="微软雅黑" panose="020B0503020204020204" pitchFamily="34" charset="-122"/>
              </a:rPr>
              <a:t>R[dl]=0</a:t>
            </a:r>
            <a:endParaRPr lang="zh-CN" altLang="en-US" sz="2000" b="1" kern="0" dirty="0">
              <a:solidFill>
                <a:srgbClr val="006600"/>
              </a:solidFill>
              <a:latin typeface="微软雅黑" panose="020B0503020204020204" pitchFamily="34" charset="-122"/>
              <a:ea typeface="微软雅黑" panose="020B0503020204020204" pitchFamily="34" charset="-122"/>
            </a:endParaRPr>
          </a:p>
          <a:p>
            <a:pPr lvl="1" eaLnBrk="0" fontAlgn="base" hangingPunct="0">
              <a:lnSpc>
                <a:spcPct val="110000"/>
              </a:lnSpc>
              <a:spcAft>
                <a:spcPct val="0"/>
              </a:spcAft>
              <a:buFontTx/>
              <a:buChar char="–"/>
            </a:pPr>
            <a:r>
              <a:rPr lang="en-US" altLang="zh-CN" sz="2000" b="1" kern="0" dirty="0" err="1">
                <a:solidFill>
                  <a:srgbClr val="0033CC"/>
                </a:solidFill>
                <a:latin typeface="Arial"/>
                <a:ea typeface="微软雅黑" panose="020B0503020204020204" pitchFamily="34" charset="-122"/>
              </a:rPr>
              <a:t>setge</a:t>
            </a:r>
            <a:r>
              <a:rPr lang="en-US" altLang="zh-CN" sz="2000" b="1" kern="0" dirty="0">
                <a:solidFill>
                  <a:srgbClr val="0033CC"/>
                </a:solidFill>
                <a:latin typeface="Arial"/>
                <a:ea typeface="微软雅黑" panose="020B0503020204020204" pitchFamily="34" charset="-122"/>
              </a:rPr>
              <a:t> %dl</a:t>
            </a:r>
            <a:endParaRPr lang="zh-CN" altLang="en-US" sz="2000" b="1" kern="0" dirty="0">
              <a:solidFill>
                <a:srgbClr val="0033CC"/>
              </a:solidFill>
              <a:latin typeface="Arial"/>
              <a:ea typeface="微软雅黑" panose="020B0503020204020204" pitchFamily="34" charset="-122"/>
            </a:endParaRPr>
          </a:p>
          <a:p>
            <a:pPr lvl="2" eaLnBrk="0" fontAlgn="base" hangingPunct="0">
              <a:lnSpc>
                <a:spcPct val="110000"/>
              </a:lnSpc>
              <a:spcAft>
                <a:spcPct val="0"/>
              </a:spcAft>
              <a:buNone/>
            </a:pPr>
            <a:r>
              <a:rPr lang="zh-CN" altLang="en-US" sz="2000" b="1" kern="0" dirty="0">
                <a:solidFill>
                  <a:srgbClr val="006600"/>
                </a:solidFill>
                <a:latin typeface="微软雅黑" panose="020B0503020204020204" pitchFamily="34" charset="-122"/>
                <a:ea typeface="微软雅黑" panose="020B0503020204020204" pitchFamily="34" charset="-122"/>
              </a:rPr>
              <a:t>若</a:t>
            </a:r>
            <a:r>
              <a:rPr lang="en-US" altLang="zh-CN" sz="2000" b="1" kern="0" dirty="0">
                <a:solidFill>
                  <a:srgbClr val="006600"/>
                </a:solidFill>
                <a:latin typeface="微软雅黑" panose="020B0503020204020204" pitchFamily="34" charset="-122"/>
                <a:ea typeface="微软雅黑" panose="020B0503020204020204" pitchFamily="34" charset="-122"/>
              </a:rPr>
              <a:t>SF=OF</a:t>
            </a:r>
            <a:r>
              <a:rPr lang="zh-CN" altLang="en-US" sz="2000" b="1" kern="0" dirty="0">
                <a:solidFill>
                  <a:srgbClr val="006600"/>
                </a:solidFill>
                <a:latin typeface="微软雅黑" panose="020B0503020204020204" pitchFamily="34" charset="-122"/>
                <a:ea typeface="微软雅黑" panose="020B0503020204020204" pitchFamily="34" charset="-122"/>
              </a:rPr>
              <a:t>或</a:t>
            </a:r>
            <a:r>
              <a:rPr lang="en-US" altLang="zh-CN" sz="2000" b="1" kern="0" dirty="0">
                <a:solidFill>
                  <a:srgbClr val="006600"/>
                </a:solidFill>
                <a:latin typeface="微软雅黑" panose="020B0503020204020204" pitchFamily="34" charset="-122"/>
                <a:ea typeface="微软雅黑" panose="020B0503020204020204" pitchFamily="34" charset="-122"/>
              </a:rPr>
              <a:t>ZF=1</a:t>
            </a:r>
            <a:r>
              <a:rPr lang="zh-CN" altLang="en-US" sz="2000" b="1" kern="0" dirty="0">
                <a:solidFill>
                  <a:srgbClr val="006600"/>
                </a:solidFill>
                <a:latin typeface="微软雅黑" panose="020B0503020204020204" pitchFamily="34" charset="-122"/>
                <a:ea typeface="微软雅黑" panose="020B0503020204020204" pitchFamily="34" charset="-122"/>
              </a:rPr>
              <a:t>，则</a:t>
            </a:r>
            <a:r>
              <a:rPr lang="en-US" altLang="zh-CN" sz="2000" b="1" kern="0" dirty="0">
                <a:solidFill>
                  <a:srgbClr val="006600"/>
                </a:solidFill>
                <a:latin typeface="微软雅黑" panose="020B0503020204020204" pitchFamily="34" charset="-122"/>
                <a:ea typeface="微软雅黑" panose="020B0503020204020204" pitchFamily="34" charset="-122"/>
              </a:rPr>
              <a:t>R[dl]=1</a:t>
            </a:r>
            <a:r>
              <a:rPr lang="zh-CN" altLang="en-US" sz="2000" b="1" kern="0" dirty="0">
                <a:solidFill>
                  <a:srgbClr val="006600"/>
                </a:solidFill>
                <a:latin typeface="微软雅黑" panose="020B0503020204020204" pitchFamily="34" charset="-122"/>
                <a:ea typeface="微软雅黑" panose="020B0503020204020204" pitchFamily="34" charset="-122"/>
              </a:rPr>
              <a:t>；否则</a:t>
            </a:r>
            <a:r>
              <a:rPr lang="en-US" altLang="zh-CN" sz="2000" b="1" kern="0" dirty="0">
                <a:solidFill>
                  <a:srgbClr val="006600"/>
                </a:solidFill>
                <a:latin typeface="微软雅黑" panose="020B0503020204020204" pitchFamily="34" charset="-122"/>
                <a:ea typeface="微软雅黑" panose="020B0503020204020204" pitchFamily="34" charset="-122"/>
              </a:rPr>
              <a:t>R[dl]=0</a:t>
            </a:r>
            <a:endParaRPr lang="zh-CN" altLang="en-US" sz="2000" b="1" kern="0" dirty="0">
              <a:solidFill>
                <a:srgbClr val="006600"/>
              </a:solidFill>
              <a:latin typeface="微软雅黑" panose="020B0503020204020204" pitchFamily="34" charset="-122"/>
              <a:ea typeface="微软雅黑" panose="020B0503020204020204" pitchFamily="34" charset="-122"/>
            </a:endParaRPr>
          </a:p>
          <a:p>
            <a:pPr lvl="1" eaLnBrk="0" fontAlgn="base" hangingPunct="0">
              <a:lnSpc>
                <a:spcPct val="110000"/>
              </a:lnSpc>
              <a:spcAft>
                <a:spcPct val="0"/>
              </a:spcAft>
              <a:buFontTx/>
              <a:buChar char="–"/>
            </a:pPr>
            <a:r>
              <a:rPr lang="zh-CN" altLang="en-US" sz="2000" b="1" kern="0" dirty="0">
                <a:solidFill>
                  <a:srgbClr val="0000CC"/>
                </a:solidFill>
                <a:latin typeface="Arial"/>
                <a:ea typeface="微软雅黑" panose="020B0503020204020204" pitchFamily="34" charset="-122"/>
              </a:rPr>
              <a:t>每个条件转移指令都有对应的条件设置指令</a:t>
            </a:r>
            <a:endParaRPr lang="zh-CN" altLang="en-US" sz="1800" b="1" kern="0" dirty="0">
              <a:solidFill>
                <a:srgbClr val="0000CC"/>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063604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457200" y="98425"/>
            <a:ext cx="8229600" cy="561975"/>
          </a:xfrm>
        </p:spPr>
        <p:txBody>
          <a:bodyPr>
            <a:normAutofit fontScale="90000"/>
          </a:bodyPr>
          <a:lstStyle/>
          <a:p>
            <a:r>
              <a:rPr lang="zh-CN" altLang="en-US" sz="3600"/>
              <a:t>例子：</a:t>
            </a:r>
            <a:r>
              <a:rPr lang="en-US" altLang="zh-CN" sz="3600"/>
              <a:t>C</a:t>
            </a:r>
            <a:r>
              <a:rPr lang="zh-CN" altLang="en-US" sz="3600"/>
              <a:t>表达式类型转换顺序</a:t>
            </a:r>
          </a:p>
        </p:txBody>
      </p:sp>
      <p:sp>
        <p:nvSpPr>
          <p:cNvPr id="51203" name="内容占位符 2"/>
          <p:cNvSpPr>
            <a:spLocks/>
          </p:cNvSpPr>
          <p:nvPr/>
        </p:nvSpPr>
        <p:spPr bwMode="auto">
          <a:xfrm>
            <a:off x="122238" y="819150"/>
            <a:ext cx="8320087" cy="603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buFontTx/>
              <a:buNone/>
            </a:pPr>
            <a:r>
              <a:rPr lang="en-US" altLang="zh-CN" dirty="0"/>
              <a:t>   unsigned long </a:t>
            </a:r>
            <a:r>
              <a:rPr lang="en-US" altLang="zh-CN" dirty="0" err="1"/>
              <a:t>long</a:t>
            </a:r>
            <a:endParaRPr lang="zh-CN" altLang="en-US" dirty="0"/>
          </a:p>
          <a:p>
            <a:pPr>
              <a:buFontTx/>
              <a:buNone/>
            </a:pPr>
            <a:r>
              <a:rPr lang="en-US" altLang="zh-CN" dirty="0"/>
              <a:t>    ↑             </a:t>
            </a:r>
          </a:p>
          <a:p>
            <a:pPr>
              <a:buFontTx/>
              <a:buNone/>
            </a:pPr>
            <a:r>
              <a:rPr lang="en-US" altLang="zh-CN" dirty="0"/>
              <a:t>   long </a:t>
            </a:r>
            <a:r>
              <a:rPr lang="en-US" altLang="zh-CN" dirty="0" err="1"/>
              <a:t>long</a:t>
            </a:r>
            <a:r>
              <a:rPr lang="en-US" altLang="zh-CN" dirty="0"/>
              <a:t>     </a:t>
            </a:r>
          </a:p>
          <a:p>
            <a:pPr>
              <a:buFontTx/>
              <a:buNone/>
            </a:pPr>
            <a:r>
              <a:rPr lang="en-US" altLang="zh-CN" dirty="0"/>
              <a:t>    ↑         </a:t>
            </a:r>
          </a:p>
          <a:p>
            <a:pPr>
              <a:buFontTx/>
              <a:buNone/>
            </a:pPr>
            <a:r>
              <a:rPr lang="en-US" altLang="zh-CN" dirty="0"/>
              <a:t>   unsigned</a:t>
            </a:r>
          </a:p>
          <a:p>
            <a:pPr>
              <a:buFontTx/>
              <a:buNone/>
            </a:pPr>
            <a:r>
              <a:rPr lang="en-US" altLang="zh-CN" dirty="0"/>
              <a:t>    ↑          </a:t>
            </a:r>
          </a:p>
          <a:p>
            <a:pPr>
              <a:buFontTx/>
              <a:buNone/>
            </a:pPr>
            <a:r>
              <a:rPr lang="zh-CN" altLang="en-US" dirty="0"/>
              <a:t>   </a:t>
            </a:r>
            <a:r>
              <a:rPr lang="en-US" altLang="zh-CN" dirty="0" err="1"/>
              <a:t>int</a:t>
            </a:r>
            <a:r>
              <a:rPr lang="en-US" altLang="zh-CN" dirty="0"/>
              <a:t> </a:t>
            </a:r>
          </a:p>
          <a:p>
            <a:pPr>
              <a:buFontTx/>
              <a:buNone/>
            </a:pPr>
            <a:r>
              <a:rPr lang="en-US" altLang="zh-CN" dirty="0"/>
              <a:t>   ↑</a:t>
            </a:r>
          </a:p>
          <a:p>
            <a:pPr>
              <a:buFontTx/>
              <a:buNone/>
            </a:pPr>
            <a:r>
              <a:rPr lang="en-US" altLang="zh-CN" dirty="0"/>
              <a:t> (unsigned)</a:t>
            </a:r>
            <a:r>
              <a:rPr lang="en-US" altLang="zh-CN" dirty="0" err="1"/>
              <a:t>char,short</a:t>
            </a:r>
            <a:endParaRPr lang="en-US" altLang="zh-CN" dirty="0"/>
          </a:p>
          <a:p>
            <a:pPr>
              <a:buFontTx/>
              <a:buNone/>
            </a:pPr>
            <a:endParaRPr lang="zh-CN" altLang="en-US" u="sng" dirty="0">
              <a:solidFill>
                <a:srgbClr val="FF0000"/>
              </a:solidFill>
            </a:endParaRPr>
          </a:p>
        </p:txBody>
      </p:sp>
      <p:pic>
        <p:nvPicPr>
          <p:cNvPr id="5120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1888" y="998538"/>
            <a:ext cx="5175250" cy="4140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51205" name="Rectangle 5"/>
          <p:cNvSpPr>
            <a:spLocks noChangeArrowheads="1"/>
          </p:cNvSpPr>
          <p:nvPr/>
        </p:nvSpPr>
        <p:spPr bwMode="auto">
          <a:xfrm>
            <a:off x="522288" y="5727700"/>
            <a:ext cx="8054975" cy="7318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lvl="1">
              <a:lnSpc>
                <a:spcPct val="100000"/>
              </a:lnSpc>
              <a:spcBef>
                <a:spcPct val="0"/>
              </a:spcBef>
              <a:buFontTx/>
              <a:buNone/>
            </a:pPr>
            <a:r>
              <a:rPr lang="zh-CN" altLang="en-US" sz="2200">
                <a:latin typeface="微软雅黑" panose="020B0503020204020204" pitchFamily="34" charset="-122"/>
                <a:ea typeface="微软雅黑" panose="020B0503020204020204" pitchFamily="34" charset="-122"/>
              </a:rPr>
              <a:t>条件设置指令</a:t>
            </a:r>
            <a:r>
              <a:rPr lang="en-US" altLang="zh-CN">
                <a:solidFill>
                  <a:srgbClr val="006600"/>
                </a:solidFill>
                <a:latin typeface="微软雅黑" panose="020B0503020204020204" pitchFamily="34" charset="-122"/>
                <a:ea typeface="微软雅黑" panose="020B0503020204020204" pitchFamily="34" charset="-122"/>
              </a:rPr>
              <a:t>SETcc DST</a:t>
            </a:r>
            <a:r>
              <a:rPr lang="zh-CN" altLang="en-US">
                <a:solidFill>
                  <a:srgbClr val="006600"/>
                </a:solidFill>
                <a:latin typeface="微软雅黑" panose="020B0503020204020204" pitchFamily="34" charset="-122"/>
                <a:ea typeface="微软雅黑" panose="020B0503020204020204" pitchFamily="34" charset="-122"/>
              </a:rPr>
              <a:t>：</a:t>
            </a:r>
          </a:p>
          <a:p>
            <a:pPr lvl="1">
              <a:lnSpc>
                <a:spcPct val="100000"/>
              </a:lnSpc>
              <a:spcBef>
                <a:spcPct val="0"/>
              </a:spcBef>
              <a:buFontTx/>
              <a:buNone/>
            </a:pPr>
            <a:r>
              <a:rPr lang="zh-CN" altLang="en-US">
                <a:solidFill>
                  <a:srgbClr val="006600"/>
                </a:solidFill>
                <a:latin typeface="微软雅黑" panose="020B0503020204020204" pitchFamily="34" charset="-122"/>
                <a:ea typeface="微软雅黑" panose="020B0503020204020204" pitchFamily="34" charset="-122"/>
              </a:rPr>
              <a:t>将条件码</a:t>
            </a:r>
            <a:r>
              <a:rPr lang="en-US" altLang="zh-CN">
                <a:solidFill>
                  <a:srgbClr val="006600"/>
                </a:solidFill>
                <a:latin typeface="微软雅黑" panose="020B0503020204020204" pitchFamily="34" charset="-122"/>
                <a:ea typeface="微软雅黑" panose="020B0503020204020204" pitchFamily="34" charset="-122"/>
              </a:rPr>
              <a:t>cc</a:t>
            </a:r>
            <a:r>
              <a:rPr lang="zh-CN" altLang="en-US">
                <a:solidFill>
                  <a:srgbClr val="006600"/>
                </a:solidFill>
                <a:latin typeface="微软雅黑" panose="020B0503020204020204" pitchFamily="34" charset="-122"/>
                <a:ea typeface="微软雅黑" panose="020B0503020204020204" pitchFamily="34" charset="-122"/>
              </a:rPr>
              <a:t>保存到</a:t>
            </a:r>
            <a:r>
              <a:rPr lang="en-US" altLang="zh-CN">
                <a:solidFill>
                  <a:srgbClr val="006600"/>
                </a:solidFill>
                <a:latin typeface="微软雅黑" panose="020B0503020204020204" pitchFamily="34" charset="-122"/>
                <a:ea typeface="微软雅黑" panose="020B0503020204020204" pitchFamily="34" charset="-122"/>
              </a:rPr>
              <a:t>DST</a:t>
            </a:r>
            <a:r>
              <a:rPr lang="zh-CN" altLang="en-US">
                <a:solidFill>
                  <a:srgbClr val="006600"/>
                </a:solidFill>
                <a:latin typeface="微软雅黑" panose="020B0503020204020204" pitchFamily="34" charset="-122"/>
                <a:ea typeface="微软雅黑" panose="020B0503020204020204" pitchFamily="34" charset="-122"/>
              </a:rPr>
              <a:t>（通常是一个</a:t>
            </a:r>
            <a:r>
              <a:rPr lang="en-US" altLang="zh-CN">
                <a:solidFill>
                  <a:srgbClr val="006600"/>
                </a:solidFill>
                <a:latin typeface="微软雅黑" panose="020B0503020204020204" pitchFamily="34" charset="-122"/>
                <a:ea typeface="微软雅黑" panose="020B0503020204020204" pitchFamily="34" charset="-122"/>
              </a:rPr>
              <a:t>8</a:t>
            </a:r>
            <a:r>
              <a:rPr lang="zh-CN" altLang="en-US">
                <a:solidFill>
                  <a:srgbClr val="006600"/>
                </a:solidFill>
                <a:latin typeface="微软雅黑" panose="020B0503020204020204" pitchFamily="34" charset="-122"/>
                <a:ea typeface="微软雅黑" panose="020B0503020204020204" pitchFamily="34" charset="-122"/>
              </a:rPr>
              <a:t>位寄存器 ）</a:t>
            </a:r>
          </a:p>
        </p:txBody>
      </p:sp>
      <p:sp>
        <p:nvSpPr>
          <p:cNvPr id="51206" name="Text Box 6"/>
          <p:cNvSpPr txBox="1">
            <a:spLocks noChangeArrowheads="1"/>
          </p:cNvSpPr>
          <p:nvPr/>
        </p:nvSpPr>
        <p:spPr bwMode="auto">
          <a:xfrm>
            <a:off x="4076700" y="5408613"/>
            <a:ext cx="3960813"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zh-CN" altLang="en-US" sz="2000">
                <a:solidFill>
                  <a:srgbClr val="FF3300"/>
                </a:solidFill>
                <a:latin typeface="微软雅黑" panose="020B0503020204020204" pitchFamily="34" charset="-122"/>
                <a:ea typeface="微软雅黑" panose="020B0503020204020204" pitchFamily="34" charset="-122"/>
              </a:rPr>
              <a:t>猜测：各用哪种条件设置指令？</a:t>
            </a:r>
          </a:p>
        </p:txBody>
      </p:sp>
      <p:pic>
        <p:nvPicPr>
          <p:cNvPr id="2" name="图片 1"/>
          <p:cNvPicPr>
            <a:picLocks noChangeAspect="1"/>
          </p:cNvPicPr>
          <p:nvPr/>
        </p:nvPicPr>
        <p:blipFill>
          <a:blip r:embed="rId3"/>
          <a:stretch>
            <a:fillRect/>
          </a:stretch>
        </p:blipFill>
        <p:spPr>
          <a:xfrm>
            <a:off x="1106615" y="3456032"/>
            <a:ext cx="3384528" cy="765085"/>
          </a:xfrm>
          <a:prstGeom prst="rect">
            <a:avLst/>
          </a:prstGeom>
        </p:spPr>
      </p:pic>
    </p:spTree>
    <p:extLst>
      <p:ext uri="{BB962C8B-B14F-4D97-AF65-F5344CB8AC3E}">
        <p14:creationId xmlns:p14="http://schemas.microsoft.com/office/powerpoint/2010/main" val="3525468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endParaRPr lang="zh-CN" altLang="en-US"/>
          </a:p>
        </p:txBody>
      </p:sp>
      <p:sp>
        <p:nvSpPr>
          <p:cNvPr id="52227" name="Rectangle 3"/>
          <p:cNvSpPr>
            <a:spLocks noGrp="1" noChangeArrowheads="1"/>
          </p:cNvSpPr>
          <p:nvPr>
            <p:ph type="body" idx="1"/>
          </p:nvPr>
        </p:nvSpPr>
        <p:spPr/>
        <p:txBody>
          <a:bodyPr/>
          <a:lstStyle/>
          <a:p>
            <a:endParaRPr lang="zh-CN" altLang="en-US"/>
          </a:p>
        </p:txBody>
      </p:sp>
      <p:pic>
        <p:nvPicPr>
          <p:cNvPr id="522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9400"/>
            <a:ext cx="8847138" cy="638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40357" name="Group 5"/>
          <p:cNvGrpSpPr>
            <a:grpSpLocks/>
          </p:cNvGrpSpPr>
          <p:nvPr/>
        </p:nvGrpSpPr>
        <p:grpSpPr bwMode="auto">
          <a:xfrm>
            <a:off x="3402013" y="1989138"/>
            <a:ext cx="1755775" cy="366712"/>
            <a:chOff x="2143" y="1253"/>
            <a:chExt cx="1106" cy="231"/>
          </a:xfrm>
        </p:grpSpPr>
        <p:sp>
          <p:nvSpPr>
            <p:cNvPr id="52246" name="Text Box 6"/>
            <p:cNvSpPr txBox="1">
              <a:spLocks noChangeArrowheads="1"/>
            </p:cNvSpPr>
            <p:nvPr/>
          </p:nvSpPr>
          <p:spPr bwMode="auto">
            <a:xfrm>
              <a:off x="2143" y="1253"/>
              <a:ext cx="879" cy="231"/>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en-US" altLang="zh-CN" sz="1800">
                  <a:solidFill>
                    <a:srgbClr val="0033CC"/>
                  </a:solidFill>
                  <a:latin typeface="微软雅黑" panose="020B0503020204020204" pitchFamily="34" charset="-122"/>
                  <a:ea typeface="微软雅黑" panose="020B0503020204020204" pitchFamily="34" charset="-122"/>
                </a:rPr>
                <a:t>char c=-1;</a:t>
              </a:r>
            </a:p>
          </p:txBody>
        </p:sp>
        <p:sp>
          <p:nvSpPr>
            <p:cNvPr id="52247" name="Line 7"/>
            <p:cNvSpPr>
              <a:spLocks noChangeShapeType="1"/>
            </p:cNvSpPr>
            <p:nvPr/>
          </p:nvSpPr>
          <p:spPr bwMode="auto">
            <a:xfrm>
              <a:off x="2993" y="1342"/>
              <a:ext cx="256" cy="0"/>
            </a:xfrm>
            <a:prstGeom prst="line">
              <a:avLst/>
            </a:prstGeom>
            <a:noFill/>
            <a:ln w="38100">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740360" name="Group 8"/>
          <p:cNvGrpSpPr>
            <a:grpSpLocks/>
          </p:cNvGrpSpPr>
          <p:nvPr/>
        </p:nvGrpSpPr>
        <p:grpSpPr bwMode="auto">
          <a:xfrm>
            <a:off x="3267075" y="2214563"/>
            <a:ext cx="4905375" cy="628650"/>
            <a:chOff x="2058" y="1395"/>
            <a:chExt cx="3090" cy="396"/>
          </a:xfrm>
        </p:grpSpPr>
        <p:sp>
          <p:nvSpPr>
            <p:cNvPr id="52243" name="Text Box 9"/>
            <p:cNvSpPr txBox="1">
              <a:spLocks noChangeArrowheads="1"/>
            </p:cNvSpPr>
            <p:nvPr/>
          </p:nvSpPr>
          <p:spPr bwMode="auto">
            <a:xfrm>
              <a:off x="2058" y="1480"/>
              <a:ext cx="992" cy="17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en-US" altLang="zh-CN" sz="1800">
                  <a:solidFill>
                    <a:srgbClr val="FF3300"/>
                  </a:solidFill>
                  <a:latin typeface="微软雅黑" panose="020B0503020204020204" pitchFamily="34" charset="-122"/>
                  <a:ea typeface="微软雅黑" panose="020B0503020204020204" pitchFamily="34" charset="-122"/>
                </a:rPr>
                <a:t>d=(a&gt;c)?1:0</a:t>
              </a:r>
            </a:p>
          </p:txBody>
        </p:sp>
        <p:sp>
          <p:nvSpPr>
            <p:cNvPr id="52244" name="Rectangle 10"/>
            <p:cNvSpPr>
              <a:spLocks noChangeArrowheads="1"/>
            </p:cNvSpPr>
            <p:nvPr/>
          </p:nvSpPr>
          <p:spPr bwMode="auto">
            <a:xfrm>
              <a:off x="3249" y="1395"/>
              <a:ext cx="1899" cy="396"/>
            </a:xfrm>
            <a:prstGeom prst="rect">
              <a:avLst/>
            </a:prstGeom>
            <a:noFill/>
            <a:ln w="28575" algn="ctr">
              <a:solidFill>
                <a:srgbClr val="FF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800">
                <a:latin typeface="微软雅黑" panose="020B0503020204020204" pitchFamily="34" charset="-122"/>
                <a:ea typeface="微软雅黑" panose="020B0503020204020204" pitchFamily="34" charset="-122"/>
              </a:endParaRPr>
            </a:p>
          </p:txBody>
        </p:sp>
        <p:sp>
          <p:nvSpPr>
            <p:cNvPr id="52245" name="Line 11"/>
            <p:cNvSpPr>
              <a:spLocks noChangeShapeType="1"/>
            </p:cNvSpPr>
            <p:nvPr/>
          </p:nvSpPr>
          <p:spPr bwMode="auto">
            <a:xfrm>
              <a:off x="3022" y="1565"/>
              <a:ext cx="227" cy="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740364" name="Group 12"/>
          <p:cNvGrpSpPr>
            <a:grpSpLocks/>
          </p:cNvGrpSpPr>
          <p:nvPr/>
        </p:nvGrpSpPr>
        <p:grpSpPr bwMode="auto">
          <a:xfrm>
            <a:off x="2276475" y="1673225"/>
            <a:ext cx="2881313" cy="366713"/>
            <a:chOff x="1434" y="1054"/>
            <a:chExt cx="1815" cy="231"/>
          </a:xfrm>
        </p:grpSpPr>
        <p:sp>
          <p:nvSpPr>
            <p:cNvPr id="52241" name="Text Box 13"/>
            <p:cNvSpPr txBox="1">
              <a:spLocks noChangeArrowheads="1"/>
            </p:cNvSpPr>
            <p:nvPr/>
          </p:nvSpPr>
          <p:spPr bwMode="auto">
            <a:xfrm>
              <a:off x="1434" y="1054"/>
              <a:ext cx="1814" cy="231"/>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en-US" altLang="zh-CN" sz="1800">
                  <a:solidFill>
                    <a:srgbClr val="0033CC"/>
                  </a:solidFill>
                  <a:latin typeface="微软雅黑" panose="020B0503020204020204" pitchFamily="34" charset="-122"/>
                  <a:ea typeface="微软雅黑" panose="020B0503020204020204" pitchFamily="34" charset="-122"/>
                </a:rPr>
                <a:t>unsigned short b=1;</a:t>
              </a:r>
            </a:p>
          </p:txBody>
        </p:sp>
        <p:sp>
          <p:nvSpPr>
            <p:cNvPr id="52242" name="Line 14"/>
            <p:cNvSpPr>
              <a:spLocks noChangeShapeType="1"/>
            </p:cNvSpPr>
            <p:nvPr/>
          </p:nvSpPr>
          <p:spPr bwMode="auto">
            <a:xfrm>
              <a:off x="2993" y="1196"/>
              <a:ext cx="256" cy="0"/>
            </a:xfrm>
            <a:prstGeom prst="line">
              <a:avLst/>
            </a:prstGeom>
            <a:noFill/>
            <a:ln w="38100">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740367" name="Group 15"/>
          <p:cNvGrpSpPr>
            <a:grpSpLocks/>
          </p:cNvGrpSpPr>
          <p:nvPr/>
        </p:nvGrpSpPr>
        <p:grpSpPr bwMode="auto">
          <a:xfrm>
            <a:off x="2546350" y="1268413"/>
            <a:ext cx="2611438" cy="366712"/>
            <a:chOff x="1604" y="799"/>
            <a:chExt cx="1645" cy="231"/>
          </a:xfrm>
        </p:grpSpPr>
        <p:sp>
          <p:nvSpPr>
            <p:cNvPr id="52239" name="Text Box 16"/>
            <p:cNvSpPr txBox="1">
              <a:spLocks noChangeArrowheads="1"/>
            </p:cNvSpPr>
            <p:nvPr/>
          </p:nvSpPr>
          <p:spPr bwMode="auto">
            <a:xfrm>
              <a:off x="1604" y="799"/>
              <a:ext cx="1474" cy="231"/>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en-US" altLang="zh-CN" sz="1800">
                  <a:solidFill>
                    <a:srgbClr val="0033CC"/>
                  </a:solidFill>
                  <a:latin typeface="微软雅黑" panose="020B0503020204020204" pitchFamily="34" charset="-122"/>
                  <a:ea typeface="微软雅黑" panose="020B0503020204020204" pitchFamily="34" charset="-122"/>
                </a:rPr>
                <a:t>unsigned int a=1;</a:t>
              </a:r>
            </a:p>
          </p:txBody>
        </p:sp>
        <p:sp>
          <p:nvSpPr>
            <p:cNvPr id="52240" name="Line 17"/>
            <p:cNvSpPr>
              <a:spLocks noChangeShapeType="1"/>
            </p:cNvSpPr>
            <p:nvPr/>
          </p:nvSpPr>
          <p:spPr bwMode="auto">
            <a:xfrm>
              <a:off x="2993" y="913"/>
              <a:ext cx="256" cy="0"/>
            </a:xfrm>
            <a:prstGeom prst="line">
              <a:avLst/>
            </a:prstGeom>
            <a:noFill/>
            <a:ln w="38100">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740370" name="Group 18"/>
          <p:cNvGrpSpPr>
            <a:grpSpLocks/>
          </p:cNvGrpSpPr>
          <p:nvPr/>
        </p:nvGrpSpPr>
        <p:grpSpPr bwMode="auto">
          <a:xfrm>
            <a:off x="3132138" y="4103688"/>
            <a:ext cx="4995862" cy="900112"/>
            <a:chOff x="1944" y="2585"/>
            <a:chExt cx="3204" cy="539"/>
          </a:xfrm>
        </p:grpSpPr>
        <p:sp>
          <p:nvSpPr>
            <p:cNvPr id="52236" name="Text Box 19"/>
            <p:cNvSpPr txBox="1">
              <a:spLocks noChangeArrowheads="1"/>
            </p:cNvSpPr>
            <p:nvPr/>
          </p:nvSpPr>
          <p:spPr bwMode="auto">
            <a:xfrm>
              <a:off x="1944" y="2755"/>
              <a:ext cx="1049" cy="165"/>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en-US" altLang="zh-CN" sz="1800">
                  <a:solidFill>
                    <a:srgbClr val="FF3300"/>
                  </a:solidFill>
                  <a:latin typeface="微软雅黑" panose="020B0503020204020204" pitchFamily="34" charset="-122"/>
                  <a:ea typeface="微软雅黑" panose="020B0503020204020204" pitchFamily="34" charset="-122"/>
                </a:rPr>
                <a:t>d=(b&gt;c)?1:0</a:t>
              </a:r>
            </a:p>
          </p:txBody>
        </p:sp>
        <p:sp>
          <p:nvSpPr>
            <p:cNvPr id="52237" name="Rectangle 20"/>
            <p:cNvSpPr>
              <a:spLocks noChangeArrowheads="1"/>
            </p:cNvSpPr>
            <p:nvPr/>
          </p:nvSpPr>
          <p:spPr bwMode="auto">
            <a:xfrm>
              <a:off x="3220" y="2585"/>
              <a:ext cx="1928" cy="539"/>
            </a:xfrm>
            <a:prstGeom prst="rect">
              <a:avLst/>
            </a:prstGeom>
            <a:noFill/>
            <a:ln w="28575" algn="ctr">
              <a:solidFill>
                <a:srgbClr val="FF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800">
                <a:latin typeface="微软雅黑" panose="020B0503020204020204" pitchFamily="34" charset="-122"/>
                <a:ea typeface="微软雅黑" panose="020B0503020204020204" pitchFamily="34" charset="-122"/>
              </a:endParaRPr>
            </a:p>
          </p:txBody>
        </p:sp>
        <p:sp>
          <p:nvSpPr>
            <p:cNvPr id="52238" name="Line 21"/>
            <p:cNvSpPr>
              <a:spLocks noChangeShapeType="1"/>
            </p:cNvSpPr>
            <p:nvPr/>
          </p:nvSpPr>
          <p:spPr bwMode="auto">
            <a:xfrm>
              <a:off x="2908" y="2840"/>
              <a:ext cx="312"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740374" name="Text Box 22"/>
          <p:cNvSpPr txBox="1">
            <a:spLocks noChangeArrowheads="1"/>
          </p:cNvSpPr>
          <p:nvPr/>
        </p:nvSpPr>
        <p:spPr bwMode="auto">
          <a:xfrm>
            <a:off x="8216900" y="2349500"/>
            <a:ext cx="76517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zh-CN" altLang="en-US" sz="1800">
                <a:solidFill>
                  <a:srgbClr val="FF3300"/>
                </a:solidFill>
                <a:latin typeface="微软雅黑" panose="020B0503020204020204" pitchFamily="34" charset="-122"/>
                <a:ea typeface="微软雅黑" panose="020B0503020204020204" pitchFamily="34" charset="-122"/>
              </a:rPr>
              <a:t>无符号</a:t>
            </a:r>
          </a:p>
        </p:txBody>
      </p:sp>
      <p:sp>
        <p:nvSpPr>
          <p:cNvPr id="740375" name="Text Box 23"/>
          <p:cNvSpPr txBox="1">
            <a:spLocks noChangeArrowheads="1"/>
          </p:cNvSpPr>
          <p:nvPr/>
        </p:nvSpPr>
        <p:spPr bwMode="auto">
          <a:xfrm>
            <a:off x="8172450" y="4373563"/>
            <a:ext cx="76517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zh-CN" altLang="en-US" sz="1800">
                <a:solidFill>
                  <a:srgbClr val="FF3300"/>
                </a:solidFill>
                <a:latin typeface="微软雅黑" panose="020B0503020204020204" pitchFamily="34" charset="-122"/>
                <a:ea typeface="微软雅黑" panose="020B0503020204020204" pitchFamily="34" charset="-122"/>
              </a:rPr>
              <a:t>带符号</a:t>
            </a:r>
          </a:p>
        </p:txBody>
      </p:sp>
    </p:spTree>
    <p:extLst>
      <p:ext uri="{BB962C8B-B14F-4D97-AF65-F5344CB8AC3E}">
        <p14:creationId xmlns:p14="http://schemas.microsoft.com/office/powerpoint/2010/main" val="27541250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40367"/>
                                        </p:tgtEl>
                                        <p:attrNameLst>
                                          <p:attrName>style.visibility</p:attrName>
                                        </p:attrNameLst>
                                      </p:cBhvr>
                                      <p:to>
                                        <p:strVal val="visible"/>
                                      </p:to>
                                    </p:set>
                                    <p:animEffect transition="in" filter="blinds(horizontal)">
                                      <p:cBhvr>
                                        <p:cTn id="7" dur="500"/>
                                        <p:tgtEl>
                                          <p:spTgt spid="7403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40364"/>
                                        </p:tgtEl>
                                        <p:attrNameLst>
                                          <p:attrName>style.visibility</p:attrName>
                                        </p:attrNameLst>
                                      </p:cBhvr>
                                      <p:to>
                                        <p:strVal val="visible"/>
                                      </p:to>
                                    </p:set>
                                    <p:animEffect transition="in" filter="blinds(horizontal)">
                                      <p:cBhvr>
                                        <p:cTn id="12" dur="500"/>
                                        <p:tgtEl>
                                          <p:spTgt spid="7403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40357"/>
                                        </p:tgtEl>
                                        <p:attrNameLst>
                                          <p:attrName>style.visibility</p:attrName>
                                        </p:attrNameLst>
                                      </p:cBhvr>
                                      <p:to>
                                        <p:strVal val="visible"/>
                                      </p:to>
                                    </p:set>
                                    <p:animEffect transition="in" filter="blinds(horizontal)">
                                      <p:cBhvr>
                                        <p:cTn id="17" dur="500"/>
                                        <p:tgtEl>
                                          <p:spTgt spid="74035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40360"/>
                                        </p:tgtEl>
                                        <p:attrNameLst>
                                          <p:attrName>style.visibility</p:attrName>
                                        </p:attrNameLst>
                                      </p:cBhvr>
                                      <p:to>
                                        <p:strVal val="visible"/>
                                      </p:to>
                                    </p:set>
                                    <p:animEffect transition="in" filter="blinds(horizontal)">
                                      <p:cBhvr>
                                        <p:cTn id="22" dur="500"/>
                                        <p:tgtEl>
                                          <p:spTgt spid="74036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40374"/>
                                        </p:tgtEl>
                                        <p:attrNameLst>
                                          <p:attrName>style.visibility</p:attrName>
                                        </p:attrNameLst>
                                      </p:cBhvr>
                                      <p:to>
                                        <p:strVal val="visible"/>
                                      </p:to>
                                    </p:set>
                                    <p:animEffect transition="in" filter="blinds(horizontal)">
                                      <p:cBhvr>
                                        <p:cTn id="27" dur="500"/>
                                        <p:tgtEl>
                                          <p:spTgt spid="74037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40370"/>
                                        </p:tgtEl>
                                        <p:attrNameLst>
                                          <p:attrName>style.visibility</p:attrName>
                                        </p:attrNameLst>
                                      </p:cBhvr>
                                      <p:to>
                                        <p:strVal val="visible"/>
                                      </p:to>
                                    </p:set>
                                    <p:animEffect transition="in" filter="blinds(horizontal)">
                                      <p:cBhvr>
                                        <p:cTn id="32" dur="500"/>
                                        <p:tgtEl>
                                          <p:spTgt spid="74037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40375"/>
                                        </p:tgtEl>
                                        <p:attrNameLst>
                                          <p:attrName>style.visibility</p:attrName>
                                        </p:attrNameLst>
                                      </p:cBhvr>
                                      <p:to>
                                        <p:strVal val="visible"/>
                                      </p:to>
                                    </p:set>
                                    <p:animEffect transition="in" filter="blinds(horizontal)">
                                      <p:cBhvr>
                                        <p:cTn id="37" dur="500"/>
                                        <p:tgtEl>
                                          <p:spTgt spid="7403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0374" grpId="0"/>
      <p:bldP spid="74037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8229600" cy="1143000"/>
          </a:xfrm>
        </p:spPr>
        <p:txBody>
          <a:bodyPr>
            <a:normAutofit/>
          </a:bodyPr>
          <a:lstStyle/>
          <a:p>
            <a:r>
              <a:rPr lang="zh-CN" altLang="en-US" sz="4000" dirty="0">
                <a:solidFill>
                  <a:srgbClr val="C00000"/>
                </a:solidFill>
              </a:rPr>
              <a:t>条件传送指令</a:t>
            </a:r>
          </a:p>
        </p:txBody>
      </p:sp>
      <p:sp>
        <p:nvSpPr>
          <p:cNvPr id="3" name="内容占位符 2"/>
          <p:cNvSpPr>
            <a:spLocks noGrp="1"/>
          </p:cNvSpPr>
          <p:nvPr>
            <p:ph idx="1"/>
          </p:nvPr>
        </p:nvSpPr>
        <p:spPr>
          <a:xfrm>
            <a:off x="457200" y="1143000"/>
            <a:ext cx="8229600" cy="5166320"/>
          </a:xfrm>
        </p:spPr>
        <p:txBody>
          <a:bodyPr>
            <a:normAutofit/>
          </a:bodyPr>
          <a:lstStyle/>
          <a:p>
            <a:pPr lvl="0" eaLnBrk="0" fontAlgn="base" hangingPunct="0">
              <a:lnSpc>
                <a:spcPct val="115000"/>
              </a:lnSpc>
              <a:spcAft>
                <a:spcPct val="0"/>
              </a:spcAft>
              <a:buNone/>
            </a:pPr>
            <a:r>
              <a:rPr lang="en-US" altLang="zh-CN" sz="2000" b="1" kern="0" dirty="0" err="1">
                <a:solidFill>
                  <a:srgbClr val="000000"/>
                </a:solidFill>
                <a:latin typeface="微软雅黑" panose="020B0503020204020204" pitchFamily="34" charset="-122"/>
                <a:ea typeface="微软雅黑" panose="020B0503020204020204" pitchFamily="34" charset="-122"/>
              </a:rPr>
              <a:t>CMOVcc</a:t>
            </a:r>
            <a:r>
              <a:rPr lang="en-US" altLang="zh-CN" sz="2000" b="1" kern="0" dirty="0">
                <a:solidFill>
                  <a:srgbClr val="000000"/>
                </a:solidFill>
                <a:latin typeface="微软雅黑" panose="020B0503020204020204" pitchFamily="34" charset="-122"/>
                <a:ea typeface="微软雅黑" panose="020B0503020204020204" pitchFamily="34" charset="-122"/>
              </a:rPr>
              <a:t> DST</a:t>
            </a:r>
            <a:endParaRPr lang="zh-CN" altLang="en-US" sz="2000" b="1" kern="0" dirty="0">
              <a:solidFill>
                <a:srgbClr val="000000"/>
              </a:solidFill>
              <a:latin typeface="微软雅黑" panose="020B0503020204020204" pitchFamily="34" charset="-122"/>
              <a:ea typeface="微软雅黑" panose="020B0503020204020204" pitchFamily="34" charset="-122"/>
            </a:endParaRPr>
          </a:p>
          <a:p>
            <a:pPr lvl="1" eaLnBrk="0" fontAlgn="base" hangingPunct="0">
              <a:lnSpc>
                <a:spcPct val="110000"/>
              </a:lnSpc>
              <a:spcAft>
                <a:spcPct val="0"/>
              </a:spcAft>
              <a:buFontTx/>
              <a:buChar char="–"/>
            </a:pPr>
            <a:r>
              <a:rPr lang="zh-CN" altLang="en-US" sz="2000" b="1" kern="0" dirty="0">
                <a:solidFill>
                  <a:srgbClr val="0000CC"/>
                </a:solidFill>
                <a:latin typeface="微软雅黑" panose="020B0503020204020204" pitchFamily="34" charset="-122"/>
                <a:ea typeface="微软雅黑" panose="020B0503020204020204" pitchFamily="34" charset="-122"/>
              </a:rPr>
              <a:t>如果符合条件就进行传送操作，否则什么都不做</a:t>
            </a:r>
          </a:p>
          <a:p>
            <a:pPr lvl="2" eaLnBrk="0" fontAlgn="base" hangingPunct="0">
              <a:lnSpc>
                <a:spcPct val="110000"/>
              </a:lnSpc>
              <a:spcAft>
                <a:spcPct val="0"/>
              </a:spcAft>
              <a:buNone/>
            </a:pPr>
            <a:endParaRPr lang="zh-CN" altLang="en-US" sz="2000" b="1" kern="0" dirty="0">
              <a:solidFill>
                <a:srgbClr val="006600"/>
              </a:solidFill>
              <a:latin typeface="微软雅黑" panose="020B0503020204020204" pitchFamily="34" charset="-122"/>
              <a:ea typeface="微软雅黑" panose="020B0503020204020204" pitchFamily="34" charset="-122"/>
            </a:endParaRPr>
          </a:p>
          <a:p>
            <a:pPr lvl="1" eaLnBrk="0" fontAlgn="base" hangingPunct="0">
              <a:lnSpc>
                <a:spcPct val="110000"/>
              </a:lnSpc>
              <a:spcAft>
                <a:spcPct val="0"/>
              </a:spcAft>
              <a:buFontTx/>
              <a:buChar char="–"/>
            </a:pPr>
            <a:r>
              <a:rPr lang="zh-CN" altLang="en-US" sz="2000" b="1" kern="0" dirty="0">
                <a:solidFill>
                  <a:srgbClr val="0000CC"/>
                </a:solidFill>
                <a:latin typeface="微软雅黑" panose="020B0503020204020204" pitchFamily="34" charset="-122"/>
                <a:ea typeface="微软雅黑" panose="020B0503020204020204" pitchFamily="34" charset="-122"/>
              </a:rPr>
              <a:t>设置的条件值与表</a:t>
            </a:r>
            <a:r>
              <a:rPr lang="en-US" altLang="zh-CN" sz="2000" b="1" kern="0" dirty="0">
                <a:solidFill>
                  <a:srgbClr val="0000CC"/>
                </a:solidFill>
                <a:latin typeface="微软雅黑" panose="020B0503020204020204" pitchFamily="34" charset="-122"/>
                <a:ea typeface="微软雅黑" panose="020B0503020204020204" pitchFamily="34" charset="-122"/>
              </a:rPr>
              <a:t>3.6</a:t>
            </a:r>
            <a:r>
              <a:rPr lang="zh-CN" altLang="en-US" sz="2000" b="1" kern="0" dirty="0">
                <a:solidFill>
                  <a:srgbClr val="0000CC"/>
                </a:solidFill>
                <a:latin typeface="微软雅黑" panose="020B0503020204020204" pitchFamily="34" charset="-122"/>
                <a:ea typeface="微软雅黑" panose="020B0503020204020204" pitchFamily="34" charset="-122"/>
              </a:rPr>
              <a:t>中条件转移指令的转移条件值完全一样</a:t>
            </a:r>
            <a:endParaRPr lang="en-US" altLang="zh-CN" sz="2000" b="1" kern="0" dirty="0">
              <a:solidFill>
                <a:srgbClr val="0000CC"/>
              </a:solidFill>
              <a:latin typeface="微软雅黑" panose="020B0503020204020204" pitchFamily="34" charset="-122"/>
              <a:ea typeface="微软雅黑" panose="020B0503020204020204" pitchFamily="34" charset="-122"/>
            </a:endParaRPr>
          </a:p>
          <a:p>
            <a:pPr marL="914400" lvl="2" indent="0" eaLnBrk="0" fontAlgn="base" hangingPunct="0">
              <a:lnSpc>
                <a:spcPct val="110000"/>
              </a:lnSpc>
              <a:spcAft>
                <a:spcPct val="0"/>
              </a:spcAft>
              <a:buNone/>
            </a:pPr>
            <a:endParaRPr lang="zh-CN" altLang="en-US" sz="2000" b="1" kern="0" dirty="0">
              <a:solidFill>
                <a:srgbClr val="006600"/>
              </a:solidFill>
              <a:latin typeface="微软雅黑" panose="020B0503020204020204" pitchFamily="34" charset="-122"/>
              <a:ea typeface="微软雅黑" panose="020B0503020204020204" pitchFamily="34" charset="-122"/>
            </a:endParaRPr>
          </a:p>
          <a:p>
            <a:pPr lvl="1" eaLnBrk="0" fontAlgn="base" hangingPunct="0">
              <a:lnSpc>
                <a:spcPct val="110000"/>
              </a:lnSpc>
              <a:spcAft>
                <a:spcPct val="0"/>
              </a:spcAft>
              <a:buFontTx/>
              <a:buChar char="–"/>
            </a:pPr>
            <a:r>
              <a:rPr lang="en-US" altLang="zh-CN" sz="2000" b="1" kern="0" dirty="0" err="1">
                <a:solidFill>
                  <a:srgbClr val="0000CC"/>
                </a:solidFill>
                <a:latin typeface="微软雅黑" panose="020B0503020204020204" pitchFamily="34" charset="-122"/>
                <a:ea typeface="微软雅黑" panose="020B0503020204020204" pitchFamily="34" charset="-122"/>
              </a:rPr>
              <a:t>cmovc</a:t>
            </a:r>
            <a:r>
              <a:rPr lang="en-US" altLang="zh-CN" sz="2000" b="1" kern="0" dirty="0">
                <a:solidFill>
                  <a:srgbClr val="0000CC"/>
                </a:solidFill>
                <a:latin typeface="微软雅黑" panose="020B0503020204020204" pitchFamily="34" charset="-122"/>
                <a:ea typeface="微软雅黑" panose="020B0503020204020204" pitchFamily="34" charset="-122"/>
              </a:rPr>
              <a:t> %</a:t>
            </a:r>
            <a:r>
              <a:rPr lang="en-US" altLang="zh-CN" sz="2000" b="1" kern="0" dirty="0" err="1">
                <a:solidFill>
                  <a:srgbClr val="0000CC"/>
                </a:solidFill>
                <a:latin typeface="微软雅黑" panose="020B0503020204020204" pitchFamily="34" charset="-122"/>
                <a:ea typeface="微软雅黑" panose="020B0503020204020204" pitchFamily="34" charset="-122"/>
              </a:rPr>
              <a:t>eax</a:t>
            </a:r>
            <a:r>
              <a:rPr lang="zh-CN" altLang="en-US" sz="2000" b="1" kern="0" dirty="0">
                <a:solidFill>
                  <a:srgbClr val="0000CC"/>
                </a:solidFill>
                <a:latin typeface="微软雅黑" panose="020B0503020204020204" pitchFamily="34" charset="-122"/>
                <a:ea typeface="微软雅黑" panose="020B0503020204020204" pitchFamily="34" charset="-122"/>
              </a:rPr>
              <a:t>，</a:t>
            </a:r>
            <a:r>
              <a:rPr lang="en-US" altLang="zh-CN" sz="2000" b="1" kern="0" dirty="0">
                <a:solidFill>
                  <a:srgbClr val="0000CC"/>
                </a:solidFill>
                <a:latin typeface="微软雅黑" panose="020B0503020204020204" pitchFamily="34" charset="-122"/>
                <a:ea typeface="微软雅黑" panose="020B0503020204020204" pitchFamily="34" charset="-122"/>
              </a:rPr>
              <a:t>%</a:t>
            </a:r>
            <a:r>
              <a:rPr lang="en-US" altLang="zh-CN" sz="2000" b="1" kern="0" dirty="0" err="1">
                <a:solidFill>
                  <a:srgbClr val="0000CC"/>
                </a:solidFill>
                <a:latin typeface="微软雅黑" panose="020B0503020204020204" pitchFamily="34" charset="-122"/>
                <a:ea typeface="微软雅黑" panose="020B0503020204020204" pitchFamily="34" charset="-122"/>
              </a:rPr>
              <a:t>edx</a:t>
            </a:r>
            <a:endParaRPr lang="zh-CN" altLang="en-US" sz="2000" b="1" kern="0" dirty="0">
              <a:solidFill>
                <a:srgbClr val="0000CC"/>
              </a:solidFill>
              <a:latin typeface="微软雅黑" panose="020B0503020204020204" pitchFamily="34" charset="-122"/>
              <a:ea typeface="微软雅黑" panose="020B0503020204020204" pitchFamily="34" charset="-122"/>
            </a:endParaRPr>
          </a:p>
          <a:p>
            <a:pPr lvl="2" eaLnBrk="0" fontAlgn="base" hangingPunct="0">
              <a:lnSpc>
                <a:spcPct val="110000"/>
              </a:lnSpc>
              <a:spcAft>
                <a:spcPct val="0"/>
              </a:spcAft>
              <a:buNone/>
            </a:pPr>
            <a:r>
              <a:rPr lang="zh-CN" altLang="en-US" sz="2000" b="1" kern="0" dirty="0">
                <a:solidFill>
                  <a:srgbClr val="006600"/>
                </a:solidFill>
                <a:latin typeface="微软雅黑" panose="020B0503020204020204" pitchFamily="34" charset="-122"/>
                <a:ea typeface="微软雅黑" panose="020B0503020204020204" pitchFamily="34" charset="-122"/>
              </a:rPr>
              <a:t>若</a:t>
            </a:r>
            <a:r>
              <a:rPr lang="en-US" altLang="zh-CN" sz="2000" b="1" kern="0" dirty="0">
                <a:solidFill>
                  <a:srgbClr val="006600"/>
                </a:solidFill>
                <a:latin typeface="微软雅黑" panose="020B0503020204020204" pitchFamily="34" charset="-122"/>
                <a:ea typeface="微软雅黑" panose="020B0503020204020204" pitchFamily="34" charset="-122"/>
              </a:rPr>
              <a:t>CF=1</a:t>
            </a:r>
            <a:r>
              <a:rPr lang="zh-CN" altLang="en-US" sz="2000" b="1" kern="0" dirty="0">
                <a:solidFill>
                  <a:srgbClr val="006600"/>
                </a:solidFill>
                <a:latin typeface="微软雅黑" panose="020B0503020204020204" pitchFamily="34" charset="-122"/>
                <a:ea typeface="微软雅黑" panose="020B0503020204020204" pitchFamily="34" charset="-122"/>
              </a:rPr>
              <a:t>，则</a:t>
            </a:r>
            <a:r>
              <a:rPr lang="en-US" altLang="zh-CN" sz="2000" b="1" kern="0" dirty="0">
                <a:solidFill>
                  <a:srgbClr val="006600"/>
                </a:solidFill>
                <a:latin typeface="微软雅黑" panose="020B0503020204020204" pitchFamily="34" charset="-122"/>
                <a:ea typeface="微软雅黑" panose="020B0503020204020204" pitchFamily="34" charset="-122"/>
              </a:rPr>
              <a:t>R[</a:t>
            </a:r>
            <a:r>
              <a:rPr lang="en-US" altLang="zh-CN" sz="2000" b="1" kern="0" dirty="0" err="1">
                <a:solidFill>
                  <a:srgbClr val="006600"/>
                </a:solidFill>
                <a:latin typeface="微软雅黑" panose="020B0503020204020204" pitchFamily="34" charset="-122"/>
                <a:ea typeface="微软雅黑" panose="020B0503020204020204" pitchFamily="34" charset="-122"/>
              </a:rPr>
              <a:t>edx</a:t>
            </a:r>
            <a:r>
              <a:rPr lang="en-US" altLang="zh-CN" sz="2000" b="1" kern="0" dirty="0">
                <a:solidFill>
                  <a:srgbClr val="006600"/>
                </a:solidFill>
                <a:latin typeface="微软雅黑" panose="020B0503020204020204" pitchFamily="34" charset="-122"/>
                <a:ea typeface="微软雅黑" panose="020B0503020204020204" pitchFamily="34" charset="-122"/>
              </a:rPr>
              <a:t>]=R[</a:t>
            </a:r>
            <a:r>
              <a:rPr lang="en-US" altLang="zh-CN" sz="2000" b="1" kern="0" dirty="0" err="1">
                <a:solidFill>
                  <a:srgbClr val="006600"/>
                </a:solidFill>
                <a:latin typeface="微软雅黑" panose="020B0503020204020204" pitchFamily="34" charset="-122"/>
                <a:ea typeface="微软雅黑" panose="020B0503020204020204" pitchFamily="34" charset="-122"/>
              </a:rPr>
              <a:t>eax</a:t>
            </a:r>
            <a:r>
              <a:rPr lang="en-US" altLang="zh-CN" sz="2000" b="1" kern="0" dirty="0">
                <a:solidFill>
                  <a:srgbClr val="006600"/>
                </a:solidFill>
                <a:latin typeface="微软雅黑" panose="020B0503020204020204" pitchFamily="34" charset="-122"/>
                <a:ea typeface="微软雅黑" panose="020B0503020204020204" pitchFamily="34" charset="-122"/>
              </a:rPr>
              <a:t>]</a:t>
            </a:r>
            <a:r>
              <a:rPr lang="zh-CN" altLang="en-US" sz="2000" b="1" kern="0" dirty="0">
                <a:solidFill>
                  <a:srgbClr val="006600"/>
                </a:solidFill>
                <a:latin typeface="微软雅黑" panose="020B0503020204020204" pitchFamily="34" charset="-122"/>
                <a:ea typeface="微软雅黑" panose="020B0503020204020204" pitchFamily="34" charset="-122"/>
              </a:rPr>
              <a:t>；否则什么都不做</a:t>
            </a:r>
          </a:p>
          <a:p>
            <a:pPr lvl="1" eaLnBrk="0" fontAlgn="base" hangingPunct="0">
              <a:lnSpc>
                <a:spcPct val="110000"/>
              </a:lnSpc>
              <a:spcAft>
                <a:spcPct val="0"/>
              </a:spcAft>
              <a:buFontTx/>
              <a:buChar char="–"/>
            </a:pPr>
            <a:r>
              <a:rPr lang="en-US" altLang="zh-CN" sz="2000" b="1" kern="0" dirty="0" err="1">
                <a:solidFill>
                  <a:srgbClr val="0033CC"/>
                </a:solidFill>
                <a:latin typeface="Arial"/>
                <a:ea typeface="微软雅黑" panose="020B0503020204020204" pitchFamily="34" charset="-122"/>
              </a:rPr>
              <a:t>cmovge</a:t>
            </a:r>
            <a:r>
              <a:rPr lang="en-US" altLang="zh-CN" sz="2000" b="1" kern="0" dirty="0">
                <a:solidFill>
                  <a:srgbClr val="0033CC"/>
                </a:solidFill>
                <a:latin typeface="Arial"/>
                <a:ea typeface="微软雅黑" panose="020B0503020204020204" pitchFamily="34" charset="-122"/>
              </a:rPr>
              <a:t> </a:t>
            </a:r>
            <a:r>
              <a:rPr lang="zh-CN" altLang="en-US" sz="2000" b="1" kern="0" dirty="0">
                <a:solidFill>
                  <a:srgbClr val="0033CC"/>
                </a:solidFill>
                <a:latin typeface="Arial"/>
                <a:ea typeface="微软雅黑" panose="020B0503020204020204" pitchFamily="34" charset="-122"/>
              </a:rPr>
              <a:t>（</a:t>
            </a:r>
            <a:r>
              <a:rPr lang="en-US" altLang="zh-CN" sz="2000" b="1" kern="0" dirty="0">
                <a:solidFill>
                  <a:srgbClr val="0033CC"/>
                </a:solidFill>
                <a:latin typeface="Arial"/>
                <a:ea typeface="微软雅黑" panose="020B0503020204020204" pitchFamily="34" charset="-122"/>
              </a:rPr>
              <a:t>%</a:t>
            </a:r>
            <a:r>
              <a:rPr lang="en-US" altLang="zh-CN" sz="2000" b="1" kern="0" dirty="0" err="1">
                <a:solidFill>
                  <a:srgbClr val="0033CC"/>
                </a:solidFill>
                <a:latin typeface="Arial"/>
                <a:ea typeface="微软雅黑" panose="020B0503020204020204" pitchFamily="34" charset="-122"/>
              </a:rPr>
              <a:t>eax</a:t>
            </a:r>
            <a:r>
              <a:rPr lang="zh-CN" altLang="en-US" sz="2000" b="1" kern="0" dirty="0">
                <a:solidFill>
                  <a:srgbClr val="0033CC"/>
                </a:solidFill>
                <a:latin typeface="Arial"/>
                <a:ea typeface="微软雅黑" panose="020B0503020204020204" pitchFamily="34" charset="-122"/>
              </a:rPr>
              <a:t>）</a:t>
            </a:r>
            <a:r>
              <a:rPr lang="en-US" altLang="zh-CN" sz="2000" b="1" kern="0" dirty="0">
                <a:solidFill>
                  <a:srgbClr val="0033CC"/>
                </a:solidFill>
                <a:latin typeface="Arial"/>
                <a:ea typeface="微软雅黑" panose="020B0503020204020204" pitchFamily="34" charset="-122"/>
              </a:rPr>
              <a:t>, %</a:t>
            </a:r>
            <a:r>
              <a:rPr lang="en-US" altLang="zh-CN" sz="2000" b="1" kern="0" dirty="0" err="1">
                <a:solidFill>
                  <a:srgbClr val="0033CC"/>
                </a:solidFill>
                <a:latin typeface="Arial"/>
                <a:ea typeface="微软雅黑" panose="020B0503020204020204" pitchFamily="34" charset="-122"/>
              </a:rPr>
              <a:t>edx</a:t>
            </a:r>
            <a:endParaRPr lang="zh-CN" altLang="en-US" sz="2000" b="1" kern="0" dirty="0">
              <a:solidFill>
                <a:srgbClr val="0033CC"/>
              </a:solidFill>
              <a:latin typeface="Arial"/>
              <a:ea typeface="微软雅黑" panose="020B0503020204020204" pitchFamily="34" charset="-122"/>
            </a:endParaRPr>
          </a:p>
          <a:p>
            <a:pPr lvl="2" eaLnBrk="0" fontAlgn="base" hangingPunct="0">
              <a:lnSpc>
                <a:spcPct val="110000"/>
              </a:lnSpc>
              <a:spcAft>
                <a:spcPct val="0"/>
              </a:spcAft>
              <a:buNone/>
            </a:pPr>
            <a:r>
              <a:rPr lang="zh-CN" altLang="en-US" sz="2000" b="1" kern="0" dirty="0">
                <a:solidFill>
                  <a:srgbClr val="006600"/>
                </a:solidFill>
                <a:latin typeface="微软雅黑" panose="020B0503020204020204" pitchFamily="34" charset="-122"/>
                <a:ea typeface="微软雅黑" panose="020B0503020204020204" pitchFamily="34" charset="-122"/>
              </a:rPr>
              <a:t>若</a:t>
            </a:r>
            <a:r>
              <a:rPr lang="en-US" altLang="zh-CN" sz="2000" b="1" kern="0" dirty="0">
                <a:solidFill>
                  <a:srgbClr val="006600"/>
                </a:solidFill>
                <a:latin typeface="微软雅黑" panose="020B0503020204020204" pitchFamily="34" charset="-122"/>
                <a:ea typeface="微软雅黑" panose="020B0503020204020204" pitchFamily="34" charset="-122"/>
              </a:rPr>
              <a:t>SF=OF</a:t>
            </a:r>
            <a:r>
              <a:rPr lang="zh-CN" altLang="en-US" sz="2000" b="1" kern="0" dirty="0">
                <a:solidFill>
                  <a:srgbClr val="006600"/>
                </a:solidFill>
                <a:latin typeface="微软雅黑" panose="020B0503020204020204" pitchFamily="34" charset="-122"/>
                <a:ea typeface="微软雅黑" panose="020B0503020204020204" pitchFamily="34" charset="-122"/>
              </a:rPr>
              <a:t>或</a:t>
            </a:r>
            <a:r>
              <a:rPr lang="en-US" altLang="zh-CN" sz="2000" b="1" kern="0" dirty="0">
                <a:solidFill>
                  <a:srgbClr val="006600"/>
                </a:solidFill>
                <a:latin typeface="微软雅黑" panose="020B0503020204020204" pitchFamily="34" charset="-122"/>
                <a:ea typeface="微软雅黑" panose="020B0503020204020204" pitchFamily="34" charset="-122"/>
              </a:rPr>
              <a:t>ZF=1</a:t>
            </a:r>
            <a:r>
              <a:rPr lang="zh-CN" altLang="en-US" sz="2000" b="1" kern="0" dirty="0">
                <a:solidFill>
                  <a:srgbClr val="006600"/>
                </a:solidFill>
                <a:latin typeface="微软雅黑" panose="020B0503020204020204" pitchFamily="34" charset="-122"/>
                <a:ea typeface="微软雅黑" panose="020B0503020204020204" pitchFamily="34" charset="-122"/>
              </a:rPr>
              <a:t>，则</a:t>
            </a:r>
            <a:r>
              <a:rPr lang="en-US" altLang="zh-CN" sz="2000" b="1" kern="0" dirty="0">
                <a:solidFill>
                  <a:srgbClr val="006600"/>
                </a:solidFill>
                <a:latin typeface="微软雅黑" panose="020B0503020204020204" pitchFamily="34" charset="-122"/>
                <a:ea typeface="微软雅黑" panose="020B0503020204020204" pitchFamily="34" charset="-122"/>
              </a:rPr>
              <a:t>R[</a:t>
            </a:r>
            <a:r>
              <a:rPr lang="en-US" altLang="zh-CN" sz="2000" b="1" kern="0" dirty="0" err="1">
                <a:solidFill>
                  <a:srgbClr val="006600"/>
                </a:solidFill>
                <a:latin typeface="微软雅黑" panose="020B0503020204020204" pitchFamily="34" charset="-122"/>
                <a:ea typeface="微软雅黑" panose="020B0503020204020204" pitchFamily="34" charset="-122"/>
              </a:rPr>
              <a:t>edx</a:t>
            </a:r>
            <a:r>
              <a:rPr lang="en-US" altLang="zh-CN" sz="2000" b="1" kern="0" dirty="0">
                <a:solidFill>
                  <a:srgbClr val="006600"/>
                </a:solidFill>
                <a:latin typeface="微软雅黑" panose="020B0503020204020204" pitchFamily="34" charset="-122"/>
                <a:ea typeface="微软雅黑" panose="020B0503020204020204" pitchFamily="34" charset="-122"/>
              </a:rPr>
              <a:t>]=M[R[</a:t>
            </a:r>
            <a:r>
              <a:rPr lang="en-US" altLang="zh-CN" sz="2000" b="1" kern="0" dirty="0" err="1">
                <a:solidFill>
                  <a:srgbClr val="006600"/>
                </a:solidFill>
                <a:latin typeface="微软雅黑" panose="020B0503020204020204" pitchFamily="34" charset="-122"/>
                <a:ea typeface="微软雅黑" panose="020B0503020204020204" pitchFamily="34" charset="-122"/>
              </a:rPr>
              <a:t>eax</a:t>
            </a:r>
            <a:r>
              <a:rPr lang="en-US" altLang="zh-CN" sz="2000" b="1" kern="0" dirty="0">
                <a:solidFill>
                  <a:srgbClr val="006600"/>
                </a:solidFill>
                <a:latin typeface="微软雅黑" panose="020B0503020204020204" pitchFamily="34" charset="-122"/>
                <a:ea typeface="微软雅黑" panose="020B0503020204020204" pitchFamily="34" charset="-122"/>
              </a:rPr>
              <a:t>]]</a:t>
            </a:r>
            <a:r>
              <a:rPr lang="zh-CN" altLang="en-US" sz="2000" b="1" kern="0" dirty="0">
                <a:solidFill>
                  <a:srgbClr val="006600"/>
                </a:solidFill>
                <a:latin typeface="微软雅黑" panose="020B0503020204020204" pitchFamily="34" charset="-122"/>
                <a:ea typeface="微软雅黑" panose="020B0503020204020204" pitchFamily="34" charset="-122"/>
              </a:rPr>
              <a:t>；否则什么都不做</a:t>
            </a:r>
          </a:p>
          <a:p>
            <a:pPr lvl="1" eaLnBrk="0" fontAlgn="base" hangingPunct="0">
              <a:lnSpc>
                <a:spcPct val="110000"/>
              </a:lnSpc>
              <a:spcAft>
                <a:spcPct val="0"/>
              </a:spcAft>
              <a:buFontTx/>
              <a:buChar char="–"/>
            </a:pPr>
            <a:r>
              <a:rPr lang="zh-CN" altLang="en-US" sz="2000" b="1" kern="0" dirty="0">
                <a:solidFill>
                  <a:srgbClr val="0000CC"/>
                </a:solidFill>
                <a:latin typeface="Arial"/>
                <a:ea typeface="微软雅黑" panose="020B0503020204020204" pitchFamily="34" charset="-122"/>
              </a:rPr>
              <a:t>每个条件转移指令都有对应的条件传送指令</a:t>
            </a:r>
            <a:endParaRPr lang="zh-CN" altLang="en-US" sz="1800" b="1" kern="0" dirty="0">
              <a:solidFill>
                <a:srgbClr val="0000CC"/>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812736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212725" y="98425"/>
            <a:ext cx="8229600" cy="528638"/>
          </a:xfrm>
        </p:spPr>
        <p:txBody>
          <a:bodyPr>
            <a:normAutofit fontScale="90000"/>
          </a:bodyPr>
          <a:lstStyle/>
          <a:p>
            <a:r>
              <a:rPr lang="zh-CN" altLang="en-US" sz="3600">
                <a:ea typeface="宋体" panose="02010600030101010101" pitchFamily="2" charset="-122"/>
              </a:rPr>
              <a:t>例子：程序的机器级表示与执行</a:t>
            </a:r>
          </a:p>
        </p:txBody>
      </p:sp>
      <p:sp>
        <p:nvSpPr>
          <p:cNvPr id="53251" name="Rectangle 3"/>
          <p:cNvSpPr>
            <a:spLocks noGrp="1" noChangeArrowheads="1"/>
          </p:cNvSpPr>
          <p:nvPr>
            <p:ph type="body" idx="1"/>
          </p:nvPr>
        </p:nvSpPr>
        <p:spPr>
          <a:xfrm>
            <a:off x="165100" y="773113"/>
            <a:ext cx="4535488" cy="2730500"/>
          </a:xfrm>
        </p:spPr>
        <p:txBody>
          <a:bodyPr/>
          <a:lstStyle/>
          <a:p>
            <a:pPr>
              <a:spcBef>
                <a:spcPct val="0"/>
              </a:spcBef>
              <a:buFontTx/>
              <a:buNone/>
            </a:pPr>
            <a:r>
              <a:rPr lang="en-US" altLang="zh-CN" sz="2200"/>
              <a:t>int sum(int a[ ], </a:t>
            </a:r>
            <a:r>
              <a:rPr lang="en-US" altLang="zh-CN" sz="2200">
                <a:solidFill>
                  <a:srgbClr val="FF3300"/>
                </a:solidFill>
              </a:rPr>
              <a:t>unsigned</a:t>
            </a:r>
            <a:r>
              <a:rPr lang="en-US" altLang="zh-CN" sz="2200"/>
              <a:t> len)</a:t>
            </a:r>
          </a:p>
          <a:p>
            <a:pPr>
              <a:spcBef>
                <a:spcPct val="0"/>
              </a:spcBef>
              <a:buFontTx/>
              <a:buNone/>
            </a:pPr>
            <a:r>
              <a:rPr lang="en-US" altLang="zh-CN" sz="2200"/>
              <a:t>{</a:t>
            </a:r>
          </a:p>
          <a:p>
            <a:pPr>
              <a:spcBef>
                <a:spcPct val="0"/>
              </a:spcBef>
              <a:buFontTx/>
              <a:buNone/>
            </a:pPr>
            <a:r>
              <a:rPr lang="en-US" altLang="zh-CN" sz="2200"/>
              <a:t>   int  i</a:t>
            </a:r>
            <a:r>
              <a:rPr lang="zh-CN" altLang="en-US" sz="2200"/>
              <a:t>，</a:t>
            </a:r>
            <a:r>
              <a:rPr lang="en-US" altLang="zh-CN" sz="2200"/>
              <a:t>sum = 0;</a:t>
            </a:r>
          </a:p>
          <a:p>
            <a:pPr>
              <a:spcBef>
                <a:spcPct val="0"/>
              </a:spcBef>
              <a:buFontTx/>
              <a:buNone/>
            </a:pPr>
            <a:r>
              <a:rPr lang="en-US" altLang="zh-CN" sz="2200"/>
              <a:t>   for (i = 0; </a:t>
            </a:r>
            <a:r>
              <a:rPr lang="en-US" altLang="zh-CN" sz="2200">
                <a:solidFill>
                  <a:srgbClr val="FF3300"/>
                </a:solidFill>
              </a:rPr>
              <a:t>i &lt;= len–1</a:t>
            </a:r>
            <a:r>
              <a:rPr lang="en-US" altLang="zh-CN" sz="2200"/>
              <a:t>; i++)</a:t>
            </a:r>
          </a:p>
          <a:p>
            <a:pPr>
              <a:spcBef>
                <a:spcPct val="0"/>
              </a:spcBef>
              <a:buFontTx/>
              <a:buNone/>
            </a:pPr>
            <a:r>
              <a:rPr lang="en-US" altLang="zh-CN" sz="2200"/>
              <a:t>	    sum += a[i];</a:t>
            </a:r>
          </a:p>
          <a:p>
            <a:pPr>
              <a:spcBef>
                <a:spcPct val="0"/>
              </a:spcBef>
              <a:buFontTx/>
              <a:buNone/>
            </a:pPr>
            <a:r>
              <a:rPr lang="en-US" altLang="zh-CN" sz="2200"/>
              <a:t>   return sum;</a:t>
            </a:r>
          </a:p>
          <a:p>
            <a:pPr>
              <a:spcBef>
                <a:spcPct val="0"/>
              </a:spcBef>
              <a:buFontTx/>
              <a:buNone/>
            </a:pPr>
            <a:r>
              <a:rPr lang="en-US" altLang="zh-CN" sz="2200"/>
              <a:t>}</a:t>
            </a:r>
            <a:endParaRPr lang="zh-CN" altLang="en-US" sz="2200"/>
          </a:p>
        </p:txBody>
      </p:sp>
      <p:sp>
        <p:nvSpPr>
          <p:cNvPr id="53252" name="Rectangle 4"/>
          <p:cNvSpPr>
            <a:spLocks noChangeArrowheads="1"/>
          </p:cNvSpPr>
          <p:nvPr/>
        </p:nvSpPr>
        <p:spPr bwMode="auto">
          <a:xfrm>
            <a:off x="234950" y="3662889"/>
            <a:ext cx="4467225"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15000"/>
              </a:spcBef>
              <a:buFontTx/>
              <a:buNone/>
            </a:pPr>
            <a:r>
              <a:rPr lang="zh-CN" altLang="en-US" sz="2200">
                <a:latin typeface="微软雅黑" panose="020B0503020204020204" pitchFamily="34" charset="-122"/>
                <a:ea typeface="微软雅黑" panose="020B0503020204020204" pitchFamily="34" charset="-122"/>
              </a:rPr>
              <a:t>当参数</a:t>
            </a:r>
            <a:r>
              <a:rPr lang="en-US" altLang="zh-CN" sz="2200">
                <a:latin typeface="微软雅黑" panose="020B0503020204020204" pitchFamily="34" charset="-122"/>
                <a:ea typeface="微软雅黑" panose="020B0503020204020204" pitchFamily="34" charset="-122"/>
              </a:rPr>
              <a:t>len</a:t>
            </a:r>
            <a:r>
              <a:rPr lang="zh-CN" altLang="en-US" sz="2200">
                <a:latin typeface="微软雅黑" panose="020B0503020204020204" pitchFamily="34" charset="-122"/>
                <a:ea typeface="微软雅黑" panose="020B0503020204020204" pitchFamily="34" charset="-122"/>
              </a:rPr>
              <a:t>为</a:t>
            </a:r>
            <a:r>
              <a:rPr lang="en-US" altLang="zh-CN" sz="2200">
                <a:latin typeface="微软雅黑" panose="020B0503020204020204" pitchFamily="34" charset="-122"/>
                <a:ea typeface="微软雅黑" panose="020B0503020204020204" pitchFamily="34" charset="-122"/>
              </a:rPr>
              <a:t>0</a:t>
            </a:r>
            <a:r>
              <a:rPr lang="zh-CN" altLang="en-US" sz="2200">
                <a:latin typeface="微软雅黑" panose="020B0503020204020204" pitchFamily="34" charset="-122"/>
                <a:ea typeface="微软雅黑" panose="020B0503020204020204" pitchFamily="34" charset="-122"/>
              </a:rPr>
              <a:t>时，返回值应该是</a:t>
            </a:r>
            <a:r>
              <a:rPr lang="en-US" altLang="zh-CN" sz="2200">
                <a:latin typeface="微软雅黑" panose="020B0503020204020204" pitchFamily="34" charset="-122"/>
                <a:ea typeface="微软雅黑" panose="020B0503020204020204" pitchFamily="34" charset="-122"/>
              </a:rPr>
              <a:t>0</a:t>
            </a:r>
            <a:r>
              <a:rPr lang="zh-CN" altLang="en-US" sz="2200">
                <a:latin typeface="微软雅黑" panose="020B0503020204020204" pitchFamily="34" charset="-122"/>
                <a:ea typeface="微软雅黑" panose="020B0503020204020204" pitchFamily="34" charset="-122"/>
              </a:rPr>
              <a:t>，但是在机器上执行时，却发生了存储器访问异常。</a:t>
            </a:r>
            <a:r>
              <a:rPr lang="zh-CN" altLang="en-US" sz="1800" b="0"/>
              <a:t> </a:t>
            </a:r>
            <a:r>
              <a:rPr lang="en-US" altLang="zh-CN">
                <a:solidFill>
                  <a:srgbClr val="FF0000"/>
                </a:solidFill>
                <a:latin typeface="微软雅黑" panose="020B0503020204020204" pitchFamily="34" charset="-122"/>
                <a:ea typeface="微软雅黑" panose="020B0503020204020204" pitchFamily="34" charset="-122"/>
              </a:rPr>
              <a:t>Why?</a:t>
            </a:r>
            <a:endParaRPr lang="en-US" altLang="zh-CN" sz="2200">
              <a:latin typeface="微软雅黑" panose="020B0503020204020204" pitchFamily="34" charset="-122"/>
              <a:ea typeface="微软雅黑" panose="020B0503020204020204" pitchFamily="34" charset="-122"/>
            </a:endParaRPr>
          </a:p>
        </p:txBody>
      </p:sp>
      <p:sp>
        <p:nvSpPr>
          <p:cNvPr id="634885" name="Rectangle 5"/>
          <p:cNvSpPr>
            <a:spLocks noChangeArrowheads="1"/>
          </p:cNvSpPr>
          <p:nvPr/>
        </p:nvSpPr>
        <p:spPr bwMode="auto">
          <a:xfrm>
            <a:off x="4986338" y="887413"/>
            <a:ext cx="3932237" cy="3451225"/>
          </a:xfrm>
          <a:prstGeom prst="rect">
            <a:avLst/>
          </a:prstGeom>
          <a:noFill/>
          <a:ln w="9525">
            <a:solidFill>
              <a:srgbClr val="008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2200" dirty="0">
                <a:solidFill>
                  <a:srgbClr val="008000"/>
                </a:solidFill>
                <a:latin typeface="微软雅黑" panose="020B0503020204020204" pitchFamily="34" charset="-122"/>
                <a:ea typeface="微软雅黑" panose="020B0503020204020204" pitchFamily="34" charset="-122"/>
              </a:rPr>
              <a:t>sum:</a:t>
            </a:r>
          </a:p>
          <a:p>
            <a:pPr>
              <a:lnSpc>
                <a:spcPct val="100000"/>
              </a:lnSpc>
              <a:spcBef>
                <a:spcPct val="0"/>
              </a:spcBef>
              <a:buFontTx/>
              <a:buNone/>
            </a:pPr>
            <a:r>
              <a:rPr lang="en-US" altLang="zh-CN" sz="2200" dirty="0">
                <a:solidFill>
                  <a:srgbClr val="008000"/>
                </a:solidFill>
                <a:latin typeface="微软雅黑" panose="020B0503020204020204" pitchFamily="34" charset="-122"/>
                <a:ea typeface="微软雅黑" panose="020B0503020204020204" pitchFamily="34" charset="-122"/>
              </a:rPr>
              <a:t>     …</a:t>
            </a:r>
          </a:p>
          <a:p>
            <a:pPr>
              <a:lnSpc>
                <a:spcPct val="100000"/>
              </a:lnSpc>
              <a:spcBef>
                <a:spcPct val="0"/>
              </a:spcBef>
              <a:buFontTx/>
              <a:buNone/>
            </a:pPr>
            <a:r>
              <a:rPr lang="en-US" altLang="zh-CN" sz="2200" dirty="0">
                <a:solidFill>
                  <a:srgbClr val="008000"/>
                </a:solidFill>
                <a:latin typeface="微软雅黑" panose="020B0503020204020204" pitchFamily="34" charset="-122"/>
                <a:ea typeface="微软雅黑" panose="020B0503020204020204" pitchFamily="34" charset="-122"/>
              </a:rPr>
              <a:t>.L3:</a:t>
            </a:r>
          </a:p>
          <a:p>
            <a:pPr>
              <a:lnSpc>
                <a:spcPct val="100000"/>
              </a:lnSpc>
              <a:spcBef>
                <a:spcPct val="0"/>
              </a:spcBef>
              <a:buFontTx/>
              <a:buNone/>
            </a:pPr>
            <a:r>
              <a:rPr lang="en-US" altLang="zh-CN" sz="2200" dirty="0">
                <a:solidFill>
                  <a:srgbClr val="008000"/>
                </a:solidFill>
                <a:latin typeface="微软雅黑" panose="020B0503020204020204" pitchFamily="34" charset="-122"/>
                <a:ea typeface="微软雅黑" panose="020B0503020204020204" pitchFamily="34" charset="-122"/>
              </a:rPr>
              <a:t>     …</a:t>
            </a:r>
          </a:p>
          <a:p>
            <a:pPr>
              <a:lnSpc>
                <a:spcPct val="100000"/>
              </a:lnSpc>
              <a:spcBef>
                <a:spcPct val="0"/>
              </a:spcBef>
              <a:buFontTx/>
              <a:buNone/>
            </a:pPr>
            <a:r>
              <a:rPr lang="en-US" altLang="zh-CN" sz="2200" dirty="0">
                <a:solidFill>
                  <a:srgbClr val="008000"/>
                </a:solidFill>
                <a:latin typeface="微软雅黑" panose="020B0503020204020204" pitchFamily="34" charset="-122"/>
                <a:ea typeface="微软雅黑" panose="020B0503020204020204" pitchFamily="34" charset="-122"/>
              </a:rPr>
              <a:t>    </a:t>
            </a:r>
            <a:r>
              <a:rPr lang="en-US" altLang="zh-CN" sz="2200" dirty="0" err="1">
                <a:solidFill>
                  <a:srgbClr val="008000"/>
                </a:solidFill>
                <a:latin typeface="微软雅黑" panose="020B0503020204020204" pitchFamily="34" charset="-122"/>
                <a:ea typeface="微软雅黑" panose="020B0503020204020204" pitchFamily="34" charset="-122"/>
              </a:rPr>
              <a:t>movl</a:t>
            </a:r>
            <a:r>
              <a:rPr lang="en-US" altLang="zh-CN" sz="2200" dirty="0">
                <a:solidFill>
                  <a:srgbClr val="008000"/>
                </a:solidFill>
                <a:latin typeface="微软雅黑" panose="020B0503020204020204" pitchFamily="34" charset="-122"/>
                <a:ea typeface="微软雅黑" panose="020B0503020204020204" pitchFamily="34" charset="-122"/>
              </a:rPr>
              <a:t>  -4(%</a:t>
            </a:r>
            <a:r>
              <a:rPr lang="en-US" altLang="zh-CN" sz="2200" dirty="0" err="1">
                <a:solidFill>
                  <a:srgbClr val="008000"/>
                </a:solidFill>
                <a:latin typeface="微软雅黑" panose="020B0503020204020204" pitchFamily="34" charset="-122"/>
                <a:ea typeface="微软雅黑" panose="020B0503020204020204" pitchFamily="34" charset="-122"/>
              </a:rPr>
              <a:t>ebp</a:t>
            </a:r>
            <a:r>
              <a:rPr lang="en-US" altLang="zh-CN" sz="2200" dirty="0">
                <a:solidFill>
                  <a:srgbClr val="008000"/>
                </a:solidFill>
                <a:latin typeface="微软雅黑" panose="020B0503020204020204" pitchFamily="34" charset="-122"/>
                <a:ea typeface="微软雅黑" panose="020B0503020204020204" pitchFamily="34" charset="-122"/>
              </a:rPr>
              <a:t>),  %</a:t>
            </a:r>
            <a:r>
              <a:rPr lang="en-US" altLang="zh-CN" sz="2200" dirty="0" err="1">
                <a:solidFill>
                  <a:srgbClr val="008000"/>
                </a:solidFill>
                <a:latin typeface="微软雅黑" panose="020B0503020204020204" pitchFamily="34" charset="-122"/>
                <a:ea typeface="微软雅黑" panose="020B0503020204020204" pitchFamily="34" charset="-122"/>
              </a:rPr>
              <a:t>eax</a:t>
            </a:r>
            <a:endParaRPr lang="en-US" altLang="zh-CN" sz="2200" dirty="0">
              <a:solidFill>
                <a:srgbClr val="008000"/>
              </a:solidFill>
              <a:latin typeface="微软雅黑" panose="020B0503020204020204" pitchFamily="34" charset="-122"/>
              <a:ea typeface="微软雅黑" panose="020B0503020204020204" pitchFamily="34" charset="-122"/>
            </a:endParaRPr>
          </a:p>
          <a:p>
            <a:pPr>
              <a:lnSpc>
                <a:spcPct val="100000"/>
              </a:lnSpc>
              <a:spcBef>
                <a:spcPct val="0"/>
              </a:spcBef>
              <a:buFontTx/>
              <a:buNone/>
            </a:pPr>
            <a:r>
              <a:rPr lang="en-US" altLang="zh-CN" sz="2200" dirty="0">
                <a:solidFill>
                  <a:srgbClr val="008000"/>
                </a:solidFill>
                <a:latin typeface="微软雅黑" panose="020B0503020204020204" pitchFamily="34" charset="-122"/>
                <a:ea typeface="微软雅黑" panose="020B0503020204020204" pitchFamily="34" charset="-122"/>
              </a:rPr>
              <a:t>    </a:t>
            </a:r>
            <a:r>
              <a:rPr lang="en-US" altLang="zh-CN" sz="2200" dirty="0" err="1">
                <a:solidFill>
                  <a:srgbClr val="008000"/>
                </a:solidFill>
                <a:latin typeface="微软雅黑" panose="020B0503020204020204" pitchFamily="34" charset="-122"/>
                <a:ea typeface="微软雅黑" panose="020B0503020204020204" pitchFamily="34" charset="-122"/>
              </a:rPr>
              <a:t>movl</a:t>
            </a:r>
            <a:r>
              <a:rPr lang="en-US" altLang="zh-CN" sz="2200" dirty="0">
                <a:solidFill>
                  <a:srgbClr val="008000"/>
                </a:solidFill>
                <a:latin typeface="微软雅黑" panose="020B0503020204020204" pitchFamily="34" charset="-122"/>
                <a:ea typeface="微软雅黑" panose="020B0503020204020204" pitchFamily="34" charset="-122"/>
              </a:rPr>
              <a:t>  12(%</a:t>
            </a:r>
            <a:r>
              <a:rPr lang="en-US" altLang="zh-CN" sz="2200" dirty="0" err="1">
                <a:solidFill>
                  <a:srgbClr val="008000"/>
                </a:solidFill>
                <a:latin typeface="微软雅黑" panose="020B0503020204020204" pitchFamily="34" charset="-122"/>
                <a:ea typeface="微软雅黑" panose="020B0503020204020204" pitchFamily="34" charset="-122"/>
              </a:rPr>
              <a:t>ebp</a:t>
            </a:r>
            <a:r>
              <a:rPr lang="en-US" altLang="zh-CN" sz="2200" dirty="0">
                <a:solidFill>
                  <a:srgbClr val="008000"/>
                </a:solidFill>
                <a:latin typeface="微软雅黑" panose="020B0503020204020204" pitchFamily="34" charset="-122"/>
                <a:ea typeface="微软雅黑" panose="020B0503020204020204" pitchFamily="34" charset="-122"/>
              </a:rPr>
              <a:t>),  %</a:t>
            </a:r>
            <a:r>
              <a:rPr lang="en-US" altLang="zh-CN" sz="2200" dirty="0" err="1">
                <a:solidFill>
                  <a:srgbClr val="008000"/>
                </a:solidFill>
                <a:latin typeface="微软雅黑" panose="020B0503020204020204" pitchFamily="34" charset="-122"/>
                <a:ea typeface="微软雅黑" panose="020B0503020204020204" pitchFamily="34" charset="-122"/>
              </a:rPr>
              <a:t>edx</a:t>
            </a:r>
            <a:endParaRPr lang="en-US" altLang="zh-CN" sz="2200" dirty="0">
              <a:solidFill>
                <a:srgbClr val="008000"/>
              </a:solidFill>
              <a:latin typeface="微软雅黑" panose="020B0503020204020204" pitchFamily="34" charset="-122"/>
              <a:ea typeface="微软雅黑" panose="020B0503020204020204" pitchFamily="34" charset="-122"/>
            </a:endParaRPr>
          </a:p>
          <a:p>
            <a:pPr>
              <a:lnSpc>
                <a:spcPct val="100000"/>
              </a:lnSpc>
              <a:spcBef>
                <a:spcPct val="0"/>
              </a:spcBef>
              <a:buFontTx/>
              <a:buNone/>
            </a:pPr>
            <a:r>
              <a:rPr lang="en-US" altLang="zh-CN" sz="2200" dirty="0">
                <a:solidFill>
                  <a:srgbClr val="008000"/>
                </a:solidFill>
                <a:latin typeface="微软雅黑" panose="020B0503020204020204" pitchFamily="34" charset="-122"/>
                <a:ea typeface="微软雅黑" panose="020B0503020204020204" pitchFamily="34" charset="-122"/>
              </a:rPr>
              <a:t>    </a:t>
            </a:r>
            <a:r>
              <a:rPr lang="en-US" altLang="zh-CN" sz="2200" dirty="0" err="1">
                <a:solidFill>
                  <a:srgbClr val="008000"/>
                </a:solidFill>
                <a:latin typeface="微软雅黑" panose="020B0503020204020204" pitchFamily="34" charset="-122"/>
                <a:ea typeface="微软雅黑" panose="020B0503020204020204" pitchFamily="34" charset="-122"/>
              </a:rPr>
              <a:t>subl</a:t>
            </a:r>
            <a:r>
              <a:rPr lang="en-US" altLang="zh-CN" sz="2200" dirty="0">
                <a:solidFill>
                  <a:srgbClr val="008000"/>
                </a:solidFill>
                <a:latin typeface="微软雅黑" panose="020B0503020204020204" pitchFamily="34" charset="-122"/>
                <a:ea typeface="微软雅黑" panose="020B0503020204020204" pitchFamily="34" charset="-122"/>
              </a:rPr>
              <a:t>    $1,  %</a:t>
            </a:r>
            <a:r>
              <a:rPr lang="en-US" altLang="zh-CN" sz="2200" dirty="0" err="1">
                <a:solidFill>
                  <a:srgbClr val="008000"/>
                </a:solidFill>
                <a:latin typeface="微软雅黑" panose="020B0503020204020204" pitchFamily="34" charset="-122"/>
                <a:ea typeface="微软雅黑" panose="020B0503020204020204" pitchFamily="34" charset="-122"/>
              </a:rPr>
              <a:t>edx</a:t>
            </a:r>
            <a:endParaRPr lang="en-US" altLang="zh-CN" sz="2200" dirty="0">
              <a:solidFill>
                <a:srgbClr val="008000"/>
              </a:solidFill>
              <a:latin typeface="微软雅黑" panose="020B0503020204020204" pitchFamily="34" charset="-122"/>
              <a:ea typeface="微软雅黑" panose="020B0503020204020204" pitchFamily="34" charset="-122"/>
            </a:endParaRPr>
          </a:p>
          <a:p>
            <a:pPr>
              <a:lnSpc>
                <a:spcPct val="100000"/>
              </a:lnSpc>
              <a:spcBef>
                <a:spcPct val="0"/>
              </a:spcBef>
              <a:buFontTx/>
              <a:buNone/>
            </a:pPr>
            <a:r>
              <a:rPr lang="en-US" altLang="zh-CN" sz="2200" dirty="0">
                <a:solidFill>
                  <a:srgbClr val="008000"/>
                </a:solidFill>
                <a:latin typeface="微软雅黑" panose="020B0503020204020204" pitchFamily="34" charset="-122"/>
                <a:ea typeface="微软雅黑" panose="020B0503020204020204" pitchFamily="34" charset="-122"/>
              </a:rPr>
              <a:t>    </a:t>
            </a:r>
            <a:r>
              <a:rPr lang="en-US" altLang="zh-CN" sz="2200" dirty="0" err="1">
                <a:solidFill>
                  <a:srgbClr val="008000"/>
                </a:solidFill>
                <a:latin typeface="微软雅黑" panose="020B0503020204020204" pitchFamily="34" charset="-122"/>
                <a:ea typeface="微软雅黑" panose="020B0503020204020204" pitchFamily="34" charset="-122"/>
              </a:rPr>
              <a:t>cmpl</a:t>
            </a:r>
            <a:r>
              <a:rPr lang="en-US" altLang="zh-CN" sz="2200" dirty="0">
                <a:solidFill>
                  <a:srgbClr val="008000"/>
                </a:solidFill>
                <a:latin typeface="微软雅黑" panose="020B0503020204020204" pitchFamily="34" charset="-122"/>
                <a:ea typeface="微软雅黑" panose="020B0503020204020204" pitchFamily="34" charset="-122"/>
              </a:rPr>
              <a:t>  %</a:t>
            </a:r>
            <a:r>
              <a:rPr lang="en-US" altLang="zh-CN" sz="2200" dirty="0" err="1">
                <a:solidFill>
                  <a:srgbClr val="008000"/>
                </a:solidFill>
                <a:latin typeface="微软雅黑" panose="020B0503020204020204" pitchFamily="34" charset="-122"/>
                <a:ea typeface="微软雅黑" panose="020B0503020204020204" pitchFamily="34" charset="-122"/>
              </a:rPr>
              <a:t>edx</a:t>
            </a:r>
            <a:r>
              <a:rPr lang="en-US" altLang="zh-CN" sz="2200" dirty="0">
                <a:solidFill>
                  <a:srgbClr val="008000"/>
                </a:solidFill>
                <a:latin typeface="微软雅黑" panose="020B0503020204020204" pitchFamily="34" charset="-122"/>
                <a:ea typeface="微软雅黑" panose="020B0503020204020204" pitchFamily="34" charset="-122"/>
              </a:rPr>
              <a:t>,  %</a:t>
            </a:r>
            <a:r>
              <a:rPr lang="en-US" altLang="zh-CN" sz="2200" dirty="0" err="1">
                <a:solidFill>
                  <a:srgbClr val="008000"/>
                </a:solidFill>
                <a:latin typeface="微软雅黑" panose="020B0503020204020204" pitchFamily="34" charset="-122"/>
                <a:ea typeface="微软雅黑" panose="020B0503020204020204" pitchFamily="34" charset="-122"/>
              </a:rPr>
              <a:t>eax</a:t>
            </a:r>
            <a:endParaRPr lang="en-US" altLang="zh-CN" sz="2200" dirty="0">
              <a:solidFill>
                <a:srgbClr val="008000"/>
              </a:solidFill>
              <a:latin typeface="微软雅黑" panose="020B0503020204020204" pitchFamily="34" charset="-122"/>
              <a:ea typeface="微软雅黑" panose="020B0503020204020204" pitchFamily="34" charset="-122"/>
            </a:endParaRPr>
          </a:p>
          <a:p>
            <a:pPr>
              <a:lnSpc>
                <a:spcPct val="100000"/>
              </a:lnSpc>
              <a:spcBef>
                <a:spcPct val="0"/>
              </a:spcBef>
              <a:buFontTx/>
              <a:buNone/>
            </a:pPr>
            <a:r>
              <a:rPr lang="en-US" altLang="zh-CN" sz="2200" dirty="0">
                <a:solidFill>
                  <a:srgbClr val="008000"/>
                </a:solidFill>
                <a:latin typeface="微软雅黑" panose="020B0503020204020204" pitchFamily="34" charset="-122"/>
                <a:ea typeface="微软雅黑" panose="020B0503020204020204" pitchFamily="34" charset="-122"/>
              </a:rPr>
              <a:t>    </a:t>
            </a:r>
            <a:r>
              <a:rPr lang="en-US" altLang="zh-CN" sz="2200" dirty="0" err="1">
                <a:solidFill>
                  <a:srgbClr val="008000"/>
                </a:solidFill>
                <a:latin typeface="微软雅黑" panose="020B0503020204020204" pitchFamily="34" charset="-122"/>
                <a:ea typeface="微软雅黑" panose="020B0503020204020204" pitchFamily="34" charset="-122"/>
              </a:rPr>
              <a:t>jbe</a:t>
            </a:r>
            <a:r>
              <a:rPr lang="en-US" altLang="zh-CN" sz="2200" dirty="0">
                <a:solidFill>
                  <a:srgbClr val="008000"/>
                </a:solidFill>
                <a:latin typeface="微软雅黑" panose="020B0503020204020204" pitchFamily="34" charset="-122"/>
                <a:ea typeface="微软雅黑" panose="020B0503020204020204" pitchFamily="34" charset="-122"/>
              </a:rPr>
              <a:t>	   .L3</a:t>
            </a:r>
          </a:p>
          <a:p>
            <a:pPr>
              <a:lnSpc>
                <a:spcPct val="100000"/>
              </a:lnSpc>
              <a:spcBef>
                <a:spcPct val="0"/>
              </a:spcBef>
              <a:buFontTx/>
              <a:buNone/>
            </a:pPr>
            <a:r>
              <a:rPr lang="en-US" altLang="zh-CN" sz="2200" dirty="0">
                <a:solidFill>
                  <a:srgbClr val="008000"/>
                </a:solidFill>
                <a:latin typeface="微软雅黑" panose="020B0503020204020204" pitchFamily="34" charset="-122"/>
                <a:ea typeface="微软雅黑" panose="020B0503020204020204" pitchFamily="34" charset="-122"/>
              </a:rPr>
              <a:t>     …</a:t>
            </a:r>
          </a:p>
        </p:txBody>
      </p:sp>
      <p:sp>
        <p:nvSpPr>
          <p:cNvPr id="634886" name="Text Box 6"/>
          <p:cNvSpPr txBox="1">
            <a:spLocks noChangeArrowheads="1"/>
          </p:cNvSpPr>
          <p:nvPr/>
        </p:nvSpPr>
        <p:spPr bwMode="auto">
          <a:xfrm>
            <a:off x="4833938" y="4606925"/>
            <a:ext cx="4078287" cy="1930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25000"/>
              </a:spcBef>
              <a:buFontTx/>
              <a:buNone/>
            </a:pPr>
            <a:r>
              <a:rPr lang="en-US" altLang="zh-CN" sz="2000">
                <a:solidFill>
                  <a:srgbClr val="B3110D"/>
                </a:solidFill>
                <a:latin typeface="微软雅黑" panose="020B0503020204020204" pitchFamily="34" charset="-122"/>
                <a:ea typeface="微软雅黑" panose="020B0503020204020204" pitchFamily="34" charset="-122"/>
              </a:rPr>
              <a:t>i </a:t>
            </a:r>
            <a:r>
              <a:rPr lang="zh-CN" altLang="en-US" sz="2000">
                <a:solidFill>
                  <a:srgbClr val="B3110D"/>
                </a:solidFill>
                <a:latin typeface="微软雅黑" panose="020B0503020204020204" pitchFamily="34" charset="-122"/>
                <a:ea typeface="微软雅黑" panose="020B0503020204020204" pitchFamily="34" charset="-122"/>
              </a:rPr>
              <a:t>在</a:t>
            </a:r>
            <a:r>
              <a:rPr lang="en-US" altLang="zh-CN" sz="2000">
                <a:solidFill>
                  <a:srgbClr val="B3110D"/>
                </a:solidFill>
                <a:latin typeface="微软雅黑" panose="020B0503020204020204" pitchFamily="34" charset="-122"/>
                <a:ea typeface="微软雅黑" panose="020B0503020204020204" pitchFamily="34" charset="-122"/>
              </a:rPr>
              <a:t>%eax</a:t>
            </a:r>
            <a:r>
              <a:rPr lang="zh-CN" altLang="en-US" sz="2000">
                <a:solidFill>
                  <a:srgbClr val="B3110D"/>
                </a:solidFill>
                <a:latin typeface="微软雅黑" panose="020B0503020204020204" pitchFamily="34" charset="-122"/>
                <a:ea typeface="微软雅黑" panose="020B0503020204020204" pitchFamily="34" charset="-122"/>
              </a:rPr>
              <a:t>中，</a:t>
            </a:r>
            <a:r>
              <a:rPr lang="en-US" altLang="zh-CN" sz="2000">
                <a:solidFill>
                  <a:srgbClr val="B3110D"/>
                </a:solidFill>
                <a:latin typeface="微软雅黑" panose="020B0503020204020204" pitchFamily="34" charset="-122"/>
                <a:ea typeface="微软雅黑" panose="020B0503020204020204" pitchFamily="34" charset="-122"/>
              </a:rPr>
              <a:t>len</a:t>
            </a:r>
            <a:r>
              <a:rPr lang="zh-CN" altLang="en-US" sz="2000">
                <a:solidFill>
                  <a:srgbClr val="B3110D"/>
                </a:solidFill>
                <a:latin typeface="微软雅黑" panose="020B0503020204020204" pitchFamily="34" charset="-122"/>
                <a:ea typeface="微软雅黑" panose="020B0503020204020204" pitchFamily="34" charset="-122"/>
              </a:rPr>
              <a:t>在</a:t>
            </a:r>
            <a:r>
              <a:rPr lang="en-US" altLang="zh-CN" sz="2000">
                <a:solidFill>
                  <a:srgbClr val="B3110D"/>
                </a:solidFill>
                <a:latin typeface="微软雅黑" panose="020B0503020204020204" pitchFamily="34" charset="-122"/>
                <a:ea typeface="微软雅黑" panose="020B0503020204020204" pitchFamily="34" charset="-122"/>
              </a:rPr>
              <a:t>%edx</a:t>
            </a:r>
            <a:r>
              <a:rPr lang="zh-CN" altLang="en-US" sz="2000">
                <a:solidFill>
                  <a:srgbClr val="B3110D"/>
                </a:solidFill>
                <a:latin typeface="微软雅黑" panose="020B0503020204020204" pitchFamily="34" charset="-122"/>
                <a:ea typeface="微软雅黑" panose="020B0503020204020204" pitchFamily="34" charset="-122"/>
              </a:rPr>
              <a:t>中</a:t>
            </a:r>
          </a:p>
          <a:p>
            <a:pPr>
              <a:lnSpc>
                <a:spcPct val="100000"/>
              </a:lnSpc>
              <a:spcBef>
                <a:spcPct val="25000"/>
              </a:spcBef>
              <a:buFontTx/>
              <a:buNone/>
            </a:pPr>
            <a:r>
              <a:rPr lang="en-US" altLang="zh-CN" sz="2000">
                <a:solidFill>
                  <a:srgbClr val="B3110D"/>
                </a:solidFill>
                <a:latin typeface="微软雅黑" panose="020B0503020204020204" pitchFamily="34" charset="-122"/>
                <a:ea typeface="微软雅黑" panose="020B0503020204020204" pitchFamily="34" charset="-122"/>
              </a:rPr>
              <a:t>%eax: 0000 …… 0000</a:t>
            </a:r>
          </a:p>
          <a:p>
            <a:pPr>
              <a:lnSpc>
                <a:spcPct val="100000"/>
              </a:lnSpc>
              <a:spcBef>
                <a:spcPct val="25000"/>
              </a:spcBef>
              <a:buFontTx/>
              <a:buNone/>
            </a:pPr>
            <a:r>
              <a:rPr lang="en-US" altLang="zh-CN" sz="2000">
                <a:solidFill>
                  <a:srgbClr val="B3110D"/>
                </a:solidFill>
                <a:latin typeface="微软雅黑" panose="020B0503020204020204" pitchFamily="34" charset="-122"/>
                <a:ea typeface="微软雅黑" panose="020B0503020204020204" pitchFamily="34" charset="-122"/>
              </a:rPr>
              <a:t>%edx: 0000 …… 0000</a:t>
            </a:r>
            <a:endParaRPr lang="zh-CN" altLang="en-US" sz="2000">
              <a:solidFill>
                <a:srgbClr val="B3110D"/>
              </a:solidFill>
              <a:latin typeface="微软雅黑" panose="020B0503020204020204" pitchFamily="34" charset="-122"/>
              <a:ea typeface="微软雅黑" panose="020B0503020204020204" pitchFamily="34" charset="-122"/>
            </a:endParaRPr>
          </a:p>
          <a:p>
            <a:pPr>
              <a:lnSpc>
                <a:spcPct val="100000"/>
              </a:lnSpc>
              <a:spcBef>
                <a:spcPct val="25000"/>
              </a:spcBef>
              <a:buFontTx/>
              <a:buNone/>
            </a:pPr>
            <a:r>
              <a:rPr lang="en-US" altLang="zh-CN" sz="2000">
                <a:latin typeface="微软雅黑" panose="020B0503020204020204" pitchFamily="34" charset="-122"/>
                <a:ea typeface="微软雅黑" panose="020B0503020204020204" pitchFamily="34" charset="-122"/>
              </a:rPr>
              <a:t>subl </a:t>
            </a:r>
            <a:r>
              <a:rPr lang="zh-CN" altLang="en-US" sz="2000">
                <a:latin typeface="微软雅黑" panose="020B0503020204020204" pitchFamily="34" charset="-122"/>
                <a:ea typeface="微软雅黑" panose="020B0503020204020204" pitchFamily="34" charset="-122"/>
              </a:rPr>
              <a:t>指令的执行结果是什么？</a:t>
            </a:r>
          </a:p>
          <a:p>
            <a:pPr>
              <a:lnSpc>
                <a:spcPct val="100000"/>
              </a:lnSpc>
              <a:spcBef>
                <a:spcPct val="25000"/>
              </a:spcBef>
              <a:buFontTx/>
              <a:buNone/>
            </a:pPr>
            <a:r>
              <a:rPr lang="en-US" altLang="zh-CN" sz="2000">
                <a:latin typeface="微软雅黑" panose="020B0503020204020204" pitchFamily="34" charset="-122"/>
                <a:ea typeface="微软雅黑" panose="020B0503020204020204" pitchFamily="34" charset="-122"/>
              </a:rPr>
              <a:t>cmpl </a:t>
            </a:r>
            <a:r>
              <a:rPr lang="zh-CN" altLang="en-US" sz="2000">
                <a:latin typeface="微软雅黑" panose="020B0503020204020204" pitchFamily="34" charset="-122"/>
                <a:ea typeface="微软雅黑" panose="020B0503020204020204" pitchFamily="34" charset="-122"/>
              </a:rPr>
              <a:t>指令的执行结果是什么？</a:t>
            </a:r>
          </a:p>
        </p:txBody>
      </p:sp>
      <p:sp>
        <p:nvSpPr>
          <p:cNvPr id="634887" name="Rectangle 7"/>
          <p:cNvSpPr>
            <a:spLocks noChangeArrowheads="1"/>
          </p:cNvSpPr>
          <p:nvPr/>
        </p:nvSpPr>
        <p:spPr bwMode="auto">
          <a:xfrm>
            <a:off x="288925" y="5205413"/>
            <a:ext cx="4030663"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20000"/>
              </a:lnSpc>
              <a:spcBef>
                <a:spcPct val="15000"/>
              </a:spcBef>
              <a:buFontTx/>
              <a:buNone/>
            </a:pPr>
            <a:r>
              <a:rPr lang="en-US" altLang="zh-CN" sz="2200">
                <a:solidFill>
                  <a:srgbClr val="FF3300"/>
                </a:solidFill>
                <a:latin typeface="微软雅黑" panose="020B0503020204020204" pitchFamily="34" charset="-122"/>
                <a:ea typeface="微软雅黑" panose="020B0503020204020204" pitchFamily="34" charset="-122"/>
              </a:rPr>
              <a:t>i </a:t>
            </a:r>
            <a:r>
              <a:rPr lang="zh-CN" altLang="en-US" sz="2200">
                <a:solidFill>
                  <a:srgbClr val="FF3300"/>
                </a:solidFill>
                <a:latin typeface="微软雅黑" panose="020B0503020204020204" pitchFamily="34" charset="-122"/>
                <a:ea typeface="微软雅黑" panose="020B0503020204020204" pitchFamily="34" charset="-122"/>
              </a:rPr>
              <a:t>和 </a:t>
            </a:r>
            <a:r>
              <a:rPr lang="en-US" altLang="zh-CN" sz="2200">
                <a:solidFill>
                  <a:srgbClr val="FF3300"/>
                </a:solidFill>
                <a:latin typeface="微软雅黑" panose="020B0503020204020204" pitchFamily="34" charset="-122"/>
                <a:ea typeface="微软雅黑" panose="020B0503020204020204" pitchFamily="34" charset="-122"/>
              </a:rPr>
              <a:t>len </a:t>
            </a:r>
            <a:r>
              <a:rPr lang="zh-CN" altLang="en-US" sz="2200">
                <a:solidFill>
                  <a:srgbClr val="FF3300"/>
                </a:solidFill>
                <a:latin typeface="微软雅黑" panose="020B0503020204020204" pitchFamily="34" charset="-122"/>
                <a:ea typeface="微软雅黑" panose="020B0503020204020204" pitchFamily="34" charset="-122"/>
              </a:rPr>
              <a:t>分别存放在哪个寄存器中？ </a:t>
            </a:r>
            <a:r>
              <a:rPr lang="en-US" altLang="zh-CN" sz="2200">
                <a:solidFill>
                  <a:srgbClr val="FF3300"/>
                </a:solidFill>
                <a:latin typeface="微软雅黑" panose="020B0503020204020204" pitchFamily="34" charset="-122"/>
                <a:ea typeface="微软雅黑" panose="020B0503020204020204" pitchFamily="34" charset="-122"/>
              </a:rPr>
              <a:t>%eax</a:t>
            </a:r>
            <a:r>
              <a:rPr lang="zh-CN" altLang="en-US" sz="2200">
                <a:solidFill>
                  <a:srgbClr val="FF3300"/>
                </a:solidFill>
                <a:latin typeface="微软雅黑" panose="020B0503020204020204" pitchFamily="34" charset="-122"/>
                <a:ea typeface="微软雅黑" panose="020B0503020204020204" pitchFamily="34" charset="-122"/>
              </a:rPr>
              <a:t>？ </a:t>
            </a:r>
            <a:r>
              <a:rPr lang="en-US" altLang="zh-CN" sz="2200">
                <a:solidFill>
                  <a:srgbClr val="FF3300"/>
                </a:solidFill>
                <a:latin typeface="微软雅黑" panose="020B0503020204020204" pitchFamily="34" charset="-122"/>
                <a:ea typeface="微软雅黑" panose="020B0503020204020204" pitchFamily="34" charset="-122"/>
              </a:rPr>
              <a:t>%edx</a:t>
            </a:r>
            <a:r>
              <a:rPr lang="zh-CN" altLang="en-US" sz="2200">
                <a:solidFill>
                  <a:srgbClr val="FF3300"/>
                </a:solidFill>
                <a:latin typeface="微软雅黑" panose="020B0503020204020204" pitchFamily="34" charset="-122"/>
                <a:ea typeface="微软雅黑" panose="020B0503020204020204" pitchFamily="34" charset="-122"/>
              </a:rPr>
              <a:t>？</a:t>
            </a:r>
          </a:p>
        </p:txBody>
      </p:sp>
      <p:sp>
        <p:nvSpPr>
          <p:cNvPr id="634888" name="Rectangle 8"/>
          <p:cNvSpPr>
            <a:spLocks noChangeArrowheads="1"/>
          </p:cNvSpPr>
          <p:nvPr/>
        </p:nvSpPr>
        <p:spPr bwMode="auto">
          <a:xfrm>
            <a:off x="5114925" y="3608388"/>
            <a:ext cx="1843088" cy="409575"/>
          </a:xfrm>
          <a:prstGeom prst="rect">
            <a:avLst/>
          </a:prstGeom>
          <a:noFill/>
          <a:ln w="28575">
            <a:solidFill>
              <a:srgbClr val="99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8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262247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4885"/>
                                        </p:tgtEl>
                                        <p:attrNameLst>
                                          <p:attrName>style.visibility</p:attrName>
                                        </p:attrNameLst>
                                      </p:cBhvr>
                                      <p:to>
                                        <p:strVal val="visible"/>
                                      </p:to>
                                    </p:set>
                                    <p:animEffect transition="in" filter="blinds(horizontal)">
                                      <p:cBhvr>
                                        <p:cTn id="7" dur="500"/>
                                        <p:tgtEl>
                                          <p:spTgt spid="6348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34888"/>
                                        </p:tgtEl>
                                        <p:attrNameLst>
                                          <p:attrName>style.visibility</p:attrName>
                                        </p:attrNameLst>
                                      </p:cBhvr>
                                      <p:to>
                                        <p:strVal val="visible"/>
                                      </p:to>
                                    </p:set>
                                    <p:animEffect transition="in" filter="blinds(horizontal)">
                                      <p:cBhvr>
                                        <p:cTn id="12" dur="500"/>
                                        <p:tgtEl>
                                          <p:spTgt spid="6348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34886"/>
                                        </p:tgtEl>
                                        <p:attrNameLst>
                                          <p:attrName>style.visibility</p:attrName>
                                        </p:attrNameLst>
                                      </p:cBhvr>
                                      <p:to>
                                        <p:strVal val="visible"/>
                                      </p:to>
                                    </p:set>
                                    <p:animEffect transition="in" filter="blinds(horizontal)">
                                      <p:cBhvr>
                                        <p:cTn id="17" dur="500"/>
                                        <p:tgtEl>
                                          <p:spTgt spid="6348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34887"/>
                                        </p:tgtEl>
                                        <p:attrNameLst>
                                          <p:attrName>style.visibility</p:attrName>
                                        </p:attrNameLst>
                                      </p:cBhvr>
                                      <p:to>
                                        <p:strVal val="visible"/>
                                      </p:to>
                                    </p:set>
                                    <p:animEffect transition="in" filter="blinds(horizontal)">
                                      <p:cBhvr>
                                        <p:cTn id="22" dur="500"/>
                                        <p:tgtEl>
                                          <p:spTgt spid="6348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885" grpId="0" animBg="1"/>
      <p:bldP spid="634886" grpId="0" animBg="1"/>
      <p:bldP spid="634887" grpId="0"/>
      <p:bldP spid="63488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800100" y="142875"/>
            <a:ext cx="6935788" cy="528638"/>
          </a:xfrm>
        </p:spPr>
        <p:txBody>
          <a:bodyPr>
            <a:normAutofit fontScale="90000"/>
          </a:bodyPr>
          <a:lstStyle/>
          <a:p>
            <a:r>
              <a:rPr lang="en-US" altLang="zh-CN" sz="3600">
                <a:ea typeface="宋体" panose="02010600030101010101" pitchFamily="2" charset="-122"/>
              </a:rPr>
              <a:t>subl $1, %edx</a:t>
            </a:r>
            <a:r>
              <a:rPr lang="zh-CN" altLang="en-US" sz="3600">
                <a:ea typeface="宋体" panose="02010600030101010101" pitchFamily="2" charset="-122"/>
              </a:rPr>
              <a:t>指令的执行结果</a:t>
            </a:r>
          </a:p>
        </p:txBody>
      </p:sp>
      <p:sp>
        <p:nvSpPr>
          <p:cNvPr id="635907" name="Rectangle 3"/>
          <p:cNvSpPr>
            <a:spLocks noGrp="1" noChangeArrowheads="1"/>
          </p:cNvSpPr>
          <p:nvPr>
            <p:ph type="body" idx="1"/>
          </p:nvPr>
        </p:nvSpPr>
        <p:spPr>
          <a:xfrm>
            <a:off x="217488" y="5576888"/>
            <a:ext cx="8712200" cy="1000125"/>
          </a:xfrm>
        </p:spPr>
        <p:txBody>
          <a:bodyPr>
            <a:normAutofit fontScale="92500" lnSpcReduction="10000"/>
          </a:bodyPr>
          <a:lstStyle/>
          <a:p>
            <a:pPr>
              <a:lnSpc>
                <a:spcPct val="130000"/>
              </a:lnSpc>
              <a:buFontTx/>
              <a:buNone/>
            </a:pPr>
            <a:r>
              <a:rPr lang="en-US" altLang="zh-CN" sz="2500">
                <a:solidFill>
                  <a:srgbClr val="990000"/>
                </a:solidFill>
                <a:latin typeface="微软雅黑" panose="020B0503020204020204" pitchFamily="34" charset="-122"/>
                <a:ea typeface="微软雅黑" panose="020B0503020204020204" pitchFamily="34" charset="-122"/>
              </a:rPr>
              <a:t>“subl $1, %edx”</a:t>
            </a:r>
            <a:r>
              <a:rPr lang="zh-CN" altLang="en-US" sz="2500">
                <a:solidFill>
                  <a:srgbClr val="990000"/>
                </a:solidFill>
                <a:latin typeface="微软雅黑" panose="020B0503020204020204" pitchFamily="34" charset="-122"/>
                <a:ea typeface="微软雅黑" panose="020B0503020204020204" pitchFamily="34" charset="-122"/>
              </a:rPr>
              <a:t>执行时：</a:t>
            </a:r>
            <a:r>
              <a:rPr lang="en-US" altLang="zh-CN" sz="2500">
                <a:solidFill>
                  <a:srgbClr val="990000"/>
                </a:solidFill>
                <a:latin typeface="微软雅黑" panose="020B0503020204020204" pitchFamily="34" charset="-122"/>
                <a:ea typeface="微软雅黑" panose="020B0503020204020204" pitchFamily="34" charset="-122"/>
              </a:rPr>
              <a:t>A=0000 0000H</a:t>
            </a:r>
            <a:r>
              <a:rPr lang="zh-CN" altLang="en-US" sz="2500">
                <a:solidFill>
                  <a:srgbClr val="990000"/>
                </a:solidFill>
                <a:latin typeface="微软雅黑" panose="020B0503020204020204" pitchFamily="34" charset="-122"/>
                <a:ea typeface="微软雅黑" panose="020B0503020204020204" pitchFamily="34" charset="-122"/>
              </a:rPr>
              <a:t>，</a:t>
            </a:r>
            <a:r>
              <a:rPr lang="en-US" altLang="zh-CN" sz="2500">
                <a:solidFill>
                  <a:srgbClr val="990000"/>
                </a:solidFill>
                <a:latin typeface="微软雅黑" panose="020B0503020204020204" pitchFamily="34" charset="-122"/>
                <a:ea typeface="微软雅黑" panose="020B0503020204020204" pitchFamily="34" charset="-122"/>
              </a:rPr>
              <a:t>B</a:t>
            </a:r>
            <a:r>
              <a:rPr lang="zh-CN" altLang="en-US" sz="2500">
                <a:solidFill>
                  <a:srgbClr val="990000"/>
                </a:solidFill>
                <a:latin typeface="微软雅黑" panose="020B0503020204020204" pitchFamily="34" charset="-122"/>
                <a:ea typeface="微软雅黑" panose="020B0503020204020204" pitchFamily="34" charset="-122"/>
              </a:rPr>
              <a:t>为</a:t>
            </a:r>
            <a:r>
              <a:rPr lang="en-US" altLang="zh-CN" sz="2500">
                <a:solidFill>
                  <a:srgbClr val="990000"/>
                </a:solidFill>
                <a:latin typeface="微软雅黑" panose="020B0503020204020204" pitchFamily="34" charset="-122"/>
                <a:ea typeface="微软雅黑" panose="020B0503020204020204" pitchFamily="34" charset="-122"/>
              </a:rPr>
              <a:t>0000 0001H</a:t>
            </a:r>
            <a:r>
              <a:rPr lang="zh-CN" altLang="en-US" sz="2500">
                <a:solidFill>
                  <a:srgbClr val="990000"/>
                </a:solidFill>
                <a:latin typeface="微软雅黑" panose="020B0503020204020204" pitchFamily="34" charset="-122"/>
                <a:ea typeface="微软雅黑" panose="020B0503020204020204" pitchFamily="34" charset="-122"/>
              </a:rPr>
              <a:t>，</a:t>
            </a:r>
            <a:r>
              <a:rPr lang="en-US" altLang="zh-CN" sz="2500">
                <a:solidFill>
                  <a:srgbClr val="990000"/>
                </a:solidFill>
                <a:latin typeface="微软雅黑" panose="020B0503020204020204" pitchFamily="34" charset="-122"/>
                <a:ea typeface="微软雅黑" panose="020B0503020204020204" pitchFamily="34" charset="-122"/>
              </a:rPr>
              <a:t>Sub=1</a:t>
            </a:r>
            <a:r>
              <a:rPr lang="zh-CN" altLang="en-US" sz="2500">
                <a:solidFill>
                  <a:srgbClr val="990000"/>
                </a:solidFill>
                <a:latin typeface="微软雅黑" panose="020B0503020204020204" pitchFamily="34" charset="-122"/>
                <a:ea typeface="微软雅黑" panose="020B0503020204020204" pitchFamily="34" charset="-122"/>
              </a:rPr>
              <a:t>，因此</a:t>
            </a:r>
            <a:r>
              <a:rPr lang="en-US" altLang="zh-CN" sz="2500">
                <a:solidFill>
                  <a:srgbClr val="990000"/>
                </a:solidFill>
                <a:latin typeface="微软雅黑" panose="020B0503020204020204" pitchFamily="34" charset="-122"/>
                <a:ea typeface="微软雅黑" panose="020B0503020204020204" pitchFamily="34" charset="-122"/>
              </a:rPr>
              <a:t>Result</a:t>
            </a:r>
            <a:r>
              <a:rPr lang="zh-CN" altLang="en-US" sz="2500">
                <a:solidFill>
                  <a:srgbClr val="990000"/>
                </a:solidFill>
                <a:latin typeface="微软雅黑" panose="020B0503020204020204" pitchFamily="34" charset="-122"/>
                <a:ea typeface="微软雅黑" panose="020B0503020204020204" pitchFamily="34" charset="-122"/>
              </a:rPr>
              <a:t>是</a:t>
            </a:r>
            <a:r>
              <a:rPr lang="en-US" altLang="zh-CN" sz="2500">
                <a:solidFill>
                  <a:srgbClr val="990000"/>
                </a:solidFill>
                <a:latin typeface="微软雅黑" panose="020B0503020204020204" pitchFamily="34" charset="-122"/>
                <a:ea typeface="微软雅黑" panose="020B0503020204020204" pitchFamily="34" charset="-122"/>
              </a:rPr>
              <a:t>32</a:t>
            </a:r>
            <a:r>
              <a:rPr lang="zh-CN" altLang="en-US" sz="2500">
                <a:solidFill>
                  <a:srgbClr val="990000"/>
                </a:solidFill>
                <a:latin typeface="微软雅黑" panose="020B0503020204020204" pitchFamily="34" charset="-122"/>
                <a:ea typeface="微软雅黑" panose="020B0503020204020204" pitchFamily="34" charset="-122"/>
              </a:rPr>
              <a:t>个</a:t>
            </a:r>
            <a:r>
              <a:rPr lang="en-US" altLang="zh-CN" sz="2500">
                <a:solidFill>
                  <a:srgbClr val="990000"/>
                </a:solidFill>
                <a:latin typeface="微软雅黑" panose="020B0503020204020204" pitchFamily="34" charset="-122"/>
                <a:ea typeface="微软雅黑" panose="020B0503020204020204" pitchFamily="34" charset="-122"/>
              </a:rPr>
              <a:t>1</a:t>
            </a:r>
            <a:r>
              <a:rPr lang="zh-CN" altLang="en-US" sz="2500">
                <a:solidFill>
                  <a:srgbClr val="990000"/>
                </a:solidFill>
                <a:latin typeface="微软雅黑" panose="020B0503020204020204" pitchFamily="34" charset="-122"/>
                <a:ea typeface="微软雅黑" panose="020B0503020204020204" pitchFamily="34" charset="-122"/>
              </a:rPr>
              <a:t>。</a:t>
            </a:r>
          </a:p>
        </p:txBody>
      </p:sp>
      <p:grpSp>
        <p:nvGrpSpPr>
          <p:cNvPr id="54276" name="Group 4"/>
          <p:cNvGrpSpPr>
            <a:grpSpLocks/>
          </p:cNvGrpSpPr>
          <p:nvPr/>
        </p:nvGrpSpPr>
        <p:grpSpPr bwMode="auto">
          <a:xfrm>
            <a:off x="406400" y="939800"/>
            <a:ext cx="8737600" cy="4419600"/>
            <a:chOff x="0" y="1513"/>
            <a:chExt cx="5522" cy="2611"/>
          </a:xfrm>
        </p:grpSpPr>
        <p:sp>
          <p:nvSpPr>
            <p:cNvPr id="54278" name="Rectangle 33"/>
            <p:cNvSpPr>
              <a:spLocks noChangeArrowheads="1"/>
            </p:cNvSpPr>
            <p:nvPr/>
          </p:nvSpPr>
          <p:spPr bwMode="auto">
            <a:xfrm>
              <a:off x="4402" y="2741"/>
              <a:ext cx="704"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Result</a:t>
              </a:r>
            </a:p>
          </p:txBody>
        </p:sp>
        <p:sp>
          <p:nvSpPr>
            <p:cNvPr id="54279" name="Line 11"/>
            <p:cNvSpPr>
              <a:spLocks noChangeShapeType="1"/>
            </p:cNvSpPr>
            <p:nvPr/>
          </p:nvSpPr>
          <p:spPr bwMode="auto">
            <a:xfrm flipH="1">
              <a:off x="507" y="2327"/>
              <a:ext cx="2619" cy="1"/>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0" name="Line 12"/>
            <p:cNvSpPr>
              <a:spLocks noChangeShapeType="1"/>
            </p:cNvSpPr>
            <p:nvPr/>
          </p:nvSpPr>
          <p:spPr bwMode="auto">
            <a:xfrm flipH="1">
              <a:off x="3111" y="2141"/>
              <a:ext cx="9" cy="69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1" name="Line 13"/>
            <p:cNvSpPr>
              <a:spLocks noChangeShapeType="1"/>
            </p:cNvSpPr>
            <p:nvPr/>
          </p:nvSpPr>
          <p:spPr bwMode="auto">
            <a:xfrm>
              <a:off x="3129" y="2141"/>
              <a:ext cx="564" cy="30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2" name="Line 14"/>
            <p:cNvSpPr>
              <a:spLocks noChangeShapeType="1"/>
            </p:cNvSpPr>
            <p:nvPr/>
          </p:nvSpPr>
          <p:spPr bwMode="auto">
            <a:xfrm>
              <a:off x="3087" y="2822"/>
              <a:ext cx="213"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3" name="Line 16"/>
            <p:cNvSpPr>
              <a:spLocks noChangeShapeType="1"/>
            </p:cNvSpPr>
            <p:nvPr/>
          </p:nvSpPr>
          <p:spPr bwMode="auto">
            <a:xfrm>
              <a:off x="3693" y="2448"/>
              <a:ext cx="10" cy="4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4" name="Line 18"/>
            <p:cNvSpPr>
              <a:spLocks noChangeShapeType="1"/>
            </p:cNvSpPr>
            <p:nvPr/>
          </p:nvSpPr>
          <p:spPr bwMode="auto">
            <a:xfrm flipV="1">
              <a:off x="3120" y="3060"/>
              <a:ext cx="0" cy="6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5" name="Line 19"/>
            <p:cNvSpPr>
              <a:spLocks noChangeShapeType="1"/>
            </p:cNvSpPr>
            <p:nvPr/>
          </p:nvSpPr>
          <p:spPr bwMode="auto">
            <a:xfrm flipV="1">
              <a:off x="3129" y="3365"/>
              <a:ext cx="564" cy="34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6" name="Line 20"/>
            <p:cNvSpPr>
              <a:spLocks noChangeShapeType="1"/>
            </p:cNvSpPr>
            <p:nvPr/>
          </p:nvSpPr>
          <p:spPr bwMode="auto">
            <a:xfrm flipV="1">
              <a:off x="3121" y="2929"/>
              <a:ext cx="171" cy="12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7" name="Line 22"/>
            <p:cNvSpPr>
              <a:spLocks noChangeShapeType="1"/>
            </p:cNvSpPr>
            <p:nvPr/>
          </p:nvSpPr>
          <p:spPr bwMode="auto">
            <a:xfrm flipV="1">
              <a:off x="3703" y="2905"/>
              <a:ext cx="0" cy="4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8" name="Line 23"/>
            <p:cNvSpPr>
              <a:spLocks noChangeShapeType="1"/>
            </p:cNvSpPr>
            <p:nvPr/>
          </p:nvSpPr>
          <p:spPr bwMode="auto">
            <a:xfrm flipV="1">
              <a:off x="3707" y="2917"/>
              <a:ext cx="749"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9" name="Line 24"/>
            <p:cNvSpPr>
              <a:spLocks noChangeShapeType="1"/>
            </p:cNvSpPr>
            <p:nvPr/>
          </p:nvSpPr>
          <p:spPr bwMode="auto">
            <a:xfrm flipH="1">
              <a:off x="2416" y="3505"/>
              <a:ext cx="709"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0" name="Rectangle 25"/>
            <p:cNvSpPr>
              <a:spLocks noChangeArrowheads="1"/>
            </p:cNvSpPr>
            <p:nvPr/>
          </p:nvSpPr>
          <p:spPr bwMode="auto">
            <a:xfrm rot="5400000">
              <a:off x="2974" y="2871"/>
              <a:ext cx="974"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a:cs typeface="Arial" panose="020B0604020202020204" pitchFamily="34" charset="0"/>
                </a:rPr>
                <a:t>加法器</a:t>
              </a:r>
            </a:p>
          </p:txBody>
        </p:sp>
        <p:sp>
          <p:nvSpPr>
            <p:cNvPr id="54291" name="Line 26"/>
            <p:cNvSpPr>
              <a:spLocks noChangeShapeType="1"/>
            </p:cNvSpPr>
            <p:nvPr/>
          </p:nvSpPr>
          <p:spPr bwMode="auto">
            <a:xfrm flipH="1">
              <a:off x="2648" y="3446"/>
              <a:ext cx="127" cy="12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2" name="Line 27"/>
            <p:cNvSpPr>
              <a:spLocks noChangeShapeType="1"/>
            </p:cNvSpPr>
            <p:nvPr/>
          </p:nvSpPr>
          <p:spPr bwMode="auto">
            <a:xfrm flipH="1">
              <a:off x="776" y="2269"/>
              <a:ext cx="127" cy="11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3" name="Line 28"/>
            <p:cNvSpPr>
              <a:spLocks noChangeShapeType="1"/>
            </p:cNvSpPr>
            <p:nvPr/>
          </p:nvSpPr>
          <p:spPr bwMode="auto">
            <a:xfrm flipH="1">
              <a:off x="4105" y="2857"/>
              <a:ext cx="127" cy="11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4" name="Rectangle 29"/>
            <p:cNvSpPr>
              <a:spLocks noChangeArrowheads="1"/>
            </p:cNvSpPr>
            <p:nvPr/>
          </p:nvSpPr>
          <p:spPr bwMode="auto">
            <a:xfrm>
              <a:off x="891" y="2081"/>
              <a:ext cx="23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n</a:t>
              </a:r>
            </a:p>
          </p:txBody>
        </p:sp>
        <p:sp>
          <p:nvSpPr>
            <p:cNvPr id="54295" name="Rectangle 30"/>
            <p:cNvSpPr>
              <a:spLocks noChangeArrowheads="1"/>
            </p:cNvSpPr>
            <p:nvPr/>
          </p:nvSpPr>
          <p:spPr bwMode="auto">
            <a:xfrm>
              <a:off x="2469" y="3505"/>
              <a:ext cx="232"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n</a:t>
              </a:r>
            </a:p>
          </p:txBody>
        </p:sp>
        <p:sp>
          <p:nvSpPr>
            <p:cNvPr id="54296" name="Rectangle 31"/>
            <p:cNvSpPr>
              <a:spLocks noChangeArrowheads="1"/>
            </p:cNvSpPr>
            <p:nvPr/>
          </p:nvSpPr>
          <p:spPr bwMode="auto">
            <a:xfrm>
              <a:off x="3954" y="2691"/>
              <a:ext cx="232"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n</a:t>
              </a:r>
            </a:p>
          </p:txBody>
        </p:sp>
        <p:sp>
          <p:nvSpPr>
            <p:cNvPr id="54297" name="Rectangle 32"/>
            <p:cNvSpPr>
              <a:spLocks noChangeArrowheads="1"/>
            </p:cNvSpPr>
            <p:nvPr/>
          </p:nvSpPr>
          <p:spPr bwMode="auto">
            <a:xfrm>
              <a:off x="255" y="2171"/>
              <a:ext cx="25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A</a:t>
              </a:r>
            </a:p>
          </p:txBody>
        </p:sp>
        <p:sp>
          <p:nvSpPr>
            <p:cNvPr id="54298" name="Rectangle 34"/>
            <p:cNvSpPr>
              <a:spLocks noChangeArrowheads="1"/>
            </p:cNvSpPr>
            <p:nvPr/>
          </p:nvSpPr>
          <p:spPr bwMode="auto">
            <a:xfrm>
              <a:off x="4276" y="2337"/>
              <a:ext cx="34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ZF</a:t>
              </a:r>
            </a:p>
          </p:txBody>
        </p:sp>
        <p:sp>
          <p:nvSpPr>
            <p:cNvPr id="54299" name="Line 35"/>
            <p:cNvSpPr>
              <a:spLocks noChangeShapeType="1"/>
            </p:cNvSpPr>
            <p:nvPr/>
          </p:nvSpPr>
          <p:spPr bwMode="auto">
            <a:xfrm>
              <a:off x="3470" y="1994"/>
              <a:ext cx="0" cy="3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00" name="Rectangle 36"/>
            <p:cNvSpPr>
              <a:spLocks noChangeArrowheads="1"/>
            </p:cNvSpPr>
            <p:nvPr/>
          </p:nvSpPr>
          <p:spPr bwMode="auto">
            <a:xfrm>
              <a:off x="3516" y="2000"/>
              <a:ext cx="307"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Ci</a:t>
              </a:r>
            </a:p>
          </p:txBody>
        </p:sp>
        <p:sp>
          <p:nvSpPr>
            <p:cNvPr id="54301" name="Line 37"/>
            <p:cNvSpPr>
              <a:spLocks noChangeShapeType="1"/>
            </p:cNvSpPr>
            <p:nvPr/>
          </p:nvSpPr>
          <p:spPr bwMode="auto">
            <a:xfrm>
              <a:off x="3470" y="3512"/>
              <a:ext cx="0" cy="51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02" name="Rectangle 38"/>
            <p:cNvSpPr>
              <a:spLocks noChangeArrowheads="1"/>
            </p:cNvSpPr>
            <p:nvPr/>
          </p:nvSpPr>
          <p:spPr bwMode="auto">
            <a:xfrm>
              <a:off x="3516" y="3771"/>
              <a:ext cx="37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Co</a:t>
              </a:r>
            </a:p>
          </p:txBody>
        </p:sp>
        <p:sp>
          <p:nvSpPr>
            <p:cNvPr id="54303" name="Line 39"/>
            <p:cNvSpPr>
              <a:spLocks noChangeShapeType="1"/>
            </p:cNvSpPr>
            <p:nvPr/>
          </p:nvSpPr>
          <p:spPr bwMode="auto">
            <a:xfrm flipH="1">
              <a:off x="493" y="3364"/>
              <a:ext cx="1467"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04" name="Line 40"/>
            <p:cNvSpPr>
              <a:spLocks noChangeShapeType="1"/>
            </p:cNvSpPr>
            <p:nvPr/>
          </p:nvSpPr>
          <p:spPr bwMode="auto">
            <a:xfrm flipH="1">
              <a:off x="727" y="3304"/>
              <a:ext cx="126" cy="1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05" name="Rectangle 41"/>
            <p:cNvSpPr>
              <a:spLocks noChangeArrowheads="1"/>
            </p:cNvSpPr>
            <p:nvPr/>
          </p:nvSpPr>
          <p:spPr bwMode="auto">
            <a:xfrm>
              <a:off x="856" y="3126"/>
              <a:ext cx="232"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n</a:t>
              </a:r>
            </a:p>
          </p:txBody>
        </p:sp>
        <p:sp>
          <p:nvSpPr>
            <p:cNvPr id="54306" name="Rectangle 42"/>
            <p:cNvSpPr>
              <a:spLocks noChangeArrowheads="1"/>
            </p:cNvSpPr>
            <p:nvPr/>
          </p:nvSpPr>
          <p:spPr bwMode="auto">
            <a:xfrm>
              <a:off x="254" y="3233"/>
              <a:ext cx="254"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B</a:t>
              </a:r>
            </a:p>
          </p:txBody>
        </p:sp>
        <p:grpSp>
          <p:nvGrpSpPr>
            <p:cNvPr id="54307" name="Group 43"/>
            <p:cNvGrpSpPr>
              <a:grpSpLocks/>
            </p:cNvGrpSpPr>
            <p:nvPr/>
          </p:nvGrpSpPr>
          <p:grpSpPr bwMode="auto">
            <a:xfrm>
              <a:off x="1070" y="3550"/>
              <a:ext cx="410" cy="391"/>
              <a:chOff x="1816" y="3448"/>
              <a:chExt cx="336" cy="288"/>
            </a:xfrm>
          </p:grpSpPr>
          <p:sp>
            <p:nvSpPr>
              <p:cNvPr id="54331" name="Oval 44"/>
              <p:cNvSpPr>
                <a:spLocks noChangeArrowheads="1"/>
              </p:cNvSpPr>
              <p:nvPr/>
            </p:nvSpPr>
            <p:spPr bwMode="auto">
              <a:xfrm>
                <a:off x="2072" y="3560"/>
                <a:ext cx="80" cy="8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54332" name="Line 45"/>
              <p:cNvSpPr>
                <a:spLocks noChangeShapeType="1"/>
              </p:cNvSpPr>
              <p:nvPr/>
            </p:nvSpPr>
            <p:spPr bwMode="auto">
              <a:xfrm flipH="1" flipV="1">
                <a:off x="1816" y="3448"/>
                <a:ext cx="256"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33" name="Line 46"/>
              <p:cNvSpPr>
                <a:spLocks noChangeShapeType="1"/>
              </p:cNvSpPr>
              <p:nvPr/>
            </p:nvSpPr>
            <p:spPr bwMode="auto">
              <a:xfrm flipH="1">
                <a:off x="1816" y="3608"/>
                <a:ext cx="256"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34" name="Line 47"/>
              <p:cNvSpPr>
                <a:spLocks noChangeShapeType="1"/>
              </p:cNvSpPr>
              <p:nvPr/>
            </p:nvSpPr>
            <p:spPr bwMode="auto">
              <a:xfrm>
                <a:off x="1824" y="3464"/>
                <a:ext cx="0"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4308" name="Line 48"/>
            <p:cNvSpPr>
              <a:spLocks noChangeShapeType="1"/>
            </p:cNvSpPr>
            <p:nvPr/>
          </p:nvSpPr>
          <p:spPr bwMode="auto">
            <a:xfrm>
              <a:off x="906" y="3369"/>
              <a:ext cx="0" cy="38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09" name="Line 49"/>
            <p:cNvSpPr>
              <a:spLocks noChangeShapeType="1"/>
            </p:cNvSpPr>
            <p:nvPr/>
          </p:nvSpPr>
          <p:spPr bwMode="auto">
            <a:xfrm>
              <a:off x="911" y="3755"/>
              <a:ext cx="16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10" name="Line 50"/>
            <p:cNvSpPr>
              <a:spLocks noChangeShapeType="1"/>
            </p:cNvSpPr>
            <p:nvPr/>
          </p:nvSpPr>
          <p:spPr bwMode="auto">
            <a:xfrm flipH="1">
              <a:off x="1484" y="3755"/>
              <a:ext cx="476" cy="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11" name="Line 51"/>
            <p:cNvSpPr>
              <a:spLocks noChangeShapeType="1"/>
            </p:cNvSpPr>
            <p:nvPr/>
          </p:nvSpPr>
          <p:spPr bwMode="auto">
            <a:xfrm flipH="1">
              <a:off x="1600" y="3697"/>
              <a:ext cx="126" cy="11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12" name="Rectangle 52"/>
            <p:cNvSpPr>
              <a:spLocks noChangeArrowheads="1"/>
            </p:cNvSpPr>
            <p:nvPr/>
          </p:nvSpPr>
          <p:spPr bwMode="auto">
            <a:xfrm>
              <a:off x="1621" y="3709"/>
              <a:ext cx="23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n</a:t>
              </a:r>
            </a:p>
          </p:txBody>
        </p:sp>
        <p:sp>
          <p:nvSpPr>
            <p:cNvPr id="54313" name="Rectangle 53"/>
            <p:cNvSpPr>
              <a:spLocks noChangeArrowheads="1"/>
            </p:cNvSpPr>
            <p:nvPr/>
          </p:nvSpPr>
          <p:spPr bwMode="auto">
            <a:xfrm>
              <a:off x="1964" y="2993"/>
              <a:ext cx="447" cy="1091"/>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54314" name="Rectangle 54"/>
            <p:cNvSpPr>
              <a:spLocks noChangeArrowheads="1"/>
            </p:cNvSpPr>
            <p:nvPr/>
          </p:nvSpPr>
          <p:spPr bwMode="auto">
            <a:xfrm>
              <a:off x="1925" y="3184"/>
              <a:ext cx="211"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a:latin typeface="Times New Roman" panose="02020603050405020304" pitchFamily="18" charset="0"/>
                </a:rPr>
                <a:t>0</a:t>
              </a:r>
            </a:p>
          </p:txBody>
        </p:sp>
        <p:sp>
          <p:nvSpPr>
            <p:cNvPr id="54315" name="Rectangle 55"/>
            <p:cNvSpPr>
              <a:spLocks noChangeArrowheads="1"/>
            </p:cNvSpPr>
            <p:nvPr/>
          </p:nvSpPr>
          <p:spPr bwMode="auto">
            <a:xfrm>
              <a:off x="1916" y="3648"/>
              <a:ext cx="211"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a:latin typeface="Times New Roman" panose="02020603050405020304" pitchFamily="18" charset="0"/>
                </a:rPr>
                <a:t>1</a:t>
              </a:r>
            </a:p>
          </p:txBody>
        </p:sp>
        <p:sp>
          <p:nvSpPr>
            <p:cNvPr id="54316" name="Rectangle 56"/>
            <p:cNvSpPr>
              <a:spLocks noChangeArrowheads="1"/>
            </p:cNvSpPr>
            <p:nvPr/>
          </p:nvSpPr>
          <p:spPr bwMode="auto">
            <a:xfrm rot="5400000">
              <a:off x="1692" y="3465"/>
              <a:ext cx="1050"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2200">
                  <a:cs typeface="Arial" panose="020B0604020202020204" pitchFamily="34" charset="0"/>
                </a:rPr>
                <a:t>多路选择器</a:t>
              </a:r>
            </a:p>
          </p:txBody>
        </p:sp>
        <p:sp>
          <p:nvSpPr>
            <p:cNvPr id="54317" name="Line 57"/>
            <p:cNvSpPr>
              <a:spLocks noChangeShapeType="1"/>
            </p:cNvSpPr>
            <p:nvPr/>
          </p:nvSpPr>
          <p:spPr bwMode="auto">
            <a:xfrm flipV="1">
              <a:off x="2187" y="1667"/>
              <a:ext cx="0" cy="1321"/>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18" name="Line 59"/>
            <p:cNvSpPr>
              <a:spLocks noChangeShapeType="1"/>
            </p:cNvSpPr>
            <p:nvPr/>
          </p:nvSpPr>
          <p:spPr bwMode="auto">
            <a:xfrm flipH="1">
              <a:off x="2183" y="2006"/>
              <a:ext cx="129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19" name="Rectangle 60"/>
            <p:cNvSpPr>
              <a:spLocks noChangeArrowheads="1"/>
            </p:cNvSpPr>
            <p:nvPr/>
          </p:nvSpPr>
          <p:spPr bwMode="auto">
            <a:xfrm>
              <a:off x="1647" y="1619"/>
              <a:ext cx="478"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Sub</a:t>
              </a:r>
            </a:p>
          </p:txBody>
        </p:sp>
        <p:sp>
          <p:nvSpPr>
            <p:cNvPr id="54320" name="Rectangle 62"/>
            <p:cNvSpPr>
              <a:spLocks noChangeArrowheads="1"/>
            </p:cNvSpPr>
            <p:nvPr/>
          </p:nvSpPr>
          <p:spPr bwMode="auto">
            <a:xfrm>
              <a:off x="1503" y="3487"/>
              <a:ext cx="254"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B</a:t>
              </a:r>
            </a:p>
          </p:txBody>
        </p:sp>
        <p:sp>
          <p:nvSpPr>
            <p:cNvPr id="54321" name="Line 63"/>
            <p:cNvSpPr>
              <a:spLocks noChangeShapeType="1"/>
            </p:cNvSpPr>
            <p:nvPr/>
          </p:nvSpPr>
          <p:spPr bwMode="auto">
            <a:xfrm>
              <a:off x="1557" y="3509"/>
              <a:ext cx="13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22" name="Line 64"/>
            <p:cNvSpPr>
              <a:spLocks noChangeShapeType="1"/>
            </p:cNvSpPr>
            <p:nvPr/>
          </p:nvSpPr>
          <p:spPr bwMode="auto">
            <a:xfrm>
              <a:off x="3697" y="2549"/>
              <a:ext cx="567"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323" name="Line 65"/>
            <p:cNvSpPr>
              <a:spLocks noChangeShapeType="1"/>
            </p:cNvSpPr>
            <p:nvPr/>
          </p:nvSpPr>
          <p:spPr bwMode="auto">
            <a:xfrm>
              <a:off x="3709" y="3315"/>
              <a:ext cx="567"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324" name="Rectangle 66"/>
            <p:cNvSpPr>
              <a:spLocks noChangeArrowheads="1"/>
            </p:cNvSpPr>
            <p:nvPr/>
          </p:nvSpPr>
          <p:spPr bwMode="auto">
            <a:xfrm>
              <a:off x="4237" y="2977"/>
              <a:ext cx="381"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OF</a:t>
              </a:r>
            </a:p>
          </p:txBody>
        </p:sp>
        <p:sp>
          <p:nvSpPr>
            <p:cNvPr id="54325" name="Text Box 68"/>
            <p:cNvSpPr txBox="1">
              <a:spLocks noChangeArrowheads="1"/>
            </p:cNvSpPr>
            <p:nvPr/>
          </p:nvSpPr>
          <p:spPr bwMode="auto">
            <a:xfrm>
              <a:off x="241" y="2710"/>
              <a:ext cx="1671"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zh-CN" altLang="en-US" sz="2800">
                  <a:solidFill>
                    <a:srgbClr val="C00000"/>
                  </a:solidFill>
                  <a:latin typeface="黑体" panose="02010609060101010101" pitchFamily="49" charset="-122"/>
                  <a:ea typeface="黑体" panose="02010609060101010101" pitchFamily="49" charset="-122"/>
                </a:rPr>
                <a:t>加</a:t>
              </a:r>
              <a:r>
                <a:rPr lang="en-US" altLang="zh-CN" sz="2800">
                  <a:solidFill>
                    <a:srgbClr val="C00000"/>
                  </a:solidFill>
                  <a:latin typeface="黑体" panose="02010609060101010101" pitchFamily="49" charset="-122"/>
                  <a:ea typeface="黑体" panose="02010609060101010101" pitchFamily="49" charset="-122"/>
                </a:rPr>
                <a:t>/</a:t>
              </a:r>
              <a:r>
                <a:rPr lang="zh-CN" altLang="en-US" sz="2800">
                  <a:solidFill>
                    <a:srgbClr val="C00000"/>
                  </a:solidFill>
                  <a:latin typeface="黑体" panose="02010609060101010101" pitchFamily="49" charset="-122"/>
                  <a:ea typeface="黑体" panose="02010609060101010101" pitchFamily="49" charset="-122"/>
                </a:rPr>
                <a:t>减运算部件</a:t>
              </a:r>
            </a:p>
          </p:txBody>
        </p:sp>
        <p:sp>
          <p:nvSpPr>
            <p:cNvPr id="54326" name="Line 57"/>
            <p:cNvSpPr>
              <a:spLocks noChangeShapeType="1"/>
            </p:cNvSpPr>
            <p:nvPr/>
          </p:nvSpPr>
          <p:spPr bwMode="auto">
            <a:xfrm>
              <a:off x="3706" y="3131"/>
              <a:ext cx="556"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4327" name="Rectangle 66"/>
            <p:cNvSpPr>
              <a:spLocks noChangeArrowheads="1"/>
            </p:cNvSpPr>
            <p:nvPr/>
          </p:nvSpPr>
          <p:spPr bwMode="auto">
            <a:xfrm>
              <a:off x="4239" y="3187"/>
              <a:ext cx="1283"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CF=Co</a:t>
              </a:r>
              <a:r>
                <a:rPr lang="en-US" altLang="zh-CN">
                  <a:cs typeface="Arial" panose="020B0604020202020204" pitchFamily="34" charset="0"/>
                  <a:sym typeface="Symbol" panose="05050102010706020507" pitchFamily="18" charset="2"/>
                </a:rPr>
                <a:t>Sub</a:t>
              </a:r>
            </a:p>
          </p:txBody>
        </p:sp>
        <p:sp>
          <p:nvSpPr>
            <p:cNvPr id="54328" name="Line 64"/>
            <p:cNvSpPr>
              <a:spLocks noChangeShapeType="1"/>
            </p:cNvSpPr>
            <p:nvPr/>
          </p:nvSpPr>
          <p:spPr bwMode="auto">
            <a:xfrm>
              <a:off x="3699" y="2700"/>
              <a:ext cx="566"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329" name="Rectangle 34"/>
            <p:cNvSpPr>
              <a:spLocks noChangeArrowheads="1"/>
            </p:cNvSpPr>
            <p:nvPr/>
          </p:nvSpPr>
          <p:spPr bwMode="auto">
            <a:xfrm>
              <a:off x="4264" y="2548"/>
              <a:ext cx="3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SF</a:t>
              </a:r>
            </a:p>
          </p:txBody>
        </p:sp>
        <p:sp>
          <p:nvSpPr>
            <p:cNvPr id="54330" name="Rectangle 70"/>
            <p:cNvSpPr>
              <a:spLocks noChangeArrowheads="1"/>
            </p:cNvSpPr>
            <p:nvPr/>
          </p:nvSpPr>
          <p:spPr bwMode="auto">
            <a:xfrm>
              <a:off x="0" y="1513"/>
              <a:ext cx="178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2200">
                  <a:solidFill>
                    <a:schemeClr val="accent2"/>
                  </a:solidFill>
                  <a:latin typeface="黑体" panose="02010609060101010101" pitchFamily="49" charset="-122"/>
                  <a:ea typeface="黑体" panose="02010609060101010101" pitchFamily="49" charset="-122"/>
                </a:rPr>
                <a:t>当</a:t>
              </a:r>
              <a:r>
                <a:rPr lang="en-US" altLang="zh-CN" sz="2200">
                  <a:solidFill>
                    <a:schemeClr val="accent2"/>
                  </a:solidFill>
                  <a:latin typeface="黑体" panose="02010609060101010101" pitchFamily="49" charset="-122"/>
                  <a:ea typeface="黑体" panose="02010609060101010101" pitchFamily="49" charset="-122"/>
                </a:rPr>
                <a:t>Sub</a:t>
              </a:r>
              <a:r>
                <a:rPr lang="zh-CN" altLang="en-US" sz="2200">
                  <a:solidFill>
                    <a:schemeClr val="accent2"/>
                  </a:solidFill>
                  <a:latin typeface="黑体" panose="02010609060101010101" pitchFamily="49" charset="-122"/>
                  <a:ea typeface="黑体" panose="02010609060101010101" pitchFamily="49" charset="-122"/>
                </a:rPr>
                <a:t>为</a:t>
              </a:r>
              <a:r>
                <a:rPr lang="en-US" altLang="zh-CN" sz="2200">
                  <a:solidFill>
                    <a:schemeClr val="accent2"/>
                  </a:solidFill>
                  <a:latin typeface="黑体" panose="02010609060101010101" pitchFamily="49" charset="-122"/>
                  <a:ea typeface="黑体" panose="02010609060101010101" pitchFamily="49" charset="-122"/>
                </a:rPr>
                <a:t>1</a:t>
              </a:r>
              <a:r>
                <a:rPr lang="zh-CN" altLang="en-US" sz="2200">
                  <a:solidFill>
                    <a:schemeClr val="accent2"/>
                  </a:solidFill>
                  <a:latin typeface="黑体" panose="02010609060101010101" pitchFamily="49" charset="-122"/>
                  <a:ea typeface="黑体" panose="02010609060101010101" pitchFamily="49" charset="-122"/>
                </a:rPr>
                <a:t>时，做减法</a:t>
              </a:r>
            </a:p>
            <a:p>
              <a:pPr>
                <a:lnSpc>
                  <a:spcPct val="100000"/>
                </a:lnSpc>
                <a:spcBef>
                  <a:spcPct val="0"/>
                </a:spcBef>
                <a:buFontTx/>
                <a:buNone/>
              </a:pPr>
              <a:r>
                <a:rPr lang="zh-CN" altLang="en-US" sz="2200">
                  <a:solidFill>
                    <a:schemeClr val="accent2"/>
                  </a:solidFill>
                  <a:latin typeface="黑体" panose="02010609060101010101" pitchFamily="49" charset="-122"/>
                  <a:ea typeface="黑体" panose="02010609060101010101" pitchFamily="49" charset="-122"/>
                </a:rPr>
                <a:t>当</a:t>
              </a:r>
              <a:r>
                <a:rPr lang="en-US" altLang="zh-CN" sz="2200">
                  <a:solidFill>
                    <a:schemeClr val="accent2"/>
                  </a:solidFill>
                  <a:latin typeface="黑体" panose="02010609060101010101" pitchFamily="49" charset="-122"/>
                  <a:ea typeface="黑体" panose="02010609060101010101" pitchFamily="49" charset="-122"/>
                </a:rPr>
                <a:t>Sub</a:t>
              </a:r>
              <a:r>
                <a:rPr lang="zh-CN" altLang="en-US" sz="2200">
                  <a:solidFill>
                    <a:schemeClr val="accent2"/>
                  </a:solidFill>
                  <a:latin typeface="黑体" panose="02010609060101010101" pitchFamily="49" charset="-122"/>
                  <a:ea typeface="黑体" panose="02010609060101010101" pitchFamily="49" charset="-122"/>
                </a:rPr>
                <a:t>为</a:t>
              </a:r>
              <a:r>
                <a:rPr lang="en-US" altLang="zh-CN" sz="2200">
                  <a:solidFill>
                    <a:schemeClr val="accent2"/>
                  </a:solidFill>
                  <a:latin typeface="黑体" panose="02010609060101010101" pitchFamily="49" charset="-122"/>
                  <a:ea typeface="黑体" panose="02010609060101010101" pitchFamily="49" charset="-122"/>
                </a:rPr>
                <a:t>0</a:t>
              </a:r>
              <a:r>
                <a:rPr lang="zh-CN" altLang="en-US" sz="2200">
                  <a:solidFill>
                    <a:schemeClr val="accent2"/>
                  </a:solidFill>
                  <a:latin typeface="黑体" panose="02010609060101010101" pitchFamily="49" charset="-122"/>
                  <a:ea typeface="黑体" panose="02010609060101010101" pitchFamily="49" charset="-122"/>
                </a:rPr>
                <a:t>时，做加法</a:t>
              </a:r>
            </a:p>
          </p:txBody>
        </p:sp>
      </p:grpSp>
      <p:sp>
        <p:nvSpPr>
          <p:cNvPr id="635966" name="Text Box 62"/>
          <p:cNvSpPr txBox="1">
            <a:spLocks noChangeArrowheads="1"/>
          </p:cNvSpPr>
          <p:nvPr/>
        </p:nvSpPr>
        <p:spPr bwMode="auto">
          <a:xfrm>
            <a:off x="4470400" y="1028700"/>
            <a:ext cx="4427538"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25000"/>
              </a:spcBef>
              <a:buFontTx/>
              <a:buNone/>
            </a:pPr>
            <a:r>
              <a:rPr lang="zh-CN" altLang="en-US" sz="2000">
                <a:solidFill>
                  <a:srgbClr val="990000"/>
                </a:solidFill>
                <a:latin typeface="微软雅黑" panose="020B0503020204020204" pitchFamily="34" charset="-122"/>
                <a:ea typeface="微软雅黑" panose="020B0503020204020204" pitchFamily="34" charset="-122"/>
              </a:rPr>
              <a:t>已知</a:t>
            </a:r>
            <a:r>
              <a:rPr lang="en-US" altLang="zh-CN" sz="2000">
                <a:solidFill>
                  <a:srgbClr val="990000"/>
                </a:solidFill>
                <a:latin typeface="微软雅黑" panose="020B0503020204020204" pitchFamily="34" charset="-122"/>
                <a:ea typeface="微软雅黑" panose="020B0503020204020204" pitchFamily="34" charset="-122"/>
              </a:rPr>
              <a:t>EDX</a:t>
            </a:r>
            <a:r>
              <a:rPr lang="zh-CN" altLang="en-US" sz="2000">
                <a:solidFill>
                  <a:srgbClr val="990000"/>
                </a:solidFill>
                <a:latin typeface="微软雅黑" panose="020B0503020204020204" pitchFamily="34" charset="-122"/>
                <a:ea typeface="微软雅黑" panose="020B0503020204020204" pitchFamily="34" charset="-122"/>
              </a:rPr>
              <a:t>中为 </a:t>
            </a:r>
            <a:r>
              <a:rPr lang="en-US" altLang="zh-CN" sz="2000">
                <a:solidFill>
                  <a:srgbClr val="990000"/>
                </a:solidFill>
                <a:latin typeface="微软雅黑" panose="020B0503020204020204" pitchFamily="34" charset="-122"/>
                <a:ea typeface="微软雅黑" panose="020B0503020204020204" pitchFamily="34" charset="-122"/>
              </a:rPr>
              <a:t>len=0000 0000H</a:t>
            </a:r>
            <a:endParaRPr lang="zh-CN" altLang="en-US" sz="2000">
              <a:solidFill>
                <a:srgbClr val="99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4885871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5966"/>
                                        </p:tgtEl>
                                        <p:attrNameLst>
                                          <p:attrName>style.visibility</p:attrName>
                                        </p:attrNameLst>
                                      </p:cBhvr>
                                      <p:to>
                                        <p:strVal val="visible"/>
                                      </p:to>
                                    </p:set>
                                    <p:animEffect transition="in" filter="blinds(horizontal)">
                                      <p:cBhvr>
                                        <p:cTn id="7" dur="500"/>
                                        <p:tgtEl>
                                          <p:spTgt spid="6359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35907">
                                            <p:txEl>
                                              <p:pRg st="0" end="0"/>
                                            </p:txEl>
                                          </p:spTgt>
                                        </p:tgtEl>
                                        <p:attrNameLst>
                                          <p:attrName>style.visibility</p:attrName>
                                        </p:attrNameLst>
                                      </p:cBhvr>
                                      <p:to>
                                        <p:strVal val="visible"/>
                                      </p:to>
                                    </p:set>
                                    <p:animEffect transition="in" filter="blinds(horizontal)">
                                      <p:cBhvr>
                                        <p:cTn id="12" dur="500"/>
                                        <p:tgtEl>
                                          <p:spTgt spid="63590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907" grpId="0" build="p"/>
      <p:bldP spid="63596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800100" y="128588"/>
            <a:ext cx="7502525" cy="528637"/>
          </a:xfrm>
        </p:spPr>
        <p:txBody>
          <a:bodyPr>
            <a:normAutofit fontScale="90000"/>
          </a:bodyPr>
          <a:lstStyle/>
          <a:p>
            <a:r>
              <a:rPr lang="en-US" altLang="zh-CN" sz="3600">
                <a:ea typeface="宋体" panose="02010600030101010101" pitchFamily="2" charset="-122"/>
              </a:rPr>
              <a:t>cpml %edx,%eax</a:t>
            </a:r>
            <a:r>
              <a:rPr lang="zh-CN" altLang="en-US" sz="3600">
                <a:ea typeface="宋体" panose="02010600030101010101" pitchFamily="2" charset="-122"/>
              </a:rPr>
              <a:t>指令的执行结果</a:t>
            </a:r>
          </a:p>
        </p:txBody>
      </p:sp>
      <p:sp>
        <p:nvSpPr>
          <p:cNvPr id="636931" name="Rectangle 3"/>
          <p:cNvSpPr>
            <a:spLocks noGrp="1" noChangeArrowheads="1"/>
          </p:cNvSpPr>
          <p:nvPr>
            <p:ph type="body" idx="1"/>
          </p:nvPr>
        </p:nvSpPr>
        <p:spPr>
          <a:xfrm>
            <a:off x="161925" y="5519738"/>
            <a:ext cx="8853488" cy="920750"/>
          </a:xfrm>
        </p:spPr>
        <p:txBody>
          <a:bodyPr>
            <a:normAutofit lnSpcReduction="10000"/>
          </a:bodyPr>
          <a:lstStyle/>
          <a:p>
            <a:pPr>
              <a:lnSpc>
                <a:spcPct val="130000"/>
              </a:lnSpc>
              <a:buFontTx/>
              <a:buNone/>
            </a:pPr>
            <a:r>
              <a:rPr lang="en-US" altLang="zh-CN" sz="2200">
                <a:solidFill>
                  <a:srgbClr val="990000"/>
                </a:solidFill>
                <a:latin typeface="微软雅黑" panose="020B0503020204020204" pitchFamily="34" charset="-122"/>
                <a:ea typeface="微软雅黑" panose="020B0503020204020204" pitchFamily="34" charset="-122"/>
              </a:rPr>
              <a:t>“cmpl %edx,%eax”</a:t>
            </a:r>
            <a:r>
              <a:rPr lang="zh-CN" altLang="en-US" sz="2200">
                <a:solidFill>
                  <a:srgbClr val="990000"/>
                </a:solidFill>
                <a:latin typeface="微软雅黑" panose="020B0503020204020204" pitchFamily="34" charset="-122"/>
                <a:ea typeface="微软雅黑" panose="020B0503020204020204" pitchFamily="34" charset="-122"/>
              </a:rPr>
              <a:t>执行时：</a:t>
            </a:r>
            <a:r>
              <a:rPr lang="en-US" altLang="zh-CN" sz="2200">
                <a:solidFill>
                  <a:srgbClr val="990000"/>
                </a:solidFill>
                <a:latin typeface="微软雅黑" panose="020B0503020204020204" pitchFamily="34" charset="-122"/>
                <a:ea typeface="微软雅黑" panose="020B0503020204020204" pitchFamily="34" charset="-122"/>
              </a:rPr>
              <a:t>A=0000 0000H</a:t>
            </a:r>
            <a:r>
              <a:rPr lang="zh-CN" altLang="en-US" sz="2200">
                <a:solidFill>
                  <a:srgbClr val="990000"/>
                </a:solidFill>
                <a:latin typeface="微软雅黑" panose="020B0503020204020204" pitchFamily="34" charset="-122"/>
                <a:ea typeface="微软雅黑" panose="020B0503020204020204" pitchFamily="34" charset="-122"/>
              </a:rPr>
              <a:t>，</a:t>
            </a:r>
            <a:r>
              <a:rPr lang="en-US" altLang="zh-CN" sz="2200">
                <a:solidFill>
                  <a:srgbClr val="990000"/>
                </a:solidFill>
                <a:latin typeface="微软雅黑" panose="020B0503020204020204" pitchFamily="34" charset="-122"/>
                <a:ea typeface="微软雅黑" panose="020B0503020204020204" pitchFamily="34" charset="-122"/>
              </a:rPr>
              <a:t>B</a:t>
            </a:r>
            <a:r>
              <a:rPr lang="zh-CN" altLang="en-US" sz="2200">
                <a:solidFill>
                  <a:srgbClr val="990000"/>
                </a:solidFill>
                <a:latin typeface="微软雅黑" panose="020B0503020204020204" pitchFamily="34" charset="-122"/>
                <a:ea typeface="微软雅黑" panose="020B0503020204020204" pitchFamily="34" charset="-122"/>
              </a:rPr>
              <a:t>为</a:t>
            </a:r>
            <a:r>
              <a:rPr lang="en-US" altLang="zh-CN" sz="2200">
                <a:solidFill>
                  <a:srgbClr val="990000"/>
                </a:solidFill>
                <a:latin typeface="微软雅黑" panose="020B0503020204020204" pitchFamily="34" charset="-122"/>
                <a:ea typeface="微软雅黑" panose="020B0503020204020204" pitchFamily="34" charset="-122"/>
              </a:rPr>
              <a:t>FFFF FFFFH</a:t>
            </a:r>
            <a:r>
              <a:rPr lang="zh-CN" altLang="en-US" sz="2200">
                <a:solidFill>
                  <a:srgbClr val="990000"/>
                </a:solidFill>
                <a:latin typeface="微软雅黑" panose="020B0503020204020204" pitchFamily="34" charset="-122"/>
                <a:ea typeface="微软雅黑" panose="020B0503020204020204" pitchFamily="34" charset="-122"/>
              </a:rPr>
              <a:t>，</a:t>
            </a:r>
            <a:r>
              <a:rPr lang="en-US" altLang="zh-CN" sz="2200">
                <a:solidFill>
                  <a:srgbClr val="990000"/>
                </a:solidFill>
                <a:latin typeface="微软雅黑" panose="020B0503020204020204" pitchFamily="34" charset="-122"/>
                <a:ea typeface="微软雅黑" panose="020B0503020204020204" pitchFamily="34" charset="-122"/>
              </a:rPr>
              <a:t>Sub=1</a:t>
            </a:r>
            <a:r>
              <a:rPr lang="zh-CN" altLang="en-US" sz="2200">
                <a:solidFill>
                  <a:srgbClr val="990000"/>
                </a:solidFill>
                <a:latin typeface="微软雅黑" panose="020B0503020204020204" pitchFamily="34" charset="-122"/>
                <a:ea typeface="微软雅黑" panose="020B0503020204020204" pitchFamily="34" charset="-122"/>
              </a:rPr>
              <a:t>，因此</a:t>
            </a:r>
            <a:r>
              <a:rPr lang="en-US" altLang="zh-CN" sz="2200">
                <a:solidFill>
                  <a:srgbClr val="990000"/>
                </a:solidFill>
                <a:latin typeface="微软雅黑" panose="020B0503020204020204" pitchFamily="34" charset="-122"/>
                <a:ea typeface="微软雅黑" panose="020B0503020204020204" pitchFamily="34" charset="-122"/>
              </a:rPr>
              <a:t>Result</a:t>
            </a:r>
            <a:r>
              <a:rPr lang="zh-CN" altLang="en-US" sz="2200">
                <a:solidFill>
                  <a:srgbClr val="990000"/>
                </a:solidFill>
                <a:latin typeface="微软雅黑" panose="020B0503020204020204" pitchFamily="34" charset="-122"/>
                <a:ea typeface="微软雅黑" panose="020B0503020204020204" pitchFamily="34" charset="-122"/>
              </a:rPr>
              <a:t>是</a:t>
            </a:r>
            <a:r>
              <a:rPr lang="en-US" altLang="zh-CN" sz="2200">
                <a:solidFill>
                  <a:srgbClr val="990000"/>
                </a:solidFill>
                <a:latin typeface="微软雅黑" panose="020B0503020204020204" pitchFamily="34" charset="-122"/>
                <a:ea typeface="微软雅黑" panose="020B0503020204020204" pitchFamily="34" charset="-122"/>
              </a:rPr>
              <a:t>0…01, CF=1, ZF=0, OF=0, SF=0</a:t>
            </a:r>
            <a:r>
              <a:rPr lang="en-US" altLang="zh-CN" sz="2200">
                <a:solidFill>
                  <a:srgbClr val="990000"/>
                </a:solidFill>
              </a:rPr>
              <a:t> </a:t>
            </a:r>
            <a:endParaRPr lang="zh-CN" altLang="en-US" sz="2200">
              <a:solidFill>
                <a:srgbClr val="990000"/>
              </a:solidFill>
            </a:endParaRPr>
          </a:p>
        </p:txBody>
      </p:sp>
      <p:grpSp>
        <p:nvGrpSpPr>
          <p:cNvPr id="55300" name="Group 4"/>
          <p:cNvGrpSpPr>
            <a:grpSpLocks/>
          </p:cNvGrpSpPr>
          <p:nvPr/>
        </p:nvGrpSpPr>
        <p:grpSpPr bwMode="auto">
          <a:xfrm>
            <a:off x="406400" y="939800"/>
            <a:ext cx="8737600" cy="4419600"/>
            <a:chOff x="0" y="1513"/>
            <a:chExt cx="5522" cy="2611"/>
          </a:xfrm>
        </p:grpSpPr>
        <p:sp>
          <p:nvSpPr>
            <p:cNvPr id="55302" name="Rectangle 33"/>
            <p:cNvSpPr>
              <a:spLocks noChangeArrowheads="1"/>
            </p:cNvSpPr>
            <p:nvPr/>
          </p:nvSpPr>
          <p:spPr bwMode="auto">
            <a:xfrm>
              <a:off x="4402" y="2741"/>
              <a:ext cx="704"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Result</a:t>
              </a:r>
            </a:p>
          </p:txBody>
        </p:sp>
        <p:sp>
          <p:nvSpPr>
            <p:cNvPr id="55303" name="Line 11"/>
            <p:cNvSpPr>
              <a:spLocks noChangeShapeType="1"/>
            </p:cNvSpPr>
            <p:nvPr/>
          </p:nvSpPr>
          <p:spPr bwMode="auto">
            <a:xfrm flipH="1">
              <a:off x="507" y="2327"/>
              <a:ext cx="2619" cy="1"/>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04" name="Line 12"/>
            <p:cNvSpPr>
              <a:spLocks noChangeShapeType="1"/>
            </p:cNvSpPr>
            <p:nvPr/>
          </p:nvSpPr>
          <p:spPr bwMode="auto">
            <a:xfrm flipH="1">
              <a:off x="3111" y="2141"/>
              <a:ext cx="9" cy="69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05" name="Line 13"/>
            <p:cNvSpPr>
              <a:spLocks noChangeShapeType="1"/>
            </p:cNvSpPr>
            <p:nvPr/>
          </p:nvSpPr>
          <p:spPr bwMode="auto">
            <a:xfrm>
              <a:off x="3129" y="2141"/>
              <a:ext cx="564" cy="30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06" name="Line 14"/>
            <p:cNvSpPr>
              <a:spLocks noChangeShapeType="1"/>
            </p:cNvSpPr>
            <p:nvPr/>
          </p:nvSpPr>
          <p:spPr bwMode="auto">
            <a:xfrm>
              <a:off x="3087" y="2822"/>
              <a:ext cx="213"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07" name="Line 16"/>
            <p:cNvSpPr>
              <a:spLocks noChangeShapeType="1"/>
            </p:cNvSpPr>
            <p:nvPr/>
          </p:nvSpPr>
          <p:spPr bwMode="auto">
            <a:xfrm>
              <a:off x="3693" y="2448"/>
              <a:ext cx="10" cy="4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08" name="Line 18"/>
            <p:cNvSpPr>
              <a:spLocks noChangeShapeType="1"/>
            </p:cNvSpPr>
            <p:nvPr/>
          </p:nvSpPr>
          <p:spPr bwMode="auto">
            <a:xfrm flipV="1">
              <a:off x="3120" y="3060"/>
              <a:ext cx="0" cy="6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09" name="Line 19"/>
            <p:cNvSpPr>
              <a:spLocks noChangeShapeType="1"/>
            </p:cNvSpPr>
            <p:nvPr/>
          </p:nvSpPr>
          <p:spPr bwMode="auto">
            <a:xfrm flipV="1">
              <a:off x="3129" y="3365"/>
              <a:ext cx="564" cy="34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10" name="Line 20"/>
            <p:cNvSpPr>
              <a:spLocks noChangeShapeType="1"/>
            </p:cNvSpPr>
            <p:nvPr/>
          </p:nvSpPr>
          <p:spPr bwMode="auto">
            <a:xfrm flipV="1">
              <a:off x="3121" y="2929"/>
              <a:ext cx="171" cy="12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11" name="Line 22"/>
            <p:cNvSpPr>
              <a:spLocks noChangeShapeType="1"/>
            </p:cNvSpPr>
            <p:nvPr/>
          </p:nvSpPr>
          <p:spPr bwMode="auto">
            <a:xfrm flipV="1">
              <a:off x="3703" y="2905"/>
              <a:ext cx="0" cy="4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12" name="Line 23"/>
            <p:cNvSpPr>
              <a:spLocks noChangeShapeType="1"/>
            </p:cNvSpPr>
            <p:nvPr/>
          </p:nvSpPr>
          <p:spPr bwMode="auto">
            <a:xfrm flipV="1">
              <a:off x="3707" y="2917"/>
              <a:ext cx="749"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13" name="Line 24"/>
            <p:cNvSpPr>
              <a:spLocks noChangeShapeType="1"/>
            </p:cNvSpPr>
            <p:nvPr/>
          </p:nvSpPr>
          <p:spPr bwMode="auto">
            <a:xfrm flipH="1">
              <a:off x="2416" y="3505"/>
              <a:ext cx="709"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14" name="Rectangle 25"/>
            <p:cNvSpPr>
              <a:spLocks noChangeArrowheads="1"/>
            </p:cNvSpPr>
            <p:nvPr/>
          </p:nvSpPr>
          <p:spPr bwMode="auto">
            <a:xfrm rot="5400000">
              <a:off x="2974" y="2871"/>
              <a:ext cx="974"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a:cs typeface="Arial" panose="020B0604020202020204" pitchFamily="34" charset="0"/>
                </a:rPr>
                <a:t>加法器</a:t>
              </a:r>
            </a:p>
          </p:txBody>
        </p:sp>
        <p:sp>
          <p:nvSpPr>
            <p:cNvPr id="55315" name="Line 26"/>
            <p:cNvSpPr>
              <a:spLocks noChangeShapeType="1"/>
            </p:cNvSpPr>
            <p:nvPr/>
          </p:nvSpPr>
          <p:spPr bwMode="auto">
            <a:xfrm flipH="1">
              <a:off x="2648" y="3446"/>
              <a:ext cx="127" cy="12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16" name="Line 27"/>
            <p:cNvSpPr>
              <a:spLocks noChangeShapeType="1"/>
            </p:cNvSpPr>
            <p:nvPr/>
          </p:nvSpPr>
          <p:spPr bwMode="auto">
            <a:xfrm flipH="1">
              <a:off x="776" y="2269"/>
              <a:ext cx="127" cy="11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17" name="Line 28"/>
            <p:cNvSpPr>
              <a:spLocks noChangeShapeType="1"/>
            </p:cNvSpPr>
            <p:nvPr/>
          </p:nvSpPr>
          <p:spPr bwMode="auto">
            <a:xfrm flipH="1">
              <a:off x="4105" y="2857"/>
              <a:ext cx="127" cy="11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18" name="Rectangle 29"/>
            <p:cNvSpPr>
              <a:spLocks noChangeArrowheads="1"/>
            </p:cNvSpPr>
            <p:nvPr/>
          </p:nvSpPr>
          <p:spPr bwMode="auto">
            <a:xfrm>
              <a:off x="891" y="2081"/>
              <a:ext cx="23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n</a:t>
              </a:r>
            </a:p>
          </p:txBody>
        </p:sp>
        <p:sp>
          <p:nvSpPr>
            <p:cNvPr id="55319" name="Rectangle 30"/>
            <p:cNvSpPr>
              <a:spLocks noChangeArrowheads="1"/>
            </p:cNvSpPr>
            <p:nvPr/>
          </p:nvSpPr>
          <p:spPr bwMode="auto">
            <a:xfrm>
              <a:off x="2469" y="3505"/>
              <a:ext cx="232"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n</a:t>
              </a:r>
            </a:p>
          </p:txBody>
        </p:sp>
        <p:sp>
          <p:nvSpPr>
            <p:cNvPr id="55320" name="Rectangle 31"/>
            <p:cNvSpPr>
              <a:spLocks noChangeArrowheads="1"/>
            </p:cNvSpPr>
            <p:nvPr/>
          </p:nvSpPr>
          <p:spPr bwMode="auto">
            <a:xfrm>
              <a:off x="3954" y="2691"/>
              <a:ext cx="232"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n</a:t>
              </a:r>
            </a:p>
          </p:txBody>
        </p:sp>
        <p:sp>
          <p:nvSpPr>
            <p:cNvPr id="55321" name="Rectangle 32"/>
            <p:cNvSpPr>
              <a:spLocks noChangeArrowheads="1"/>
            </p:cNvSpPr>
            <p:nvPr/>
          </p:nvSpPr>
          <p:spPr bwMode="auto">
            <a:xfrm>
              <a:off x="255" y="2171"/>
              <a:ext cx="25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A</a:t>
              </a:r>
            </a:p>
          </p:txBody>
        </p:sp>
        <p:sp>
          <p:nvSpPr>
            <p:cNvPr id="55322" name="Rectangle 34"/>
            <p:cNvSpPr>
              <a:spLocks noChangeArrowheads="1"/>
            </p:cNvSpPr>
            <p:nvPr/>
          </p:nvSpPr>
          <p:spPr bwMode="auto">
            <a:xfrm>
              <a:off x="4276" y="2337"/>
              <a:ext cx="34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ZF</a:t>
              </a:r>
            </a:p>
          </p:txBody>
        </p:sp>
        <p:sp>
          <p:nvSpPr>
            <p:cNvPr id="55323" name="Line 35"/>
            <p:cNvSpPr>
              <a:spLocks noChangeShapeType="1"/>
            </p:cNvSpPr>
            <p:nvPr/>
          </p:nvSpPr>
          <p:spPr bwMode="auto">
            <a:xfrm>
              <a:off x="3470" y="1994"/>
              <a:ext cx="0" cy="3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24" name="Rectangle 36"/>
            <p:cNvSpPr>
              <a:spLocks noChangeArrowheads="1"/>
            </p:cNvSpPr>
            <p:nvPr/>
          </p:nvSpPr>
          <p:spPr bwMode="auto">
            <a:xfrm>
              <a:off x="3516" y="2000"/>
              <a:ext cx="307"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Ci</a:t>
              </a:r>
            </a:p>
          </p:txBody>
        </p:sp>
        <p:sp>
          <p:nvSpPr>
            <p:cNvPr id="55325" name="Line 37"/>
            <p:cNvSpPr>
              <a:spLocks noChangeShapeType="1"/>
            </p:cNvSpPr>
            <p:nvPr/>
          </p:nvSpPr>
          <p:spPr bwMode="auto">
            <a:xfrm>
              <a:off x="3470" y="3512"/>
              <a:ext cx="0" cy="51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26" name="Rectangle 38"/>
            <p:cNvSpPr>
              <a:spLocks noChangeArrowheads="1"/>
            </p:cNvSpPr>
            <p:nvPr/>
          </p:nvSpPr>
          <p:spPr bwMode="auto">
            <a:xfrm>
              <a:off x="3516" y="3771"/>
              <a:ext cx="37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Co</a:t>
              </a:r>
            </a:p>
          </p:txBody>
        </p:sp>
        <p:sp>
          <p:nvSpPr>
            <p:cNvPr id="55327" name="Line 39"/>
            <p:cNvSpPr>
              <a:spLocks noChangeShapeType="1"/>
            </p:cNvSpPr>
            <p:nvPr/>
          </p:nvSpPr>
          <p:spPr bwMode="auto">
            <a:xfrm flipH="1">
              <a:off x="493" y="3364"/>
              <a:ext cx="1467"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28" name="Line 40"/>
            <p:cNvSpPr>
              <a:spLocks noChangeShapeType="1"/>
            </p:cNvSpPr>
            <p:nvPr/>
          </p:nvSpPr>
          <p:spPr bwMode="auto">
            <a:xfrm flipH="1">
              <a:off x="727" y="3304"/>
              <a:ext cx="126" cy="1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29" name="Rectangle 41"/>
            <p:cNvSpPr>
              <a:spLocks noChangeArrowheads="1"/>
            </p:cNvSpPr>
            <p:nvPr/>
          </p:nvSpPr>
          <p:spPr bwMode="auto">
            <a:xfrm>
              <a:off x="856" y="3126"/>
              <a:ext cx="232"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n</a:t>
              </a:r>
            </a:p>
          </p:txBody>
        </p:sp>
        <p:sp>
          <p:nvSpPr>
            <p:cNvPr id="55330" name="Rectangle 42"/>
            <p:cNvSpPr>
              <a:spLocks noChangeArrowheads="1"/>
            </p:cNvSpPr>
            <p:nvPr/>
          </p:nvSpPr>
          <p:spPr bwMode="auto">
            <a:xfrm>
              <a:off x="254" y="3233"/>
              <a:ext cx="254"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B</a:t>
              </a:r>
            </a:p>
          </p:txBody>
        </p:sp>
        <p:grpSp>
          <p:nvGrpSpPr>
            <p:cNvPr id="55331" name="Group 43"/>
            <p:cNvGrpSpPr>
              <a:grpSpLocks/>
            </p:cNvGrpSpPr>
            <p:nvPr/>
          </p:nvGrpSpPr>
          <p:grpSpPr bwMode="auto">
            <a:xfrm>
              <a:off x="1070" y="3550"/>
              <a:ext cx="410" cy="391"/>
              <a:chOff x="1816" y="3448"/>
              <a:chExt cx="336" cy="288"/>
            </a:xfrm>
          </p:grpSpPr>
          <p:sp>
            <p:nvSpPr>
              <p:cNvPr id="55355" name="Oval 44"/>
              <p:cNvSpPr>
                <a:spLocks noChangeArrowheads="1"/>
              </p:cNvSpPr>
              <p:nvPr/>
            </p:nvSpPr>
            <p:spPr bwMode="auto">
              <a:xfrm>
                <a:off x="2072" y="3560"/>
                <a:ext cx="80" cy="8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55356" name="Line 45"/>
              <p:cNvSpPr>
                <a:spLocks noChangeShapeType="1"/>
              </p:cNvSpPr>
              <p:nvPr/>
            </p:nvSpPr>
            <p:spPr bwMode="auto">
              <a:xfrm flipH="1" flipV="1">
                <a:off x="1816" y="3448"/>
                <a:ext cx="256"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57" name="Line 46"/>
              <p:cNvSpPr>
                <a:spLocks noChangeShapeType="1"/>
              </p:cNvSpPr>
              <p:nvPr/>
            </p:nvSpPr>
            <p:spPr bwMode="auto">
              <a:xfrm flipH="1">
                <a:off x="1816" y="3608"/>
                <a:ext cx="256"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58" name="Line 47"/>
              <p:cNvSpPr>
                <a:spLocks noChangeShapeType="1"/>
              </p:cNvSpPr>
              <p:nvPr/>
            </p:nvSpPr>
            <p:spPr bwMode="auto">
              <a:xfrm>
                <a:off x="1824" y="3464"/>
                <a:ext cx="0"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5332" name="Line 48"/>
            <p:cNvSpPr>
              <a:spLocks noChangeShapeType="1"/>
            </p:cNvSpPr>
            <p:nvPr/>
          </p:nvSpPr>
          <p:spPr bwMode="auto">
            <a:xfrm>
              <a:off x="906" y="3369"/>
              <a:ext cx="0" cy="38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33" name="Line 49"/>
            <p:cNvSpPr>
              <a:spLocks noChangeShapeType="1"/>
            </p:cNvSpPr>
            <p:nvPr/>
          </p:nvSpPr>
          <p:spPr bwMode="auto">
            <a:xfrm>
              <a:off x="911" y="3755"/>
              <a:ext cx="16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34" name="Line 50"/>
            <p:cNvSpPr>
              <a:spLocks noChangeShapeType="1"/>
            </p:cNvSpPr>
            <p:nvPr/>
          </p:nvSpPr>
          <p:spPr bwMode="auto">
            <a:xfrm flipH="1">
              <a:off x="1484" y="3755"/>
              <a:ext cx="476" cy="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35" name="Line 51"/>
            <p:cNvSpPr>
              <a:spLocks noChangeShapeType="1"/>
            </p:cNvSpPr>
            <p:nvPr/>
          </p:nvSpPr>
          <p:spPr bwMode="auto">
            <a:xfrm flipH="1">
              <a:off x="1600" y="3697"/>
              <a:ext cx="126" cy="11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36" name="Rectangle 52"/>
            <p:cNvSpPr>
              <a:spLocks noChangeArrowheads="1"/>
            </p:cNvSpPr>
            <p:nvPr/>
          </p:nvSpPr>
          <p:spPr bwMode="auto">
            <a:xfrm>
              <a:off x="1621" y="3709"/>
              <a:ext cx="23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n</a:t>
              </a:r>
            </a:p>
          </p:txBody>
        </p:sp>
        <p:sp>
          <p:nvSpPr>
            <p:cNvPr id="55337" name="Rectangle 53"/>
            <p:cNvSpPr>
              <a:spLocks noChangeArrowheads="1"/>
            </p:cNvSpPr>
            <p:nvPr/>
          </p:nvSpPr>
          <p:spPr bwMode="auto">
            <a:xfrm>
              <a:off x="1964" y="2993"/>
              <a:ext cx="447" cy="1091"/>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55338" name="Rectangle 54"/>
            <p:cNvSpPr>
              <a:spLocks noChangeArrowheads="1"/>
            </p:cNvSpPr>
            <p:nvPr/>
          </p:nvSpPr>
          <p:spPr bwMode="auto">
            <a:xfrm>
              <a:off x="1925" y="3184"/>
              <a:ext cx="211"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a:latin typeface="Times New Roman" panose="02020603050405020304" pitchFamily="18" charset="0"/>
                </a:rPr>
                <a:t>0</a:t>
              </a:r>
            </a:p>
          </p:txBody>
        </p:sp>
        <p:sp>
          <p:nvSpPr>
            <p:cNvPr id="55339" name="Rectangle 55"/>
            <p:cNvSpPr>
              <a:spLocks noChangeArrowheads="1"/>
            </p:cNvSpPr>
            <p:nvPr/>
          </p:nvSpPr>
          <p:spPr bwMode="auto">
            <a:xfrm>
              <a:off x="1916" y="3648"/>
              <a:ext cx="211"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a:latin typeface="Times New Roman" panose="02020603050405020304" pitchFamily="18" charset="0"/>
                </a:rPr>
                <a:t>1</a:t>
              </a:r>
            </a:p>
          </p:txBody>
        </p:sp>
        <p:sp>
          <p:nvSpPr>
            <p:cNvPr id="55340" name="Rectangle 56"/>
            <p:cNvSpPr>
              <a:spLocks noChangeArrowheads="1"/>
            </p:cNvSpPr>
            <p:nvPr/>
          </p:nvSpPr>
          <p:spPr bwMode="auto">
            <a:xfrm rot="5400000">
              <a:off x="1692" y="3465"/>
              <a:ext cx="1050"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2200">
                  <a:cs typeface="Arial" panose="020B0604020202020204" pitchFamily="34" charset="0"/>
                </a:rPr>
                <a:t>多路选择器</a:t>
              </a:r>
            </a:p>
          </p:txBody>
        </p:sp>
        <p:sp>
          <p:nvSpPr>
            <p:cNvPr id="55341" name="Line 57"/>
            <p:cNvSpPr>
              <a:spLocks noChangeShapeType="1"/>
            </p:cNvSpPr>
            <p:nvPr/>
          </p:nvSpPr>
          <p:spPr bwMode="auto">
            <a:xfrm flipV="1">
              <a:off x="2187" y="1667"/>
              <a:ext cx="0" cy="1321"/>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42" name="Line 59"/>
            <p:cNvSpPr>
              <a:spLocks noChangeShapeType="1"/>
            </p:cNvSpPr>
            <p:nvPr/>
          </p:nvSpPr>
          <p:spPr bwMode="auto">
            <a:xfrm flipH="1">
              <a:off x="2183" y="2006"/>
              <a:ext cx="129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43" name="Rectangle 60"/>
            <p:cNvSpPr>
              <a:spLocks noChangeArrowheads="1"/>
            </p:cNvSpPr>
            <p:nvPr/>
          </p:nvSpPr>
          <p:spPr bwMode="auto">
            <a:xfrm>
              <a:off x="1647" y="1619"/>
              <a:ext cx="478"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Sub</a:t>
              </a:r>
            </a:p>
          </p:txBody>
        </p:sp>
        <p:sp>
          <p:nvSpPr>
            <p:cNvPr id="55344" name="Rectangle 62"/>
            <p:cNvSpPr>
              <a:spLocks noChangeArrowheads="1"/>
            </p:cNvSpPr>
            <p:nvPr/>
          </p:nvSpPr>
          <p:spPr bwMode="auto">
            <a:xfrm>
              <a:off x="1503" y="3487"/>
              <a:ext cx="254"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B</a:t>
              </a:r>
            </a:p>
          </p:txBody>
        </p:sp>
        <p:sp>
          <p:nvSpPr>
            <p:cNvPr id="55345" name="Line 63"/>
            <p:cNvSpPr>
              <a:spLocks noChangeShapeType="1"/>
            </p:cNvSpPr>
            <p:nvPr/>
          </p:nvSpPr>
          <p:spPr bwMode="auto">
            <a:xfrm>
              <a:off x="1557" y="3509"/>
              <a:ext cx="13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6" name="Line 64"/>
            <p:cNvSpPr>
              <a:spLocks noChangeShapeType="1"/>
            </p:cNvSpPr>
            <p:nvPr/>
          </p:nvSpPr>
          <p:spPr bwMode="auto">
            <a:xfrm>
              <a:off x="3697" y="2549"/>
              <a:ext cx="567"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47" name="Line 65"/>
            <p:cNvSpPr>
              <a:spLocks noChangeShapeType="1"/>
            </p:cNvSpPr>
            <p:nvPr/>
          </p:nvSpPr>
          <p:spPr bwMode="auto">
            <a:xfrm>
              <a:off x="3709" y="3315"/>
              <a:ext cx="567"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48" name="Rectangle 66"/>
            <p:cNvSpPr>
              <a:spLocks noChangeArrowheads="1"/>
            </p:cNvSpPr>
            <p:nvPr/>
          </p:nvSpPr>
          <p:spPr bwMode="auto">
            <a:xfrm>
              <a:off x="4237" y="2977"/>
              <a:ext cx="381"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OF</a:t>
              </a:r>
            </a:p>
          </p:txBody>
        </p:sp>
        <p:sp>
          <p:nvSpPr>
            <p:cNvPr id="55349" name="Text Box 68"/>
            <p:cNvSpPr txBox="1">
              <a:spLocks noChangeArrowheads="1"/>
            </p:cNvSpPr>
            <p:nvPr/>
          </p:nvSpPr>
          <p:spPr bwMode="auto">
            <a:xfrm>
              <a:off x="241" y="2710"/>
              <a:ext cx="1671"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zh-CN" altLang="en-US" sz="2800">
                  <a:solidFill>
                    <a:srgbClr val="C00000"/>
                  </a:solidFill>
                  <a:latin typeface="黑体" panose="02010609060101010101" pitchFamily="49" charset="-122"/>
                  <a:ea typeface="黑体" panose="02010609060101010101" pitchFamily="49" charset="-122"/>
                </a:rPr>
                <a:t>加</a:t>
              </a:r>
              <a:r>
                <a:rPr lang="en-US" altLang="zh-CN" sz="2800">
                  <a:solidFill>
                    <a:srgbClr val="C00000"/>
                  </a:solidFill>
                  <a:latin typeface="黑体" panose="02010609060101010101" pitchFamily="49" charset="-122"/>
                  <a:ea typeface="黑体" panose="02010609060101010101" pitchFamily="49" charset="-122"/>
                </a:rPr>
                <a:t>/</a:t>
              </a:r>
              <a:r>
                <a:rPr lang="zh-CN" altLang="en-US" sz="2800">
                  <a:solidFill>
                    <a:srgbClr val="C00000"/>
                  </a:solidFill>
                  <a:latin typeface="黑体" panose="02010609060101010101" pitchFamily="49" charset="-122"/>
                  <a:ea typeface="黑体" panose="02010609060101010101" pitchFamily="49" charset="-122"/>
                </a:rPr>
                <a:t>减运算部件</a:t>
              </a:r>
            </a:p>
          </p:txBody>
        </p:sp>
        <p:sp>
          <p:nvSpPr>
            <p:cNvPr id="55350" name="Line 57"/>
            <p:cNvSpPr>
              <a:spLocks noChangeShapeType="1"/>
            </p:cNvSpPr>
            <p:nvPr/>
          </p:nvSpPr>
          <p:spPr bwMode="auto">
            <a:xfrm>
              <a:off x="3706" y="3131"/>
              <a:ext cx="556"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5351" name="Rectangle 66"/>
            <p:cNvSpPr>
              <a:spLocks noChangeArrowheads="1"/>
            </p:cNvSpPr>
            <p:nvPr/>
          </p:nvSpPr>
          <p:spPr bwMode="auto">
            <a:xfrm>
              <a:off x="4239" y="3187"/>
              <a:ext cx="1283"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CF=Co</a:t>
              </a:r>
              <a:r>
                <a:rPr lang="en-US" altLang="zh-CN">
                  <a:cs typeface="Arial" panose="020B0604020202020204" pitchFamily="34" charset="0"/>
                  <a:sym typeface="Symbol" panose="05050102010706020507" pitchFamily="18" charset="2"/>
                </a:rPr>
                <a:t>Sub</a:t>
              </a:r>
            </a:p>
          </p:txBody>
        </p:sp>
        <p:sp>
          <p:nvSpPr>
            <p:cNvPr id="55352" name="Line 64"/>
            <p:cNvSpPr>
              <a:spLocks noChangeShapeType="1"/>
            </p:cNvSpPr>
            <p:nvPr/>
          </p:nvSpPr>
          <p:spPr bwMode="auto">
            <a:xfrm>
              <a:off x="3699" y="2700"/>
              <a:ext cx="566"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53" name="Rectangle 34"/>
            <p:cNvSpPr>
              <a:spLocks noChangeArrowheads="1"/>
            </p:cNvSpPr>
            <p:nvPr/>
          </p:nvSpPr>
          <p:spPr bwMode="auto">
            <a:xfrm>
              <a:off x="4264" y="2548"/>
              <a:ext cx="3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cs typeface="Arial" panose="020B0604020202020204" pitchFamily="34" charset="0"/>
                </a:rPr>
                <a:t>SF</a:t>
              </a:r>
            </a:p>
          </p:txBody>
        </p:sp>
        <p:sp>
          <p:nvSpPr>
            <p:cNvPr id="55354" name="Rectangle 70"/>
            <p:cNvSpPr>
              <a:spLocks noChangeArrowheads="1"/>
            </p:cNvSpPr>
            <p:nvPr/>
          </p:nvSpPr>
          <p:spPr bwMode="auto">
            <a:xfrm>
              <a:off x="0" y="1513"/>
              <a:ext cx="178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2200">
                  <a:solidFill>
                    <a:schemeClr val="accent2"/>
                  </a:solidFill>
                  <a:latin typeface="黑体" panose="02010609060101010101" pitchFamily="49" charset="-122"/>
                  <a:ea typeface="黑体" panose="02010609060101010101" pitchFamily="49" charset="-122"/>
                </a:rPr>
                <a:t>当</a:t>
              </a:r>
              <a:r>
                <a:rPr lang="en-US" altLang="zh-CN" sz="2200">
                  <a:solidFill>
                    <a:schemeClr val="accent2"/>
                  </a:solidFill>
                  <a:latin typeface="黑体" panose="02010609060101010101" pitchFamily="49" charset="-122"/>
                  <a:ea typeface="黑体" panose="02010609060101010101" pitchFamily="49" charset="-122"/>
                </a:rPr>
                <a:t>Sub</a:t>
              </a:r>
              <a:r>
                <a:rPr lang="zh-CN" altLang="en-US" sz="2200">
                  <a:solidFill>
                    <a:schemeClr val="accent2"/>
                  </a:solidFill>
                  <a:latin typeface="黑体" panose="02010609060101010101" pitchFamily="49" charset="-122"/>
                  <a:ea typeface="黑体" panose="02010609060101010101" pitchFamily="49" charset="-122"/>
                </a:rPr>
                <a:t>为</a:t>
              </a:r>
              <a:r>
                <a:rPr lang="en-US" altLang="zh-CN" sz="2200">
                  <a:solidFill>
                    <a:schemeClr val="accent2"/>
                  </a:solidFill>
                  <a:latin typeface="黑体" panose="02010609060101010101" pitchFamily="49" charset="-122"/>
                  <a:ea typeface="黑体" panose="02010609060101010101" pitchFamily="49" charset="-122"/>
                </a:rPr>
                <a:t>1</a:t>
              </a:r>
              <a:r>
                <a:rPr lang="zh-CN" altLang="en-US" sz="2200">
                  <a:solidFill>
                    <a:schemeClr val="accent2"/>
                  </a:solidFill>
                  <a:latin typeface="黑体" panose="02010609060101010101" pitchFamily="49" charset="-122"/>
                  <a:ea typeface="黑体" panose="02010609060101010101" pitchFamily="49" charset="-122"/>
                </a:rPr>
                <a:t>时，做减法</a:t>
              </a:r>
            </a:p>
            <a:p>
              <a:pPr>
                <a:lnSpc>
                  <a:spcPct val="100000"/>
                </a:lnSpc>
                <a:spcBef>
                  <a:spcPct val="0"/>
                </a:spcBef>
                <a:buFontTx/>
                <a:buNone/>
              </a:pPr>
              <a:r>
                <a:rPr lang="zh-CN" altLang="en-US" sz="2200">
                  <a:solidFill>
                    <a:schemeClr val="accent2"/>
                  </a:solidFill>
                  <a:latin typeface="黑体" panose="02010609060101010101" pitchFamily="49" charset="-122"/>
                  <a:ea typeface="黑体" panose="02010609060101010101" pitchFamily="49" charset="-122"/>
                </a:rPr>
                <a:t>当</a:t>
              </a:r>
              <a:r>
                <a:rPr lang="en-US" altLang="zh-CN" sz="2200">
                  <a:solidFill>
                    <a:schemeClr val="accent2"/>
                  </a:solidFill>
                  <a:latin typeface="黑体" panose="02010609060101010101" pitchFamily="49" charset="-122"/>
                  <a:ea typeface="黑体" panose="02010609060101010101" pitchFamily="49" charset="-122"/>
                </a:rPr>
                <a:t>Sub</a:t>
              </a:r>
              <a:r>
                <a:rPr lang="zh-CN" altLang="en-US" sz="2200">
                  <a:solidFill>
                    <a:schemeClr val="accent2"/>
                  </a:solidFill>
                  <a:latin typeface="黑体" panose="02010609060101010101" pitchFamily="49" charset="-122"/>
                  <a:ea typeface="黑体" panose="02010609060101010101" pitchFamily="49" charset="-122"/>
                </a:rPr>
                <a:t>为</a:t>
              </a:r>
              <a:r>
                <a:rPr lang="en-US" altLang="zh-CN" sz="2200">
                  <a:solidFill>
                    <a:schemeClr val="accent2"/>
                  </a:solidFill>
                  <a:latin typeface="黑体" panose="02010609060101010101" pitchFamily="49" charset="-122"/>
                  <a:ea typeface="黑体" panose="02010609060101010101" pitchFamily="49" charset="-122"/>
                </a:rPr>
                <a:t>0</a:t>
              </a:r>
              <a:r>
                <a:rPr lang="zh-CN" altLang="en-US" sz="2200">
                  <a:solidFill>
                    <a:schemeClr val="accent2"/>
                  </a:solidFill>
                  <a:latin typeface="黑体" panose="02010609060101010101" pitchFamily="49" charset="-122"/>
                  <a:ea typeface="黑体" panose="02010609060101010101" pitchFamily="49" charset="-122"/>
                </a:rPr>
                <a:t>时，做加法</a:t>
              </a:r>
            </a:p>
          </p:txBody>
        </p:sp>
      </p:grpSp>
      <p:sp>
        <p:nvSpPr>
          <p:cNvPr id="636990" name="Text Box 62"/>
          <p:cNvSpPr txBox="1">
            <a:spLocks noChangeArrowheads="1"/>
          </p:cNvSpPr>
          <p:nvPr/>
        </p:nvSpPr>
        <p:spPr bwMode="auto">
          <a:xfrm>
            <a:off x="4470400" y="882650"/>
            <a:ext cx="4278313" cy="78483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25000"/>
              </a:spcBef>
              <a:buFontTx/>
              <a:buNone/>
            </a:pPr>
            <a:r>
              <a:rPr lang="zh-CN" altLang="en-US" sz="2000">
                <a:solidFill>
                  <a:srgbClr val="990000"/>
                </a:solidFill>
                <a:latin typeface="微软雅黑" panose="020B0503020204020204" pitchFamily="34" charset="-122"/>
                <a:ea typeface="微软雅黑" panose="020B0503020204020204" pitchFamily="34" charset="-122"/>
              </a:rPr>
              <a:t>已知</a:t>
            </a:r>
            <a:r>
              <a:rPr lang="en-US" altLang="zh-CN" sz="2000">
                <a:solidFill>
                  <a:srgbClr val="990000"/>
                </a:solidFill>
                <a:latin typeface="微软雅黑" panose="020B0503020204020204" pitchFamily="34" charset="-122"/>
                <a:ea typeface="微软雅黑" panose="020B0503020204020204" pitchFamily="34" charset="-122"/>
              </a:rPr>
              <a:t>EDX</a:t>
            </a:r>
            <a:r>
              <a:rPr lang="zh-CN" altLang="en-US" sz="2000">
                <a:solidFill>
                  <a:srgbClr val="990000"/>
                </a:solidFill>
                <a:latin typeface="微软雅黑" panose="020B0503020204020204" pitchFamily="34" charset="-122"/>
                <a:ea typeface="微软雅黑" panose="020B0503020204020204" pitchFamily="34" charset="-122"/>
              </a:rPr>
              <a:t>中为 </a:t>
            </a:r>
            <a:r>
              <a:rPr lang="en-US" altLang="zh-CN" sz="2000">
                <a:solidFill>
                  <a:srgbClr val="990000"/>
                </a:solidFill>
                <a:latin typeface="微软雅黑" panose="020B0503020204020204" pitchFamily="34" charset="-122"/>
                <a:ea typeface="微软雅黑" panose="020B0503020204020204" pitchFamily="34" charset="-122"/>
              </a:rPr>
              <a:t>len-1=FFFF FFFFH</a:t>
            </a:r>
          </a:p>
          <a:p>
            <a:pPr>
              <a:lnSpc>
                <a:spcPct val="100000"/>
              </a:lnSpc>
              <a:spcBef>
                <a:spcPct val="25000"/>
              </a:spcBef>
              <a:buFontTx/>
              <a:buNone/>
            </a:pPr>
            <a:r>
              <a:rPr lang="zh-CN" altLang="en-US" sz="2000">
                <a:solidFill>
                  <a:srgbClr val="990000"/>
                </a:solidFill>
                <a:latin typeface="微软雅黑" panose="020B0503020204020204" pitchFamily="34" charset="-122"/>
                <a:ea typeface="微软雅黑" panose="020B0503020204020204" pitchFamily="34" charset="-122"/>
              </a:rPr>
              <a:t>             </a:t>
            </a:r>
            <a:r>
              <a:rPr lang="en-US" altLang="zh-CN" sz="2000">
                <a:solidFill>
                  <a:srgbClr val="990000"/>
                </a:solidFill>
                <a:latin typeface="微软雅黑" panose="020B0503020204020204" pitchFamily="34" charset="-122"/>
                <a:ea typeface="微软雅黑" panose="020B0503020204020204" pitchFamily="34" charset="-122"/>
              </a:rPr>
              <a:t>EAX</a:t>
            </a:r>
            <a:r>
              <a:rPr lang="zh-CN" altLang="en-US" sz="2000">
                <a:solidFill>
                  <a:srgbClr val="990000"/>
                </a:solidFill>
                <a:latin typeface="微软雅黑" panose="020B0503020204020204" pitchFamily="34" charset="-122"/>
                <a:ea typeface="微软雅黑" panose="020B0503020204020204" pitchFamily="34" charset="-122"/>
              </a:rPr>
              <a:t>中为 </a:t>
            </a:r>
            <a:r>
              <a:rPr lang="en-US" altLang="zh-CN" sz="2000">
                <a:solidFill>
                  <a:srgbClr val="990000"/>
                </a:solidFill>
                <a:latin typeface="微软雅黑" panose="020B0503020204020204" pitchFamily="34" charset="-122"/>
                <a:ea typeface="微软雅黑" panose="020B0503020204020204" pitchFamily="34" charset="-122"/>
              </a:rPr>
              <a:t>i=0000 0000H</a:t>
            </a:r>
          </a:p>
        </p:txBody>
      </p:sp>
    </p:spTree>
    <p:extLst>
      <p:ext uri="{BB962C8B-B14F-4D97-AF65-F5344CB8AC3E}">
        <p14:creationId xmlns:p14="http://schemas.microsoft.com/office/powerpoint/2010/main" val="313126974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6990"/>
                                        </p:tgtEl>
                                        <p:attrNameLst>
                                          <p:attrName>style.visibility</p:attrName>
                                        </p:attrNameLst>
                                      </p:cBhvr>
                                      <p:to>
                                        <p:strVal val="visible"/>
                                      </p:to>
                                    </p:set>
                                    <p:animEffect transition="in" filter="blinds(horizontal)">
                                      <p:cBhvr>
                                        <p:cTn id="7" dur="500"/>
                                        <p:tgtEl>
                                          <p:spTgt spid="6369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36931">
                                            <p:txEl>
                                              <p:pRg st="0" end="0"/>
                                            </p:txEl>
                                          </p:spTgt>
                                        </p:tgtEl>
                                        <p:attrNameLst>
                                          <p:attrName>style.visibility</p:attrName>
                                        </p:attrNameLst>
                                      </p:cBhvr>
                                      <p:to>
                                        <p:strVal val="visible"/>
                                      </p:to>
                                    </p:set>
                                    <p:animEffect transition="in" filter="blinds(horizontal)">
                                      <p:cBhvr>
                                        <p:cTn id="12" dur="500"/>
                                        <p:tgtEl>
                                          <p:spTgt spid="6369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6931" grpId="0" build="p"/>
      <p:bldP spid="63699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646238" y="142875"/>
            <a:ext cx="5629275" cy="528638"/>
          </a:xfrm>
        </p:spPr>
        <p:txBody>
          <a:bodyPr>
            <a:normAutofit fontScale="90000"/>
          </a:bodyPr>
          <a:lstStyle/>
          <a:p>
            <a:r>
              <a:rPr lang="en-US" altLang="zh-CN" sz="3600">
                <a:ea typeface="宋体" panose="02010600030101010101" pitchFamily="2" charset="-122"/>
              </a:rPr>
              <a:t>jbe .L3</a:t>
            </a:r>
            <a:r>
              <a:rPr lang="zh-CN" altLang="en-US" sz="3600">
                <a:ea typeface="宋体" panose="02010600030101010101" pitchFamily="2" charset="-122"/>
              </a:rPr>
              <a:t>指令的执行结果</a:t>
            </a:r>
          </a:p>
        </p:txBody>
      </p:sp>
      <p:graphicFrame>
        <p:nvGraphicFramePr>
          <p:cNvPr id="637955" name="Group 3">
            <a:extLst>
              <a:ext uri="{FF2B5EF4-FFF2-40B4-BE49-F238E27FC236}">
                <a16:creationId xmlns:a16="http://schemas.microsoft.com/office/drawing/2014/main" id="{D6BA016E-1F03-41D7-AC05-EA7DDC2F2449}"/>
              </a:ext>
            </a:extLst>
          </p:cNvPr>
          <p:cNvGraphicFramePr>
            <a:graphicFrameLocks noGrp="1"/>
          </p:cNvGraphicFramePr>
          <p:nvPr>
            <p:ph idx="1"/>
          </p:nvPr>
        </p:nvGraphicFramePr>
        <p:xfrm>
          <a:off x="495300" y="1095375"/>
          <a:ext cx="8191500" cy="3800478"/>
        </p:xfrm>
        <a:graphic>
          <a:graphicData uri="http://schemas.openxmlformats.org/drawingml/2006/table">
            <a:tbl>
              <a:tblPr/>
              <a:tblGrid>
                <a:gridCol w="2703513">
                  <a:extLst>
                    <a:ext uri="{9D8B030D-6E8A-4147-A177-3AD203B41FA5}">
                      <a16:colId xmlns:a16="http://schemas.microsoft.com/office/drawing/2014/main" val="20000"/>
                    </a:ext>
                  </a:extLst>
                </a:gridCol>
                <a:gridCol w="2782887">
                  <a:extLst>
                    <a:ext uri="{9D8B030D-6E8A-4147-A177-3AD203B41FA5}">
                      <a16:colId xmlns:a16="http://schemas.microsoft.com/office/drawing/2014/main" val="20001"/>
                    </a:ext>
                  </a:extLst>
                </a:gridCol>
                <a:gridCol w="2705100">
                  <a:extLst>
                    <a:ext uri="{9D8B030D-6E8A-4147-A177-3AD203B41FA5}">
                      <a16:colId xmlns:a16="http://schemas.microsoft.com/office/drawing/2014/main" val="20002"/>
                    </a:ext>
                  </a:extLst>
                </a:gridCol>
              </a:tblGrid>
              <a:tr h="492125">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ctr" defTabSz="914400" rtl="0" eaLnBrk="0" fontAlgn="base" latinLnBrk="0" hangingPunct="0">
                        <a:lnSpc>
                          <a:spcPts val="1600"/>
                        </a:lnSpc>
                        <a:spcBef>
                          <a:spcPct val="30000"/>
                        </a:spcBef>
                        <a:spcAft>
                          <a:spcPct val="0"/>
                        </a:spcAft>
                        <a:buClrTx/>
                        <a:buSzTx/>
                        <a:buFontTx/>
                        <a:buNone/>
                        <a:tabLst/>
                      </a:pP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指令</a:t>
                      </a: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ctr" defTabSz="914400" rtl="0" eaLnBrk="0" fontAlgn="base" latinLnBrk="0" hangingPunct="0">
                        <a:lnSpc>
                          <a:spcPts val="1600"/>
                        </a:lnSpc>
                        <a:spcBef>
                          <a:spcPct val="30000"/>
                        </a:spcBef>
                        <a:spcAft>
                          <a:spcPct val="0"/>
                        </a:spcAft>
                        <a:buClrTx/>
                        <a:buSzTx/>
                        <a:buFontTx/>
                        <a:buNone/>
                        <a:tabLst/>
                      </a:pP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转移条件</a:t>
                      </a: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ctr" defTabSz="914400" rtl="0" eaLnBrk="0" fontAlgn="base" latinLnBrk="0" hangingPunct="0">
                        <a:lnSpc>
                          <a:spcPts val="1600"/>
                        </a:lnSpc>
                        <a:spcBef>
                          <a:spcPct val="30000"/>
                        </a:spcBef>
                        <a:spcAft>
                          <a:spcPct val="0"/>
                        </a:spcAft>
                        <a:buClrTx/>
                        <a:buSzTx/>
                        <a:buFontTx/>
                        <a:buNone/>
                        <a:tabLst/>
                      </a:pP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说明</a:t>
                      </a: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extLst>
                  <a:ext uri="{0D108BD9-81ED-4DB2-BD59-A6C34878D82A}">
                    <a16:rowId xmlns:a16="http://schemas.microsoft.com/office/drawing/2014/main" val="10000"/>
                  </a:ext>
                </a:extLst>
              </a:tr>
              <a:tr h="388938">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JA/JNBE  label</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CF=0 AND ZF=0</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ctr" defTabSz="914400" rtl="0" eaLnBrk="0" fontAlgn="base" latinLnBrk="0" hangingPunct="0">
                        <a:lnSpc>
                          <a:spcPts val="1600"/>
                        </a:lnSpc>
                        <a:spcBef>
                          <a:spcPct val="30000"/>
                        </a:spcBef>
                        <a:spcAft>
                          <a:spcPct val="0"/>
                        </a:spcAft>
                        <a:buClrTx/>
                        <a:buSzTx/>
                        <a:buFontTx/>
                        <a:buNone/>
                        <a:tabLst/>
                      </a:pP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无符号数</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a:t>
                      </a: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B</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extLst>
                  <a:ext uri="{0D108BD9-81ED-4DB2-BD59-A6C34878D82A}">
                    <a16:rowId xmlns:a16="http://schemas.microsoft.com/office/drawing/2014/main" val="10001"/>
                  </a:ext>
                </a:extLst>
              </a:tr>
              <a:tr h="433388">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JAE/JNB  label</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CF=0 OR ZF=1</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ctr" defTabSz="914400" rtl="0" eaLnBrk="0" fontAlgn="base" latinLnBrk="0" hangingPunct="0">
                        <a:lnSpc>
                          <a:spcPts val="1600"/>
                        </a:lnSpc>
                        <a:spcBef>
                          <a:spcPct val="30000"/>
                        </a:spcBef>
                        <a:spcAft>
                          <a:spcPct val="0"/>
                        </a:spcAft>
                        <a:buClrTx/>
                        <a:buSzTx/>
                        <a:buFontTx/>
                        <a:buNone/>
                        <a:tabLst/>
                      </a:pP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无符号数</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a:t>
                      </a:r>
                      <a:r>
                        <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B</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extLst>
                  <a:ext uri="{0D108BD9-81ED-4DB2-BD59-A6C34878D82A}">
                    <a16:rowId xmlns:a16="http://schemas.microsoft.com/office/drawing/2014/main" val="10002"/>
                  </a:ext>
                </a:extLst>
              </a:tr>
              <a:tr h="411163">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JB/JNAE  label</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CF=1 AND ZF=0</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ctr" defTabSz="914400" rtl="0" eaLnBrk="0" fontAlgn="base" latinLnBrk="0" hangingPunct="0">
                        <a:lnSpc>
                          <a:spcPts val="1600"/>
                        </a:lnSpc>
                        <a:spcBef>
                          <a:spcPct val="30000"/>
                        </a:spcBef>
                        <a:spcAft>
                          <a:spcPct val="0"/>
                        </a:spcAft>
                        <a:buClrTx/>
                        <a:buSzTx/>
                        <a:buFontTx/>
                        <a:buNone/>
                        <a:tabLst/>
                      </a:pP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无符号数</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a:t>
                      </a: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B</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extLst>
                  <a:ext uri="{0D108BD9-81ED-4DB2-BD59-A6C34878D82A}">
                    <a16:rowId xmlns:a16="http://schemas.microsoft.com/office/drawing/2014/main" val="10003"/>
                  </a:ext>
                </a:extLst>
              </a:tr>
              <a:tr h="409575">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JBE/JNA  label</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CF=1 OR ZF=1</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ctr" defTabSz="914400" rtl="0" eaLnBrk="0" fontAlgn="base" latinLnBrk="0" hangingPunct="0">
                        <a:lnSpc>
                          <a:spcPts val="1600"/>
                        </a:lnSpc>
                        <a:spcBef>
                          <a:spcPct val="30000"/>
                        </a:spcBef>
                        <a:spcAft>
                          <a:spcPct val="0"/>
                        </a:spcAft>
                        <a:buClrTx/>
                        <a:buSzTx/>
                        <a:buFontTx/>
                        <a:buNone/>
                        <a:tabLst/>
                      </a:pP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无符号数</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a:t>
                      </a:r>
                      <a:r>
                        <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B</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extLst>
                  <a:ext uri="{0D108BD9-81ED-4DB2-BD59-A6C34878D82A}">
                    <a16:rowId xmlns:a16="http://schemas.microsoft.com/office/drawing/2014/main" val="10004"/>
                  </a:ext>
                </a:extLst>
              </a:tr>
              <a:tr h="409575">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JG/JNLE  label</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SF=OF AND ZF=0</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ctr" defTabSz="914400" rtl="0" eaLnBrk="0" fontAlgn="base" latinLnBrk="0" hangingPunct="0">
                        <a:lnSpc>
                          <a:spcPts val="1600"/>
                        </a:lnSpc>
                        <a:spcBef>
                          <a:spcPct val="30000"/>
                        </a:spcBef>
                        <a:spcAft>
                          <a:spcPct val="0"/>
                        </a:spcAft>
                        <a:buClrTx/>
                        <a:buSzTx/>
                        <a:buFontTx/>
                        <a:buNone/>
                        <a:tabLst/>
                      </a:pP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有符号数</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a:t>
                      </a: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B</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extLst>
                  <a:ext uri="{0D108BD9-81ED-4DB2-BD59-A6C34878D82A}">
                    <a16:rowId xmlns:a16="http://schemas.microsoft.com/office/drawing/2014/main" val="10005"/>
                  </a:ext>
                </a:extLst>
              </a:tr>
              <a:tr h="411163">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JGE/JNL  label</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SF=OF OR ZF=1</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ctr" defTabSz="914400" rtl="0" eaLnBrk="0" fontAlgn="base" latinLnBrk="0" hangingPunct="0">
                        <a:lnSpc>
                          <a:spcPts val="1600"/>
                        </a:lnSpc>
                        <a:spcBef>
                          <a:spcPct val="30000"/>
                        </a:spcBef>
                        <a:spcAft>
                          <a:spcPct val="0"/>
                        </a:spcAft>
                        <a:buClrTx/>
                        <a:buSzTx/>
                        <a:buFontTx/>
                        <a:buNone/>
                        <a:tabLst/>
                      </a:pP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有符号数</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a:t>
                      </a:r>
                      <a:r>
                        <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B</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extLst>
                  <a:ext uri="{0D108BD9-81ED-4DB2-BD59-A6C34878D82A}">
                    <a16:rowId xmlns:a16="http://schemas.microsoft.com/office/drawing/2014/main" val="10006"/>
                  </a:ext>
                </a:extLst>
              </a:tr>
              <a:tr h="411163">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JL/JNGE  label</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SF</a:t>
                      </a:r>
                      <a:r>
                        <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OF AND ZF=0</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ctr" defTabSz="914400" rtl="0" eaLnBrk="0" fontAlgn="base" latinLnBrk="0" hangingPunct="0">
                        <a:lnSpc>
                          <a:spcPts val="1600"/>
                        </a:lnSpc>
                        <a:spcBef>
                          <a:spcPct val="30000"/>
                        </a:spcBef>
                        <a:spcAft>
                          <a:spcPct val="0"/>
                        </a:spcAft>
                        <a:buClrTx/>
                        <a:buSzTx/>
                        <a:buFontTx/>
                        <a:buNone/>
                        <a:tabLst/>
                      </a:pP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有符号数</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a:t>
                      </a: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B</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extLst>
                  <a:ext uri="{0D108BD9-81ED-4DB2-BD59-A6C34878D82A}">
                    <a16:rowId xmlns:a16="http://schemas.microsoft.com/office/drawing/2014/main" val="10007"/>
                  </a:ext>
                </a:extLst>
              </a:tr>
              <a:tr h="433388">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JLE/JNG  label</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SF</a:t>
                      </a:r>
                      <a:r>
                        <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OF OR ZF=1</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ctr" defTabSz="914400" rtl="0" eaLnBrk="0" fontAlgn="base" latinLnBrk="0" hangingPunct="0">
                        <a:lnSpc>
                          <a:spcPts val="1600"/>
                        </a:lnSpc>
                        <a:spcBef>
                          <a:spcPct val="30000"/>
                        </a:spcBef>
                        <a:spcAft>
                          <a:spcPct val="0"/>
                        </a:spcAft>
                        <a:buClrTx/>
                        <a:buSzTx/>
                        <a:buFontTx/>
                        <a:buNone/>
                        <a:tabLst/>
                      </a:pPr>
                      <a:r>
                        <a:rPr kumimoji="0" lang="zh-CN" altLang="en-US" sz="20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有符号数</a:t>
                      </a:r>
                      <a:r>
                        <a:rPr kumimoji="0" lang="en-US" altLang="zh-CN" sz="20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A</a:t>
                      </a:r>
                      <a:r>
                        <a:rPr kumimoji="0" lang="zh-CN" altLang="zh-CN" sz="20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a:t>
                      </a:r>
                      <a:r>
                        <a:rPr kumimoji="0" lang="en-US" altLang="zh-CN" sz="20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B</a:t>
                      </a:r>
                      <a:endParaRPr kumimoji="0" lang="zh-CN" altLang="zh-CN" sz="20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extLst>
                  <a:ext uri="{0D108BD9-81ED-4DB2-BD59-A6C34878D82A}">
                    <a16:rowId xmlns:a16="http://schemas.microsoft.com/office/drawing/2014/main" val="10008"/>
                  </a:ext>
                </a:extLst>
              </a:tr>
            </a:tbl>
          </a:graphicData>
        </a:graphic>
      </p:graphicFrame>
      <p:sp>
        <p:nvSpPr>
          <p:cNvPr id="56365" name="Line 45"/>
          <p:cNvSpPr>
            <a:spLocks noChangeShapeType="1"/>
          </p:cNvSpPr>
          <p:nvPr/>
        </p:nvSpPr>
        <p:spPr bwMode="auto">
          <a:xfrm>
            <a:off x="320675" y="3127375"/>
            <a:ext cx="8607425" cy="0"/>
          </a:xfrm>
          <a:prstGeom prst="line">
            <a:avLst/>
          </a:prstGeom>
          <a:noFill/>
          <a:ln w="38100">
            <a:solidFill>
              <a:srgbClr val="FF33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37998" name="Rectangle 46"/>
          <p:cNvSpPr>
            <a:spLocks noChangeArrowheads="1"/>
          </p:cNvSpPr>
          <p:nvPr/>
        </p:nvSpPr>
        <p:spPr bwMode="auto">
          <a:xfrm>
            <a:off x="347663" y="4927600"/>
            <a:ext cx="8447087" cy="17907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30000"/>
              </a:lnSpc>
              <a:spcBef>
                <a:spcPct val="0"/>
              </a:spcBef>
              <a:buFontTx/>
              <a:buNone/>
            </a:pPr>
            <a:r>
              <a:rPr lang="en-US" altLang="zh-CN" sz="2200">
                <a:solidFill>
                  <a:srgbClr val="990000"/>
                </a:solidFill>
                <a:latin typeface="微软雅黑" panose="020B0503020204020204" pitchFamily="34" charset="-122"/>
                <a:ea typeface="微软雅黑" panose="020B0503020204020204" pitchFamily="34" charset="-122"/>
              </a:rPr>
              <a:t>“cmpl %edx,%eax”</a:t>
            </a:r>
            <a:r>
              <a:rPr lang="zh-CN" altLang="en-US" sz="2200">
                <a:solidFill>
                  <a:srgbClr val="990000"/>
                </a:solidFill>
                <a:latin typeface="微软雅黑" panose="020B0503020204020204" pitchFamily="34" charset="-122"/>
                <a:ea typeface="微软雅黑" panose="020B0503020204020204" pitchFamily="34" charset="-122"/>
              </a:rPr>
              <a:t>执行结果是</a:t>
            </a:r>
            <a:r>
              <a:rPr lang="en-US" altLang="zh-CN" sz="2200">
                <a:solidFill>
                  <a:srgbClr val="990000"/>
                </a:solidFill>
                <a:latin typeface="微软雅黑" panose="020B0503020204020204" pitchFamily="34" charset="-122"/>
                <a:ea typeface="微软雅黑" panose="020B0503020204020204" pitchFamily="34" charset="-122"/>
              </a:rPr>
              <a:t> </a:t>
            </a:r>
            <a:r>
              <a:rPr lang="en-US" altLang="zh-CN" sz="2200">
                <a:solidFill>
                  <a:schemeClr val="accent2"/>
                </a:solidFill>
                <a:latin typeface="微软雅黑" panose="020B0503020204020204" pitchFamily="34" charset="-122"/>
                <a:ea typeface="微软雅黑" panose="020B0503020204020204" pitchFamily="34" charset="-122"/>
              </a:rPr>
              <a:t>CF=1, ZF=0, </a:t>
            </a:r>
            <a:r>
              <a:rPr lang="en-US" altLang="zh-CN" sz="2200">
                <a:solidFill>
                  <a:srgbClr val="990000"/>
                </a:solidFill>
                <a:latin typeface="微软雅黑" panose="020B0503020204020204" pitchFamily="34" charset="-122"/>
                <a:ea typeface="微软雅黑" panose="020B0503020204020204" pitchFamily="34" charset="-122"/>
              </a:rPr>
              <a:t>OF=0, SF=0</a:t>
            </a:r>
            <a:r>
              <a:rPr lang="zh-CN" altLang="en-US" sz="2200">
                <a:solidFill>
                  <a:srgbClr val="990000"/>
                </a:solidFill>
                <a:latin typeface="微软雅黑" panose="020B0503020204020204" pitchFamily="34" charset="-122"/>
                <a:ea typeface="微软雅黑" panose="020B0503020204020204" pitchFamily="34" charset="-122"/>
              </a:rPr>
              <a:t>，说明满足条件，应转移到</a:t>
            </a:r>
            <a:r>
              <a:rPr lang="en-US" altLang="zh-CN" sz="2200">
                <a:solidFill>
                  <a:srgbClr val="990000"/>
                </a:solidFill>
                <a:latin typeface="微软雅黑" panose="020B0503020204020204" pitchFamily="34" charset="-122"/>
                <a:ea typeface="微软雅黑" panose="020B0503020204020204" pitchFamily="34" charset="-122"/>
              </a:rPr>
              <a:t>.L3</a:t>
            </a:r>
            <a:r>
              <a:rPr lang="zh-CN" altLang="en-US" sz="2200">
                <a:solidFill>
                  <a:srgbClr val="990000"/>
                </a:solidFill>
                <a:latin typeface="微软雅黑" panose="020B0503020204020204" pitchFamily="34" charset="-122"/>
                <a:ea typeface="微软雅黑" panose="020B0503020204020204" pitchFamily="34" charset="-122"/>
              </a:rPr>
              <a:t>执行！   显然，对于每个 </a:t>
            </a:r>
            <a:r>
              <a:rPr lang="en-US" altLang="zh-CN" sz="2200">
                <a:solidFill>
                  <a:srgbClr val="990000"/>
                </a:solidFill>
                <a:latin typeface="微软雅黑" panose="020B0503020204020204" pitchFamily="34" charset="-122"/>
                <a:ea typeface="微软雅黑" panose="020B0503020204020204" pitchFamily="34" charset="-122"/>
              </a:rPr>
              <a:t>i </a:t>
            </a:r>
            <a:r>
              <a:rPr lang="zh-CN" altLang="en-US" sz="2200">
                <a:solidFill>
                  <a:srgbClr val="990000"/>
                </a:solidFill>
                <a:latin typeface="微软雅黑" panose="020B0503020204020204" pitchFamily="34" charset="-122"/>
                <a:ea typeface="微软雅黑" panose="020B0503020204020204" pitchFamily="34" charset="-122"/>
              </a:rPr>
              <a:t>都满足条件，因为任何无符号数都比</a:t>
            </a:r>
            <a:r>
              <a:rPr lang="en-US" altLang="zh-CN" sz="2200">
                <a:solidFill>
                  <a:srgbClr val="990000"/>
                </a:solidFill>
                <a:latin typeface="微软雅黑" panose="020B0503020204020204" pitchFamily="34" charset="-122"/>
                <a:ea typeface="微软雅黑" panose="020B0503020204020204" pitchFamily="34" charset="-122"/>
              </a:rPr>
              <a:t>32</a:t>
            </a:r>
            <a:r>
              <a:rPr lang="zh-CN" altLang="en-US" sz="2200">
                <a:solidFill>
                  <a:srgbClr val="990000"/>
                </a:solidFill>
                <a:latin typeface="微软雅黑" panose="020B0503020204020204" pitchFamily="34" charset="-122"/>
                <a:ea typeface="微软雅黑" panose="020B0503020204020204" pitchFamily="34" charset="-122"/>
              </a:rPr>
              <a:t>个</a:t>
            </a:r>
            <a:r>
              <a:rPr lang="en-US" altLang="zh-CN" sz="2200">
                <a:solidFill>
                  <a:srgbClr val="990000"/>
                </a:solidFill>
                <a:latin typeface="微软雅黑" panose="020B0503020204020204" pitchFamily="34" charset="-122"/>
                <a:ea typeface="微软雅黑" panose="020B0503020204020204" pitchFamily="34" charset="-122"/>
              </a:rPr>
              <a:t>1</a:t>
            </a:r>
            <a:r>
              <a:rPr lang="zh-CN" altLang="en-US" sz="2200">
                <a:solidFill>
                  <a:srgbClr val="990000"/>
                </a:solidFill>
                <a:latin typeface="微软雅黑" panose="020B0503020204020204" pitchFamily="34" charset="-122"/>
                <a:ea typeface="微软雅黑" panose="020B0503020204020204" pitchFamily="34" charset="-122"/>
              </a:rPr>
              <a:t>小，因此循环体被不断执行，最终导致数组访问越界而发生存储器访问异常。</a:t>
            </a:r>
          </a:p>
        </p:txBody>
      </p:sp>
    </p:spTree>
    <p:extLst>
      <p:ext uri="{BB962C8B-B14F-4D97-AF65-F5344CB8AC3E}">
        <p14:creationId xmlns:p14="http://schemas.microsoft.com/office/powerpoint/2010/main" val="12981058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7998"/>
                                        </p:tgtEl>
                                        <p:attrNameLst>
                                          <p:attrName>style.visibility</p:attrName>
                                        </p:attrNameLst>
                                      </p:cBhvr>
                                      <p:to>
                                        <p:strVal val="visible"/>
                                      </p:to>
                                    </p:set>
                                    <p:animEffect transition="in" filter="blinds(horizontal)">
                                      <p:cBhvr>
                                        <p:cTn id="7" dur="500"/>
                                        <p:tgtEl>
                                          <p:spTgt spid="637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799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303213" y="98425"/>
            <a:ext cx="8229600" cy="528638"/>
          </a:xfrm>
        </p:spPr>
        <p:txBody>
          <a:bodyPr>
            <a:normAutofit fontScale="90000"/>
          </a:bodyPr>
          <a:lstStyle/>
          <a:p>
            <a:r>
              <a:rPr lang="zh-CN" altLang="en-US" sz="3600">
                <a:ea typeface="宋体" panose="02010600030101010101" pitchFamily="2" charset="-122"/>
              </a:rPr>
              <a:t>例子：程序的机器级表示与执行</a:t>
            </a:r>
          </a:p>
        </p:txBody>
      </p:sp>
      <p:sp>
        <p:nvSpPr>
          <p:cNvPr id="57347" name="Rectangle 3"/>
          <p:cNvSpPr>
            <a:spLocks noChangeArrowheads="1"/>
          </p:cNvSpPr>
          <p:nvPr/>
        </p:nvSpPr>
        <p:spPr bwMode="auto">
          <a:xfrm>
            <a:off x="234950" y="4253647"/>
            <a:ext cx="3784600"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15000"/>
              </a:spcBef>
              <a:buFontTx/>
              <a:buNone/>
            </a:pPr>
            <a:r>
              <a:rPr lang="zh-CN" altLang="en-US" sz="2200">
                <a:latin typeface="微软雅黑" panose="020B0503020204020204" pitchFamily="34" charset="-122"/>
                <a:ea typeface="微软雅黑" panose="020B0503020204020204" pitchFamily="34" charset="-122"/>
              </a:rPr>
              <a:t>正确的做法是将参数</a:t>
            </a:r>
            <a:r>
              <a:rPr lang="en-US" altLang="zh-CN" sz="2200">
                <a:latin typeface="微软雅黑" panose="020B0503020204020204" pitchFamily="34" charset="-122"/>
                <a:ea typeface="微软雅黑" panose="020B0503020204020204" pitchFamily="34" charset="-122"/>
              </a:rPr>
              <a:t>len</a:t>
            </a:r>
            <a:r>
              <a:rPr lang="zh-CN" altLang="en-US" sz="2200">
                <a:latin typeface="微软雅黑" panose="020B0503020204020204" pitchFamily="34" charset="-122"/>
                <a:ea typeface="微软雅黑" panose="020B0503020204020204" pitchFamily="34" charset="-122"/>
              </a:rPr>
              <a:t>声明为</a:t>
            </a:r>
            <a:r>
              <a:rPr lang="en-US" altLang="zh-CN" sz="2200">
                <a:latin typeface="微软雅黑" panose="020B0503020204020204" pitchFamily="34" charset="-122"/>
                <a:ea typeface="微软雅黑" panose="020B0503020204020204" pitchFamily="34" charset="-122"/>
              </a:rPr>
              <a:t>int</a:t>
            </a:r>
            <a:r>
              <a:rPr lang="zh-CN" altLang="en-US" sz="2200">
                <a:latin typeface="微软雅黑" panose="020B0503020204020204" pitchFamily="34" charset="-122"/>
                <a:ea typeface="微软雅黑" panose="020B0503020204020204" pitchFamily="34" charset="-122"/>
              </a:rPr>
              <a:t>型。</a:t>
            </a:r>
            <a:r>
              <a:rPr lang="zh-CN" altLang="en-US" sz="1800" b="0"/>
              <a:t> </a:t>
            </a:r>
            <a:r>
              <a:rPr lang="en-US" altLang="zh-CN">
                <a:solidFill>
                  <a:srgbClr val="FF0000"/>
                </a:solidFill>
                <a:latin typeface="微软雅黑" panose="020B0503020204020204" pitchFamily="34" charset="-122"/>
                <a:ea typeface="微软雅黑" panose="020B0503020204020204" pitchFamily="34" charset="-122"/>
              </a:rPr>
              <a:t>Why?</a:t>
            </a:r>
          </a:p>
        </p:txBody>
      </p:sp>
      <p:sp>
        <p:nvSpPr>
          <p:cNvPr id="57348" name="Rectangle 4"/>
          <p:cNvSpPr>
            <a:spLocks noChangeArrowheads="1"/>
          </p:cNvSpPr>
          <p:nvPr/>
        </p:nvSpPr>
        <p:spPr bwMode="auto">
          <a:xfrm>
            <a:off x="222250" y="968375"/>
            <a:ext cx="4535488" cy="313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buFontTx/>
              <a:buNone/>
            </a:pPr>
            <a:r>
              <a:rPr lang="zh-CN" altLang="en-US" sz="2200">
                <a:latin typeface="微软雅黑" panose="020B0503020204020204" pitchFamily="34" charset="-122"/>
                <a:ea typeface="微软雅黑" panose="020B0503020204020204" pitchFamily="34" charset="-122"/>
              </a:rPr>
              <a:t>例：</a:t>
            </a:r>
            <a:r>
              <a:rPr lang="zh-CN" altLang="en-US" sz="2200"/>
              <a:t> </a:t>
            </a:r>
          </a:p>
          <a:p>
            <a:pPr>
              <a:spcBef>
                <a:spcPct val="0"/>
              </a:spcBef>
              <a:buFontTx/>
              <a:buNone/>
            </a:pPr>
            <a:r>
              <a:rPr lang="en-US" altLang="zh-CN" sz="2200"/>
              <a:t>int sum(int a[ ], </a:t>
            </a:r>
            <a:r>
              <a:rPr lang="en-US" altLang="zh-CN" sz="2200">
                <a:solidFill>
                  <a:srgbClr val="FF3300"/>
                </a:solidFill>
              </a:rPr>
              <a:t>int</a:t>
            </a:r>
            <a:r>
              <a:rPr lang="en-US" altLang="zh-CN" sz="2200"/>
              <a:t> len)</a:t>
            </a:r>
          </a:p>
          <a:p>
            <a:pPr>
              <a:spcBef>
                <a:spcPct val="0"/>
              </a:spcBef>
              <a:buFontTx/>
              <a:buNone/>
            </a:pPr>
            <a:r>
              <a:rPr lang="en-US" altLang="zh-CN" sz="2200"/>
              <a:t>{</a:t>
            </a:r>
          </a:p>
          <a:p>
            <a:pPr>
              <a:spcBef>
                <a:spcPct val="0"/>
              </a:spcBef>
              <a:buFontTx/>
              <a:buNone/>
            </a:pPr>
            <a:r>
              <a:rPr lang="en-US" altLang="zh-CN" sz="2200"/>
              <a:t>   int  i</a:t>
            </a:r>
            <a:r>
              <a:rPr lang="zh-CN" altLang="en-US" sz="2200"/>
              <a:t>，</a:t>
            </a:r>
            <a:r>
              <a:rPr lang="en-US" altLang="zh-CN" sz="2200"/>
              <a:t>sum = 0;</a:t>
            </a:r>
          </a:p>
          <a:p>
            <a:pPr>
              <a:spcBef>
                <a:spcPct val="0"/>
              </a:spcBef>
              <a:buFontTx/>
              <a:buNone/>
            </a:pPr>
            <a:r>
              <a:rPr lang="en-US" altLang="zh-CN" sz="2200"/>
              <a:t>   for (i = 0; </a:t>
            </a:r>
            <a:r>
              <a:rPr lang="en-US" altLang="zh-CN" sz="2200">
                <a:solidFill>
                  <a:srgbClr val="FF3300"/>
                </a:solidFill>
              </a:rPr>
              <a:t>i &lt;= len–1</a:t>
            </a:r>
            <a:r>
              <a:rPr lang="en-US" altLang="zh-CN" sz="2200"/>
              <a:t>; i++)</a:t>
            </a:r>
          </a:p>
          <a:p>
            <a:pPr>
              <a:spcBef>
                <a:spcPct val="0"/>
              </a:spcBef>
              <a:buFontTx/>
              <a:buNone/>
            </a:pPr>
            <a:r>
              <a:rPr lang="en-US" altLang="zh-CN" sz="2200"/>
              <a:t>	    sum += a[i];</a:t>
            </a:r>
          </a:p>
          <a:p>
            <a:pPr>
              <a:spcBef>
                <a:spcPct val="0"/>
              </a:spcBef>
              <a:buFontTx/>
              <a:buNone/>
            </a:pPr>
            <a:r>
              <a:rPr lang="en-US" altLang="zh-CN" sz="2200"/>
              <a:t>   return sum;</a:t>
            </a:r>
          </a:p>
          <a:p>
            <a:pPr>
              <a:spcBef>
                <a:spcPct val="0"/>
              </a:spcBef>
              <a:buFontTx/>
              <a:buNone/>
            </a:pPr>
            <a:r>
              <a:rPr lang="en-US" altLang="zh-CN" sz="2200"/>
              <a:t>}</a:t>
            </a:r>
            <a:endParaRPr lang="zh-CN" altLang="en-US" sz="2200"/>
          </a:p>
        </p:txBody>
      </p:sp>
      <p:sp>
        <p:nvSpPr>
          <p:cNvPr id="638981" name="Rectangle 5"/>
          <p:cNvSpPr>
            <a:spLocks noChangeArrowheads="1"/>
          </p:cNvSpPr>
          <p:nvPr/>
        </p:nvSpPr>
        <p:spPr bwMode="auto">
          <a:xfrm>
            <a:off x="4986338" y="887413"/>
            <a:ext cx="3932237" cy="3451225"/>
          </a:xfrm>
          <a:prstGeom prst="rect">
            <a:avLst/>
          </a:prstGeom>
          <a:noFill/>
          <a:ln w="9525">
            <a:solidFill>
              <a:srgbClr val="008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2200">
                <a:solidFill>
                  <a:srgbClr val="008000"/>
                </a:solidFill>
                <a:latin typeface="微软雅黑" panose="020B0503020204020204" pitchFamily="34" charset="-122"/>
                <a:ea typeface="微软雅黑" panose="020B0503020204020204" pitchFamily="34" charset="-122"/>
              </a:rPr>
              <a:t>sum:</a:t>
            </a:r>
          </a:p>
          <a:p>
            <a:pPr>
              <a:lnSpc>
                <a:spcPct val="100000"/>
              </a:lnSpc>
              <a:spcBef>
                <a:spcPct val="0"/>
              </a:spcBef>
              <a:buFontTx/>
              <a:buNone/>
            </a:pPr>
            <a:r>
              <a:rPr lang="en-US" altLang="zh-CN" sz="2200">
                <a:solidFill>
                  <a:srgbClr val="008000"/>
                </a:solidFill>
                <a:latin typeface="微软雅黑" panose="020B0503020204020204" pitchFamily="34" charset="-122"/>
                <a:ea typeface="微软雅黑" panose="020B0503020204020204" pitchFamily="34" charset="-122"/>
              </a:rPr>
              <a:t>     …</a:t>
            </a:r>
          </a:p>
          <a:p>
            <a:pPr>
              <a:lnSpc>
                <a:spcPct val="100000"/>
              </a:lnSpc>
              <a:spcBef>
                <a:spcPct val="0"/>
              </a:spcBef>
              <a:buFontTx/>
              <a:buNone/>
            </a:pPr>
            <a:r>
              <a:rPr lang="en-US" altLang="zh-CN" sz="2200">
                <a:solidFill>
                  <a:srgbClr val="008000"/>
                </a:solidFill>
                <a:latin typeface="微软雅黑" panose="020B0503020204020204" pitchFamily="34" charset="-122"/>
                <a:ea typeface="微软雅黑" panose="020B0503020204020204" pitchFamily="34" charset="-122"/>
              </a:rPr>
              <a:t>.L3:</a:t>
            </a:r>
          </a:p>
          <a:p>
            <a:pPr>
              <a:lnSpc>
                <a:spcPct val="100000"/>
              </a:lnSpc>
              <a:spcBef>
                <a:spcPct val="0"/>
              </a:spcBef>
              <a:buFontTx/>
              <a:buNone/>
            </a:pPr>
            <a:r>
              <a:rPr lang="en-US" altLang="zh-CN" sz="2200">
                <a:solidFill>
                  <a:srgbClr val="008000"/>
                </a:solidFill>
                <a:latin typeface="微软雅黑" panose="020B0503020204020204" pitchFamily="34" charset="-122"/>
                <a:ea typeface="微软雅黑" panose="020B0503020204020204" pitchFamily="34" charset="-122"/>
              </a:rPr>
              <a:t>     …</a:t>
            </a:r>
          </a:p>
          <a:p>
            <a:pPr>
              <a:lnSpc>
                <a:spcPct val="100000"/>
              </a:lnSpc>
              <a:spcBef>
                <a:spcPct val="0"/>
              </a:spcBef>
              <a:buFontTx/>
              <a:buNone/>
            </a:pPr>
            <a:r>
              <a:rPr lang="en-US" altLang="zh-CN" sz="2200">
                <a:solidFill>
                  <a:srgbClr val="008000"/>
                </a:solidFill>
                <a:latin typeface="微软雅黑" panose="020B0503020204020204" pitchFamily="34" charset="-122"/>
                <a:ea typeface="微软雅黑" panose="020B0503020204020204" pitchFamily="34" charset="-122"/>
              </a:rPr>
              <a:t>    movl  -4(%ebp),  %eax</a:t>
            </a:r>
          </a:p>
          <a:p>
            <a:pPr>
              <a:lnSpc>
                <a:spcPct val="100000"/>
              </a:lnSpc>
              <a:spcBef>
                <a:spcPct val="0"/>
              </a:spcBef>
              <a:buFontTx/>
              <a:buNone/>
            </a:pPr>
            <a:r>
              <a:rPr lang="en-US" altLang="zh-CN" sz="2200">
                <a:solidFill>
                  <a:srgbClr val="008000"/>
                </a:solidFill>
                <a:latin typeface="微软雅黑" panose="020B0503020204020204" pitchFamily="34" charset="-122"/>
                <a:ea typeface="微软雅黑" panose="020B0503020204020204" pitchFamily="34" charset="-122"/>
              </a:rPr>
              <a:t>    movl  12(%ebp),  %edx</a:t>
            </a:r>
          </a:p>
          <a:p>
            <a:pPr>
              <a:lnSpc>
                <a:spcPct val="100000"/>
              </a:lnSpc>
              <a:spcBef>
                <a:spcPct val="0"/>
              </a:spcBef>
              <a:buFontTx/>
              <a:buNone/>
            </a:pPr>
            <a:r>
              <a:rPr lang="en-US" altLang="zh-CN" sz="2200">
                <a:solidFill>
                  <a:srgbClr val="008000"/>
                </a:solidFill>
                <a:latin typeface="微软雅黑" panose="020B0503020204020204" pitchFamily="34" charset="-122"/>
                <a:ea typeface="微软雅黑" panose="020B0503020204020204" pitchFamily="34" charset="-122"/>
              </a:rPr>
              <a:t>    subl    $1,  %edx</a:t>
            </a:r>
          </a:p>
          <a:p>
            <a:pPr>
              <a:lnSpc>
                <a:spcPct val="100000"/>
              </a:lnSpc>
              <a:spcBef>
                <a:spcPct val="0"/>
              </a:spcBef>
              <a:buFontTx/>
              <a:buNone/>
            </a:pPr>
            <a:r>
              <a:rPr lang="en-US" altLang="zh-CN" sz="2200">
                <a:solidFill>
                  <a:srgbClr val="008000"/>
                </a:solidFill>
                <a:latin typeface="微软雅黑" panose="020B0503020204020204" pitchFamily="34" charset="-122"/>
                <a:ea typeface="微软雅黑" panose="020B0503020204020204" pitchFamily="34" charset="-122"/>
              </a:rPr>
              <a:t>    cmpl  %edx,  %eax</a:t>
            </a:r>
          </a:p>
          <a:p>
            <a:pPr>
              <a:lnSpc>
                <a:spcPct val="100000"/>
              </a:lnSpc>
              <a:spcBef>
                <a:spcPct val="0"/>
              </a:spcBef>
              <a:buFontTx/>
              <a:buNone/>
            </a:pPr>
            <a:r>
              <a:rPr lang="en-US" altLang="zh-CN" sz="2200">
                <a:solidFill>
                  <a:srgbClr val="008000"/>
                </a:solidFill>
                <a:latin typeface="微软雅黑" panose="020B0503020204020204" pitchFamily="34" charset="-122"/>
                <a:ea typeface="微软雅黑" panose="020B0503020204020204" pitchFamily="34" charset="-122"/>
              </a:rPr>
              <a:t>    jle	   .L3</a:t>
            </a:r>
          </a:p>
          <a:p>
            <a:pPr>
              <a:lnSpc>
                <a:spcPct val="100000"/>
              </a:lnSpc>
              <a:spcBef>
                <a:spcPct val="0"/>
              </a:spcBef>
              <a:buFontTx/>
              <a:buNone/>
            </a:pPr>
            <a:r>
              <a:rPr lang="en-US" altLang="zh-CN" sz="2200">
                <a:solidFill>
                  <a:srgbClr val="008000"/>
                </a:solidFill>
                <a:latin typeface="微软雅黑" panose="020B0503020204020204" pitchFamily="34" charset="-122"/>
                <a:ea typeface="微软雅黑" panose="020B0503020204020204" pitchFamily="34" charset="-122"/>
              </a:rPr>
              <a:t>     …</a:t>
            </a:r>
          </a:p>
        </p:txBody>
      </p:sp>
      <p:sp>
        <p:nvSpPr>
          <p:cNvPr id="638982" name="Text Box 6"/>
          <p:cNvSpPr txBox="1">
            <a:spLocks noChangeArrowheads="1"/>
          </p:cNvSpPr>
          <p:nvPr/>
        </p:nvSpPr>
        <p:spPr bwMode="auto">
          <a:xfrm>
            <a:off x="4833938" y="4606925"/>
            <a:ext cx="4078287" cy="1930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25000"/>
              </a:spcBef>
              <a:buFontTx/>
              <a:buNone/>
            </a:pPr>
            <a:r>
              <a:rPr lang="en-US" altLang="zh-CN" sz="2000">
                <a:solidFill>
                  <a:srgbClr val="B3110D"/>
                </a:solidFill>
                <a:latin typeface="微软雅黑" panose="020B0503020204020204" pitchFamily="34" charset="-122"/>
                <a:ea typeface="微软雅黑" panose="020B0503020204020204" pitchFamily="34" charset="-122"/>
              </a:rPr>
              <a:t>i </a:t>
            </a:r>
            <a:r>
              <a:rPr lang="zh-CN" altLang="en-US" sz="2000">
                <a:solidFill>
                  <a:srgbClr val="B3110D"/>
                </a:solidFill>
                <a:latin typeface="微软雅黑" panose="020B0503020204020204" pitchFamily="34" charset="-122"/>
                <a:ea typeface="微软雅黑" panose="020B0503020204020204" pitchFamily="34" charset="-122"/>
              </a:rPr>
              <a:t>在</a:t>
            </a:r>
            <a:r>
              <a:rPr lang="en-US" altLang="zh-CN" sz="2000">
                <a:solidFill>
                  <a:srgbClr val="B3110D"/>
                </a:solidFill>
                <a:latin typeface="微软雅黑" panose="020B0503020204020204" pitchFamily="34" charset="-122"/>
                <a:ea typeface="微软雅黑" panose="020B0503020204020204" pitchFamily="34" charset="-122"/>
              </a:rPr>
              <a:t>%eax</a:t>
            </a:r>
            <a:r>
              <a:rPr lang="zh-CN" altLang="en-US" sz="2000">
                <a:solidFill>
                  <a:srgbClr val="B3110D"/>
                </a:solidFill>
                <a:latin typeface="微软雅黑" panose="020B0503020204020204" pitchFamily="34" charset="-122"/>
                <a:ea typeface="微软雅黑" panose="020B0503020204020204" pitchFamily="34" charset="-122"/>
              </a:rPr>
              <a:t>中，</a:t>
            </a:r>
            <a:r>
              <a:rPr lang="en-US" altLang="zh-CN" sz="2000">
                <a:solidFill>
                  <a:srgbClr val="B3110D"/>
                </a:solidFill>
                <a:latin typeface="微软雅黑" panose="020B0503020204020204" pitchFamily="34" charset="-122"/>
                <a:ea typeface="微软雅黑" panose="020B0503020204020204" pitchFamily="34" charset="-122"/>
              </a:rPr>
              <a:t>len</a:t>
            </a:r>
            <a:r>
              <a:rPr lang="zh-CN" altLang="en-US" sz="2000">
                <a:solidFill>
                  <a:srgbClr val="B3110D"/>
                </a:solidFill>
                <a:latin typeface="微软雅黑" panose="020B0503020204020204" pitchFamily="34" charset="-122"/>
                <a:ea typeface="微软雅黑" panose="020B0503020204020204" pitchFamily="34" charset="-122"/>
              </a:rPr>
              <a:t>在</a:t>
            </a:r>
            <a:r>
              <a:rPr lang="en-US" altLang="zh-CN" sz="2000">
                <a:solidFill>
                  <a:srgbClr val="B3110D"/>
                </a:solidFill>
                <a:latin typeface="微软雅黑" panose="020B0503020204020204" pitchFamily="34" charset="-122"/>
                <a:ea typeface="微软雅黑" panose="020B0503020204020204" pitchFamily="34" charset="-122"/>
              </a:rPr>
              <a:t>%edx</a:t>
            </a:r>
            <a:r>
              <a:rPr lang="zh-CN" altLang="en-US" sz="2000">
                <a:solidFill>
                  <a:srgbClr val="B3110D"/>
                </a:solidFill>
                <a:latin typeface="微软雅黑" panose="020B0503020204020204" pitchFamily="34" charset="-122"/>
                <a:ea typeface="微软雅黑" panose="020B0503020204020204" pitchFamily="34" charset="-122"/>
              </a:rPr>
              <a:t>中</a:t>
            </a:r>
          </a:p>
          <a:p>
            <a:pPr>
              <a:lnSpc>
                <a:spcPct val="100000"/>
              </a:lnSpc>
              <a:spcBef>
                <a:spcPct val="25000"/>
              </a:spcBef>
              <a:buFontTx/>
              <a:buNone/>
            </a:pPr>
            <a:r>
              <a:rPr lang="en-US" altLang="zh-CN" sz="2000">
                <a:solidFill>
                  <a:srgbClr val="B3110D"/>
                </a:solidFill>
                <a:latin typeface="微软雅黑" panose="020B0503020204020204" pitchFamily="34" charset="-122"/>
                <a:ea typeface="微软雅黑" panose="020B0503020204020204" pitchFamily="34" charset="-122"/>
              </a:rPr>
              <a:t>%eax: 0000 …… 0000</a:t>
            </a:r>
          </a:p>
          <a:p>
            <a:pPr>
              <a:lnSpc>
                <a:spcPct val="100000"/>
              </a:lnSpc>
              <a:spcBef>
                <a:spcPct val="25000"/>
              </a:spcBef>
              <a:buFontTx/>
              <a:buNone/>
            </a:pPr>
            <a:r>
              <a:rPr lang="en-US" altLang="zh-CN" sz="2000">
                <a:solidFill>
                  <a:srgbClr val="B3110D"/>
                </a:solidFill>
                <a:latin typeface="微软雅黑" panose="020B0503020204020204" pitchFamily="34" charset="-122"/>
                <a:ea typeface="微软雅黑" panose="020B0503020204020204" pitchFamily="34" charset="-122"/>
              </a:rPr>
              <a:t>%edx: 0000 …… 0000</a:t>
            </a:r>
            <a:endParaRPr lang="zh-CN" altLang="en-US" sz="2000">
              <a:solidFill>
                <a:srgbClr val="B3110D"/>
              </a:solidFill>
              <a:latin typeface="微软雅黑" panose="020B0503020204020204" pitchFamily="34" charset="-122"/>
              <a:ea typeface="微软雅黑" panose="020B0503020204020204" pitchFamily="34" charset="-122"/>
            </a:endParaRPr>
          </a:p>
          <a:p>
            <a:pPr>
              <a:lnSpc>
                <a:spcPct val="100000"/>
              </a:lnSpc>
              <a:spcBef>
                <a:spcPct val="25000"/>
              </a:spcBef>
              <a:buFontTx/>
              <a:buNone/>
            </a:pPr>
            <a:r>
              <a:rPr lang="en-US" altLang="zh-CN" sz="2000">
                <a:latin typeface="微软雅黑" panose="020B0503020204020204" pitchFamily="34" charset="-122"/>
                <a:ea typeface="微软雅黑" panose="020B0503020204020204" pitchFamily="34" charset="-122"/>
              </a:rPr>
              <a:t>subl </a:t>
            </a:r>
            <a:r>
              <a:rPr lang="zh-CN" altLang="en-US" sz="2000">
                <a:latin typeface="微软雅黑" panose="020B0503020204020204" pitchFamily="34" charset="-122"/>
                <a:ea typeface="微软雅黑" panose="020B0503020204020204" pitchFamily="34" charset="-122"/>
              </a:rPr>
              <a:t>指令的执行结果是什么？</a:t>
            </a:r>
          </a:p>
          <a:p>
            <a:pPr>
              <a:lnSpc>
                <a:spcPct val="100000"/>
              </a:lnSpc>
              <a:spcBef>
                <a:spcPct val="25000"/>
              </a:spcBef>
              <a:buFontTx/>
              <a:buNone/>
            </a:pPr>
            <a:r>
              <a:rPr lang="en-US" altLang="zh-CN" sz="2000">
                <a:latin typeface="微软雅黑" panose="020B0503020204020204" pitchFamily="34" charset="-122"/>
                <a:ea typeface="微软雅黑" panose="020B0503020204020204" pitchFamily="34" charset="-122"/>
              </a:rPr>
              <a:t>cmpl </a:t>
            </a:r>
            <a:r>
              <a:rPr lang="zh-CN" altLang="en-US" sz="2000">
                <a:latin typeface="微软雅黑" panose="020B0503020204020204" pitchFamily="34" charset="-122"/>
                <a:ea typeface="微软雅黑" panose="020B0503020204020204" pitchFamily="34" charset="-122"/>
              </a:rPr>
              <a:t>指令的执行结果是什么？</a:t>
            </a:r>
          </a:p>
        </p:txBody>
      </p:sp>
      <p:sp>
        <p:nvSpPr>
          <p:cNvPr id="638983" name="Rectangle 7"/>
          <p:cNvSpPr>
            <a:spLocks noChangeArrowheads="1"/>
          </p:cNvSpPr>
          <p:nvPr/>
        </p:nvSpPr>
        <p:spPr bwMode="auto">
          <a:xfrm>
            <a:off x="288925" y="5205413"/>
            <a:ext cx="4030663"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20000"/>
              </a:lnSpc>
              <a:spcBef>
                <a:spcPct val="15000"/>
              </a:spcBef>
              <a:buFontTx/>
              <a:buNone/>
            </a:pPr>
            <a:r>
              <a:rPr lang="en-US" altLang="zh-CN" sz="2200">
                <a:solidFill>
                  <a:srgbClr val="FF3300"/>
                </a:solidFill>
                <a:latin typeface="微软雅黑" panose="020B0503020204020204" pitchFamily="34" charset="-122"/>
                <a:ea typeface="微软雅黑" panose="020B0503020204020204" pitchFamily="34" charset="-122"/>
              </a:rPr>
              <a:t>i </a:t>
            </a:r>
            <a:r>
              <a:rPr lang="zh-CN" altLang="en-US" sz="2200">
                <a:solidFill>
                  <a:srgbClr val="FF3300"/>
                </a:solidFill>
                <a:latin typeface="微软雅黑" panose="020B0503020204020204" pitchFamily="34" charset="-122"/>
                <a:ea typeface="微软雅黑" panose="020B0503020204020204" pitchFamily="34" charset="-122"/>
              </a:rPr>
              <a:t>和 </a:t>
            </a:r>
            <a:r>
              <a:rPr lang="en-US" altLang="zh-CN" sz="2200">
                <a:solidFill>
                  <a:srgbClr val="FF3300"/>
                </a:solidFill>
                <a:latin typeface="微软雅黑" panose="020B0503020204020204" pitchFamily="34" charset="-122"/>
                <a:ea typeface="微软雅黑" panose="020B0503020204020204" pitchFamily="34" charset="-122"/>
              </a:rPr>
              <a:t>len </a:t>
            </a:r>
            <a:r>
              <a:rPr lang="zh-CN" altLang="en-US" sz="2200">
                <a:solidFill>
                  <a:srgbClr val="FF3300"/>
                </a:solidFill>
                <a:latin typeface="微软雅黑" panose="020B0503020204020204" pitchFamily="34" charset="-122"/>
                <a:ea typeface="微软雅黑" panose="020B0503020204020204" pitchFamily="34" charset="-122"/>
              </a:rPr>
              <a:t>分别存放在哪个寄存器中？ </a:t>
            </a:r>
            <a:r>
              <a:rPr lang="en-US" altLang="zh-CN" sz="2200">
                <a:solidFill>
                  <a:srgbClr val="FF3300"/>
                </a:solidFill>
                <a:latin typeface="微软雅黑" panose="020B0503020204020204" pitchFamily="34" charset="-122"/>
                <a:ea typeface="微软雅黑" panose="020B0503020204020204" pitchFamily="34" charset="-122"/>
              </a:rPr>
              <a:t>%eax</a:t>
            </a:r>
            <a:r>
              <a:rPr lang="zh-CN" altLang="en-US" sz="2200">
                <a:solidFill>
                  <a:srgbClr val="FF3300"/>
                </a:solidFill>
                <a:latin typeface="微软雅黑" panose="020B0503020204020204" pitchFamily="34" charset="-122"/>
                <a:ea typeface="微软雅黑" panose="020B0503020204020204" pitchFamily="34" charset="-122"/>
              </a:rPr>
              <a:t>？ </a:t>
            </a:r>
            <a:r>
              <a:rPr lang="en-US" altLang="zh-CN" sz="2200">
                <a:solidFill>
                  <a:srgbClr val="FF3300"/>
                </a:solidFill>
                <a:latin typeface="微软雅黑" panose="020B0503020204020204" pitchFamily="34" charset="-122"/>
                <a:ea typeface="微软雅黑" panose="020B0503020204020204" pitchFamily="34" charset="-122"/>
              </a:rPr>
              <a:t>%edx</a:t>
            </a:r>
            <a:r>
              <a:rPr lang="zh-CN" altLang="en-US" sz="2200">
                <a:solidFill>
                  <a:srgbClr val="FF3300"/>
                </a:solidFill>
                <a:latin typeface="微软雅黑" panose="020B0503020204020204" pitchFamily="34" charset="-122"/>
                <a:ea typeface="微软雅黑" panose="020B0503020204020204" pitchFamily="34" charset="-122"/>
              </a:rPr>
              <a:t>？</a:t>
            </a:r>
          </a:p>
        </p:txBody>
      </p:sp>
      <p:sp>
        <p:nvSpPr>
          <p:cNvPr id="638984" name="Rectangle 8"/>
          <p:cNvSpPr>
            <a:spLocks noChangeArrowheads="1"/>
          </p:cNvSpPr>
          <p:nvPr/>
        </p:nvSpPr>
        <p:spPr bwMode="auto">
          <a:xfrm>
            <a:off x="5111750" y="3608388"/>
            <a:ext cx="1843088" cy="409575"/>
          </a:xfrm>
          <a:prstGeom prst="rect">
            <a:avLst/>
          </a:prstGeom>
          <a:noFill/>
          <a:ln w="28575">
            <a:solidFill>
              <a:srgbClr val="99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8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0659135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8981"/>
                                        </p:tgtEl>
                                        <p:attrNameLst>
                                          <p:attrName>style.visibility</p:attrName>
                                        </p:attrNameLst>
                                      </p:cBhvr>
                                      <p:to>
                                        <p:strVal val="visible"/>
                                      </p:to>
                                    </p:set>
                                    <p:animEffect transition="in" filter="blinds(horizontal)">
                                      <p:cBhvr>
                                        <p:cTn id="7" dur="500"/>
                                        <p:tgtEl>
                                          <p:spTgt spid="6389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38984"/>
                                        </p:tgtEl>
                                        <p:attrNameLst>
                                          <p:attrName>style.visibility</p:attrName>
                                        </p:attrNameLst>
                                      </p:cBhvr>
                                      <p:to>
                                        <p:strVal val="visible"/>
                                      </p:to>
                                    </p:set>
                                    <p:animEffect transition="in" filter="blinds(horizontal)">
                                      <p:cBhvr>
                                        <p:cTn id="12" dur="500"/>
                                        <p:tgtEl>
                                          <p:spTgt spid="63898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38982"/>
                                        </p:tgtEl>
                                        <p:attrNameLst>
                                          <p:attrName>style.visibility</p:attrName>
                                        </p:attrNameLst>
                                      </p:cBhvr>
                                      <p:to>
                                        <p:strVal val="visible"/>
                                      </p:to>
                                    </p:set>
                                    <p:animEffect transition="in" filter="blinds(horizontal)">
                                      <p:cBhvr>
                                        <p:cTn id="17" dur="500"/>
                                        <p:tgtEl>
                                          <p:spTgt spid="63898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38983"/>
                                        </p:tgtEl>
                                        <p:attrNameLst>
                                          <p:attrName>style.visibility</p:attrName>
                                        </p:attrNameLst>
                                      </p:cBhvr>
                                      <p:to>
                                        <p:strVal val="visible"/>
                                      </p:to>
                                    </p:set>
                                    <p:animEffect transition="in" filter="blinds(horizontal)">
                                      <p:cBhvr>
                                        <p:cTn id="22" dur="500"/>
                                        <p:tgtEl>
                                          <p:spTgt spid="638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8981" grpId="0" animBg="1"/>
      <p:bldP spid="638982" grpId="0" animBg="1"/>
      <p:bldP spid="638983" grpId="0"/>
      <p:bldP spid="63898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601788" y="142875"/>
            <a:ext cx="5629275" cy="528638"/>
          </a:xfrm>
        </p:spPr>
        <p:txBody>
          <a:bodyPr>
            <a:normAutofit fontScale="90000"/>
          </a:bodyPr>
          <a:lstStyle/>
          <a:p>
            <a:r>
              <a:rPr lang="en-US" altLang="zh-CN" sz="3600">
                <a:ea typeface="宋体" panose="02010600030101010101" pitchFamily="2" charset="-122"/>
              </a:rPr>
              <a:t>jle .L3</a:t>
            </a:r>
            <a:r>
              <a:rPr lang="zh-CN" altLang="en-US" sz="3600">
                <a:ea typeface="宋体" panose="02010600030101010101" pitchFamily="2" charset="-122"/>
              </a:rPr>
              <a:t>指令的执行结果</a:t>
            </a:r>
          </a:p>
        </p:txBody>
      </p:sp>
      <p:graphicFrame>
        <p:nvGraphicFramePr>
          <p:cNvPr id="640003" name="Group 3">
            <a:extLst>
              <a:ext uri="{FF2B5EF4-FFF2-40B4-BE49-F238E27FC236}">
                <a16:creationId xmlns:a16="http://schemas.microsoft.com/office/drawing/2014/main" id="{D45BE00D-03FE-462B-B9AB-8EFDEA12B3B3}"/>
              </a:ext>
            </a:extLst>
          </p:cNvPr>
          <p:cNvGraphicFramePr>
            <a:graphicFrameLocks noGrp="1"/>
          </p:cNvGraphicFramePr>
          <p:nvPr>
            <p:ph idx="1"/>
          </p:nvPr>
        </p:nvGraphicFramePr>
        <p:xfrm>
          <a:off x="495300" y="1209675"/>
          <a:ext cx="8191500" cy="3800478"/>
        </p:xfrm>
        <a:graphic>
          <a:graphicData uri="http://schemas.openxmlformats.org/drawingml/2006/table">
            <a:tbl>
              <a:tblPr/>
              <a:tblGrid>
                <a:gridCol w="2703513">
                  <a:extLst>
                    <a:ext uri="{9D8B030D-6E8A-4147-A177-3AD203B41FA5}">
                      <a16:colId xmlns:a16="http://schemas.microsoft.com/office/drawing/2014/main" val="20000"/>
                    </a:ext>
                  </a:extLst>
                </a:gridCol>
                <a:gridCol w="2782887">
                  <a:extLst>
                    <a:ext uri="{9D8B030D-6E8A-4147-A177-3AD203B41FA5}">
                      <a16:colId xmlns:a16="http://schemas.microsoft.com/office/drawing/2014/main" val="20001"/>
                    </a:ext>
                  </a:extLst>
                </a:gridCol>
                <a:gridCol w="2705100">
                  <a:extLst>
                    <a:ext uri="{9D8B030D-6E8A-4147-A177-3AD203B41FA5}">
                      <a16:colId xmlns:a16="http://schemas.microsoft.com/office/drawing/2014/main" val="20002"/>
                    </a:ext>
                  </a:extLst>
                </a:gridCol>
              </a:tblGrid>
              <a:tr h="492125">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ctr" defTabSz="914400" rtl="0" eaLnBrk="0" fontAlgn="base" latinLnBrk="0" hangingPunct="0">
                        <a:lnSpc>
                          <a:spcPts val="1600"/>
                        </a:lnSpc>
                        <a:spcBef>
                          <a:spcPct val="30000"/>
                        </a:spcBef>
                        <a:spcAft>
                          <a:spcPct val="0"/>
                        </a:spcAft>
                        <a:buClrTx/>
                        <a:buSzTx/>
                        <a:buFontTx/>
                        <a:buNone/>
                        <a:tabLst/>
                      </a:pP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指令</a:t>
                      </a: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ctr" defTabSz="914400" rtl="0" eaLnBrk="0" fontAlgn="base" latinLnBrk="0" hangingPunct="0">
                        <a:lnSpc>
                          <a:spcPts val="1600"/>
                        </a:lnSpc>
                        <a:spcBef>
                          <a:spcPct val="30000"/>
                        </a:spcBef>
                        <a:spcAft>
                          <a:spcPct val="0"/>
                        </a:spcAft>
                        <a:buClrTx/>
                        <a:buSzTx/>
                        <a:buFontTx/>
                        <a:buNone/>
                        <a:tabLst/>
                      </a:pP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转移条件</a:t>
                      </a: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ctr" defTabSz="914400" rtl="0" eaLnBrk="0" fontAlgn="base" latinLnBrk="0" hangingPunct="0">
                        <a:lnSpc>
                          <a:spcPts val="1600"/>
                        </a:lnSpc>
                        <a:spcBef>
                          <a:spcPct val="30000"/>
                        </a:spcBef>
                        <a:spcAft>
                          <a:spcPct val="0"/>
                        </a:spcAft>
                        <a:buClrTx/>
                        <a:buSzTx/>
                        <a:buFontTx/>
                        <a:buNone/>
                        <a:tabLst/>
                      </a:pP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说明</a:t>
                      </a: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extLst>
                  <a:ext uri="{0D108BD9-81ED-4DB2-BD59-A6C34878D82A}">
                    <a16:rowId xmlns:a16="http://schemas.microsoft.com/office/drawing/2014/main" val="10000"/>
                  </a:ext>
                </a:extLst>
              </a:tr>
              <a:tr h="388938">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JA/JNBE  label</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CF=0 AND ZF=0</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ctr" defTabSz="914400" rtl="0" eaLnBrk="0" fontAlgn="base" latinLnBrk="0" hangingPunct="0">
                        <a:lnSpc>
                          <a:spcPts val="1600"/>
                        </a:lnSpc>
                        <a:spcBef>
                          <a:spcPct val="30000"/>
                        </a:spcBef>
                        <a:spcAft>
                          <a:spcPct val="0"/>
                        </a:spcAft>
                        <a:buClrTx/>
                        <a:buSzTx/>
                        <a:buFontTx/>
                        <a:buNone/>
                        <a:tabLst/>
                      </a:pP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无符号数</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a:t>
                      </a: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B</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extLst>
                  <a:ext uri="{0D108BD9-81ED-4DB2-BD59-A6C34878D82A}">
                    <a16:rowId xmlns:a16="http://schemas.microsoft.com/office/drawing/2014/main" val="10001"/>
                  </a:ext>
                </a:extLst>
              </a:tr>
              <a:tr h="433388">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JAE/JNB  label</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CF=0 OR ZF=1</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ctr" defTabSz="914400" rtl="0" eaLnBrk="0" fontAlgn="base" latinLnBrk="0" hangingPunct="0">
                        <a:lnSpc>
                          <a:spcPts val="1600"/>
                        </a:lnSpc>
                        <a:spcBef>
                          <a:spcPct val="30000"/>
                        </a:spcBef>
                        <a:spcAft>
                          <a:spcPct val="0"/>
                        </a:spcAft>
                        <a:buClrTx/>
                        <a:buSzTx/>
                        <a:buFontTx/>
                        <a:buNone/>
                        <a:tabLst/>
                      </a:pP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无符号数</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a:t>
                      </a:r>
                      <a:r>
                        <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B</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extLst>
                  <a:ext uri="{0D108BD9-81ED-4DB2-BD59-A6C34878D82A}">
                    <a16:rowId xmlns:a16="http://schemas.microsoft.com/office/drawing/2014/main" val="10002"/>
                  </a:ext>
                </a:extLst>
              </a:tr>
              <a:tr h="411163">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JB/JNAE  label</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CF=1 AND ZF=0</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ctr" defTabSz="914400" rtl="0" eaLnBrk="0" fontAlgn="base" latinLnBrk="0" hangingPunct="0">
                        <a:lnSpc>
                          <a:spcPts val="1600"/>
                        </a:lnSpc>
                        <a:spcBef>
                          <a:spcPct val="30000"/>
                        </a:spcBef>
                        <a:spcAft>
                          <a:spcPct val="0"/>
                        </a:spcAft>
                        <a:buClrTx/>
                        <a:buSzTx/>
                        <a:buFontTx/>
                        <a:buNone/>
                        <a:tabLst/>
                      </a:pP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无符号数</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a:t>
                      </a: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B</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extLst>
                  <a:ext uri="{0D108BD9-81ED-4DB2-BD59-A6C34878D82A}">
                    <a16:rowId xmlns:a16="http://schemas.microsoft.com/office/drawing/2014/main" val="10003"/>
                  </a:ext>
                </a:extLst>
              </a:tr>
              <a:tr h="409575">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JBE/JNA  label</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CF=1 OR ZF=1</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ctr" defTabSz="914400" rtl="0" eaLnBrk="0" fontAlgn="base" latinLnBrk="0" hangingPunct="0">
                        <a:lnSpc>
                          <a:spcPts val="1600"/>
                        </a:lnSpc>
                        <a:spcBef>
                          <a:spcPct val="30000"/>
                        </a:spcBef>
                        <a:spcAft>
                          <a:spcPct val="0"/>
                        </a:spcAft>
                        <a:buClrTx/>
                        <a:buSzTx/>
                        <a:buFontTx/>
                        <a:buNone/>
                        <a:tabLst/>
                      </a:pP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无符号数</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a:t>
                      </a:r>
                      <a:r>
                        <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B</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extLst>
                  <a:ext uri="{0D108BD9-81ED-4DB2-BD59-A6C34878D82A}">
                    <a16:rowId xmlns:a16="http://schemas.microsoft.com/office/drawing/2014/main" val="10004"/>
                  </a:ext>
                </a:extLst>
              </a:tr>
              <a:tr h="409575">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JG/JNLE  label</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SF=OF AND ZF=0</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ctr" defTabSz="914400" rtl="0" eaLnBrk="0" fontAlgn="base" latinLnBrk="0" hangingPunct="0">
                        <a:lnSpc>
                          <a:spcPts val="1600"/>
                        </a:lnSpc>
                        <a:spcBef>
                          <a:spcPct val="30000"/>
                        </a:spcBef>
                        <a:spcAft>
                          <a:spcPct val="0"/>
                        </a:spcAft>
                        <a:buClrTx/>
                        <a:buSzTx/>
                        <a:buFontTx/>
                        <a:buNone/>
                        <a:tabLst/>
                      </a:pP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有符号数</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a:t>
                      </a: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B</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extLst>
                  <a:ext uri="{0D108BD9-81ED-4DB2-BD59-A6C34878D82A}">
                    <a16:rowId xmlns:a16="http://schemas.microsoft.com/office/drawing/2014/main" val="10005"/>
                  </a:ext>
                </a:extLst>
              </a:tr>
              <a:tr h="411163">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JGE/JNL  label</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SF=OF OR ZF=1</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ctr" defTabSz="914400" rtl="0" eaLnBrk="0" fontAlgn="base" latinLnBrk="0" hangingPunct="0">
                        <a:lnSpc>
                          <a:spcPts val="1600"/>
                        </a:lnSpc>
                        <a:spcBef>
                          <a:spcPct val="30000"/>
                        </a:spcBef>
                        <a:spcAft>
                          <a:spcPct val="0"/>
                        </a:spcAft>
                        <a:buClrTx/>
                        <a:buSzTx/>
                        <a:buFontTx/>
                        <a:buNone/>
                        <a:tabLst/>
                      </a:pP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有符号数</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a:t>
                      </a:r>
                      <a:r>
                        <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B</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extLst>
                  <a:ext uri="{0D108BD9-81ED-4DB2-BD59-A6C34878D82A}">
                    <a16:rowId xmlns:a16="http://schemas.microsoft.com/office/drawing/2014/main" val="10006"/>
                  </a:ext>
                </a:extLst>
              </a:tr>
              <a:tr h="411163">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JL/JNGE  label</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SF</a:t>
                      </a:r>
                      <a:r>
                        <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OF AND ZF=0</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ctr" defTabSz="914400" rtl="0" eaLnBrk="0" fontAlgn="base" latinLnBrk="0" hangingPunct="0">
                        <a:lnSpc>
                          <a:spcPts val="1600"/>
                        </a:lnSpc>
                        <a:spcBef>
                          <a:spcPct val="30000"/>
                        </a:spcBef>
                        <a:spcAft>
                          <a:spcPct val="0"/>
                        </a:spcAft>
                        <a:buClrTx/>
                        <a:buSzTx/>
                        <a:buFontTx/>
                        <a:buNone/>
                        <a:tabLst/>
                      </a:pP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有符号数</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a:t>
                      </a:r>
                      <a:r>
                        <a:rPr kumimoji="0" lang="zh-CN" altLang="en-US"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B</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extLst>
                  <a:ext uri="{0D108BD9-81ED-4DB2-BD59-A6C34878D82A}">
                    <a16:rowId xmlns:a16="http://schemas.microsoft.com/office/drawing/2014/main" val="10007"/>
                  </a:ext>
                </a:extLst>
              </a:tr>
              <a:tr h="433388">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JLE/JNG  label</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ts val="1600"/>
                        </a:lnSpc>
                        <a:spcBef>
                          <a:spcPct val="30000"/>
                        </a:spcBef>
                        <a:spcAft>
                          <a:spcPct val="0"/>
                        </a:spcAft>
                        <a:buClrTx/>
                        <a:buSzTx/>
                        <a:buFontTx/>
                        <a:buNone/>
                        <a:tabLst/>
                      </a:pP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SF</a:t>
                      </a:r>
                      <a:r>
                        <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t>
                      </a:r>
                      <a:r>
                        <a:rPr kumimoji="0" lang="en-US"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OF OR ZF=1</a:t>
                      </a:r>
                      <a:endParaRPr kumimoji="0" lang="zh-CN" altLang="zh-CN" sz="20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tc>
                  <a:txBody>
                    <a:bodyPr/>
                    <a:lstStyle>
                      <a:lvl1pPr indent="266700">
                        <a:lnSpc>
                          <a:spcPct val="115000"/>
                        </a:lnSpc>
                        <a:spcBef>
                          <a:spcPct val="20000"/>
                        </a:spcBef>
                        <a:defRPr sz="20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defRPr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defRPr sz="20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defRPr sz="14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defRPr sz="13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defRPr sz="1300" b="1">
                          <a:solidFill>
                            <a:srgbClr val="996600"/>
                          </a:solidFill>
                          <a:latin typeface="Arial" panose="020B0604020202020204" pitchFamily="34" charset="0"/>
                          <a:ea typeface="宋体" panose="02010600030101010101" pitchFamily="2" charset="-122"/>
                        </a:defRPr>
                      </a:lvl9pPr>
                    </a:lstStyle>
                    <a:p>
                      <a:pPr marL="0" marR="0" lvl="0" indent="266700" algn="ctr" defTabSz="914400" rtl="0" eaLnBrk="0" fontAlgn="base" latinLnBrk="0" hangingPunct="0">
                        <a:lnSpc>
                          <a:spcPts val="1600"/>
                        </a:lnSpc>
                        <a:spcBef>
                          <a:spcPct val="30000"/>
                        </a:spcBef>
                        <a:spcAft>
                          <a:spcPct val="0"/>
                        </a:spcAft>
                        <a:buClrTx/>
                        <a:buSzTx/>
                        <a:buFontTx/>
                        <a:buNone/>
                        <a:tabLst/>
                      </a:pPr>
                      <a:r>
                        <a:rPr kumimoji="0" lang="zh-CN" altLang="en-US" sz="20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有符号数</a:t>
                      </a:r>
                      <a:r>
                        <a:rPr kumimoji="0" lang="en-US" altLang="zh-CN" sz="20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A</a:t>
                      </a:r>
                      <a:r>
                        <a:rPr kumimoji="0" lang="zh-CN" altLang="zh-CN" sz="20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a:t>
                      </a:r>
                      <a:r>
                        <a:rPr kumimoji="0" lang="en-US" altLang="zh-CN" sz="20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B</a:t>
                      </a:r>
                      <a:endParaRPr kumimoji="0" lang="zh-CN" altLang="zh-CN" sz="20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txBody>
                  <a:tcPr marL="61200" marR="6120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3FF"/>
                    </a:solidFill>
                  </a:tcPr>
                </a:tc>
                <a:extLst>
                  <a:ext uri="{0D108BD9-81ED-4DB2-BD59-A6C34878D82A}">
                    <a16:rowId xmlns:a16="http://schemas.microsoft.com/office/drawing/2014/main" val="10008"/>
                  </a:ext>
                </a:extLst>
              </a:tr>
            </a:tbl>
          </a:graphicData>
        </a:graphic>
      </p:graphicFrame>
      <p:sp>
        <p:nvSpPr>
          <p:cNvPr id="58413" name="Line 45"/>
          <p:cNvSpPr>
            <a:spLocks noChangeShapeType="1"/>
          </p:cNvSpPr>
          <p:nvPr/>
        </p:nvSpPr>
        <p:spPr bwMode="auto">
          <a:xfrm>
            <a:off x="342900" y="4930775"/>
            <a:ext cx="8607425" cy="0"/>
          </a:xfrm>
          <a:prstGeom prst="line">
            <a:avLst/>
          </a:prstGeom>
          <a:noFill/>
          <a:ln w="38100">
            <a:solidFill>
              <a:srgbClr val="FF33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8414" name="Rectangle 46"/>
          <p:cNvSpPr>
            <a:spLocks noChangeArrowheads="1"/>
          </p:cNvSpPr>
          <p:nvPr/>
        </p:nvSpPr>
        <p:spPr bwMode="auto">
          <a:xfrm>
            <a:off x="319088" y="5146675"/>
            <a:ext cx="8447087" cy="92075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30000"/>
              </a:lnSpc>
              <a:spcBef>
                <a:spcPct val="0"/>
              </a:spcBef>
              <a:buFontTx/>
              <a:buNone/>
            </a:pPr>
            <a:r>
              <a:rPr lang="en-US" altLang="zh-CN" sz="2200">
                <a:solidFill>
                  <a:srgbClr val="990000"/>
                </a:solidFill>
                <a:latin typeface="微软雅黑" panose="020B0503020204020204" pitchFamily="34" charset="-122"/>
                <a:ea typeface="微软雅黑" panose="020B0503020204020204" pitchFamily="34" charset="-122"/>
              </a:rPr>
              <a:t>“cmpl %edx,%eax”</a:t>
            </a:r>
            <a:r>
              <a:rPr lang="zh-CN" altLang="en-US" sz="2200">
                <a:solidFill>
                  <a:srgbClr val="990000"/>
                </a:solidFill>
                <a:latin typeface="微软雅黑" panose="020B0503020204020204" pitchFamily="34" charset="-122"/>
                <a:ea typeface="微软雅黑" panose="020B0503020204020204" pitchFamily="34" charset="-122"/>
              </a:rPr>
              <a:t>执行结果是</a:t>
            </a:r>
            <a:r>
              <a:rPr lang="en-US" altLang="zh-CN" sz="2200">
                <a:solidFill>
                  <a:srgbClr val="990000"/>
                </a:solidFill>
                <a:latin typeface="微软雅黑" panose="020B0503020204020204" pitchFamily="34" charset="-122"/>
                <a:ea typeface="微软雅黑" panose="020B0503020204020204" pitchFamily="34" charset="-122"/>
              </a:rPr>
              <a:t> CF=1,</a:t>
            </a:r>
            <a:r>
              <a:rPr lang="en-US" altLang="zh-CN" sz="2200">
                <a:solidFill>
                  <a:schemeClr val="accent2"/>
                </a:solidFill>
                <a:latin typeface="微软雅黑" panose="020B0503020204020204" pitchFamily="34" charset="-122"/>
                <a:ea typeface="微软雅黑" panose="020B0503020204020204" pitchFamily="34" charset="-122"/>
              </a:rPr>
              <a:t> ZF=0, OF=0, SF=0</a:t>
            </a:r>
            <a:r>
              <a:rPr lang="zh-CN" altLang="en-US" sz="2200">
                <a:solidFill>
                  <a:srgbClr val="990000"/>
                </a:solidFill>
                <a:latin typeface="微软雅黑" panose="020B0503020204020204" pitchFamily="34" charset="-122"/>
                <a:ea typeface="微软雅黑" panose="020B0503020204020204" pitchFamily="34" charset="-122"/>
              </a:rPr>
              <a:t>，</a:t>
            </a:r>
            <a:r>
              <a:rPr lang="en-US" altLang="zh-CN" sz="2200">
                <a:solidFill>
                  <a:srgbClr val="996633"/>
                </a:solidFill>
                <a:latin typeface="微软雅黑" panose="020B0503020204020204" pitchFamily="34" charset="-122"/>
                <a:ea typeface="微软雅黑" panose="020B0503020204020204" pitchFamily="34" charset="-122"/>
              </a:rPr>
              <a:t> </a:t>
            </a:r>
            <a:r>
              <a:rPr lang="zh-CN" altLang="en-US" sz="2200">
                <a:solidFill>
                  <a:srgbClr val="990000"/>
                </a:solidFill>
                <a:latin typeface="微软雅黑" panose="020B0503020204020204" pitchFamily="34" charset="-122"/>
                <a:ea typeface="微软雅黑" panose="020B0503020204020204" pitchFamily="34" charset="-122"/>
              </a:rPr>
              <a:t>说明不满足条件，应跳出循环执行，执行结果正常。</a:t>
            </a:r>
          </a:p>
        </p:txBody>
      </p:sp>
    </p:spTree>
    <p:extLst>
      <p:ext uri="{BB962C8B-B14F-4D97-AF65-F5344CB8AC3E}">
        <p14:creationId xmlns:p14="http://schemas.microsoft.com/office/powerpoint/2010/main" val="336187607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程序</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中有两个</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类型变量</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j</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，被分别分配在寄存器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EAX</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EDX</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中存在语句：</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if(</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&lt;j){…};</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该</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if</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语句对应的指令序列一定不会是（）</a:t>
            </a:r>
          </a:p>
        </p:txBody>
      </p:sp>
      <p:sp>
        <p:nvSpPr>
          <p:cNvPr id="6" name="文本框 5"/>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cmpl</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eax</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edx</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jle</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804847C</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cmpl</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edx</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eax</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jl</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8048460</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cmpl</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eax</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edx</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ja 8048380</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cmpl</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eax</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edx</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jg</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8048480</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圆角矩形 13"/>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pic>
        <p:nvPicPr>
          <p:cNvPr id="21" name="图片 20"/>
          <p:cNvPicPr>
            <a:picLocks noChangeAspect="1"/>
          </p:cNvPicPr>
          <p:nvPr/>
        </p:nvPicPr>
        <p:blipFill>
          <a:blip r:embed="rId30"/>
          <a:stretch>
            <a:fillRect/>
          </a:stretch>
        </p:blipFill>
        <p:spPr>
          <a:xfrm>
            <a:off x="3811905" y="3190235"/>
            <a:ext cx="5093692" cy="222890"/>
          </a:xfrm>
          <a:prstGeom prst="rect">
            <a:avLst/>
          </a:prstGeom>
        </p:spPr>
      </p:pic>
      <p:pic>
        <p:nvPicPr>
          <p:cNvPr id="23" name="图片 22"/>
          <p:cNvPicPr>
            <a:picLocks noChangeAspect="1"/>
          </p:cNvPicPr>
          <p:nvPr/>
        </p:nvPicPr>
        <p:blipFill>
          <a:blip r:embed="rId31"/>
          <a:stretch>
            <a:fillRect/>
          </a:stretch>
        </p:blipFill>
        <p:spPr>
          <a:xfrm>
            <a:off x="3811905" y="4077072"/>
            <a:ext cx="5033369" cy="209179"/>
          </a:xfrm>
          <a:prstGeom prst="rect">
            <a:avLst/>
          </a:prstGeom>
        </p:spPr>
      </p:pic>
      <p:pic>
        <p:nvPicPr>
          <p:cNvPr id="24" name="图片 23"/>
          <p:cNvPicPr>
            <a:picLocks noChangeAspect="1"/>
          </p:cNvPicPr>
          <p:nvPr/>
        </p:nvPicPr>
        <p:blipFill>
          <a:blip r:embed="rId32"/>
          <a:stretch>
            <a:fillRect/>
          </a:stretch>
        </p:blipFill>
        <p:spPr>
          <a:xfrm>
            <a:off x="3811905" y="4946707"/>
            <a:ext cx="5205095" cy="199152"/>
          </a:xfrm>
          <a:prstGeom prst="rect">
            <a:avLst/>
          </a:prstGeom>
        </p:spPr>
      </p:pic>
      <p:pic>
        <p:nvPicPr>
          <p:cNvPr id="25" name="图片 24"/>
          <p:cNvPicPr>
            <a:picLocks noChangeAspect="1"/>
          </p:cNvPicPr>
          <p:nvPr/>
        </p:nvPicPr>
        <p:blipFill>
          <a:blip r:embed="rId33"/>
          <a:stretch>
            <a:fillRect/>
          </a:stretch>
        </p:blipFill>
        <p:spPr>
          <a:xfrm>
            <a:off x="3843893" y="5772181"/>
            <a:ext cx="5173107" cy="214800"/>
          </a:xfrm>
          <a:prstGeom prst="rect">
            <a:avLst/>
          </a:prstGeom>
        </p:spPr>
      </p:pic>
      <p:sp>
        <p:nvSpPr>
          <p:cNvPr id="26" name="矩形 25"/>
          <p:cNvSpPr/>
          <p:nvPr>
            <p:custDataLst>
              <p:tags r:id="rId12"/>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31" name="文本框 30"/>
          <p:cNvSpPr txBox="1"/>
          <p:nvPr>
            <p:custDataLst>
              <p:tags r:id="rId13"/>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可为此题添加文本、图片、公式等解析，且需将内容全部放在本区域内。正常使用需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a:t>
            </a:r>
          </a:p>
        </p:txBody>
      </p:sp>
      <p:sp>
        <p:nvSpPr>
          <p:cNvPr id="32" name="文本框 31"/>
          <p:cNvSpPr txBox="1"/>
          <p:nvPr>
            <p:custDataLst>
              <p:tags r:id="rId14"/>
            </p:custDataLst>
          </p:nvPr>
        </p:nvSpPr>
        <p:spPr>
          <a:xfrm>
            <a:off x="9779000" y="1270000"/>
            <a:ext cx="3332480" cy="400110"/>
          </a:xfrm>
          <a:prstGeom prst="rect">
            <a:avLst/>
          </a:prstGeom>
          <a:noFill/>
        </p:spPr>
        <p:txBody>
          <a:bodyPr vert="horz" rtlCol="0" anchor="t" anchorCtr="0">
            <a:spAutoFit/>
          </a:bodyPr>
          <a:lstStyle/>
          <a:p>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30" name="组合 29"/>
          <p:cNvGrpSpPr/>
          <p:nvPr>
            <p:custDataLst>
              <p:tags r:id="rId15"/>
            </p:custDataLst>
          </p:nvPr>
        </p:nvGrpSpPr>
        <p:grpSpPr>
          <a:xfrm>
            <a:off x="9537700" y="0"/>
            <a:ext cx="3815080" cy="647700"/>
            <a:chOff x="9537700" y="0"/>
            <a:chExt cx="3815080" cy="647700"/>
          </a:xfrm>
        </p:grpSpPr>
        <p:sp>
          <p:nvSpPr>
            <p:cNvPr id="27" name="RemarkBack"/>
            <p:cNvSpPr/>
            <p:nvPr>
              <p:custDataLst>
                <p:tags r:id="rId25"/>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RemarkBlock"/>
            <p:cNvSpPr/>
            <p:nvPr>
              <p:custDataLst>
                <p:tags r:id="rId26"/>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RemarkTitleText"/>
            <p:cNvSpPr txBox="1"/>
            <p:nvPr>
              <p:custDataLst>
                <p:tags r:id="rId27"/>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sp>
        <p:nvSpPr>
          <p:cNvPr id="2" name="RemarkBack"/>
          <p:cNvSpPr/>
          <p:nvPr>
            <p:custDataLst>
              <p:tags r:id="rId16"/>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RemarkBlock"/>
          <p:cNvSpPr/>
          <p:nvPr>
            <p:custDataLst>
              <p:tags r:id="rId17"/>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RemarkTitleText"/>
          <p:cNvSpPr txBox="1"/>
          <p:nvPr>
            <p:custDataLst>
              <p:tags r:id="rId18"/>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nvGrpSpPr>
          <p:cNvPr id="19" name="组合 18"/>
          <p:cNvGrpSpPr/>
          <p:nvPr>
            <p:custDataLst>
              <p:tags r:id="rId19"/>
            </p:custDataLst>
          </p:nvPr>
        </p:nvGrpSpPr>
        <p:grpSpPr>
          <a:xfrm>
            <a:off x="0" y="0"/>
            <a:ext cx="9144000" cy="635000"/>
            <a:chOff x="0" y="0"/>
            <a:chExt cx="9144000" cy="635000"/>
          </a:xfrm>
        </p:grpSpPr>
        <p:sp>
          <p:nvSpPr>
            <p:cNvPr id="15" name="TitleBackground"/>
            <p:cNvSpPr/>
            <p:nvPr>
              <p:custDataLst>
                <p:tags r:id="rId21"/>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p:cNvSpPr/>
            <p:nvPr>
              <p:custDataLst>
                <p:tags r:id="rId22"/>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p:cNvSpPr txBox="1"/>
            <p:nvPr>
              <p:custDataLst>
                <p:tags r:id="rId23"/>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8" name="TipText"/>
            <p:cNvSpPr txBox="1"/>
            <p:nvPr>
              <p:custDataLst>
                <p:tags r:id="rId24"/>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p:cNvPicPr>
            <a:picLocks/>
          </p:cNvPicPr>
          <p:nvPr>
            <p:custDataLst>
              <p:tags r:id="rId20"/>
            </p:custDataLst>
          </p:nvPr>
        </p:nvPicPr>
        <p:blipFill>
          <a:blip r:embed="rId34">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08960779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0" nodeType="clickEffect">
                                  <p:stCondLst>
                                    <p:cond delay="0"/>
                                  </p:stCondLst>
                                  <p:childTnLst>
                                    <p:animClr clrSpc="rgb" dir="cw">
                                      <p:cBhvr override="childStyle">
                                        <p:cTn id="6" dur="500" fill="hold"/>
                                        <p:tgtEl>
                                          <p:spTgt spid="12"/>
                                        </p:tgtEl>
                                        <p:attrNameLst>
                                          <p:attrName>style.color</p:attrName>
                                        </p:attrNameLst>
                                      </p:cBhvr>
                                      <p:to>
                                        <a:srgbClr val="FF0000"/>
                                      </p:to>
                                    </p:animClr>
                                    <p:animClr clrSpc="rgb" dir="cw">
                                      <p:cBhvr>
                                        <p:cTn id="7" dur="500" fill="hold"/>
                                        <p:tgtEl>
                                          <p:spTgt spid="12"/>
                                        </p:tgtEl>
                                        <p:attrNameLst>
                                          <p:attrName>fillcolor</p:attrName>
                                        </p:attrNameLst>
                                      </p:cBhvr>
                                      <p:to>
                                        <a:srgbClr val="FF0000"/>
                                      </p:to>
                                    </p:animClr>
                                    <p:set>
                                      <p:cBhvr>
                                        <p:cTn id="8" dur="500" fill="hold"/>
                                        <p:tgtEl>
                                          <p:spTgt spid="12"/>
                                        </p:tgtEl>
                                        <p:attrNameLst>
                                          <p:attrName>fill.type</p:attrName>
                                        </p:attrNameLst>
                                      </p:cBhvr>
                                      <p:to>
                                        <p:strVal val="solid"/>
                                      </p:to>
                                    </p:set>
                                    <p:set>
                                      <p:cBhvr>
                                        <p:cTn id="9" dur="500" fill="hold"/>
                                        <p:tgtEl>
                                          <p:spTgt spid="1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8229600" cy="1143000"/>
          </a:xfrm>
        </p:spPr>
        <p:txBody>
          <a:bodyPr>
            <a:normAutofit/>
          </a:bodyPr>
          <a:lstStyle/>
          <a:p>
            <a:r>
              <a:rPr lang="zh-CN" altLang="en-US" sz="4000" dirty="0">
                <a:solidFill>
                  <a:srgbClr val="C00000"/>
                </a:solidFill>
              </a:rPr>
              <a:t>调用和返回指令</a:t>
            </a:r>
          </a:p>
        </p:txBody>
      </p:sp>
      <p:sp>
        <p:nvSpPr>
          <p:cNvPr id="3" name="内容占位符 2"/>
          <p:cNvSpPr>
            <a:spLocks noGrp="1"/>
          </p:cNvSpPr>
          <p:nvPr>
            <p:ph idx="1"/>
          </p:nvPr>
        </p:nvSpPr>
        <p:spPr>
          <a:xfrm>
            <a:off x="457200" y="1143000"/>
            <a:ext cx="8229600" cy="5166320"/>
          </a:xfrm>
        </p:spPr>
        <p:txBody>
          <a:bodyPr>
            <a:normAutofit/>
          </a:bodyPr>
          <a:lstStyle/>
          <a:p>
            <a:pPr lvl="0" eaLnBrk="0" fontAlgn="base" hangingPunct="0">
              <a:lnSpc>
                <a:spcPct val="115000"/>
              </a:lnSpc>
              <a:spcAft>
                <a:spcPts val="1200"/>
              </a:spcAft>
              <a:buNone/>
            </a:pPr>
            <a:r>
              <a:rPr lang="zh-CN" altLang="en-US" sz="2000" b="1" kern="0" dirty="0">
                <a:solidFill>
                  <a:srgbClr val="000000"/>
                </a:solidFill>
                <a:latin typeface="微软雅黑" panose="020B0503020204020204" pitchFamily="34" charset="-122"/>
                <a:ea typeface="微软雅黑" panose="020B0503020204020204" pitchFamily="34" charset="-122"/>
              </a:rPr>
              <a:t>调用指令</a:t>
            </a:r>
            <a:endParaRPr lang="en-US" altLang="zh-CN" sz="2000" b="1" kern="0" dirty="0">
              <a:solidFill>
                <a:srgbClr val="000000"/>
              </a:solidFill>
              <a:latin typeface="微软雅黑" panose="020B0503020204020204" pitchFamily="34" charset="-122"/>
              <a:ea typeface="微软雅黑" panose="020B0503020204020204" pitchFamily="34" charset="-122"/>
            </a:endParaRPr>
          </a:p>
          <a:p>
            <a:pPr lvl="1" eaLnBrk="0" fontAlgn="base" hangingPunct="0">
              <a:lnSpc>
                <a:spcPct val="110000"/>
              </a:lnSpc>
              <a:spcAft>
                <a:spcPts val="1200"/>
              </a:spcAft>
              <a:buFontTx/>
              <a:buChar char="–"/>
            </a:pPr>
            <a:r>
              <a:rPr lang="en-US" altLang="zh-CN" sz="2100" b="1" kern="0" dirty="0">
                <a:solidFill>
                  <a:srgbClr val="0000CC"/>
                </a:solidFill>
                <a:latin typeface="微软雅黑" panose="020B0503020204020204" pitchFamily="34" charset="-122"/>
                <a:ea typeface="微软雅黑" panose="020B0503020204020204" pitchFamily="34" charset="-122"/>
              </a:rPr>
              <a:t>CALL</a:t>
            </a:r>
            <a:r>
              <a:rPr lang="zh-CN" altLang="en-US" sz="2100" b="1" kern="0" dirty="0">
                <a:solidFill>
                  <a:srgbClr val="0000CC"/>
                </a:solidFill>
                <a:latin typeface="微软雅黑" panose="020B0503020204020204" pitchFamily="34" charset="-122"/>
                <a:ea typeface="微软雅黑" panose="020B0503020204020204" pitchFamily="34" charset="-122"/>
              </a:rPr>
              <a:t>是一种无条件转移指令，跳转方式与</a:t>
            </a:r>
            <a:r>
              <a:rPr lang="en-US" altLang="zh-CN" sz="2100" b="1" kern="0" dirty="0">
                <a:solidFill>
                  <a:srgbClr val="0000CC"/>
                </a:solidFill>
                <a:latin typeface="微软雅黑" panose="020B0503020204020204" pitchFamily="34" charset="-122"/>
                <a:ea typeface="微软雅黑" panose="020B0503020204020204" pitchFamily="34" charset="-122"/>
              </a:rPr>
              <a:t>JMP</a:t>
            </a:r>
            <a:r>
              <a:rPr lang="zh-CN" altLang="en-US" sz="2100" b="1" kern="0" dirty="0">
                <a:solidFill>
                  <a:srgbClr val="0000CC"/>
                </a:solidFill>
                <a:latin typeface="微软雅黑" panose="020B0503020204020204" pitchFamily="34" charset="-122"/>
                <a:ea typeface="微软雅黑" panose="020B0503020204020204" pitchFamily="34" charset="-122"/>
              </a:rPr>
              <a:t>指令类似</a:t>
            </a:r>
            <a:endParaRPr lang="en-US" altLang="zh-CN" sz="2100" b="1" kern="0" dirty="0">
              <a:solidFill>
                <a:srgbClr val="0000CC"/>
              </a:solidFill>
              <a:latin typeface="微软雅黑" panose="020B0503020204020204" pitchFamily="34" charset="-122"/>
              <a:ea typeface="微软雅黑" panose="020B0503020204020204" pitchFamily="34" charset="-122"/>
            </a:endParaRPr>
          </a:p>
          <a:p>
            <a:pPr lvl="1" eaLnBrk="0" fontAlgn="base" hangingPunct="0">
              <a:lnSpc>
                <a:spcPct val="110000"/>
              </a:lnSpc>
              <a:spcAft>
                <a:spcPts val="1200"/>
              </a:spcAft>
              <a:buFontTx/>
              <a:buChar char="–"/>
            </a:pPr>
            <a:r>
              <a:rPr lang="zh-CN" altLang="en-US" sz="2100" b="1" kern="0" dirty="0">
                <a:solidFill>
                  <a:srgbClr val="0000CC"/>
                </a:solidFill>
                <a:latin typeface="微软雅黑" panose="020B0503020204020204" pitchFamily="34" charset="-122"/>
                <a:ea typeface="微软雅黑" panose="020B0503020204020204" pitchFamily="34" charset="-122"/>
              </a:rPr>
              <a:t>将返回地址入栈（相当于</a:t>
            </a:r>
            <a:r>
              <a:rPr lang="en-US" altLang="zh-CN" sz="2100" b="1" kern="0" dirty="0">
                <a:solidFill>
                  <a:srgbClr val="0000CC"/>
                </a:solidFill>
                <a:latin typeface="微软雅黑" panose="020B0503020204020204" pitchFamily="34" charset="-122"/>
                <a:ea typeface="微软雅黑" panose="020B0503020204020204" pitchFamily="34" charset="-122"/>
              </a:rPr>
              <a:t>PUSH</a:t>
            </a:r>
            <a:r>
              <a:rPr lang="zh-CN" altLang="en-US" sz="2100" b="1" kern="0" dirty="0">
                <a:solidFill>
                  <a:srgbClr val="0000CC"/>
                </a:solidFill>
                <a:latin typeface="微软雅黑" panose="020B0503020204020204" pitchFamily="34" charset="-122"/>
                <a:ea typeface="微软雅黑" panose="020B0503020204020204" pitchFamily="34" charset="-122"/>
              </a:rPr>
              <a:t>指令）</a:t>
            </a:r>
            <a:endParaRPr lang="en-US" altLang="zh-CN" sz="2100" b="1" kern="0" dirty="0">
              <a:solidFill>
                <a:srgbClr val="0000CC"/>
              </a:solidFill>
              <a:latin typeface="微软雅黑" panose="020B0503020204020204" pitchFamily="34" charset="-122"/>
              <a:ea typeface="微软雅黑" panose="020B0503020204020204" pitchFamily="34" charset="-122"/>
            </a:endParaRPr>
          </a:p>
          <a:p>
            <a:pPr lvl="1" eaLnBrk="0" fontAlgn="base" hangingPunct="0">
              <a:lnSpc>
                <a:spcPct val="110000"/>
              </a:lnSpc>
              <a:spcAft>
                <a:spcPts val="1200"/>
              </a:spcAft>
              <a:buFontTx/>
              <a:buChar char="–"/>
            </a:pPr>
            <a:r>
              <a:rPr lang="zh-CN" altLang="en-US" sz="2100" b="1" kern="0" dirty="0">
                <a:solidFill>
                  <a:srgbClr val="0000CC"/>
                </a:solidFill>
                <a:latin typeface="微软雅黑" panose="020B0503020204020204" pitchFamily="34" charset="-122"/>
                <a:ea typeface="微软雅黑" panose="020B0503020204020204" pitchFamily="34" charset="-122"/>
              </a:rPr>
              <a:t>跳转到指定地址处执行</a:t>
            </a:r>
            <a:endParaRPr lang="en-US" altLang="zh-CN" sz="2100" b="1" kern="0" dirty="0">
              <a:solidFill>
                <a:srgbClr val="0000CC"/>
              </a:solidFill>
              <a:latin typeface="微软雅黑" panose="020B0503020204020204" pitchFamily="34" charset="-122"/>
              <a:ea typeface="微软雅黑" panose="020B0503020204020204" pitchFamily="34" charset="-122"/>
            </a:endParaRPr>
          </a:p>
          <a:p>
            <a:pPr lvl="0" eaLnBrk="0" fontAlgn="base" hangingPunct="0">
              <a:lnSpc>
                <a:spcPct val="115000"/>
              </a:lnSpc>
              <a:spcAft>
                <a:spcPts val="1200"/>
              </a:spcAft>
              <a:buNone/>
            </a:pPr>
            <a:r>
              <a:rPr lang="zh-CN" altLang="en-US" sz="2000" b="1" kern="0" dirty="0">
                <a:solidFill>
                  <a:srgbClr val="000000"/>
                </a:solidFill>
                <a:latin typeface="微软雅黑" panose="020B0503020204020204" pitchFamily="34" charset="-122"/>
                <a:ea typeface="微软雅黑" panose="020B0503020204020204" pitchFamily="34" charset="-122"/>
              </a:rPr>
              <a:t>返回指令</a:t>
            </a:r>
          </a:p>
          <a:p>
            <a:pPr lvl="1" eaLnBrk="0" fontAlgn="base" hangingPunct="0">
              <a:lnSpc>
                <a:spcPct val="110000"/>
              </a:lnSpc>
              <a:spcAft>
                <a:spcPts val="1200"/>
              </a:spcAft>
              <a:buFontTx/>
              <a:buChar char="–"/>
            </a:pPr>
            <a:r>
              <a:rPr lang="en-US" altLang="zh-CN" sz="2000" b="1" kern="0" dirty="0">
                <a:solidFill>
                  <a:srgbClr val="0000CC"/>
                </a:solidFill>
                <a:latin typeface="微软雅黑" panose="020B0503020204020204" pitchFamily="34" charset="-122"/>
                <a:ea typeface="微软雅黑" panose="020B0503020204020204" pitchFamily="34" charset="-122"/>
              </a:rPr>
              <a:t>RET</a:t>
            </a:r>
            <a:r>
              <a:rPr lang="zh-CN" altLang="en-US" sz="2000" b="1" kern="0" dirty="0">
                <a:solidFill>
                  <a:srgbClr val="0000CC"/>
                </a:solidFill>
                <a:latin typeface="微软雅黑" panose="020B0503020204020204" pitchFamily="34" charset="-122"/>
                <a:ea typeface="微软雅黑" panose="020B0503020204020204" pitchFamily="34" charset="-122"/>
              </a:rPr>
              <a:t>也是一种无条件转移指令，通常放在子程序的末位</a:t>
            </a:r>
          </a:p>
          <a:p>
            <a:pPr lvl="1" eaLnBrk="0" fontAlgn="base" hangingPunct="0">
              <a:lnSpc>
                <a:spcPct val="110000"/>
              </a:lnSpc>
              <a:spcAft>
                <a:spcPts val="1200"/>
              </a:spcAft>
              <a:buFontTx/>
              <a:buChar char="–"/>
            </a:pPr>
            <a:r>
              <a:rPr lang="zh-CN" altLang="en-US" sz="2000" b="1" kern="0" dirty="0">
                <a:solidFill>
                  <a:srgbClr val="0000CC"/>
                </a:solidFill>
                <a:latin typeface="微软雅黑" panose="020B0503020204020204" pitchFamily="34" charset="-122"/>
                <a:ea typeface="微软雅黑" panose="020B0503020204020204" pitchFamily="34" charset="-122"/>
              </a:rPr>
              <a:t>返回地址被从栈顶取出（相当于</a:t>
            </a:r>
            <a:r>
              <a:rPr lang="en-US" altLang="zh-CN" sz="2000" b="1" kern="0" dirty="0">
                <a:solidFill>
                  <a:srgbClr val="0000CC"/>
                </a:solidFill>
                <a:latin typeface="微软雅黑" panose="020B0503020204020204" pitchFamily="34" charset="-122"/>
                <a:ea typeface="微软雅黑" panose="020B0503020204020204" pitchFamily="34" charset="-122"/>
              </a:rPr>
              <a:t>POP</a:t>
            </a:r>
            <a:r>
              <a:rPr lang="zh-CN" altLang="en-US" sz="2000" b="1" kern="0" dirty="0">
                <a:solidFill>
                  <a:srgbClr val="0000CC"/>
                </a:solidFill>
                <a:latin typeface="微软雅黑" panose="020B0503020204020204" pitchFamily="34" charset="-122"/>
                <a:ea typeface="微软雅黑" panose="020B0503020204020204" pitchFamily="34" charset="-122"/>
              </a:rPr>
              <a:t>指令），并送到</a:t>
            </a:r>
            <a:r>
              <a:rPr lang="en-US" altLang="zh-CN" sz="2000" b="1" kern="0" dirty="0">
                <a:solidFill>
                  <a:srgbClr val="0000CC"/>
                </a:solidFill>
                <a:latin typeface="微软雅黑" panose="020B0503020204020204" pitchFamily="34" charset="-122"/>
                <a:ea typeface="微软雅黑" panose="020B0503020204020204" pitchFamily="34" charset="-122"/>
              </a:rPr>
              <a:t>EIP</a:t>
            </a:r>
            <a:r>
              <a:rPr lang="zh-CN" altLang="en-US" sz="2000" b="1" kern="0" dirty="0">
                <a:solidFill>
                  <a:srgbClr val="0000CC"/>
                </a:solidFill>
                <a:latin typeface="微软雅黑" panose="020B0503020204020204" pitchFamily="34" charset="-122"/>
                <a:ea typeface="微软雅黑" panose="020B0503020204020204" pitchFamily="34" charset="-122"/>
              </a:rPr>
              <a:t>寄存器和</a:t>
            </a:r>
            <a:r>
              <a:rPr lang="en-US" altLang="zh-CN" sz="2000" b="1" kern="0" dirty="0">
                <a:solidFill>
                  <a:srgbClr val="0000CC"/>
                </a:solidFill>
                <a:latin typeface="微软雅黑" panose="020B0503020204020204" pitchFamily="34" charset="-122"/>
                <a:ea typeface="微软雅黑" panose="020B0503020204020204" pitchFamily="34" charset="-122"/>
              </a:rPr>
              <a:t>CS</a:t>
            </a:r>
            <a:r>
              <a:rPr lang="zh-CN" altLang="en-US" sz="2000" b="1" kern="0" dirty="0">
                <a:solidFill>
                  <a:srgbClr val="0000CC"/>
                </a:solidFill>
                <a:latin typeface="微软雅黑" panose="020B0503020204020204" pitchFamily="34" charset="-122"/>
                <a:ea typeface="微软雅黑" panose="020B0503020204020204" pitchFamily="34" charset="-122"/>
              </a:rPr>
              <a:t>寄存器</a:t>
            </a:r>
            <a:endParaRPr lang="zh-CN" altLang="en-US" sz="1800" b="1" kern="0" dirty="0">
              <a:solidFill>
                <a:srgbClr val="0000CC"/>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36446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idx="4294967295"/>
          </p:nvPr>
        </p:nvSpPr>
        <p:spPr>
          <a:xfrm>
            <a:off x="522288" y="100013"/>
            <a:ext cx="8156575" cy="543739"/>
          </a:xfrm>
          <a:noFill/>
        </p:spPr>
        <p:txBody>
          <a:bodyPr lIns="63500" tIns="25400" rIns="63500" bIns="25400" anchor="t">
            <a:spAutoFit/>
          </a:bodyPr>
          <a:lstStyle/>
          <a:p>
            <a:pPr algn="l"/>
            <a:r>
              <a:rPr lang="zh-CN" altLang="en-US" sz="3200" dirty="0">
                <a:solidFill>
                  <a:srgbClr val="C00000"/>
                </a:solidFill>
                <a:ea typeface="宋体" panose="02010600030101010101" pitchFamily="2" charset="-122"/>
              </a:rPr>
              <a:t>转移地址计算</a:t>
            </a:r>
          </a:p>
        </p:txBody>
      </p:sp>
      <p:sp>
        <p:nvSpPr>
          <p:cNvPr id="54" name="内容占位符 2"/>
          <p:cNvSpPr txBox="1">
            <a:spLocks/>
          </p:cNvSpPr>
          <p:nvPr/>
        </p:nvSpPr>
        <p:spPr>
          <a:xfrm>
            <a:off x="449263" y="1124744"/>
            <a:ext cx="8229600" cy="5166320"/>
          </a:xfrm>
          <a:prstGeom prst="rect">
            <a:avLst/>
          </a:prstGeom>
        </p:spPr>
        <p:txBody>
          <a:bodyPr>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0" fontAlgn="base" hangingPunct="0">
              <a:lnSpc>
                <a:spcPct val="115000"/>
              </a:lnSpc>
              <a:spcAft>
                <a:spcPct val="0"/>
              </a:spcAft>
              <a:buFont typeface="Arial" pitchFamily="34" charset="0"/>
              <a:buNone/>
            </a:pPr>
            <a:r>
              <a:rPr lang="zh-CN" altLang="en-US" sz="2000" b="1" kern="0" dirty="0">
                <a:solidFill>
                  <a:srgbClr val="000000"/>
                </a:solidFill>
                <a:latin typeface="微软雅黑" panose="020B0503020204020204" pitchFamily="34" charset="-122"/>
                <a:ea typeface="微软雅黑" panose="020B0503020204020204" pitchFamily="34" charset="-122"/>
              </a:rPr>
              <a:t>已知</a:t>
            </a:r>
            <a:r>
              <a:rPr lang="en-US" altLang="zh-CN" sz="2000" b="1" kern="0" dirty="0">
                <a:solidFill>
                  <a:srgbClr val="000000"/>
                </a:solidFill>
                <a:latin typeface="微软雅黑" panose="020B0503020204020204" pitchFamily="34" charset="-122"/>
                <a:ea typeface="微软雅黑" panose="020B0503020204020204" pitchFamily="34" charset="-122"/>
              </a:rPr>
              <a:t>IA-32</a:t>
            </a:r>
            <a:r>
              <a:rPr lang="zh-CN" altLang="en-US" sz="2000" b="1" kern="0" dirty="0">
                <a:solidFill>
                  <a:srgbClr val="000000"/>
                </a:solidFill>
                <a:latin typeface="微软雅黑" panose="020B0503020204020204" pitchFamily="34" charset="-122"/>
                <a:ea typeface="微软雅黑" panose="020B0503020204020204" pitchFamily="34" charset="-122"/>
              </a:rPr>
              <a:t>是小端处理方式，现有如下</a:t>
            </a:r>
            <a:r>
              <a:rPr lang="en-US" altLang="zh-CN" sz="2000" b="1" kern="0" dirty="0">
                <a:solidFill>
                  <a:srgbClr val="000000"/>
                </a:solidFill>
                <a:latin typeface="微软雅黑" panose="020B0503020204020204" pitchFamily="34" charset="-122"/>
                <a:ea typeface="微软雅黑" panose="020B0503020204020204" pitchFamily="34" charset="-122"/>
              </a:rPr>
              <a:t>IA-32</a:t>
            </a:r>
            <a:r>
              <a:rPr lang="zh-CN" altLang="en-US" sz="2000" b="1" kern="0" dirty="0">
                <a:solidFill>
                  <a:srgbClr val="000000"/>
                </a:solidFill>
                <a:latin typeface="微软雅黑" panose="020B0503020204020204" pitchFamily="34" charset="-122"/>
                <a:ea typeface="微软雅黑" panose="020B0503020204020204" pitchFamily="34" charset="-122"/>
              </a:rPr>
              <a:t>机器代码的反汇编结果：</a:t>
            </a:r>
            <a:endParaRPr lang="en-US" altLang="zh-CN" sz="2000" b="1" kern="0" dirty="0">
              <a:solidFill>
                <a:srgbClr val="000000"/>
              </a:solidFill>
              <a:latin typeface="微软雅黑" panose="020B0503020204020204" pitchFamily="34" charset="-122"/>
              <a:ea typeface="微软雅黑" panose="020B0503020204020204" pitchFamily="34" charset="-122"/>
            </a:endParaRPr>
          </a:p>
          <a:p>
            <a:pPr eaLnBrk="0" fontAlgn="base" hangingPunct="0">
              <a:lnSpc>
                <a:spcPct val="115000"/>
              </a:lnSpc>
              <a:spcAft>
                <a:spcPct val="0"/>
              </a:spcAft>
              <a:buFont typeface="Arial" pitchFamily="34" charset="0"/>
              <a:buNone/>
            </a:pPr>
            <a:endParaRPr lang="en-US" altLang="zh-CN" sz="2000" b="1" kern="0" dirty="0">
              <a:solidFill>
                <a:srgbClr val="000000"/>
              </a:solidFill>
              <a:latin typeface="微软雅黑" panose="020B0503020204020204" pitchFamily="34" charset="-122"/>
              <a:ea typeface="微软雅黑" panose="020B0503020204020204" pitchFamily="34" charset="-122"/>
            </a:endParaRPr>
          </a:p>
          <a:p>
            <a:pPr eaLnBrk="0" fontAlgn="base" hangingPunct="0">
              <a:lnSpc>
                <a:spcPct val="115000"/>
              </a:lnSpc>
              <a:spcAft>
                <a:spcPct val="0"/>
              </a:spcAft>
              <a:buFont typeface="Arial" pitchFamily="34" charset="0"/>
              <a:buNone/>
            </a:pPr>
            <a:r>
              <a:rPr lang="en-US" altLang="zh-CN" sz="2000" b="1" kern="0" dirty="0">
                <a:solidFill>
                  <a:srgbClr val="000000"/>
                </a:solidFill>
                <a:latin typeface="微软雅黑" panose="020B0503020204020204" pitchFamily="34" charset="-122"/>
                <a:ea typeface="微软雅黑" panose="020B0503020204020204" pitchFamily="34" charset="-122"/>
              </a:rPr>
              <a:t>804838c</a:t>
            </a:r>
            <a:r>
              <a:rPr lang="zh-CN" altLang="en-US" sz="2000" b="1" kern="0" dirty="0">
                <a:solidFill>
                  <a:srgbClr val="000000"/>
                </a:solidFill>
                <a:latin typeface="微软雅黑" panose="020B0503020204020204" pitchFamily="34" charset="-122"/>
                <a:ea typeface="微软雅黑" panose="020B0503020204020204" pitchFamily="34" charset="-122"/>
              </a:rPr>
              <a:t>：</a:t>
            </a:r>
            <a:r>
              <a:rPr lang="en-US" altLang="zh-CN" sz="2000" b="1" kern="0" dirty="0">
                <a:solidFill>
                  <a:srgbClr val="000000"/>
                </a:solidFill>
                <a:latin typeface="微软雅黑" panose="020B0503020204020204" pitchFamily="34" charset="-122"/>
                <a:ea typeface="微软雅黑" panose="020B0503020204020204" pitchFamily="34" charset="-122"/>
              </a:rPr>
              <a:t>74 08		je    </a:t>
            </a:r>
            <a:r>
              <a:rPr lang="en-US" altLang="zh-CN" sz="2000" b="1" kern="0" dirty="0" err="1">
                <a:solidFill>
                  <a:srgbClr val="000000"/>
                </a:solidFill>
                <a:latin typeface="微软雅黑" panose="020B0503020204020204" pitchFamily="34" charset="-122"/>
                <a:ea typeface="微软雅黑" panose="020B0503020204020204" pitchFamily="34" charset="-122"/>
              </a:rPr>
              <a:t>xxxxxxxx</a:t>
            </a:r>
            <a:endParaRPr lang="en-US" altLang="zh-CN" sz="2000" b="1" kern="0" dirty="0">
              <a:solidFill>
                <a:srgbClr val="000000"/>
              </a:solidFill>
              <a:latin typeface="微软雅黑" panose="020B0503020204020204" pitchFamily="34" charset="-122"/>
              <a:ea typeface="微软雅黑" panose="020B0503020204020204" pitchFamily="34" charset="-122"/>
            </a:endParaRPr>
          </a:p>
          <a:p>
            <a:pPr eaLnBrk="0" fontAlgn="base" hangingPunct="0">
              <a:lnSpc>
                <a:spcPct val="115000"/>
              </a:lnSpc>
              <a:spcAft>
                <a:spcPct val="0"/>
              </a:spcAft>
              <a:buFont typeface="Arial" pitchFamily="34" charset="0"/>
              <a:buNone/>
            </a:pPr>
            <a:r>
              <a:rPr lang="en-US" altLang="zh-CN" sz="2000" b="1" kern="0" dirty="0">
                <a:solidFill>
                  <a:srgbClr val="000000"/>
                </a:solidFill>
                <a:latin typeface="微软雅黑" panose="020B0503020204020204" pitchFamily="34" charset="-122"/>
                <a:ea typeface="微软雅黑" panose="020B0503020204020204" pitchFamily="34" charset="-122"/>
              </a:rPr>
              <a:t>804838e:  e8 1e 00 00 00	call 80483b1 &lt;test&gt;</a:t>
            </a:r>
          </a:p>
          <a:p>
            <a:pPr eaLnBrk="0" fontAlgn="base" hangingPunct="0">
              <a:lnSpc>
                <a:spcPct val="115000"/>
              </a:lnSpc>
              <a:spcAft>
                <a:spcPct val="0"/>
              </a:spcAft>
              <a:buFont typeface="Arial" pitchFamily="34" charset="0"/>
              <a:buNone/>
            </a:pPr>
            <a:endParaRPr lang="zh-CN" altLang="en-US" sz="2000" b="1" kern="0" dirty="0">
              <a:solidFill>
                <a:srgbClr val="000000"/>
              </a:solidFill>
              <a:latin typeface="微软雅黑" panose="020B0503020204020204" pitchFamily="34" charset="-122"/>
              <a:ea typeface="微软雅黑" panose="020B0503020204020204" pitchFamily="34" charset="-122"/>
            </a:endParaRPr>
          </a:p>
          <a:p>
            <a:pPr lvl="1" eaLnBrk="0" fontAlgn="base" hangingPunct="0">
              <a:lnSpc>
                <a:spcPct val="110000"/>
              </a:lnSpc>
              <a:spcAft>
                <a:spcPct val="0"/>
              </a:spcAft>
              <a:buFontTx/>
              <a:buChar char="–"/>
            </a:pPr>
            <a:r>
              <a:rPr lang="zh-CN" altLang="en-US" sz="2000" b="1" kern="0" dirty="0">
                <a:solidFill>
                  <a:srgbClr val="0000CC"/>
                </a:solidFill>
                <a:latin typeface="微软雅黑" panose="020B0503020204020204" pitchFamily="34" charset="-122"/>
                <a:ea typeface="微软雅黑" panose="020B0503020204020204" pitchFamily="34" charset="-122"/>
              </a:rPr>
              <a:t>已知</a:t>
            </a:r>
            <a:r>
              <a:rPr lang="en-US" altLang="zh-CN" sz="2000" b="1" kern="0" dirty="0">
                <a:solidFill>
                  <a:srgbClr val="0000CC"/>
                </a:solidFill>
                <a:latin typeface="微软雅黑" panose="020B0503020204020204" pitchFamily="34" charset="-122"/>
                <a:ea typeface="微软雅黑" panose="020B0503020204020204" pitchFamily="34" charset="-122"/>
              </a:rPr>
              <a:t>je</a:t>
            </a:r>
            <a:r>
              <a:rPr lang="zh-CN" altLang="en-US" sz="2000" b="1" kern="0" dirty="0">
                <a:solidFill>
                  <a:srgbClr val="0000CC"/>
                </a:solidFill>
                <a:latin typeface="微软雅黑" panose="020B0503020204020204" pitchFamily="34" charset="-122"/>
                <a:ea typeface="微软雅黑" panose="020B0503020204020204" pitchFamily="34" charset="-122"/>
              </a:rPr>
              <a:t>指令的操作码是</a:t>
            </a:r>
            <a:r>
              <a:rPr lang="en-US" altLang="zh-CN" sz="2000" b="1" kern="0" dirty="0">
                <a:solidFill>
                  <a:srgbClr val="0000CC"/>
                </a:solidFill>
                <a:latin typeface="微软雅黑" panose="020B0503020204020204" pitchFamily="34" charset="-122"/>
                <a:ea typeface="微软雅黑" panose="020B0503020204020204" pitchFamily="34" charset="-122"/>
              </a:rPr>
              <a:t>01110100b</a:t>
            </a:r>
            <a:r>
              <a:rPr lang="zh-CN" altLang="en-US" sz="2000" b="1" kern="0" dirty="0">
                <a:solidFill>
                  <a:srgbClr val="0000CC"/>
                </a:solidFill>
                <a:latin typeface="微软雅黑" panose="020B0503020204020204" pitchFamily="34" charset="-122"/>
                <a:ea typeface="微软雅黑" panose="020B0503020204020204" pitchFamily="34" charset="-122"/>
              </a:rPr>
              <a:t>，</a:t>
            </a:r>
            <a:r>
              <a:rPr lang="en-US" altLang="zh-CN" sz="2000" b="1" kern="0" dirty="0">
                <a:solidFill>
                  <a:srgbClr val="0000CC"/>
                </a:solidFill>
                <a:latin typeface="微软雅黑" panose="020B0503020204020204" pitchFamily="34" charset="-122"/>
                <a:ea typeface="微软雅黑" panose="020B0503020204020204" pitchFamily="34" charset="-122"/>
              </a:rPr>
              <a:t>je</a:t>
            </a:r>
            <a:r>
              <a:rPr lang="zh-CN" altLang="en-US" sz="2000" b="1" kern="0" dirty="0">
                <a:solidFill>
                  <a:srgbClr val="0000CC"/>
                </a:solidFill>
                <a:latin typeface="微软雅黑" panose="020B0503020204020204" pitchFamily="34" charset="-122"/>
                <a:ea typeface="微软雅黑" panose="020B0503020204020204" pitchFamily="34" charset="-122"/>
              </a:rPr>
              <a:t>指令的目标地址是什么？</a:t>
            </a:r>
          </a:p>
          <a:p>
            <a:pPr lvl="2" eaLnBrk="0" fontAlgn="base" hangingPunct="0">
              <a:lnSpc>
                <a:spcPct val="110000"/>
              </a:lnSpc>
              <a:spcAft>
                <a:spcPct val="0"/>
              </a:spcAft>
              <a:buNone/>
            </a:pPr>
            <a:r>
              <a:rPr lang="en-US" altLang="zh-CN" sz="2000" b="1" kern="0" dirty="0">
                <a:solidFill>
                  <a:srgbClr val="006600"/>
                </a:solidFill>
                <a:latin typeface="微软雅黑" panose="020B0503020204020204" pitchFamily="34" charset="-122"/>
                <a:ea typeface="微软雅黑" panose="020B0503020204020204" pitchFamily="34" charset="-122"/>
              </a:rPr>
              <a:t>je</a:t>
            </a:r>
            <a:r>
              <a:rPr lang="zh-CN" altLang="en-US" sz="2000" b="1" kern="0" dirty="0">
                <a:solidFill>
                  <a:srgbClr val="006600"/>
                </a:solidFill>
                <a:latin typeface="微软雅黑" panose="020B0503020204020204" pitchFamily="34" charset="-122"/>
                <a:ea typeface="微软雅黑" panose="020B0503020204020204" pitchFamily="34" charset="-122"/>
              </a:rPr>
              <a:t>指令取址完成后</a:t>
            </a:r>
            <a:r>
              <a:rPr lang="en-US" altLang="zh-CN" sz="2000" b="1" kern="0" dirty="0">
                <a:solidFill>
                  <a:srgbClr val="006600"/>
                </a:solidFill>
                <a:latin typeface="微软雅黑" panose="020B0503020204020204" pitchFamily="34" charset="-122"/>
                <a:ea typeface="微软雅黑" panose="020B0503020204020204" pitchFamily="34" charset="-122"/>
              </a:rPr>
              <a:t>PC</a:t>
            </a:r>
            <a:r>
              <a:rPr lang="zh-CN" altLang="en-US" sz="2000" b="1" kern="0" dirty="0">
                <a:solidFill>
                  <a:srgbClr val="006600"/>
                </a:solidFill>
                <a:latin typeface="微软雅黑" panose="020B0503020204020204" pitchFamily="34" charset="-122"/>
                <a:ea typeface="微软雅黑" panose="020B0503020204020204" pitchFamily="34" charset="-122"/>
              </a:rPr>
              <a:t>地址改变为</a:t>
            </a:r>
            <a:r>
              <a:rPr lang="en-US" altLang="zh-CN" sz="2000" b="1" kern="0" dirty="0">
                <a:solidFill>
                  <a:srgbClr val="006600"/>
                </a:solidFill>
                <a:latin typeface="微软雅黑" panose="020B0503020204020204" pitchFamily="34" charset="-122"/>
                <a:ea typeface="微软雅黑" panose="020B0503020204020204" pitchFamily="34" charset="-122"/>
              </a:rPr>
              <a:t>0x804838C+2</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a:solidFill>
                  <a:srgbClr val="006600"/>
                </a:solidFill>
                <a:latin typeface="微软雅黑" panose="020B0503020204020204" pitchFamily="34" charset="-122"/>
                <a:ea typeface="微软雅黑" panose="020B0503020204020204" pitchFamily="34" charset="-122"/>
              </a:rPr>
              <a:t>2</a:t>
            </a:r>
            <a:r>
              <a:rPr lang="zh-CN" altLang="en-US" sz="2000" b="1" kern="0" dirty="0">
                <a:solidFill>
                  <a:srgbClr val="006600"/>
                </a:solidFill>
                <a:latin typeface="微软雅黑" panose="020B0503020204020204" pitchFamily="34" charset="-122"/>
                <a:ea typeface="微软雅黑" panose="020B0503020204020204" pitchFamily="34" charset="-122"/>
              </a:rPr>
              <a:t>为</a:t>
            </a:r>
            <a:r>
              <a:rPr lang="en-US" altLang="zh-CN" sz="2000" b="1" kern="0" dirty="0">
                <a:solidFill>
                  <a:srgbClr val="006600"/>
                </a:solidFill>
                <a:latin typeface="微软雅黑" panose="020B0503020204020204" pitchFamily="34" charset="-122"/>
                <a:ea typeface="微软雅黑" panose="020B0503020204020204" pitchFamily="34" charset="-122"/>
              </a:rPr>
              <a:t>je</a:t>
            </a:r>
            <a:r>
              <a:rPr lang="zh-CN" altLang="en-US" sz="2000" b="1" kern="0" dirty="0">
                <a:solidFill>
                  <a:srgbClr val="006600"/>
                </a:solidFill>
                <a:latin typeface="微软雅黑" panose="020B0503020204020204" pitchFamily="34" charset="-122"/>
                <a:ea typeface="微软雅黑" panose="020B0503020204020204" pitchFamily="34" charset="-122"/>
              </a:rPr>
              <a:t>指令的长度），跳转的目标地址为</a:t>
            </a:r>
            <a:r>
              <a:rPr lang="en-US" altLang="zh-CN" sz="2000" b="1" kern="0" dirty="0">
                <a:solidFill>
                  <a:srgbClr val="006600"/>
                </a:solidFill>
                <a:latin typeface="微软雅黑" panose="020B0503020204020204" pitchFamily="34" charset="-122"/>
                <a:ea typeface="微软雅黑" panose="020B0503020204020204" pitchFamily="34" charset="-122"/>
              </a:rPr>
              <a:t>PC+</a:t>
            </a:r>
            <a:r>
              <a:rPr lang="zh-CN" altLang="en-US" sz="2000" b="1" kern="0" dirty="0">
                <a:solidFill>
                  <a:srgbClr val="006600"/>
                </a:solidFill>
                <a:latin typeface="微软雅黑" panose="020B0503020204020204" pitchFamily="34" charset="-122"/>
                <a:ea typeface="微软雅黑" panose="020B0503020204020204" pitchFamily="34" charset="-122"/>
              </a:rPr>
              <a:t>偏移量，因此目标地址为</a:t>
            </a:r>
            <a:r>
              <a:rPr lang="en-US" altLang="zh-CN" sz="2000" b="1" kern="0" dirty="0">
                <a:solidFill>
                  <a:srgbClr val="006600"/>
                </a:solidFill>
                <a:latin typeface="微软雅黑" panose="020B0503020204020204" pitchFamily="34" charset="-122"/>
                <a:ea typeface="微软雅黑" panose="020B0503020204020204" pitchFamily="34" charset="-122"/>
              </a:rPr>
              <a:t>0x804838C+2+0x08=0x8048396</a:t>
            </a:r>
          </a:p>
          <a:p>
            <a:pPr lvl="1" eaLnBrk="0" fontAlgn="base" hangingPunct="0">
              <a:lnSpc>
                <a:spcPct val="110000"/>
              </a:lnSpc>
              <a:spcAft>
                <a:spcPct val="0"/>
              </a:spcAft>
              <a:buFontTx/>
              <a:buChar char="–"/>
            </a:pPr>
            <a:r>
              <a:rPr lang="zh-CN" altLang="en-US" sz="2000" b="1" kern="0" dirty="0">
                <a:solidFill>
                  <a:srgbClr val="0000CC"/>
                </a:solidFill>
                <a:latin typeface="微软雅黑" panose="020B0503020204020204" pitchFamily="34" charset="-122"/>
                <a:ea typeface="微软雅黑" panose="020B0503020204020204" pitchFamily="34" charset="-122"/>
              </a:rPr>
              <a:t>已知</a:t>
            </a:r>
            <a:r>
              <a:rPr lang="en-US" altLang="zh-CN" sz="2000" b="1" kern="0" dirty="0">
                <a:solidFill>
                  <a:srgbClr val="0000CC"/>
                </a:solidFill>
                <a:latin typeface="微软雅黑" panose="020B0503020204020204" pitchFamily="34" charset="-122"/>
                <a:ea typeface="微软雅黑" panose="020B0503020204020204" pitchFamily="34" charset="-122"/>
              </a:rPr>
              <a:t>call</a:t>
            </a:r>
            <a:r>
              <a:rPr lang="zh-CN" altLang="en-US" sz="2000" b="1" kern="0" dirty="0">
                <a:solidFill>
                  <a:srgbClr val="0000CC"/>
                </a:solidFill>
                <a:latin typeface="微软雅黑" panose="020B0503020204020204" pitchFamily="34" charset="-122"/>
                <a:ea typeface="微软雅黑" panose="020B0503020204020204" pitchFamily="34" charset="-122"/>
              </a:rPr>
              <a:t>指令的操作码为</a:t>
            </a:r>
            <a:r>
              <a:rPr lang="en-US" altLang="zh-CN" sz="2000" b="1" kern="0" dirty="0">
                <a:solidFill>
                  <a:srgbClr val="0000CC"/>
                </a:solidFill>
                <a:latin typeface="微软雅黑" panose="020B0503020204020204" pitchFamily="34" charset="-122"/>
                <a:ea typeface="微软雅黑" panose="020B0503020204020204" pitchFamily="34" charset="-122"/>
              </a:rPr>
              <a:t>11101000b</a:t>
            </a:r>
            <a:r>
              <a:rPr lang="zh-CN" altLang="en-US" sz="2000" b="1" kern="0" dirty="0">
                <a:solidFill>
                  <a:srgbClr val="0000CC"/>
                </a:solidFill>
                <a:latin typeface="微软雅黑" panose="020B0503020204020204" pitchFamily="34" charset="-122"/>
                <a:ea typeface="微软雅黑" panose="020B0503020204020204" pitchFamily="34" charset="-122"/>
              </a:rPr>
              <a:t>，</a:t>
            </a:r>
            <a:r>
              <a:rPr lang="en-US" altLang="zh-CN" sz="2000" b="1" kern="0" dirty="0">
                <a:solidFill>
                  <a:srgbClr val="0000CC"/>
                </a:solidFill>
                <a:latin typeface="微软雅黑" panose="020B0503020204020204" pitchFamily="34" charset="-122"/>
                <a:ea typeface="微软雅黑" panose="020B0503020204020204" pitchFamily="34" charset="-122"/>
              </a:rPr>
              <a:t>call</a:t>
            </a:r>
            <a:r>
              <a:rPr lang="zh-CN" altLang="en-US" sz="2000" b="1" kern="0" dirty="0">
                <a:solidFill>
                  <a:srgbClr val="0000CC"/>
                </a:solidFill>
                <a:latin typeface="微软雅黑" panose="020B0503020204020204" pitchFamily="34" charset="-122"/>
                <a:ea typeface="微软雅黑" panose="020B0503020204020204" pitchFamily="34" charset="-122"/>
              </a:rPr>
              <a:t>指令中</a:t>
            </a:r>
            <a:r>
              <a:rPr lang="en-US" altLang="zh-CN" sz="2000" b="1" kern="0" dirty="0">
                <a:solidFill>
                  <a:srgbClr val="0000CC"/>
                </a:solidFill>
                <a:latin typeface="微软雅黑" panose="020B0503020204020204" pitchFamily="34" charset="-122"/>
                <a:ea typeface="微软雅黑" panose="020B0503020204020204" pitchFamily="34" charset="-122"/>
              </a:rPr>
              <a:t>0x80483b1</a:t>
            </a:r>
            <a:r>
              <a:rPr lang="zh-CN" altLang="en-US" sz="2000" b="1" kern="0" dirty="0">
                <a:solidFill>
                  <a:srgbClr val="0000CC"/>
                </a:solidFill>
                <a:latin typeface="微软雅黑" panose="020B0503020204020204" pitchFamily="34" charset="-122"/>
                <a:ea typeface="微软雅黑" panose="020B0503020204020204" pitchFamily="34" charset="-122"/>
              </a:rPr>
              <a:t>是如何反汇编出来的？</a:t>
            </a:r>
            <a:endParaRPr lang="en-US" altLang="zh-CN" sz="2000" b="1" kern="0" dirty="0">
              <a:solidFill>
                <a:srgbClr val="0000CC"/>
              </a:solidFill>
              <a:latin typeface="微软雅黑" panose="020B0503020204020204" pitchFamily="34" charset="-122"/>
              <a:ea typeface="微软雅黑" panose="020B0503020204020204" pitchFamily="34" charset="-122"/>
            </a:endParaRPr>
          </a:p>
          <a:p>
            <a:pPr lvl="2" eaLnBrk="0" fontAlgn="base" hangingPunct="0">
              <a:lnSpc>
                <a:spcPct val="120000"/>
              </a:lnSpc>
              <a:spcAft>
                <a:spcPct val="0"/>
              </a:spcAft>
              <a:buNone/>
            </a:pPr>
            <a:r>
              <a:rPr lang="en-US" altLang="zh-CN" sz="2000" b="1" kern="0" dirty="0">
                <a:solidFill>
                  <a:srgbClr val="006600"/>
                </a:solidFill>
                <a:latin typeface="微软雅黑" panose="020B0503020204020204" pitchFamily="34" charset="-122"/>
                <a:ea typeface="微软雅黑" panose="020B0503020204020204" pitchFamily="34" charset="-122"/>
              </a:rPr>
              <a:t>Call</a:t>
            </a:r>
            <a:r>
              <a:rPr lang="zh-CN" altLang="en-US" sz="2000" b="1" kern="0" dirty="0">
                <a:solidFill>
                  <a:srgbClr val="006600"/>
                </a:solidFill>
                <a:latin typeface="微软雅黑" panose="020B0503020204020204" pitchFamily="34" charset="-122"/>
                <a:ea typeface="微软雅黑" panose="020B0503020204020204" pitchFamily="34" charset="-122"/>
              </a:rPr>
              <a:t>指令后</a:t>
            </a:r>
            <a:r>
              <a:rPr lang="en-US" altLang="zh-CN" sz="2000" b="1" kern="0" dirty="0">
                <a:solidFill>
                  <a:srgbClr val="006600"/>
                </a:solidFill>
                <a:latin typeface="微软雅黑" panose="020B0503020204020204" pitchFamily="34" charset="-122"/>
                <a:ea typeface="微软雅黑" panose="020B0503020204020204" pitchFamily="34" charset="-122"/>
              </a:rPr>
              <a:t>4</a:t>
            </a:r>
            <a:r>
              <a:rPr lang="zh-CN" altLang="en-US" sz="2000" b="1" kern="0" dirty="0">
                <a:solidFill>
                  <a:srgbClr val="006600"/>
                </a:solidFill>
                <a:latin typeface="微软雅黑" panose="020B0503020204020204" pitchFamily="34" charset="-122"/>
                <a:ea typeface="微软雅黑" panose="020B0503020204020204" pitchFamily="34" charset="-122"/>
              </a:rPr>
              <a:t>个字节为偏移量，采用小端存储，故偏移量为</a:t>
            </a:r>
            <a:r>
              <a:rPr lang="en-US" altLang="zh-CN" sz="2000" b="1" kern="0" dirty="0">
                <a:solidFill>
                  <a:srgbClr val="006600"/>
                </a:solidFill>
                <a:latin typeface="微软雅黑" panose="020B0503020204020204" pitchFamily="34" charset="-122"/>
                <a:ea typeface="微软雅黑" panose="020B0503020204020204" pitchFamily="34" charset="-122"/>
              </a:rPr>
              <a:t>0x0000001e</a:t>
            </a:r>
            <a:r>
              <a:rPr lang="zh-CN" altLang="en-US" sz="2000" b="1" kern="0" dirty="0">
                <a:solidFill>
                  <a:srgbClr val="006600"/>
                </a:solidFill>
                <a:latin typeface="微软雅黑" panose="020B0503020204020204" pitchFamily="34" charset="-122"/>
                <a:ea typeface="微软雅黑" panose="020B0503020204020204" pitchFamily="34" charset="-122"/>
              </a:rPr>
              <a:t>，</a:t>
            </a:r>
            <a:r>
              <a:rPr lang="en-US" altLang="zh-CN" sz="2000" b="1" kern="0" dirty="0">
                <a:solidFill>
                  <a:srgbClr val="006600"/>
                </a:solidFill>
                <a:latin typeface="微软雅黑" panose="020B0503020204020204" pitchFamily="34" charset="-122"/>
                <a:ea typeface="微软雅黑" panose="020B0503020204020204" pitchFamily="34" charset="-122"/>
              </a:rPr>
              <a:t>call</a:t>
            </a:r>
            <a:r>
              <a:rPr lang="zh-CN" altLang="en-US" sz="2000" b="1" kern="0" dirty="0">
                <a:solidFill>
                  <a:srgbClr val="006600"/>
                </a:solidFill>
                <a:latin typeface="微软雅黑" panose="020B0503020204020204" pitchFamily="34" charset="-122"/>
                <a:ea typeface="微软雅黑" panose="020B0503020204020204" pitchFamily="34" charset="-122"/>
              </a:rPr>
              <a:t>指令长度为</a:t>
            </a:r>
            <a:r>
              <a:rPr lang="en-US" altLang="zh-CN" sz="2000" b="1" kern="0" dirty="0">
                <a:solidFill>
                  <a:srgbClr val="006600"/>
                </a:solidFill>
                <a:latin typeface="微软雅黑" panose="020B0503020204020204" pitchFamily="34" charset="-122"/>
                <a:ea typeface="微软雅黑" panose="020B0503020204020204" pitchFamily="34" charset="-122"/>
              </a:rPr>
              <a:t>5</a:t>
            </a:r>
            <a:r>
              <a:rPr lang="zh-CN" altLang="en-US" sz="2000" b="1" kern="0" dirty="0">
                <a:solidFill>
                  <a:srgbClr val="006600"/>
                </a:solidFill>
                <a:latin typeface="微软雅黑" panose="020B0503020204020204" pitchFamily="34" charset="-122"/>
                <a:ea typeface="微软雅黑" panose="020B0503020204020204" pitchFamily="34" charset="-122"/>
              </a:rPr>
              <a:t>，因此跳转目标地址为</a:t>
            </a:r>
            <a:r>
              <a:rPr lang="en-US" altLang="zh-CN" sz="2000" b="1" kern="0" dirty="0">
                <a:solidFill>
                  <a:srgbClr val="006600"/>
                </a:solidFill>
                <a:latin typeface="微软雅黑" panose="020B0503020204020204" pitchFamily="34" charset="-122"/>
                <a:ea typeface="微软雅黑" panose="020B0503020204020204" pitchFamily="34" charset="-122"/>
              </a:rPr>
              <a:t>0x804838e+5+0x1e=0x80483b1</a:t>
            </a:r>
            <a:endParaRPr lang="en-US" altLang="zh-CN" sz="2000" b="1" kern="0" dirty="0">
              <a:solidFill>
                <a:srgbClr val="0000CC"/>
              </a:solidFill>
              <a:latin typeface="微软雅黑" panose="020B0503020204020204" pitchFamily="34" charset="-122"/>
              <a:ea typeface="微软雅黑" panose="020B0503020204020204" pitchFamily="34" charset="-122"/>
            </a:endParaRPr>
          </a:p>
        </p:txBody>
      </p:sp>
      <p:sp>
        <p:nvSpPr>
          <p:cNvPr id="4" name="Rectangle 6"/>
          <p:cNvSpPr>
            <a:spLocks noChangeArrowheads="1"/>
          </p:cNvSpPr>
          <p:nvPr/>
        </p:nvSpPr>
        <p:spPr bwMode="auto">
          <a:xfrm>
            <a:off x="491934" y="1866763"/>
            <a:ext cx="1212876" cy="792088"/>
          </a:xfrm>
          <a:prstGeom prst="rect">
            <a:avLst/>
          </a:prstGeom>
          <a:noFill/>
          <a:ln w="38100" algn="ctr">
            <a:solidFill>
              <a:srgbClr val="FF33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800">
              <a:latin typeface="微软雅黑" panose="020B0503020204020204" pitchFamily="34" charset="-122"/>
              <a:ea typeface="微软雅黑" panose="020B0503020204020204" pitchFamily="34" charset="-122"/>
            </a:endParaRPr>
          </a:p>
        </p:txBody>
      </p:sp>
      <p:sp>
        <p:nvSpPr>
          <p:cNvPr id="5" name="Rectangle 6"/>
          <p:cNvSpPr>
            <a:spLocks noChangeArrowheads="1"/>
          </p:cNvSpPr>
          <p:nvPr/>
        </p:nvSpPr>
        <p:spPr bwMode="auto">
          <a:xfrm>
            <a:off x="1835696" y="1866763"/>
            <a:ext cx="360040" cy="792088"/>
          </a:xfrm>
          <a:prstGeom prst="rect">
            <a:avLst/>
          </a:prstGeom>
          <a:noFill/>
          <a:ln w="38100" algn="ctr">
            <a:solidFill>
              <a:srgbClr val="FF33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800">
              <a:latin typeface="微软雅黑" panose="020B0503020204020204" pitchFamily="34" charset="-122"/>
              <a:ea typeface="微软雅黑" panose="020B0503020204020204" pitchFamily="34" charset="-122"/>
            </a:endParaRPr>
          </a:p>
        </p:txBody>
      </p:sp>
      <p:sp>
        <p:nvSpPr>
          <p:cNvPr id="6" name="Rectangle 6"/>
          <p:cNvSpPr>
            <a:spLocks noChangeArrowheads="1"/>
          </p:cNvSpPr>
          <p:nvPr/>
        </p:nvSpPr>
        <p:spPr bwMode="auto">
          <a:xfrm>
            <a:off x="2195736" y="1866763"/>
            <a:ext cx="1584176" cy="792088"/>
          </a:xfrm>
          <a:prstGeom prst="rect">
            <a:avLst/>
          </a:prstGeom>
          <a:noFill/>
          <a:ln w="38100" algn="ctr">
            <a:solidFill>
              <a:srgbClr val="FF33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800">
              <a:latin typeface="微软雅黑" panose="020B0503020204020204" pitchFamily="34" charset="-122"/>
              <a:ea typeface="微软雅黑" panose="020B0503020204020204" pitchFamily="34" charset="-122"/>
            </a:endParaRPr>
          </a:p>
        </p:txBody>
      </p:sp>
      <p:sp>
        <p:nvSpPr>
          <p:cNvPr id="7" name="Rectangle 6"/>
          <p:cNvSpPr>
            <a:spLocks noChangeArrowheads="1"/>
          </p:cNvSpPr>
          <p:nvPr/>
        </p:nvSpPr>
        <p:spPr bwMode="auto">
          <a:xfrm>
            <a:off x="4649180" y="1866763"/>
            <a:ext cx="1290972" cy="792088"/>
          </a:xfrm>
          <a:prstGeom prst="rect">
            <a:avLst/>
          </a:prstGeom>
          <a:noFill/>
          <a:ln w="38100" algn="ctr">
            <a:solidFill>
              <a:srgbClr val="FF33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800">
              <a:latin typeface="微软雅黑" panose="020B0503020204020204" pitchFamily="34" charset="-122"/>
              <a:ea typeface="微软雅黑" panose="020B0503020204020204" pitchFamily="34" charset="-122"/>
            </a:endParaRPr>
          </a:p>
        </p:txBody>
      </p:sp>
      <p:sp>
        <p:nvSpPr>
          <p:cNvPr id="2" name="矩形 1"/>
          <p:cNvSpPr/>
          <p:nvPr/>
        </p:nvSpPr>
        <p:spPr>
          <a:xfrm>
            <a:off x="775206" y="1497431"/>
            <a:ext cx="646331" cy="369332"/>
          </a:xfrm>
          <a:prstGeom prst="rect">
            <a:avLst/>
          </a:prstGeom>
        </p:spPr>
        <p:txBody>
          <a:bodyPr wrap="none">
            <a:spAutoFit/>
          </a:bodyPr>
          <a:lstStyle/>
          <a:p>
            <a:r>
              <a:rPr lang="zh-CN" altLang="en-US" dirty="0">
                <a:solidFill>
                  <a:srgbClr val="FF0000"/>
                </a:solidFill>
                <a:latin typeface="微软雅黑" panose="020B0503020204020204" pitchFamily="34" charset="-122"/>
                <a:ea typeface="微软雅黑" panose="020B0503020204020204" pitchFamily="34" charset="-122"/>
              </a:rPr>
              <a:t>地址</a:t>
            </a:r>
            <a:endParaRPr lang="zh-CN" altLang="en-US" dirty="0"/>
          </a:p>
        </p:txBody>
      </p:sp>
      <p:sp>
        <p:nvSpPr>
          <p:cNvPr id="9" name="矩形 8"/>
          <p:cNvSpPr/>
          <p:nvPr/>
        </p:nvSpPr>
        <p:spPr>
          <a:xfrm>
            <a:off x="1421537" y="1484784"/>
            <a:ext cx="877163" cy="369332"/>
          </a:xfrm>
          <a:prstGeom prst="rect">
            <a:avLst/>
          </a:prstGeom>
        </p:spPr>
        <p:txBody>
          <a:bodyPr wrap="none">
            <a:spAutoFit/>
          </a:bodyPr>
          <a:lstStyle/>
          <a:p>
            <a:r>
              <a:rPr lang="zh-CN" altLang="en-US" dirty="0">
                <a:solidFill>
                  <a:srgbClr val="FF0000"/>
                </a:solidFill>
                <a:latin typeface="微软雅黑" panose="020B0503020204020204" pitchFamily="34" charset="-122"/>
                <a:ea typeface="微软雅黑" panose="020B0503020204020204" pitchFamily="34" charset="-122"/>
              </a:rPr>
              <a:t>操作码</a:t>
            </a:r>
            <a:endParaRPr lang="zh-CN" altLang="en-US" dirty="0"/>
          </a:p>
        </p:txBody>
      </p:sp>
      <p:sp>
        <p:nvSpPr>
          <p:cNvPr id="10" name="矩形 9"/>
          <p:cNvSpPr/>
          <p:nvPr/>
        </p:nvSpPr>
        <p:spPr>
          <a:xfrm>
            <a:off x="2304909" y="1497431"/>
            <a:ext cx="877163" cy="369332"/>
          </a:xfrm>
          <a:prstGeom prst="rect">
            <a:avLst/>
          </a:prstGeom>
        </p:spPr>
        <p:txBody>
          <a:bodyPr wrap="none">
            <a:spAutoFit/>
          </a:bodyPr>
          <a:lstStyle/>
          <a:p>
            <a:r>
              <a:rPr lang="zh-CN" altLang="en-US" dirty="0">
                <a:solidFill>
                  <a:srgbClr val="FF0000"/>
                </a:solidFill>
                <a:latin typeface="微软雅黑" panose="020B0503020204020204" pitchFamily="34" charset="-122"/>
                <a:ea typeface="微软雅黑" panose="020B0503020204020204" pitchFamily="34" charset="-122"/>
              </a:rPr>
              <a:t>偏移量</a:t>
            </a:r>
            <a:endParaRPr lang="zh-CN" altLang="en-US" dirty="0"/>
          </a:p>
        </p:txBody>
      </p:sp>
      <p:sp>
        <p:nvSpPr>
          <p:cNvPr id="12" name="矩形 11"/>
          <p:cNvSpPr/>
          <p:nvPr/>
        </p:nvSpPr>
        <p:spPr>
          <a:xfrm>
            <a:off x="4971500" y="1497431"/>
            <a:ext cx="646331" cy="369332"/>
          </a:xfrm>
          <a:prstGeom prst="rect">
            <a:avLst/>
          </a:prstGeom>
        </p:spPr>
        <p:txBody>
          <a:bodyPr wrap="none">
            <a:spAutoFit/>
          </a:bodyPr>
          <a:lstStyle/>
          <a:p>
            <a:r>
              <a:rPr lang="zh-CN" altLang="en-US" dirty="0">
                <a:solidFill>
                  <a:srgbClr val="FF0000"/>
                </a:solidFill>
                <a:latin typeface="微软雅黑" panose="020B0503020204020204" pitchFamily="34" charset="-122"/>
                <a:ea typeface="微软雅黑" panose="020B0503020204020204" pitchFamily="34" charset="-122"/>
              </a:rPr>
              <a:t>地址</a:t>
            </a:r>
            <a:endParaRPr lang="zh-CN" altLang="en-US" dirty="0"/>
          </a:p>
        </p:txBody>
      </p:sp>
    </p:spTree>
    <p:extLst>
      <p:ext uri="{BB962C8B-B14F-4D97-AF65-F5344CB8AC3E}">
        <p14:creationId xmlns:p14="http://schemas.microsoft.com/office/powerpoint/2010/main" val="42426855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ppt_x"/>
                                          </p:val>
                                        </p:tav>
                                        <p:tav tm="100000">
                                          <p:val>
                                            <p:strVal val="#ppt_x"/>
                                          </p:val>
                                        </p:tav>
                                      </p:tavLst>
                                    </p:anim>
                                    <p:anim calcmode="lin" valueType="num">
                                      <p:cBhvr additive="base">
                                        <p:cTn id="24" dur="500" fill="hold"/>
                                        <p:tgtEl>
                                          <p:spTgt spid="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54">
                                            <p:txEl>
                                              <p:pRg st="6" end="6"/>
                                            </p:txEl>
                                          </p:spTgt>
                                        </p:tgtEl>
                                        <p:attrNameLst>
                                          <p:attrName>style.visibility</p:attrName>
                                        </p:attrNameLst>
                                      </p:cBhvr>
                                      <p:to>
                                        <p:strVal val="visible"/>
                                      </p:to>
                                    </p:set>
                                    <p:anim calcmode="lin" valueType="num">
                                      <p:cBhvr additive="base">
                                        <p:cTn id="41" dur="500" fill="hold"/>
                                        <p:tgtEl>
                                          <p:spTgt spid="54">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54">
                                            <p:txEl>
                                              <p:pRg st="8" end="8"/>
                                            </p:txEl>
                                          </p:spTgt>
                                        </p:tgtEl>
                                        <p:attrNameLst>
                                          <p:attrName>style.visibility</p:attrName>
                                        </p:attrNameLst>
                                      </p:cBhvr>
                                      <p:to>
                                        <p:strVal val="visible"/>
                                      </p:to>
                                    </p:set>
                                    <p:anim calcmode="lin" valueType="num">
                                      <p:cBhvr additive="base">
                                        <p:cTn id="47" dur="500" fill="hold"/>
                                        <p:tgtEl>
                                          <p:spTgt spid="54">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5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2" grpId="0"/>
      <p:bldP spid="9" grpId="0"/>
      <p:bldP spid="10" grpId="0"/>
      <p:bldP spid="1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chemeClr val="accent6">
                    <a:lumMod val="50000"/>
                  </a:schemeClr>
                </a:solidFill>
              </a:rPr>
              <a:t>提纲</a:t>
            </a:r>
          </a:p>
        </p:txBody>
      </p:sp>
      <p:sp>
        <p:nvSpPr>
          <p:cNvPr id="3" name="内容占位符 2"/>
          <p:cNvSpPr>
            <a:spLocks noGrp="1"/>
          </p:cNvSpPr>
          <p:nvPr>
            <p:ph idx="1"/>
          </p:nvPr>
        </p:nvSpPr>
        <p:spPr/>
        <p:txBody>
          <a:bodyPr>
            <a:normAutofit/>
          </a:bodyPr>
          <a:lstStyle/>
          <a:p>
            <a:pPr indent="-540000">
              <a:lnSpc>
                <a:spcPct val="150000"/>
              </a:lnSpc>
              <a:buFont typeface="Wingdings" panose="05000000000000000000" pitchFamily="2" charset="2"/>
              <a:buChar char="Ø"/>
            </a:pPr>
            <a:r>
              <a:rPr lang="zh-CN" altLang="en-US" dirty="0"/>
              <a:t>传送指令</a:t>
            </a:r>
            <a:endParaRPr lang="en-US" altLang="zh-CN" dirty="0"/>
          </a:p>
          <a:p>
            <a:pPr indent="-540000">
              <a:lnSpc>
                <a:spcPct val="150000"/>
              </a:lnSpc>
              <a:buFont typeface="Wingdings" panose="05000000000000000000" pitchFamily="2" charset="2"/>
              <a:buChar char="Ø"/>
            </a:pPr>
            <a:r>
              <a:rPr lang="zh-CN" altLang="en-US" dirty="0"/>
              <a:t>定点算术运算指令</a:t>
            </a:r>
            <a:endParaRPr lang="en-US" altLang="zh-CN" dirty="0"/>
          </a:p>
          <a:p>
            <a:pPr indent="-540000">
              <a:lnSpc>
                <a:spcPct val="150000"/>
              </a:lnSpc>
              <a:buFont typeface="Wingdings" panose="05000000000000000000" pitchFamily="2" charset="2"/>
              <a:buChar char="Ø"/>
            </a:pPr>
            <a:r>
              <a:rPr lang="zh-CN" altLang="en-US" dirty="0"/>
              <a:t>按位运算指令</a:t>
            </a:r>
            <a:endParaRPr lang="en-US" altLang="zh-CN" dirty="0"/>
          </a:p>
          <a:p>
            <a:pPr indent="-540000">
              <a:lnSpc>
                <a:spcPct val="150000"/>
              </a:lnSpc>
              <a:buFont typeface="Wingdings" panose="05000000000000000000" pitchFamily="2" charset="2"/>
              <a:buChar char="Ø"/>
            </a:pPr>
            <a:r>
              <a:rPr lang="zh-CN" altLang="en-US" dirty="0"/>
              <a:t>控制转移指令</a:t>
            </a:r>
            <a:endParaRPr lang="en-US" altLang="zh-CN" dirty="0"/>
          </a:p>
          <a:p>
            <a:pPr indent="-540000">
              <a:lnSpc>
                <a:spcPct val="150000"/>
              </a:lnSpc>
              <a:buFont typeface="Wingdings" panose="05000000000000000000" pitchFamily="2" charset="2"/>
              <a:buChar char="Ø"/>
            </a:pPr>
            <a:r>
              <a:rPr lang="en-US" altLang="zh-CN" dirty="0">
                <a:solidFill>
                  <a:srgbClr val="FF0000"/>
                </a:solidFill>
              </a:rPr>
              <a:t>x87</a:t>
            </a:r>
            <a:r>
              <a:rPr lang="zh-CN" altLang="en-US" dirty="0">
                <a:solidFill>
                  <a:srgbClr val="FF0000"/>
                </a:solidFill>
              </a:rPr>
              <a:t>浮点处理指令和</a:t>
            </a:r>
            <a:r>
              <a:rPr lang="en-US" altLang="zh-CN" dirty="0">
                <a:solidFill>
                  <a:srgbClr val="FF0000"/>
                </a:solidFill>
              </a:rPr>
              <a:t>MMX/SSE</a:t>
            </a:r>
            <a:r>
              <a:rPr lang="zh-CN" altLang="en-US" dirty="0">
                <a:solidFill>
                  <a:srgbClr val="FF0000"/>
                </a:solidFill>
              </a:rPr>
              <a:t>指令集</a:t>
            </a:r>
            <a:endParaRPr lang="en-US" altLang="zh-CN" dirty="0">
              <a:solidFill>
                <a:srgbClr val="FF0000"/>
              </a:solidFill>
            </a:endParaRPr>
          </a:p>
        </p:txBody>
      </p:sp>
    </p:spTree>
    <p:extLst>
      <p:ext uri="{BB962C8B-B14F-4D97-AF65-F5344CB8AC3E}">
        <p14:creationId xmlns:p14="http://schemas.microsoft.com/office/powerpoint/2010/main" val="32423332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457200" y="98425"/>
            <a:ext cx="8229600" cy="561975"/>
          </a:xfrm>
        </p:spPr>
        <p:txBody>
          <a:bodyPr>
            <a:normAutofit fontScale="90000"/>
          </a:bodyPr>
          <a:lstStyle/>
          <a:p>
            <a:r>
              <a:rPr lang="en-US" altLang="zh-CN" sz="3600"/>
              <a:t>X87</a:t>
            </a:r>
            <a:r>
              <a:rPr lang="zh-CN" altLang="en-US" sz="3600"/>
              <a:t>浮点指令、</a:t>
            </a:r>
            <a:r>
              <a:rPr lang="en-US" altLang="zh-CN" sz="3600"/>
              <a:t>MMX</a:t>
            </a:r>
            <a:r>
              <a:rPr lang="zh-CN" altLang="en-US" sz="3600"/>
              <a:t>和</a:t>
            </a:r>
            <a:r>
              <a:rPr lang="en-US" altLang="zh-CN" sz="3600"/>
              <a:t>SSE</a:t>
            </a:r>
            <a:r>
              <a:rPr lang="zh-CN" altLang="en-US" sz="3600"/>
              <a:t>指令 </a:t>
            </a:r>
          </a:p>
        </p:txBody>
      </p:sp>
      <p:sp>
        <p:nvSpPr>
          <p:cNvPr id="704515" name="Rectangle 3"/>
          <p:cNvSpPr>
            <a:spLocks noGrp="1" noChangeArrowheads="1"/>
          </p:cNvSpPr>
          <p:nvPr>
            <p:ph type="body" idx="1"/>
          </p:nvPr>
        </p:nvSpPr>
        <p:spPr>
          <a:xfrm>
            <a:off x="161925" y="863600"/>
            <a:ext cx="8686800" cy="5445125"/>
          </a:xfrm>
        </p:spPr>
        <p:txBody>
          <a:bodyPr>
            <a:normAutofit fontScale="70000" lnSpcReduction="20000"/>
          </a:bodyPr>
          <a:lstStyle/>
          <a:p>
            <a:pPr>
              <a:lnSpc>
                <a:spcPct val="120000"/>
              </a:lnSpc>
              <a:spcBef>
                <a:spcPct val="25000"/>
              </a:spcBef>
            </a:pPr>
            <a:r>
              <a:rPr lang="en-US" altLang="zh-CN" sz="2000" dirty="0">
                <a:latin typeface="微软雅黑" panose="020B0503020204020204" pitchFamily="34" charset="-122"/>
                <a:ea typeface="微软雅黑" panose="020B0503020204020204" pitchFamily="34" charset="-122"/>
              </a:rPr>
              <a:t>IA-32</a:t>
            </a:r>
            <a:r>
              <a:rPr lang="zh-CN" altLang="en-US" sz="2000" dirty="0">
                <a:latin typeface="微软雅黑" panose="020B0503020204020204" pitchFamily="34" charset="-122"/>
                <a:ea typeface="微软雅黑" panose="020B0503020204020204" pitchFamily="34" charset="-122"/>
              </a:rPr>
              <a:t>的浮点处理架构有两种 ：</a:t>
            </a:r>
          </a:p>
          <a:p>
            <a:pPr lvl="1">
              <a:lnSpc>
                <a:spcPct val="120000"/>
              </a:lnSpc>
              <a:spcBef>
                <a:spcPct val="25000"/>
              </a:spcBef>
            </a:pPr>
            <a:r>
              <a:rPr lang="zh-CN" altLang="en-US" dirty="0">
                <a:latin typeface="微软雅黑" panose="020B0503020204020204" pitchFamily="34" charset="-122"/>
                <a:ea typeface="微软雅黑" panose="020B0503020204020204" pitchFamily="34" charset="-122"/>
              </a:rPr>
              <a:t>浮点协处理器</a:t>
            </a:r>
            <a:r>
              <a:rPr lang="en-US" altLang="zh-CN" dirty="0">
                <a:latin typeface="微软雅黑" panose="020B0503020204020204" pitchFamily="34" charset="-122"/>
                <a:ea typeface="微软雅黑" panose="020B0503020204020204" pitchFamily="34" charset="-122"/>
              </a:rPr>
              <a:t>x87</a:t>
            </a:r>
            <a:r>
              <a:rPr lang="zh-CN" altLang="en-US" dirty="0">
                <a:latin typeface="微软雅黑" panose="020B0503020204020204" pitchFamily="34" charset="-122"/>
                <a:ea typeface="微软雅黑" panose="020B0503020204020204" pitchFamily="34" charset="-122"/>
              </a:rPr>
              <a:t>架构（</a:t>
            </a:r>
            <a:r>
              <a:rPr lang="en-US" altLang="zh-CN" dirty="0">
                <a:solidFill>
                  <a:srgbClr val="FF0000"/>
                </a:solidFill>
                <a:latin typeface="微软雅黑" panose="020B0503020204020204" pitchFamily="34" charset="-122"/>
                <a:ea typeface="微软雅黑" panose="020B0503020204020204" pitchFamily="34" charset="-122"/>
              </a:rPr>
              <a:t>x87 FPU</a:t>
            </a:r>
            <a:r>
              <a:rPr lang="zh-CN" altLang="en-US" dirty="0">
                <a:latin typeface="微软雅黑" panose="020B0503020204020204" pitchFamily="34" charset="-122"/>
                <a:ea typeface="微软雅黑" panose="020B0503020204020204" pitchFamily="34" charset="-122"/>
              </a:rPr>
              <a:t>）</a:t>
            </a:r>
          </a:p>
          <a:p>
            <a:pPr lvl="1">
              <a:lnSpc>
                <a:spcPct val="120000"/>
              </a:lnSpc>
              <a:spcBef>
                <a:spcPct val="25000"/>
              </a:spcBef>
              <a:buFont typeface="Wingdings" panose="05000000000000000000" pitchFamily="2" charset="2"/>
              <a:buChar char="ü"/>
            </a:pPr>
            <a:r>
              <a:rPr lang="en-US" altLang="zh-CN" dirty="0">
                <a:solidFill>
                  <a:srgbClr val="CC3300"/>
                </a:solidFill>
                <a:latin typeface="微软雅黑" panose="020B0503020204020204" pitchFamily="34" charset="-122"/>
                <a:ea typeface="微软雅黑" panose="020B0503020204020204" pitchFamily="34" charset="-122"/>
              </a:rPr>
              <a:t>8</a:t>
            </a:r>
            <a:r>
              <a:rPr lang="zh-CN" altLang="en-US" dirty="0">
                <a:solidFill>
                  <a:srgbClr val="CC3300"/>
                </a:solidFill>
                <a:latin typeface="微软雅黑" panose="020B0503020204020204" pitchFamily="34" charset="-122"/>
                <a:ea typeface="微软雅黑" panose="020B0503020204020204" pitchFamily="34" charset="-122"/>
              </a:rPr>
              <a:t>个</a:t>
            </a:r>
            <a:r>
              <a:rPr lang="en-US" altLang="zh-CN" dirty="0">
                <a:solidFill>
                  <a:srgbClr val="CC3300"/>
                </a:solidFill>
                <a:latin typeface="微软雅黑" panose="020B0503020204020204" pitchFamily="34" charset="-122"/>
                <a:ea typeface="微软雅黑" panose="020B0503020204020204" pitchFamily="34" charset="-122"/>
              </a:rPr>
              <a:t>80</a:t>
            </a:r>
            <a:r>
              <a:rPr lang="zh-CN" altLang="en-US" dirty="0">
                <a:solidFill>
                  <a:srgbClr val="CC3300"/>
                </a:solidFill>
                <a:latin typeface="微软雅黑" panose="020B0503020204020204" pitchFamily="34" charset="-122"/>
                <a:ea typeface="微软雅黑" panose="020B0503020204020204" pitchFamily="34" charset="-122"/>
              </a:rPr>
              <a:t>位寄存器</a:t>
            </a:r>
            <a:r>
              <a:rPr lang="en-US" altLang="zh-CN" dirty="0">
                <a:solidFill>
                  <a:srgbClr val="007635"/>
                </a:solidFill>
                <a:latin typeface="微软雅黑" panose="020B0503020204020204" pitchFamily="34" charset="-122"/>
                <a:ea typeface="微软雅黑" panose="020B0503020204020204" pitchFamily="34" charset="-122"/>
              </a:rPr>
              <a:t>ST(0) </a:t>
            </a:r>
            <a:r>
              <a:rPr lang="en-US" altLang="zh-CN" dirty="0">
                <a:solidFill>
                  <a:srgbClr val="007635"/>
                </a:solidFill>
                <a:latin typeface="微软雅黑" panose="020B0503020204020204" pitchFamily="34" charset="-122"/>
                <a:ea typeface="微软雅黑" panose="020B0503020204020204" pitchFamily="34" charset="-122"/>
                <a:cs typeface="Arial" panose="020B0604020202020204" pitchFamily="34" charset="0"/>
              </a:rPr>
              <a:t>~ ST(7)</a:t>
            </a:r>
            <a:r>
              <a:rPr lang="zh-CN" altLang="en-US" dirty="0">
                <a:solidFill>
                  <a:srgbClr val="CC3300"/>
                </a:solidFill>
                <a:latin typeface="微软雅黑" panose="020B0503020204020204" pitchFamily="34" charset="-122"/>
                <a:ea typeface="微软雅黑" panose="020B0503020204020204" pitchFamily="34" charset="-122"/>
              </a:rPr>
              <a:t> （采用栈结构），栈顶为</a:t>
            </a:r>
            <a:r>
              <a:rPr lang="en-US" altLang="zh-CN" dirty="0">
                <a:solidFill>
                  <a:srgbClr val="CC3300"/>
                </a:solidFill>
                <a:latin typeface="微软雅黑" panose="020B0503020204020204" pitchFamily="34" charset="-122"/>
                <a:ea typeface="微软雅黑" panose="020B0503020204020204" pitchFamily="34" charset="-122"/>
              </a:rPr>
              <a:t>ST(0)</a:t>
            </a:r>
            <a:endParaRPr lang="en-US" altLang="en-US" dirty="0">
              <a:solidFill>
                <a:srgbClr val="CC3300"/>
              </a:solidFill>
              <a:latin typeface="微软雅黑" panose="020B0503020204020204" pitchFamily="34" charset="-122"/>
              <a:ea typeface="微软雅黑" panose="020B0503020204020204" pitchFamily="34" charset="-122"/>
            </a:endParaRPr>
          </a:p>
          <a:p>
            <a:pPr lvl="1">
              <a:lnSpc>
                <a:spcPct val="120000"/>
              </a:lnSpc>
              <a:spcBef>
                <a:spcPct val="25000"/>
              </a:spcBef>
            </a:pPr>
            <a:r>
              <a:rPr lang="zh-CN" altLang="en-US" dirty="0">
                <a:latin typeface="微软雅黑" panose="020B0503020204020204" pitchFamily="34" charset="-122"/>
                <a:ea typeface="微软雅黑" panose="020B0503020204020204" pitchFamily="34" charset="-122"/>
              </a:rPr>
              <a:t>由</a:t>
            </a:r>
            <a:r>
              <a:rPr lang="en-US" altLang="zh-CN" dirty="0">
                <a:latin typeface="微软雅黑" panose="020B0503020204020204" pitchFamily="34" charset="-122"/>
                <a:ea typeface="微软雅黑" panose="020B0503020204020204" pitchFamily="34" charset="-122"/>
              </a:rPr>
              <a:t>MMX</a:t>
            </a:r>
            <a:r>
              <a:rPr lang="zh-CN" altLang="en-US" dirty="0">
                <a:latin typeface="微软雅黑" panose="020B0503020204020204" pitchFamily="34" charset="-122"/>
                <a:ea typeface="微软雅黑" panose="020B0503020204020204" pitchFamily="34" charset="-122"/>
              </a:rPr>
              <a:t>发展而来的</a:t>
            </a:r>
            <a:r>
              <a:rPr lang="en-US" altLang="zh-CN" dirty="0">
                <a:latin typeface="微软雅黑" panose="020B0503020204020204" pitchFamily="34" charset="-122"/>
                <a:ea typeface="微软雅黑" panose="020B0503020204020204" pitchFamily="34" charset="-122"/>
              </a:rPr>
              <a:t>SSE</a:t>
            </a:r>
            <a:r>
              <a:rPr lang="zh-CN" altLang="en-US" dirty="0">
                <a:latin typeface="微软雅黑" panose="020B0503020204020204" pitchFamily="34" charset="-122"/>
                <a:ea typeface="微软雅黑" panose="020B0503020204020204" pitchFamily="34" charset="-122"/>
              </a:rPr>
              <a:t>架构 </a:t>
            </a:r>
          </a:p>
          <a:p>
            <a:pPr lvl="1">
              <a:lnSpc>
                <a:spcPct val="120000"/>
              </a:lnSpc>
              <a:spcBef>
                <a:spcPct val="25000"/>
              </a:spcBef>
              <a:buFont typeface="Wingdings" panose="05000000000000000000" pitchFamily="2" charset="2"/>
              <a:buChar char="ü"/>
            </a:pPr>
            <a:r>
              <a:rPr lang="en-US" altLang="zh-CN" dirty="0">
                <a:solidFill>
                  <a:srgbClr val="0066FF"/>
                </a:solidFill>
                <a:latin typeface="微软雅黑" panose="020B0503020204020204" pitchFamily="34" charset="-122"/>
                <a:ea typeface="微软雅黑" panose="020B0503020204020204" pitchFamily="34" charset="-122"/>
              </a:rPr>
              <a:t>MMX</a:t>
            </a:r>
            <a:r>
              <a:rPr lang="zh-CN" altLang="en-US" dirty="0">
                <a:solidFill>
                  <a:srgbClr val="0066FF"/>
                </a:solidFill>
                <a:latin typeface="微软雅黑" panose="020B0503020204020204" pitchFamily="34" charset="-122"/>
                <a:ea typeface="微软雅黑" panose="020B0503020204020204" pitchFamily="34" charset="-122"/>
              </a:rPr>
              <a:t>指令</a:t>
            </a:r>
            <a:r>
              <a:rPr lang="zh-CN" altLang="en-US" dirty="0">
                <a:solidFill>
                  <a:srgbClr val="CC3300"/>
                </a:solidFill>
                <a:latin typeface="微软雅黑" panose="020B0503020204020204" pitchFamily="34" charset="-122"/>
                <a:ea typeface="微软雅黑" panose="020B0503020204020204" pitchFamily="34" charset="-122"/>
              </a:rPr>
              <a:t>使用</a:t>
            </a:r>
            <a:r>
              <a:rPr lang="en-US" altLang="zh-CN" dirty="0">
                <a:solidFill>
                  <a:srgbClr val="CC3300"/>
                </a:solidFill>
                <a:latin typeface="微软雅黑" panose="020B0503020204020204" pitchFamily="34" charset="-122"/>
                <a:ea typeface="微软雅黑" panose="020B0503020204020204" pitchFamily="34" charset="-122"/>
              </a:rPr>
              <a:t>8</a:t>
            </a:r>
            <a:r>
              <a:rPr lang="zh-CN" altLang="en-US" dirty="0">
                <a:solidFill>
                  <a:srgbClr val="CC3300"/>
                </a:solidFill>
                <a:latin typeface="微软雅黑" panose="020B0503020204020204" pitchFamily="34" charset="-122"/>
                <a:ea typeface="微软雅黑" panose="020B0503020204020204" pitchFamily="34" charset="-122"/>
              </a:rPr>
              <a:t>个</a:t>
            </a:r>
            <a:r>
              <a:rPr lang="en-US" altLang="zh-CN" dirty="0">
                <a:solidFill>
                  <a:srgbClr val="CC3300"/>
                </a:solidFill>
                <a:latin typeface="微软雅黑" panose="020B0503020204020204" pitchFamily="34" charset="-122"/>
                <a:ea typeface="微软雅黑" panose="020B0503020204020204" pitchFamily="34" charset="-122"/>
              </a:rPr>
              <a:t>64</a:t>
            </a:r>
            <a:r>
              <a:rPr lang="zh-CN" altLang="en-US" dirty="0">
                <a:solidFill>
                  <a:srgbClr val="CC3300"/>
                </a:solidFill>
                <a:latin typeface="微软雅黑" panose="020B0503020204020204" pitchFamily="34" charset="-122"/>
                <a:ea typeface="微软雅黑" panose="020B0503020204020204" pitchFamily="34" charset="-122"/>
              </a:rPr>
              <a:t>位寄存器</a:t>
            </a:r>
            <a:r>
              <a:rPr lang="en-US" altLang="zh-CN" dirty="0">
                <a:solidFill>
                  <a:srgbClr val="007635"/>
                </a:solidFill>
                <a:latin typeface="微软雅黑" panose="020B0503020204020204" pitchFamily="34" charset="-122"/>
                <a:ea typeface="微软雅黑" panose="020B0503020204020204" pitchFamily="34" charset="-122"/>
              </a:rPr>
              <a:t>MM0~MM7</a:t>
            </a:r>
            <a:r>
              <a:rPr lang="zh-CN" altLang="en-US" dirty="0">
                <a:solidFill>
                  <a:srgbClr val="CC3300"/>
                </a:solidFill>
                <a:latin typeface="微软雅黑" panose="020B0503020204020204" pitchFamily="34" charset="-122"/>
                <a:ea typeface="微软雅黑" panose="020B0503020204020204" pitchFamily="34" charset="-122"/>
              </a:rPr>
              <a:t>，借用</a:t>
            </a:r>
            <a:r>
              <a:rPr lang="en-US" altLang="zh-CN" dirty="0">
                <a:solidFill>
                  <a:srgbClr val="CC3300"/>
                </a:solidFill>
                <a:latin typeface="微软雅黑" panose="020B0503020204020204" pitchFamily="34" charset="-122"/>
                <a:ea typeface="微软雅黑" panose="020B0503020204020204" pitchFamily="34" charset="-122"/>
              </a:rPr>
              <a:t>8</a:t>
            </a:r>
            <a:r>
              <a:rPr lang="zh-CN" altLang="en-US" dirty="0">
                <a:solidFill>
                  <a:srgbClr val="CC3300"/>
                </a:solidFill>
                <a:latin typeface="微软雅黑" panose="020B0503020204020204" pitchFamily="34" charset="-122"/>
                <a:ea typeface="微软雅黑" panose="020B0503020204020204" pitchFamily="34" charset="-122"/>
              </a:rPr>
              <a:t>个</a:t>
            </a:r>
            <a:r>
              <a:rPr lang="en-US" altLang="zh-CN" dirty="0">
                <a:solidFill>
                  <a:srgbClr val="CC3300"/>
                </a:solidFill>
                <a:latin typeface="微软雅黑" panose="020B0503020204020204" pitchFamily="34" charset="-122"/>
                <a:ea typeface="微软雅黑" panose="020B0503020204020204" pitchFamily="34" charset="-122"/>
              </a:rPr>
              <a:t>80</a:t>
            </a:r>
            <a:r>
              <a:rPr lang="zh-CN" altLang="en-US" dirty="0">
                <a:solidFill>
                  <a:srgbClr val="CC3300"/>
                </a:solidFill>
                <a:latin typeface="微软雅黑" panose="020B0503020204020204" pitchFamily="34" charset="-122"/>
                <a:ea typeface="微软雅黑" panose="020B0503020204020204" pitchFamily="34" charset="-122"/>
              </a:rPr>
              <a:t>位寄存器</a:t>
            </a:r>
            <a:r>
              <a:rPr lang="en-US" altLang="zh-CN" dirty="0">
                <a:solidFill>
                  <a:srgbClr val="CC3300"/>
                </a:solidFill>
                <a:latin typeface="微软雅黑" panose="020B0503020204020204" pitchFamily="34" charset="-122"/>
                <a:ea typeface="微软雅黑" panose="020B0503020204020204" pitchFamily="34" charset="-122"/>
              </a:rPr>
              <a:t>ST(0)~ST(7)</a:t>
            </a:r>
            <a:r>
              <a:rPr lang="zh-CN" altLang="en-US" dirty="0">
                <a:solidFill>
                  <a:srgbClr val="CC3300"/>
                </a:solidFill>
                <a:latin typeface="微软雅黑" panose="020B0503020204020204" pitchFamily="34" charset="-122"/>
                <a:ea typeface="微软雅黑" panose="020B0503020204020204" pitchFamily="34" charset="-122"/>
              </a:rPr>
              <a:t>中</a:t>
            </a:r>
            <a:r>
              <a:rPr lang="en-US" altLang="zh-CN" dirty="0">
                <a:solidFill>
                  <a:srgbClr val="CC3300"/>
                </a:solidFill>
                <a:latin typeface="微软雅黑" panose="020B0503020204020204" pitchFamily="34" charset="-122"/>
                <a:ea typeface="微软雅黑" panose="020B0503020204020204" pitchFamily="34" charset="-122"/>
              </a:rPr>
              <a:t>64</a:t>
            </a:r>
            <a:r>
              <a:rPr lang="zh-CN" altLang="en-US" dirty="0">
                <a:solidFill>
                  <a:srgbClr val="CC3300"/>
                </a:solidFill>
                <a:latin typeface="微软雅黑" panose="020B0503020204020204" pitchFamily="34" charset="-122"/>
                <a:ea typeface="微软雅黑" panose="020B0503020204020204" pitchFamily="34" charset="-122"/>
              </a:rPr>
              <a:t>位尾数所占的位，可同时处理</a:t>
            </a:r>
            <a:r>
              <a:rPr lang="en-US" altLang="zh-CN" dirty="0">
                <a:solidFill>
                  <a:srgbClr val="CC3300"/>
                </a:solidFill>
                <a:latin typeface="微软雅黑" panose="020B0503020204020204" pitchFamily="34" charset="-122"/>
                <a:ea typeface="微软雅黑" panose="020B0503020204020204" pitchFamily="34" charset="-122"/>
              </a:rPr>
              <a:t>8</a:t>
            </a:r>
            <a:r>
              <a:rPr lang="zh-CN" altLang="en-US" dirty="0">
                <a:solidFill>
                  <a:srgbClr val="CC3300"/>
                </a:solidFill>
                <a:latin typeface="微软雅黑" panose="020B0503020204020204" pitchFamily="34" charset="-122"/>
                <a:ea typeface="微软雅黑" panose="020B0503020204020204" pitchFamily="34" charset="-122"/>
              </a:rPr>
              <a:t>个字节，或</a:t>
            </a:r>
            <a:r>
              <a:rPr lang="en-US" altLang="zh-CN" dirty="0">
                <a:solidFill>
                  <a:srgbClr val="CC3300"/>
                </a:solidFill>
                <a:latin typeface="微软雅黑" panose="020B0503020204020204" pitchFamily="34" charset="-122"/>
                <a:ea typeface="微软雅黑" panose="020B0503020204020204" pitchFamily="34" charset="-122"/>
              </a:rPr>
              <a:t>4</a:t>
            </a:r>
            <a:r>
              <a:rPr lang="zh-CN" altLang="en-US" dirty="0">
                <a:solidFill>
                  <a:srgbClr val="CC3300"/>
                </a:solidFill>
                <a:latin typeface="微软雅黑" panose="020B0503020204020204" pitchFamily="34" charset="-122"/>
                <a:ea typeface="微软雅黑" panose="020B0503020204020204" pitchFamily="34" charset="-122"/>
              </a:rPr>
              <a:t>个字，或</a:t>
            </a:r>
            <a:r>
              <a:rPr lang="en-US" altLang="zh-CN" dirty="0">
                <a:solidFill>
                  <a:srgbClr val="CC3300"/>
                </a:solidFill>
                <a:latin typeface="微软雅黑" panose="020B0503020204020204" pitchFamily="34" charset="-122"/>
                <a:ea typeface="微软雅黑" panose="020B0503020204020204" pitchFamily="34" charset="-122"/>
              </a:rPr>
              <a:t>2</a:t>
            </a:r>
            <a:r>
              <a:rPr lang="zh-CN" altLang="en-US" dirty="0">
                <a:solidFill>
                  <a:srgbClr val="CC3300"/>
                </a:solidFill>
                <a:latin typeface="微软雅黑" panose="020B0503020204020204" pitchFamily="34" charset="-122"/>
                <a:ea typeface="微软雅黑" panose="020B0503020204020204" pitchFamily="34" charset="-122"/>
              </a:rPr>
              <a:t>个双字，或一个</a:t>
            </a:r>
            <a:r>
              <a:rPr lang="en-US" altLang="zh-CN" dirty="0">
                <a:solidFill>
                  <a:srgbClr val="CC3300"/>
                </a:solidFill>
                <a:latin typeface="微软雅黑" panose="020B0503020204020204" pitchFamily="34" charset="-122"/>
                <a:ea typeface="微软雅黑" panose="020B0503020204020204" pitchFamily="34" charset="-122"/>
              </a:rPr>
              <a:t>64</a:t>
            </a:r>
            <a:r>
              <a:rPr lang="zh-CN" altLang="en-US" dirty="0">
                <a:solidFill>
                  <a:srgbClr val="CC3300"/>
                </a:solidFill>
                <a:latin typeface="微软雅黑" panose="020B0503020204020204" pitchFamily="34" charset="-122"/>
                <a:ea typeface="微软雅黑" panose="020B0503020204020204" pitchFamily="34" charset="-122"/>
              </a:rPr>
              <a:t>位的数据</a:t>
            </a:r>
          </a:p>
          <a:p>
            <a:pPr lvl="1">
              <a:lnSpc>
                <a:spcPct val="120000"/>
              </a:lnSpc>
              <a:spcBef>
                <a:spcPct val="25000"/>
              </a:spcBef>
              <a:buFont typeface="Wingdings" panose="05000000000000000000" pitchFamily="2" charset="2"/>
              <a:buChar char="ü"/>
            </a:pPr>
            <a:r>
              <a:rPr lang="en-US" altLang="zh-CN" dirty="0">
                <a:solidFill>
                  <a:srgbClr val="CC3300"/>
                </a:solidFill>
                <a:latin typeface="微软雅黑" panose="020B0503020204020204" pitchFamily="34" charset="-122"/>
                <a:ea typeface="微软雅黑" panose="020B0503020204020204" pitchFamily="34" charset="-122"/>
              </a:rPr>
              <a:t>MMX</a:t>
            </a:r>
            <a:r>
              <a:rPr lang="zh-CN" altLang="en-US" dirty="0">
                <a:solidFill>
                  <a:srgbClr val="CC3300"/>
                </a:solidFill>
                <a:latin typeface="微软雅黑" panose="020B0503020204020204" pitchFamily="34" charset="-122"/>
                <a:ea typeface="微软雅黑" panose="020B0503020204020204" pitchFamily="34" charset="-122"/>
              </a:rPr>
              <a:t>指令并没带来</a:t>
            </a:r>
            <a:r>
              <a:rPr lang="en-US" altLang="zh-CN" dirty="0">
                <a:solidFill>
                  <a:srgbClr val="CC3300"/>
                </a:solidFill>
                <a:latin typeface="微软雅黑" panose="020B0503020204020204" pitchFamily="34" charset="-122"/>
                <a:ea typeface="微软雅黑" panose="020B0503020204020204" pitchFamily="34" charset="-122"/>
              </a:rPr>
              <a:t>3D</a:t>
            </a:r>
            <a:r>
              <a:rPr lang="zh-CN" altLang="en-US" dirty="0">
                <a:solidFill>
                  <a:srgbClr val="CC3300"/>
                </a:solidFill>
                <a:latin typeface="微软雅黑" panose="020B0503020204020204" pitchFamily="34" charset="-122"/>
                <a:ea typeface="微软雅黑" panose="020B0503020204020204" pitchFamily="34" charset="-122"/>
              </a:rPr>
              <a:t>游戏性能的显著提升，故相继推出</a:t>
            </a:r>
            <a:r>
              <a:rPr lang="en-US" altLang="zh-CN" dirty="0">
                <a:solidFill>
                  <a:srgbClr val="0066FF"/>
                </a:solidFill>
                <a:latin typeface="微软雅黑" panose="020B0503020204020204" pitchFamily="34" charset="-122"/>
                <a:ea typeface="微软雅黑" panose="020B0503020204020204" pitchFamily="34" charset="-122"/>
              </a:rPr>
              <a:t>SSE</a:t>
            </a:r>
            <a:r>
              <a:rPr lang="zh-CN" altLang="en-US" dirty="0">
                <a:solidFill>
                  <a:srgbClr val="0066FF"/>
                </a:solidFill>
                <a:latin typeface="微软雅黑" panose="020B0503020204020204" pitchFamily="34" charset="-122"/>
                <a:ea typeface="微软雅黑" panose="020B0503020204020204" pitchFamily="34" charset="-122"/>
              </a:rPr>
              <a:t>指令集</a:t>
            </a:r>
            <a:r>
              <a:rPr lang="zh-CN" altLang="en-US" dirty="0">
                <a:solidFill>
                  <a:srgbClr val="CC3300"/>
                </a:solidFill>
                <a:latin typeface="微软雅黑" panose="020B0503020204020204" pitchFamily="34" charset="-122"/>
                <a:ea typeface="微软雅黑" panose="020B0503020204020204" pitchFamily="34" charset="-122"/>
              </a:rPr>
              <a:t> ，它们都采用</a:t>
            </a:r>
            <a:r>
              <a:rPr lang="en-US" altLang="zh-CN" dirty="0">
                <a:solidFill>
                  <a:srgbClr val="3333CC"/>
                </a:solidFill>
                <a:latin typeface="微软雅黑" panose="020B0503020204020204" pitchFamily="34" charset="-122"/>
                <a:ea typeface="微软雅黑" panose="020B0503020204020204" pitchFamily="34" charset="-122"/>
              </a:rPr>
              <a:t>SIMD</a:t>
            </a:r>
            <a:r>
              <a:rPr lang="zh-CN" altLang="en-US" dirty="0">
                <a:solidFill>
                  <a:srgbClr val="3333CC"/>
                </a:solidFill>
                <a:latin typeface="微软雅黑" panose="020B0503020204020204" pitchFamily="34" charset="-122"/>
                <a:ea typeface="微软雅黑" panose="020B0503020204020204" pitchFamily="34" charset="-122"/>
              </a:rPr>
              <a:t>（单指令多数据，也称数据级并行）技术</a:t>
            </a:r>
          </a:p>
          <a:p>
            <a:pPr lvl="1">
              <a:lnSpc>
                <a:spcPct val="120000"/>
              </a:lnSpc>
              <a:spcBef>
                <a:spcPct val="25000"/>
              </a:spcBef>
              <a:buFont typeface="Wingdings" panose="05000000000000000000" pitchFamily="2" charset="2"/>
              <a:buChar char="ü"/>
            </a:pPr>
            <a:r>
              <a:rPr lang="en-US" altLang="zh-CN" dirty="0">
                <a:solidFill>
                  <a:srgbClr val="CC3300"/>
                </a:solidFill>
                <a:latin typeface="微软雅黑" panose="020B0503020204020204" pitchFamily="34" charset="-122"/>
                <a:ea typeface="微软雅黑" panose="020B0503020204020204" pitchFamily="34" charset="-122"/>
              </a:rPr>
              <a:t>SSE</a:t>
            </a:r>
            <a:r>
              <a:rPr lang="zh-CN" altLang="en-US" dirty="0">
                <a:solidFill>
                  <a:srgbClr val="CC3300"/>
                </a:solidFill>
                <a:latin typeface="微软雅黑" panose="020B0503020204020204" pitchFamily="34" charset="-122"/>
                <a:ea typeface="微软雅黑" panose="020B0503020204020204" pitchFamily="34" charset="-122"/>
              </a:rPr>
              <a:t>指令集将</a:t>
            </a:r>
            <a:r>
              <a:rPr lang="en-US" altLang="zh-CN" dirty="0">
                <a:solidFill>
                  <a:srgbClr val="CC3300"/>
                </a:solidFill>
                <a:latin typeface="微软雅黑" panose="020B0503020204020204" pitchFamily="34" charset="-122"/>
                <a:ea typeface="微软雅黑" panose="020B0503020204020204" pitchFamily="34" charset="-122"/>
              </a:rPr>
              <a:t>80</a:t>
            </a:r>
            <a:r>
              <a:rPr lang="zh-CN" altLang="en-US" dirty="0">
                <a:solidFill>
                  <a:srgbClr val="CC3300"/>
                </a:solidFill>
                <a:latin typeface="微软雅黑" panose="020B0503020204020204" pitchFamily="34" charset="-122"/>
                <a:ea typeface="微软雅黑" panose="020B0503020204020204" pitchFamily="34" charset="-122"/>
              </a:rPr>
              <a:t>位浮点寄存器扩充到</a:t>
            </a:r>
            <a:r>
              <a:rPr lang="en-US" altLang="zh-CN" dirty="0">
                <a:solidFill>
                  <a:srgbClr val="007635"/>
                </a:solidFill>
                <a:latin typeface="微软雅黑" panose="020B0503020204020204" pitchFamily="34" charset="-122"/>
                <a:ea typeface="微软雅黑" panose="020B0503020204020204" pitchFamily="34" charset="-122"/>
              </a:rPr>
              <a:t>128</a:t>
            </a:r>
            <a:r>
              <a:rPr lang="zh-CN" altLang="en-US" dirty="0">
                <a:solidFill>
                  <a:srgbClr val="007635"/>
                </a:solidFill>
                <a:latin typeface="微软雅黑" panose="020B0503020204020204" pitchFamily="34" charset="-122"/>
                <a:ea typeface="微软雅黑" panose="020B0503020204020204" pitchFamily="34" charset="-122"/>
              </a:rPr>
              <a:t>位多媒体扩展通用寄存器</a:t>
            </a:r>
            <a:r>
              <a:rPr lang="en-US" altLang="zh-CN" dirty="0">
                <a:solidFill>
                  <a:srgbClr val="007635"/>
                </a:solidFill>
                <a:latin typeface="微软雅黑" panose="020B0503020204020204" pitchFamily="34" charset="-122"/>
                <a:ea typeface="微软雅黑" panose="020B0503020204020204" pitchFamily="34" charset="-122"/>
              </a:rPr>
              <a:t>XMM0~XMM7</a:t>
            </a:r>
            <a:r>
              <a:rPr lang="zh-CN" altLang="en-US" dirty="0">
                <a:solidFill>
                  <a:srgbClr val="CC3300"/>
                </a:solidFill>
                <a:latin typeface="微软雅黑" panose="020B0503020204020204" pitchFamily="34" charset="-122"/>
                <a:ea typeface="微软雅黑" panose="020B0503020204020204" pitchFamily="34" charset="-122"/>
              </a:rPr>
              <a:t>，可同时处理</a:t>
            </a:r>
            <a:r>
              <a:rPr lang="en-US" altLang="zh-CN" dirty="0">
                <a:solidFill>
                  <a:srgbClr val="CC3300"/>
                </a:solidFill>
                <a:latin typeface="微软雅黑" panose="020B0503020204020204" pitchFamily="34" charset="-122"/>
                <a:ea typeface="微软雅黑" panose="020B0503020204020204" pitchFamily="34" charset="-122"/>
              </a:rPr>
              <a:t>16</a:t>
            </a:r>
            <a:r>
              <a:rPr lang="zh-CN" altLang="en-US" dirty="0">
                <a:solidFill>
                  <a:srgbClr val="CC3300"/>
                </a:solidFill>
                <a:latin typeface="微软雅黑" panose="020B0503020204020204" pitchFamily="34" charset="-122"/>
                <a:ea typeface="微软雅黑" panose="020B0503020204020204" pitchFamily="34" charset="-122"/>
              </a:rPr>
              <a:t>个字节，或</a:t>
            </a:r>
            <a:r>
              <a:rPr lang="en-US" altLang="zh-CN" dirty="0">
                <a:solidFill>
                  <a:srgbClr val="CC3300"/>
                </a:solidFill>
                <a:latin typeface="微软雅黑" panose="020B0503020204020204" pitchFamily="34" charset="-122"/>
                <a:ea typeface="微软雅黑" panose="020B0503020204020204" pitchFamily="34" charset="-122"/>
              </a:rPr>
              <a:t>8</a:t>
            </a:r>
            <a:r>
              <a:rPr lang="zh-CN" altLang="en-US" dirty="0">
                <a:solidFill>
                  <a:srgbClr val="CC3300"/>
                </a:solidFill>
                <a:latin typeface="微软雅黑" panose="020B0503020204020204" pitchFamily="34" charset="-122"/>
                <a:ea typeface="微软雅黑" panose="020B0503020204020204" pitchFamily="34" charset="-122"/>
              </a:rPr>
              <a:t>个字，或</a:t>
            </a:r>
            <a:r>
              <a:rPr lang="en-US" altLang="zh-CN" dirty="0">
                <a:solidFill>
                  <a:srgbClr val="CC3300"/>
                </a:solidFill>
                <a:latin typeface="微软雅黑" panose="020B0503020204020204" pitchFamily="34" charset="-122"/>
                <a:ea typeface="微软雅黑" panose="020B0503020204020204" pitchFamily="34" charset="-122"/>
              </a:rPr>
              <a:t>4</a:t>
            </a:r>
            <a:r>
              <a:rPr lang="zh-CN" altLang="en-US" dirty="0">
                <a:solidFill>
                  <a:srgbClr val="CC3300"/>
                </a:solidFill>
                <a:latin typeface="微软雅黑" panose="020B0503020204020204" pitchFamily="34" charset="-122"/>
                <a:ea typeface="微软雅黑" panose="020B0503020204020204" pitchFamily="34" charset="-122"/>
              </a:rPr>
              <a:t>个双字（</a:t>
            </a:r>
            <a:r>
              <a:rPr lang="en-US" altLang="zh-CN" dirty="0">
                <a:solidFill>
                  <a:srgbClr val="CC3300"/>
                </a:solidFill>
                <a:latin typeface="微软雅黑" panose="020B0503020204020204" pitchFamily="34" charset="-122"/>
                <a:ea typeface="微软雅黑" panose="020B0503020204020204" pitchFamily="34" charset="-122"/>
              </a:rPr>
              <a:t>32</a:t>
            </a:r>
            <a:r>
              <a:rPr lang="zh-CN" altLang="en-US" dirty="0">
                <a:solidFill>
                  <a:srgbClr val="CC3300"/>
                </a:solidFill>
                <a:latin typeface="微软雅黑" panose="020B0503020204020204" pitchFamily="34" charset="-122"/>
                <a:ea typeface="微软雅黑" panose="020B0503020204020204" pitchFamily="34" charset="-122"/>
              </a:rPr>
              <a:t>位整数或单精度浮点数），或两个四字的数据，而且从</a:t>
            </a:r>
            <a:r>
              <a:rPr lang="en-US" altLang="zh-CN" dirty="0">
                <a:solidFill>
                  <a:srgbClr val="CC3300"/>
                </a:solidFill>
                <a:latin typeface="微软雅黑" panose="020B0503020204020204" pitchFamily="34" charset="-122"/>
                <a:ea typeface="微软雅黑" panose="020B0503020204020204" pitchFamily="34" charset="-122"/>
              </a:rPr>
              <a:t>SSE2</a:t>
            </a:r>
            <a:r>
              <a:rPr lang="zh-CN" altLang="en-US" dirty="0">
                <a:solidFill>
                  <a:srgbClr val="CC3300"/>
                </a:solidFill>
                <a:latin typeface="微软雅黑" panose="020B0503020204020204" pitchFamily="34" charset="-122"/>
                <a:ea typeface="微软雅黑" panose="020B0503020204020204" pitchFamily="34" charset="-122"/>
              </a:rPr>
              <a:t>开始，还支持</a:t>
            </a:r>
            <a:r>
              <a:rPr lang="en-US" altLang="zh-CN" dirty="0">
                <a:solidFill>
                  <a:srgbClr val="CC3300"/>
                </a:solidFill>
                <a:latin typeface="微软雅黑" panose="020B0503020204020204" pitchFamily="34" charset="-122"/>
                <a:ea typeface="微软雅黑" panose="020B0503020204020204" pitchFamily="34" charset="-122"/>
              </a:rPr>
              <a:t>128</a:t>
            </a:r>
            <a:r>
              <a:rPr lang="zh-CN" altLang="en-US" dirty="0">
                <a:solidFill>
                  <a:srgbClr val="CC3300"/>
                </a:solidFill>
                <a:latin typeface="微软雅黑" panose="020B0503020204020204" pitchFamily="34" charset="-122"/>
                <a:ea typeface="微软雅黑" panose="020B0503020204020204" pitchFamily="34" charset="-122"/>
              </a:rPr>
              <a:t>位整数运算或同时并行处理两个</a:t>
            </a:r>
            <a:r>
              <a:rPr lang="en-US" altLang="zh-CN" dirty="0">
                <a:solidFill>
                  <a:srgbClr val="CC3300"/>
                </a:solidFill>
                <a:latin typeface="微软雅黑" panose="020B0503020204020204" pitchFamily="34" charset="-122"/>
                <a:ea typeface="微软雅黑" panose="020B0503020204020204" pitchFamily="34" charset="-122"/>
              </a:rPr>
              <a:t>64</a:t>
            </a:r>
            <a:r>
              <a:rPr lang="zh-CN" altLang="en-US" dirty="0">
                <a:solidFill>
                  <a:srgbClr val="CC3300"/>
                </a:solidFill>
                <a:latin typeface="微软雅黑" panose="020B0503020204020204" pitchFamily="34" charset="-122"/>
                <a:ea typeface="微软雅黑" panose="020B0503020204020204" pitchFamily="34" charset="-122"/>
              </a:rPr>
              <a:t>位双精度浮点数</a:t>
            </a:r>
          </a:p>
        </p:txBody>
      </p:sp>
    </p:spTree>
    <p:extLst>
      <p:ext uri="{BB962C8B-B14F-4D97-AF65-F5344CB8AC3E}">
        <p14:creationId xmlns:p14="http://schemas.microsoft.com/office/powerpoint/2010/main" val="40030839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04515">
                                            <p:txEl>
                                              <p:pRg st="2" end="2"/>
                                            </p:txEl>
                                          </p:spTgt>
                                        </p:tgtEl>
                                        <p:attrNameLst>
                                          <p:attrName>style.visibility</p:attrName>
                                        </p:attrNameLst>
                                      </p:cBhvr>
                                      <p:to>
                                        <p:strVal val="visible"/>
                                      </p:to>
                                    </p:set>
                                    <p:animEffect transition="in" filter="blinds(horizontal)">
                                      <p:cBhvr>
                                        <p:cTn id="7" dur="500"/>
                                        <p:tgtEl>
                                          <p:spTgt spid="704515">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04515">
                                            <p:txEl>
                                              <p:pRg st="4" end="4"/>
                                            </p:txEl>
                                          </p:spTgt>
                                        </p:tgtEl>
                                        <p:attrNameLst>
                                          <p:attrName>style.visibility</p:attrName>
                                        </p:attrNameLst>
                                      </p:cBhvr>
                                      <p:to>
                                        <p:strVal val="visible"/>
                                      </p:to>
                                    </p:set>
                                    <p:animEffect transition="in" filter="blinds(horizontal)">
                                      <p:cBhvr>
                                        <p:cTn id="12" dur="500"/>
                                        <p:tgtEl>
                                          <p:spTgt spid="704515">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04515">
                                            <p:txEl>
                                              <p:pRg st="5" end="5"/>
                                            </p:txEl>
                                          </p:spTgt>
                                        </p:tgtEl>
                                        <p:attrNameLst>
                                          <p:attrName>style.visibility</p:attrName>
                                        </p:attrNameLst>
                                      </p:cBhvr>
                                      <p:to>
                                        <p:strVal val="visible"/>
                                      </p:to>
                                    </p:set>
                                    <p:animEffect transition="in" filter="blinds(horizontal)">
                                      <p:cBhvr>
                                        <p:cTn id="17" dur="500"/>
                                        <p:tgtEl>
                                          <p:spTgt spid="704515">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04515">
                                            <p:txEl>
                                              <p:pRg st="6" end="6"/>
                                            </p:txEl>
                                          </p:spTgt>
                                        </p:tgtEl>
                                        <p:attrNameLst>
                                          <p:attrName>style.visibility</p:attrName>
                                        </p:attrNameLst>
                                      </p:cBhvr>
                                      <p:to>
                                        <p:strVal val="visible"/>
                                      </p:to>
                                    </p:set>
                                    <p:animEffect transition="in" filter="blinds(horizontal)">
                                      <p:cBhvr>
                                        <p:cTn id="22" dur="500"/>
                                        <p:tgtEl>
                                          <p:spTgt spid="7045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457200" y="98425"/>
            <a:ext cx="8229600" cy="561975"/>
          </a:xfrm>
        </p:spPr>
        <p:txBody>
          <a:bodyPr>
            <a:normAutofit fontScale="90000"/>
          </a:bodyPr>
          <a:lstStyle/>
          <a:p>
            <a:r>
              <a:rPr lang="en-US" altLang="zh-CN" sz="3600"/>
              <a:t>IA-32</a:t>
            </a:r>
            <a:r>
              <a:rPr lang="zh-CN" altLang="en-US" sz="3600"/>
              <a:t>中通用寄存器中的编号</a:t>
            </a:r>
          </a:p>
        </p:txBody>
      </p:sp>
      <p:sp>
        <p:nvSpPr>
          <p:cNvPr id="60419" name="Rectangle 3"/>
          <p:cNvSpPr>
            <a:spLocks noGrp="1" noChangeArrowheads="1"/>
          </p:cNvSpPr>
          <p:nvPr>
            <p:ph type="body" idx="1"/>
          </p:nvPr>
        </p:nvSpPr>
        <p:spPr>
          <a:xfrm>
            <a:off x="296863" y="5589588"/>
            <a:ext cx="8505825" cy="900112"/>
          </a:xfrm>
        </p:spPr>
        <p:txBody>
          <a:bodyPr/>
          <a:lstStyle/>
          <a:p>
            <a:pPr>
              <a:buFontTx/>
              <a:buNone/>
            </a:pPr>
            <a:r>
              <a:rPr lang="zh-CN" altLang="en-US" sz="2200">
                <a:solidFill>
                  <a:srgbClr val="FF3300"/>
                </a:solidFill>
                <a:ea typeface="微软雅黑" panose="020B0503020204020204" pitchFamily="34" charset="-122"/>
              </a:rPr>
              <a:t>反映了体系结构发展的轨迹，字长不断扩充，指令保持兼容</a:t>
            </a:r>
          </a:p>
          <a:p>
            <a:pPr>
              <a:buFontTx/>
              <a:buNone/>
            </a:pPr>
            <a:r>
              <a:rPr lang="en-US" altLang="zh-CN" sz="2200">
                <a:solidFill>
                  <a:srgbClr val="FF3300"/>
                </a:solidFill>
                <a:ea typeface="微软雅黑" panose="020B0503020204020204" pitchFamily="34" charset="-122"/>
              </a:rPr>
              <a:t>ST</a:t>
            </a:r>
            <a:r>
              <a:rPr lang="zh-CN" altLang="en-US" sz="2200">
                <a:solidFill>
                  <a:srgbClr val="FF3300"/>
                </a:solidFill>
                <a:ea typeface="微软雅黑" panose="020B0503020204020204" pitchFamily="34" charset="-122"/>
              </a:rPr>
              <a:t>（</a:t>
            </a:r>
            <a:r>
              <a:rPr lang="en-US" altLang="zh-CN" sz="2200">
                <a:solidFill>
                  <a:srgbClr val="FF3300"/>
                </a:solidFill>
                <a:ea typeface="微软雅黑" panose="020B0503020204020204" pitchFamily="34" charset="-122"/>
              </a:rPr>
              <a:t>0</a:t>
            </a:r>
            <a:r>
              <a:rPr lang="zh-CN" altLang="en-US" sz="2200">
                <a:solidFill>
                  <a:srgbClr val="FF3300"/>
                </a:solidFill>
                <a:ea typeface="微软雅黑" panose="020B0503020204020204" pitchFamily="34" charset="-122"/>
              </a:rPr>
              <a:t>）</a:t>
            </a:r>
            <a:r>
              <a:rPr lang="en-US" altLang="zh-CN" sz="2200">
                <a:solidFill>
                  <a:srgbClr val="FF3300"/>
                </a:solidFill>
                <a:ea typeface="微软雅黑" panose="020B0503020204020204" pitchFamily="34" charset="-122"/>
                <a:cs typeface="Arial" panose="020B0604020202020204" pitchFamily="34" charset="0"/>
              </a:rPr>
              <a:t>~ ST</a:t>
            </a:r>
            <a:r>
              <a:rPr lang="zh-CN" altLang="en-US" sz="2200">
                <a:solidFill>
                  <a:srgbClr val="FF3300"/>
                </a:solidFill>
                <a:ea typeface="微软雅黑" panose="020B0503020204020204" pitchFamily="34" charset="-122"/>
                <a:cs typeface="Arial" panose="020B0604020202020204" pitchFamily="34" charset="0"/>
              </a:rPr>
              <a:t>（</a:t>
            </a:r>
            <a:r>
              <a:rPr lang="en-US" altLang="zh-CN" sz="2200">
                <a:solidFill>
                  <a:srgbClr val="FF3300"/>
                </a:solidFill>
                <a:ea typeface="微软雅黑" panose="020B0503020204020204" pitchFamily="34" charset="-122"/>
                <a:cs typeface="Arial" panose="020B0604020202020204" pitchFamily="34" charset="0"/>
              </a:rPr>
              <a:t>7</a:t>
            </a:r>
            <a:r>
              <a:rPr lang="zh-CN" altLang="en-US" sz="2200">
                <a:solidFill>
                  <a:srgbClr val="FF3300"/>
                </a:solidFill>
                <a:ea typeface="微软雅黑" panose="020B0503020204020204" pitchFamily="34" charset="-122"/>
                <a:cs typeface="Arial" panose="020B0604020202020204" pitchFamily="34" charset="0"/>
              </a:rPr>
              <a:t>）是</a:t>
            </a:r>
            <a:r>
              <a:rPr lang="en-US" altLang="zh-CN" sz="2200">
                <a:solidFill>
                  <a:srgbClr val="FF3300"/>
                </a:solidFill>
                <a:ea typeface="微软雅黑" panose="020B0503020204020204" pitchFamily="34" charset="-122"/>
                <a:cs typeface="Arial" panose="020B0604020202020204" pitchFamily="34" charset="0"/>
              </a:rPr>
              <a:t>80</a:t>
            </a:r>
            <a:r>
              <a:rPr lang="zh-CN" altLang="en-US" sz="2200">
                <a:solidFill>
                  <a:srgbClr val="FF3300"/>
                </a:solidFill>
                <a:ea typeface="微软雅黑" panose="020B0503020204020204" pitchFamily="34" charset="-122"/>
                <a:cs typeface="Arial" panose="020B0604020202020204" pitchFamily="34" charset="0"/>
              </a:rPr>
              <a:t>位，</a:t>
            </a:r>
            <a:r>
              <a:rPr lang="en-US" altLang="zh-CN" sz="2200">
                <a:solidFill>
                  <a:srgbClr val="FF3300"/>
                </a:solidFill>
                <a:ea typeface="微软雅黑" panose="020B0503020204020204" pitchFamily="34" charset="-122"/>
                <a:cs typeface="Arial" panose="020B0604020202020204" pitchFamily="34" charset="0"/>
              </a:rPr>
              <a:t>MM0 ~MM7</a:t>
            </a:r>
            <a:r>
              <a:rPr lang="zh-CN" altLang="en-US" sz="2200">
                <a:solidFill>
                  <a:srgbClr val="FF3300"/>
                </a:solidFill>
                <a:ea typeface="微软雅黑" panose="020B0503020204020204" pitchFamily="34" charset="-122"/>
                <a:cs typeface="Arial" panose="020B0604020202020204" pitchFamily="34" charset="0"/>
              </a:rPr>
              <a:t>使用其低</a:t>
            </a:r>
            <a:r>
              <a:rPr lang="en-US" altLang="zh-CN" sz="2200">
                <a:solidFill>
                  <a:srgbClr val="FF3300"/>
                </a:solidFill>
                <a:ea typeface="微软雅黑" panose="020B0503020204020204" pitchFamily="34" charset="-122"/>
                <a:cs typeface="Arial" panose="020B0604020202020204" pitchFamily="34" charset="0"/>
              </a:rPr>
              <a:t>64</a:t>
            </a:r>
            <a:r>
              <a:rPr lang="zh-CN" altLang="en-US" sz="2200">
                <a:solidFill>
                  <a:srgbClr val="FF3300"/>
                </a:solidFill>
                <a:ea typeface="微软雅黑" panose="020B0503020204020204" pitchFamily="34" charset="-122"/>
                <a:cs typeface="Arial" panose="020B0604020202020204" pitchFamily="34" charset="0"/>
              </a:rPr>
              <a:t>位</a:t>
            </a:r>
          </a:p>
        </p:txBody>
      </p:sp>
      <p:pic>
        <p:nvPicPr>
          <p:cNvPr id="604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 y="863600"/>
            <a:ext cx="8596313" cy="472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26873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457200" y="122238"/>
            <a:ext cx="8229600" cy="561975"/>
          </a:xfrm>
        </p:spPr>
        <p:txBody>
          <a:bodyPr>
            <a:normAutofit fontScale="90000"/>
          </a:bodyPr>
          <a:lstStyle/>
          <a:p>
            <a:r>
              <a:rPr lang="en-US" altLang="zh-CN"/>
              <a:t>SSE</a:t>
            </a:r>
            <a:r>
              <a:rPr lang="zh-CN" altLang="en-US"/>
              <a:t>指令（</a:t>
            </a:r>
            <a:r>
              <a:rPr lang="en-US" altLang="zh-CN"/>
              <a:t>SIMD</a:t>
            </a:r>
            <a:r>
              <a:rPr lang="zh-CN" altLang="en-US"/>
              <a:t>操作）</a:t>
            </a:r>
          </a:p>
        </p:txBody>
      </p:sp>
      <p:sp>
        <p:nvSpPr>
          <p:cNvPr id="61443" name="Rectangle 3"/>
          <p:cNvSpPr>
            <a:spLocks noChangeArrowheads="1"/>
          </p:cNvSpPr>
          <p:nvPr/>
        </p:nvSpPr>
        <p:spPr bwMode="auto">
          <a:xfrm>
            <a:off x="115888" y="2642662"/>
            <a:ext cx="7740650" cy="37856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indent="66675">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20000"/>
              </a:lnSpc>
              <a:spcBef>
                <a:spcPct val="0"/>
              </a:spcBef>
              <a:buFontTx/>
              <a:buNone/>
            </a:pPr>
            <a:r>
              <a:rPr lang="en-US" altLang="zh-CN" sz="2000">
                <a:latin typeface="微软雅黑" panose="020B0503020204020204" pitchFamily="34" charset="-122"/>
                <a:ea typeface="微软雅黑" panose="020B0503020204020204" pitchFamily="34" charset="-122"/>
              </a:rPr>
              <a:t>080484f0 &lt;dummy_add&gt;:</a:t>
            </a:r>
          </a:p>
          <a:p>
            <a:pPr>
              <a:lnSpc>
                <a:spcPct val="120000"/>
              </a:lnSpc>
              <a:spcBef>
                <a:spcPct val="0"/>
              </a:spcBef>
              <a:buFontTx/>
              <a:buNone/>
            </a:pPr>
            <a:r>
              <a:rPr lang="en-US" altLang="zh-CN" sz="2000">
                <a:latin typeface="微软雅黑" panose="020B0503020204020204" pitchFamily="34" charset="-122"/>
                <a:ea typeface="微软雅黑" panose="020B0503020204020204" pitchFamily="34" charset="-122"/>
              </a:rPr>
              <a:t> 80484f0:  55		  push  %ebp</a:t>
            </a:r>
          </a:p>
          <a:p>
            <a:pPr>
              <a:lnSpc>
                <a:spcPct val="120000"/>
              </a:lnSpc>
              <a:spcBef>
                <a:spcPct val="0"/>
              </a:spcBef>
              <a:buFontTx/>
              <a:buNone/>
            </a:pPr>
            <a:r>
              <a:rPr lang="en-US" altLang="zh-CN" sz="2000">
                <a:latin typeface="微软雅黑" panose="020B0503020204020204" pitchFamily="34" charset="-122"/>
                <a:ea typeface="微软雅黑" panose="020B0503020204020204" pitchFamily="34" charset="-122"/>
              </a:rPr>
              <a:t> 80484f1:  89 e5	  mov  %esp, %ebp</a:t>
            </a:r>
          </a:p>
          <a:p>
            <a:pPr>
              <a:lnSpc>
                <a:spcPct val="120000"/>
              </a:lnSpc>
              <a:spcBef>
                <a:spcPct val="0"/>
              </a:spcBef>
              <a:buFontTx/>
              <a:buNone/>
            </a:pPr>
            <a:r>
              <a:rPr lang="en-US" altLang="zh-CN" sz="2000">
                <a:latin typeface="微软雅黑" panose="020B0503020204020204" pitchFamily="34" charset="-122"/>
                <a:ea typeface="微软雅黑" panose="020B0503020204020204" pitchFamily="34" charset="-122"/>
              </a:rPr>
              <a:t> 80484f3:  b9 00 00 00 04  mov  $0x4000000, %ecx</a:t>
            </a:r>
          </a:p>
          <a:p>
            <a:pPr>
              <a:lnSpc>
                <a:spcPct val="120000"/>
              </a:lnSpc>
              <a:spcBef>
                <a:spcPct val="0"/>
              </a:spcBef>
              <a:buFontTx/>
              <a:buNone/>
            </a:pPr>
            <a:r>
              <a:rPr lang="en-US" altLang="zh-CN" sz="2000">
                <a:latin typeface="微软雅黑" panose="020B0503020204020204" pitchFamily="34" charset="-122"/>
                <a:ea typeface="微软雅黑" panose="020B0503020204020204" pitchFamily="34" charset="-122"/>
              </a:rPr>
              <a:t> 80484f8:  b0 01	  mov  $0x1, %al</a:t>
            </a:r>
          </a:p>
          <a:p>
            <a:pPr>
              <a:lnSpc>
                <a:spcPct val="120000"/>
              </a:lnSpc>
              <a:spcBef>
                <a:spcPct val="0"/>
              </a:spcBef>
              <a:buFontTx/>
              <a:buNone/>
            </a:pPr>
            <a:r>
              <a:rPr lang="en-US" altLang="zh-CN" sz="2000">
                <a:latin typeface="微软雅黑" panose="020B0503020204020204" pitchFamily="34" charset="-122"/>
                <a:ea typeface="微软雅黑" panose="020B0503020204020204" pitchFamily="34" charset="-122"/>
              </a:rPr>
              <a:t> 80484fa:   b3 00	  mov   $0x0, %bl</a:t>
            </a:r>
          </a:p>
          <a:p>
            <a:pPr>
              <a:lnSpc>
                <a:spcPct val="120000"/>
              </a:lnSpc>
              <a:spcBef>
                <a:spcPct val="0"/>
              </a:spcBef>
              <a:buFontTx/>
              <a:buNone/>
            </a:pPr>
            <a:r>
              <a:rPr lang="en-US" altLang="zh-CN" sz="2000">
                <a:latin typeface="微软雅黑" panose="020B0503020204020204" pitchFamily="34" charset="-122"/>
                <a:ea typeface="微软雅黑" panose="020B0503020204020204" pitchFamily="34" charset="-122"/>
              </a:rPr>
              <a:t> </a:t>
            </a:r>
            <a:r>
              <a:rPr lang="en-US" altLang="zh-CN" sz="2000">
                <a:solidFill>
                  <a:srgbClr val="3333CC"/>
                </a:solidFill>
                <a:latin typeface="微软雅黑" panose="020B0503020204020204" pitchFamily="34" charset="-122"/>
                <a:ea typeface="微软雅黑" panose="020B0503020204020204" pitchFamily="34" charset="-122"/>
              </a:rPr>
              <a:t>80484fc: 00 c3	  add   %al, %bl</a:t>
            </a:r>
          </a:p>
          <a:p>
            <a:pPr>
              <a:lnSpc>
                <a:spcPct val="120000"/>
              </a:lnSpc>
              <a:spcBef>
                <a:spcPct val="0"/>
              </a:spcBef>
              <a:buFontTx/>
              <a:buNone/>
            </a:pPr>
            <a:r>
              <a:rPr lang="en-US" altLang="zh-CN" sz="2000">
                <a:solidFill>
                  <a:srgbClr val="3333CC"/>
                </a:solidFill>
                <a:latin typeface="微软雅黑" panose="020B0503020204020204" pitchFamily="34" charset="-122"/>
                <a:ea typeface="微软雅黑" panose="020B0503020204020204" pitchFamily="34" charset="-122"/>
              </a:rPr>
              <a:t> 80484fe: e2 fc	  loop  80484fc &lt;dummy_add+0xc&gt;</a:t>
            </a:r>
          </a:p>
          <a:p>
            <a:pPr>
              <a:lnSpc>
                <a:spcPct val="120000"/>
              </a:lnSpc>
              <a:spcBef>
                <a:spcPct val="0"/>
              </a:spcBef>
              <a:buFontTx/>
              <a:buNone/>
            </a:pPr>
            <a:r>
              <a:rPr lang="en-US" altLang="zh-CN" sz="2000">
                <a:latin typeface="微软雅黑" panose="020B0503020204020204" pitchFamily="34" charset="-122"/>
                <a:ea typeface="微软雅黑" panose="020B0503020204020204" pitchFamily="34" charset="-122"/>
              </a:rPr>
              <a:t>8048500:  5d		  pop		%ebp</a:t>
            </a:r>
          </a:p>
          <a:p>
            <a:pPr>
              <a:lnSpc>
                <a:spcPct val="120000"/>
              </a:lnSpc>
              <a:spcBef>
                <a:spcPct val="0"/>
              </a:spcBef>
              <a:buFontTx/>
              <a:buNone/>
            </a:pPr>
            <a:r>
              <a:rPr lang="en-US" altLang="zh-CN" sz="2000">
                <a:latin typeface="微软雅黑" panose="020B0503020204020204" pitchFamily="34" charset="-122"/>
                <a:ea typeface="微软雅黑" panose="020B0503020204020204" pitchFamily="34" charset="-122"/>
              </a:rPr>
              <a:t> 8048501: c3		  ret</a:t>
            </a:r>
          </a:p>
        </p:txBody>
      </p:sp>
      <p:sp>
        <p:nvSpPr>
          <p:cNvPr id="61444" name="Rectangle 6"/>
          <p:cNvSpPr>
            <a:spLocks noChangeArrowheads="1"/>
          </p:cNvSpPr>
          <p:nvPr/>
        </p:nvSpPr>
        <p:spPr bwMode="auto">
          <a:xfrm>
            <a:off x="250825" y="684213"/>
            <a:ext cx="8551863" cy="15890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20000"/>
              </a:lnSpc>
              <a:spcBef>
                <a:spcPct val="0"/>
              </a:spcBef>
              <a:buFont typeface="Wingdings" panose="05000000000000000000" pitchFamily="2" charset="2"/>
              <a:buChar char="l"/>
            </a:pPr>
            <a:r>
              <a:rPr lang="zh-CN" altLang="en-US" sz="2200">
                <a:latin typeface="微软雅黑" panose="020B0503020204020204" pitchFamily="34" charset="-122"/>
                <a:ea typeface="微软雅黑" panose="020B0503020204020204" pitchFamily="34" charset="-122"/>
              </a:rPr>
              <a:t>用简单的例子来比较普通指令与数据级并行指令的执行速度</a:t>
            </a:r>
          </a:p>
          <a:p>
            <a:pPr lvl="1">
              <a:lnSpc>
                <a:spcPct val="120000"/>
              </a:lnSpc>
              <a:spcBef>
                <a:spcPct val="0"/>
              </a:spcBef>
              <a:buFont typeface="Wingdings" panose="05000000000000000000" pitchFamily="2" charset="2"/>
              <a:buChar char="ü"/>
            </a:pPr>
            <a:r>
              <a:rPr lang="zh-CN" altLang="en-US">
                <a:solidFill>
                  <a:srgbClr val="3333CC"/>
                </a:solidFill>
                <a:latin typeface="微软雅黑" panose="020B0503020204020204" pitchFamily="34" charset="-122"/>
                <a:ea typeface="微软雅黑" panose="020B0503020204020204" pitchFamily="34" charset="-122"/>
              </a:rPr>
              <a:t>为使比较结果不受访存操作影响，下例中的运算操作数在寄存器中</a:t>
            </a:r>
          </a:p>
          <a:p>
            <a:pPr lvl="1">
              <a:lnSpc>
                <a:spcPct val="120000"/>
              </a:lnSpc>
              <a:spcBef>
                <a:spcPct val="0"/>
              </a:spcBef>
              <a:buFont typeface="Wingdings" panose="05000000000000000000" pitchFamily="2" charset="2"/>
              <a:buChar char="ü"/>
            </a:pPr>
            <a:r>
              <a:rPr lang="zh-CN" altLang="en-US">
                <a:solidFill>
                  <a:srgbClr val="3333CC"/>
                </a:solidFill>
                <a:latin typeface="微软雅黑" panose="020B0503020204020204" pitchFamily="34" charset="-122"/>
                <a:ea typeface="微软雅黑" panose="020B0503020204020204" pitchFamily="34" charset="-122"/>
              </a:rPr>
              <a:t>为使比较结果尽量准确，例中设置的循环次数较大</a:t>
            </a:r>
            <a:r>
              <a:rPr lang="en-US" altLang="zh-CN">
                <a:solidFill>
                  <a:srgbClr val="3333CC"/>
                </a:solidFill>
                <a:latin typeface="微软雅黑" panose="020B0503020204020204" pitchFamily="34" charset="-122"/>
                <a:ea typeface="微软雅黑" panose="020B0503020204020204" pitchFamily="34" charset="-122"/>
              </a:rPr>
              <a:t>: 0x4000000=2</a:t>
            </a:r>
            <a:r>
              <a:rPr lang="en-US" altLang="zh-CN" baseline="30000">
                <a:solidFill>
                  <a:srgbClr val="3333CC"/>
                </a:solidFill>
                <a:latin typeface="微软雅黑" panose="020B0503020204020204" pitchFamily="34" charset="-122"/>
                <a:ea typeface="微软雅黑" panose="020B0503020204020204" pitchFamily="34" charset="-122"/>
              </a:rPr>
              <a:t>26</a:t>
            </a:r>
            <a:endParaRPr lang="zh-CN" altLang="en-US">
              <a:solidFill>
                <a:srgbClr val="3333CC"/>
              </a:solidFill>
              <a:latin typeface="微软雅黑" panose="020B0503020204020204" pitchFamily="34" charset="-122"/>
              <a:ea typeface="微软雅黑" panose="020B0503020204020204" pitchFamily="34" charset="-122"/>
            </a:endParaRPr>
          </a:p>
          <a:p>
            <a:pPr lvl="1">
              <a:lnSpc>
                <a:spcPct val="120000"/>
              </a:lnSpc>
              <a:spcBef>
                <a:spcPct val="0"/>
              </a:spcBef>
              <a:buFont typeface="Wingdings" panose="05000000000000000000" pitchFamily="2" charset="2"/>
              <a:buChar char="ü"/>
            </a:pPr>
            <a:r>
              <a:rPr lang="zh-CN" altLang="en-US">
                <a:solidFill>
                  <a:srgbClr val="3333CC"/>
                </a:solidFill>
                <a:latin typeface="微软雅黑" panose="020B0503020204020204" pitchFamily="34" charset="-122"/>
                <a:ea typeface="微软雅黑" panose="020B0503020204020204" pitchFamily="34" charset="-122"/>
              </a:rPr>
              <a:t>例子只是为了说明指令执行速度的快慢，并没有考虑结果是否溢出</a:t>
            </a:r>
            <a:r>
              <a:rPr lang="zh-CN" altLang="en-US">
                <a:solidFill>
                  <a:schemeClr val="tx1"/>
                </a:solidFill>
                <a:latin typeface="微软雅黑" panose="020B0503020204020204" pitchFamily="34" charset="-122"/>
                <a:ea typeface="微软雅黑" panose="020B0503020204020204" pitchFamily="34" charset="-122"/>
              </a:rPr>
              <a:t> </a:t>
            </a:r>
          </a:p>
        </p:txBody>
      </p:sp>
      <p:sp>
        <p:nvSpPr>
          <p:cNvPr id="61445" name="Text Box 7"/>
          <p:cNvSpPr txBox="1">
            <a:spLocks noChangeArrowheads="1"/>
          </p:cNvSpPr>
          <p:nvPr/>
        </p:nvSpPr>
        <p:spPr bwMode="auto">
          <a:xfrm>
            <a:off x="206375" y="2259013"/>
            <a:ext cx="4589463"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zh-CN" altLang="en-US" sz="2000">
                <a:solidFill>
                  <a:srgbClr val="FF3300"/>
                </a:solidFill>
                <a:latin typeface="微软雅黑" panose="020B0503020204020204" pitchFamily="34" charset="-122"/>
                <a:ea typeface="微软雅黑" panose="020B0503020204020204" pitchFamily="34" charset="-122"/>
              </a:rPr>
              <a:t>以下是普通指令写的程序</a:t>
            </a:r>
          </a:p>
        </p:txBody>
      </p:sp>
      <p:grpSp>
        <p:nvGrpSpPr>
          <p:cNvPr id="702475" name="Group 11"/>
          <p:cNvGrpSpPr>
            <a:grpSpLocks/>
          </p:cNvGrpSpPr>
          <p:nvPr/>
        </p:nvGrpSpPr>
        <p:grpSpPr bwMode="auto">
          <a:xfrm>
            <a:off x="2727325" y="5102225"/>
            <a:ext cx="358775" cy="358775"/>
            <a:chOff x="1718" y="3067"/>
            <a:chExt cx="226" cy="255"/>
          </a:xfrm>
        </p:grpSpPr>
        <p:sp>
          <p:nvSpPr>
            <p:cNvPr id="61449" name="Line 8"/>
            <p:cNvSpPr>
              <a:spLocks noChangeShapeType="1"/>
            </p:cNvSpPr>
            <p:nvPr/>
          </p:nvSpPr>
          <p:spPr bwMode="auto">
            <a:xfrm flipH="1">
              <a:off x="1718" y="3322"/>
              <a:ext cx="226" cy="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450" name="Line 9"/>
            <p:cNvSpPr>
              <a:spLocks noChangeShapeType="1"/>
            </p:cNvSpPr>
            <p:nvPr/>
          </p:nvSpPr>
          <p:spPr bwMode="auto">
            <a:xfrm>
              <a:off x="1718" y="3067"/>
              <a:ext cx="0" cy="255"/>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451" name="Line 10"/>
            <p:cNvSpPr>
              <a:spLocks noChangeShapeType="1"/>
            </p:cNvSpPr>
            <p:nvPr/>
          </p:nvSpPr>
          <p:spPr bwMode="auto">
            <a:xfrm>
              <a:off x="1718" y="3067"/>
              <a:ext cx="198"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702476" name="Text Box 12"/>
          <p:cNvSpPr txBox="1">
            <a:spLocks noChangeArrowheads="1"/>
          </p:cNvSpPr>
          <p:nvPr/>
        </p:nvSpPr>
        <p:spPr bwMode="auto">
          <a:xfrm>
            <a:off x="385763" y="6399213"/>
            <a:ext cx="7424737"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zh-CN" altLang="en-US" sz="2000">
                <a:solidFill>
                  <a:srgbClr val="007635"/>
                </a:solidFill>
                <a:latin typeface="微软雅黑" panose="020B0503020204020204" pitchFamily="34" charset="-122"/>
                <a:ea typeface="微软雅黑" panose="020B0503020204020204" pitchFamily="34" charset="-122"/>
              </a:rPr>
              <a:t>循环</a:t>
            </a:r>
            <a:r>
              <a:rPr lang="en-US" altLang="zh-CN" sz="2000">
                <a:solidFill>
                  <a:srgbClr val="007635"/>
                </a:solidFill>
                <a:latin typeface="微软雅黑" panose="020B0503020204020204" pitchFamily="34" charset="-122"/>
                <a:ea typeface="微软雅黑" panose="020B0503020204020204" pitchFamily="34" charset="-122"/>
              </a:rPr>
              <a:t>400 0000H=2</a:t>
            </a:r>
            <a:r>
              <a:rPr lang="en-US" altLang="zh-CN" sz="2000" baseline="30000">
                <a:solidFill>
                  <a:srgbClr val="007635"/>
                </a:solidFill>
                <a:latin typeface="微软雅黑" panose="020B0503020204020204" pitchFamily="34" charset="-122"/>
                <a:ea typeface="微软雅黑" panose="020B0503020204020204" pitchFamily="34" charset="-122"/>
              </a:rPr>
              <a:t>26</a:t>
            </a:r>
            <a:r>
              <a:rPr lang="zh-CN" altLang="en-US" sz="2000">
                <a:solidFill>
                  <a:srgbClr val="007635"/>
                </a:solidFill>
                <a:latin typeface="微软雅黑" panose="020B0503020204020204" pitchFamily="34" charset="-122"/>
                <a:ea typeface="微软雅黑" panose="020B0503020204020204" pitchFamily="34" charset="-122"/>
              </a:rPr>
              <a:t>次，每次只有一个数（字节）相加</a:t>
            </a:r>
          </a:p>
        </p:txBody>
      </p:sp>
      <p:sp>
        <p:nvSpPr>
          <p:cNvPr id="61448" name="Rectangle 13"/>
          <p:cNvSpPr>
            <a:spLocks noChangeArrowheads="1"/>
          </p:cNvSpPr>
          <p:nvPr/>
        </p:nvSpPr>
        <p:spPr bwMode="auto">
          <a:xfrm>
            <a:off x="5337175" y="2798763"/>
            <a:ext cx="32321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2000">
                <a:solidFill>
                  <a:srgbClr val="FF3300"/>
                </a:solidFill>
                <a:latin typeface="微软雅黑" panose="020B0503020204020204" pitchFamily="34" charset="-122"/>
                <a:ea typeface="微软雅黑" panose="020B0503020204020204" pitchFamily="34" charset="-122"/>
              </a:rPr>
              <a:t>所用时间约为</a:t>
            </a:r>
            <a:r>
              <a:rPr lang="en-US" altLang="zh-CN" sz="2000">
                <a:solidFill>
                  <a:srgbClr val="FF3300"/>
                </a:solidFill>
                <a:latin typeface="微软雅黑" panose="020B0503020204020204" pitchFamily="34" charset="-122"/>
                <a:ea typeface="微软雅黑" panose="020B0503020204020204" pitchFamily="34" charset="-122"/>
              </a:rPr>
              <a:t>22.643816s</a:t>
            </a:r>
            <a:r>
              <a:rPr lang="en-US" altLang="zh-CN" sz="1800">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35117423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02475"/>
                                        </p:tgtEl>
                                        <p:attrNameLst>
                                          <p:attrName>style.visibility</p:attrName>
                                        </p:attrNameLst>
                                      </p:cBhvr>
                                      <p:to>
                                        <p:strVal val="visible"/>
                                      </p:to>
                                    </p:set>
                                    <p:animEffect transition="in" filter="blinds(horizontal)">
                                      <p:cBhvr>
                                        <p:cTn id="7" dur="500"/>
                                        <p:tgtEl>
                                          <p:spTgt spid="7024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02476"/>
                                        </p:tgtEl>
                                        <p:attrNameLst>
                                          <p:attrName>style.visibility</p:attrName>
                                        </p:attrNameLst>
                                      </p:cBhvr>
                                      <p:to>
                                        <p:strVal val="visible"/>
                                      </p:to>
                                    </p:set>
                                    <p:animEffect transition="in" filter="blinds(horizontal)">
                                      <p:cBhvr>
                                        <p:cTn id="12" dur="500"/>
                                        <p:tgtEl>
                                          <p:spTgt spid="7024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247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457200" y="122238"/>
            <a:ext cx="8229600" cy="561975"/>
          </a:xfrm>
        </p:spPr>
        <p:txBody>
          <a:bodyPr>
            <a:normAutofit fontScale="90000"/>
          </a:bodyPr>
          <a:lstStyle/>
          <a:p>
            <a:r>
              <a:rPr lang="en-US" altLang="zh-CN"/>
              <a:t>SSE</a:t>
            </a:r>
            <a:r>
              <a:rPr lang="zh-CN" altLang="en-US"/>
              <a:t>指令（</a:t>
            </a:r>
            <a:r>
              <a:rPr lang="en-US" altLang="zh-CN"/>
              <a:t>SIMD</a:t>
            </a:r>
            <a:r>
              <a:rPr lang="zh-CN" altLang="en-US"/>
              <a:t>操作）</a:t>
            </a:r>
          </a:p>
        </p:txBody>
      </p:sp>
      <p:sp>
        <p:nvSpPr>
          <p:cNvPr id="62467" name="Rectangle 4"/>
          <p:cNvSpPr>
            <a:spLocks noChangeArrowheads="1"/>
          </p:cNvSpPr>
          <p:nvPr/>
        </p:nvSpPr>
        <p:spPr bwMode="auto">
          <a:xfrm>
            <a:off x="115888" y="1332326"/>
            <a:ext cx="8605241" cy="47997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indent="66675">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spcBef>
                <a:spcPct val="0"/>
              </a:spcBef>
              <a:buFontTx/>
              <a:buNone/>
            </a:pPr>
            <a:r>
              <a:rPr lang="en-US" altLang="zh-CN" sz="1900">
                <a:latin typeface="微软雅黑" panose="020B0503020204020204" pitchFamily="34" charset="-122"/>
                <a:ea typeface="微软雅黑" panose="020B0503020204020204" pitchFamily="34" charset="-122"/>
              </a:rPr>
              <a:t>08048510 &lt;dummy_add_sse&gt;:</a:t>
            </a:r>
          </a:p>
          <a:p>
            <a:pPr>
              <a:spcBef>
                <a:spcPct val="0"/>
              </a:spcBef>
              <a:buFontTx/>
              <a:buNone/>
            </a:pPr>
            <a:r>
              <a:rPr lang="en-US" altLang="zh-CN" sz="1900">
                <a:latin typeface="微软雅黑" panose="020B0503020204020204" pitchFamily="34" charset="-122"/>
                <a:ea typeface="微软雅黑" panose="020B0503020204020204" pitchFamily="34" charset="-122"/>
              </a:rPr>
              <a:t> 8048510:  55		        push  %ebp</a:t>
            </a:r>
          </a:p>
          <a:p>
            <a:pPr>
              <a:spcBef>
                <a:spcPct val="0"/>
              </a:spcBef>
              <a:buFontTx/>
              <a:buNone/>
            </a:pPr>
            <a:r>
              <a:rPr lang="en-US" altLang="zh-CN" sz="1900">
                <a:latin typeface="微软雅黑" panose="020B0503020204020204" pitchFamily="34" charset="-122"/>
                <a:ea typeface="微软雅黑" panose="020B0503020204020204" pitchFamily="34" charset="-122"/>
              </a:rPr>
              <a:t> 8048511:  b8 00 9d 04 10   mov $0x10049d00, %eax</a:t>
            </a:r>
          </a:p>
          <a:p>
            <a:pPr>
              <a:spcBef>
                <a:spcPct val="0"/>
              </a:spcBef>
              <a:buFontTx/>
              <a:buNone/>
            </a:pPr>
            <a:r>
              <a:rPr lang="en-US" altLang="zh-CN" sz="1900">
                <a:latin typeface="微软雅黑" panose="020B0503020204020204" pitchFamily="34" charset="-122"/>
                <a:ea typeface="微软雅黑" panose="020B0503020204020204" pitchFamily="34" charset="-122"/>
              </a:rPr>
              <a:t> 8048516:  89 e5	        mov   %esp, %ebp</a:t>
            </a:r>
          </a:p>
          <a:p>
            <a:pPr>
              <a:spcBef>
                <a:spcPct val="0"/>
              </a:spcBef>
              <a:buFontTx/>
              <a:buNone/>
            </a:pPr>
            <a:r>
              <a:rPr lang="en-US" altLang="zh-CN" sz="1900">
                <a:latin typeface="微软雅黑" panose="020B0503020204020204" pitchFamily="34" charset="-122"/>
                <a:ea typeface="微软雅黑" panose="020B0503020204020204" pitchFamily="34" charset="-122"/>
              </a:rPr>
              <a:t> 8048518:  53		        push   %ebx</a:t>
            </a:r>
          </a:p>
          <a:p>
            <a:pPr>
              <a:spcBef>
                <a:spcPct val="0"/>
              </a:spcBef>
              <a:buFontTx/>
              <a:buNone/>
            </a:pPr>
            <a:r>
              <a:rPr lang="en-US" altLang="zh-CN" sz="1900">
                <a:latin typeface="微软雅黑" panose="020B0503020204020204" pitchFamily="34" charset="-122"/>
                <a:ea typeface="微软雅黑" panose="020B0503020204020204" pitchFamily="34" charset="-122"/>
              </a:rPr>
              <a:t> 8048519:   bb 20 9d 04 14  mov   $0x14049d20, %ebx</a:t>
            </a:r>
          </a:p>
          <a:p>
            <a:pPr>
              <a:spcBef>
                <a:spcPct val="0"/>
              </a:spcBef>
              <a:buFontTx/>
              <a:buNone/>
            </a:pPr>
            <a:r>
              <a:rPr lang="en-US" altLang="zh-CN" sz="1900">
                <a:latin typeface="微软雅黑" panose="020B0503020204020204" pitchFamily="34" charset="-122"/>
                <a:ea typeface="微软雅黑" panose="020B0503020204020204" pitchFamily="34" charset="-122"/>
              </a:rPr>
              <a:t> 804851e:  b9 00 00 40 00   mov   $0x400000, %ecx</a:t>
            </a:r>
          </a:p>
          <a:p>
            <a:pPr>
              <a:spcBef>
                <a:spcPct val="0"/>
              </a:spcBef>
              <a:buFontTx/>
              <a:buNone/>
            </a:pPr>
            <a:r>
              <a:rPr lang="en-US" altLang="zh-CN" sz="1900">
                <a:latin typeface="微软雅黑" panose="020B0503020204020204" pitchFamily="34" charset="-122"/>
                <a:ea typeface="微软雅黑" panose="020B0503020204020204" pitchFamily="34" charset="-122"/>
              </a:rPr>
              <a:t> 8048523:  66 0f 6f 00	        </a:t>
            </a:r>
            <a:r>
              <a:rPr lang="en-US" altLang="zh-CN" sz="1900">
                <a:solidFill>
                  <a:srgbClr val="FF3300"/>
                </a:solidFill>
                <a:latin typeface="微软雅黑" panose="020B0503020204020204" pitchFamily="34" charset="-122"/>
                <a:ea typeface="微软雅黑" panose="020B0503020204020204" pitchFamily="34" charset="-122"/>
              </a:rPr>
              <a:t>movdqa</a:t>
            </a:r>
            <a:r>
              <a:rPr lang="en-US" altLang="zh-CN" sz="1900">
                <a:latin typeface="微软雅黑" panose="020B0503020204020204" pitchFamily="34" charset="-122"/>
                <a:ea typeface="微软雅黑" panose="020B0503020204020204" pitchFamily="34" charset="-122"/>
              </a:rPr>
              <a:t>  (%eax), %xmm0</a:t>
            </a:r>
          </a:p>
          <a:p>
            <a:pPr>
              <a:spcBef>
                <a:spcPct val="0"/>
              </a:spcBef>
              <a:buFontTx/>
              <a:buNone/>
            </a:pPr>
            <a:r>
              <a:rPr lang="en-US" altLang="zh-CN" sz="1900">
                <a:latin typeface="微软雅黑" panose="020B0503020204020204" pitchFamily="34" charset="-122"/>
                <a:ea typeface="微软雅黑" panose="020B0503020204020204" pitchFamily="34" charset="-122"/>
              </a:rPr>
              <a:t> 8048527:  66 0f 6f 0b	        </a:t>
            </a:r>
            <a:r>
              <a:rPr lang="en-US" altLang="zh-CN" sz="1900">
                <a:solidFill>
                  <a:srgbClr val="FF3300"/>
                </a:solidFill>
                <a:latin typeface="微软雅黑" panose="020B0503020204020204" pitchFamily="34" charset="-122"/>
                <a:ea typeface="微软雅黑" panose="020B0503020204020204" pitchFamily="34" charset="-122"/>
              </a:rPr>
              <a:t>movdqa</a:t>
            </a:r>
            <a:r>
              <a:rPr lang="en-US" altLang="zh-CN" sz="1900">
                <a:latin typeface="微软雅黑" panose="020B0503020204020204" pitchFamily="34" charset="-122"/>
                <a:ea typeface="微软雅黑" panose="020B0503020204020204" pitchFamily="34" charset="-122"/>
              </a:rPr>
              <a:t>  (%ebx), %xmm1</a:t>
            </a:r>
          </a:p>
          <a:p>
            <a:pPr>
              <a:spcBef>
                <a:spcPct val="0"/>
              </a:spcBef>
              <a:buFontTx/>
              <a:buNone/>
            </a:pPr>
            <a:r>
              <a:rPr lang="en-US" altLang="zh-CN" sz="1900">
                <a:solidFill>
                  <a:srgbClr val="3333CC"/>
                </a:solidFill>
                <a:latin typeface="微软雅黑" panose="020B0503020204020204" pitchFamily="34" charset="-122"/>
                <a:ea typeface="微软雅黑" panose="020B0503020204020204" pitchFamily="34" charset="-122"/>
              </a:rPr>
              <a:t> 804852b: 66 0f fc c8	       </a:t>
            </a:r>
            <a:r>
              <a:rPr lang="en-US" altLang="zh-CN" sz="1900">
                <a:solidFill>
                  <a:srgbClr val="FF3300"/>
                </a:solidFill>
                <a:latin typeface="微软雅黑" panose="020B0503020204020204" pitchFamily="34" charset="-122"/>
                <a:ea typeface="微软雅黑" panose="020B0503020204020204" pitchFamily="34" charset="-122"/>
              </a:rPr>
              <a:t> paddb</a:t>
            </a:r>
            <a:r>
              <a:rPr lang="en-US" altLang="zh-CN" sz="1900">
                <a:solidFill>
                  <a:srgbClr val="3333CC"/>
                </a:solidFill>
                <a:latin typeface="微软雅黑" panose="020B0503020204020204" pitchFamily="34" charset="-122"/>
                <a:ea typeface="微软雅黑" panose="020B0503020204020204" pitchFamily="34" charset="-122"/>
              </a:rPr>
              <a:t>    %xmm0, %xmm1</a:t>
            </a:r>
          </a:p>
          <a:p>
            <a:pPr>
              <a:spcBef>
                <a:spcPct val="0"/>
              </a:spcBef>
              <a:buFontTx/>
              <a:buNone/>
            </a:pPr>
            <a:r>
              <a:rPr lang="en-US" altLang="zh-CN" sz="1900">
                <a:solidFill>
                  <a:srgbClr val="3333CC"/>
                </a:solidFill>
                <a:latin typeface="微软雅黑" panose="020B0503020204020204" pitchFamily="34" charset="-122"/>
                <a:ea typeface="微软雅黑" panose="020B0503020204020204" pitchFamily="34" charset="-122"/>
              </a:rPr>
              <a:t> 804852f: e2 fa	        loop   804852b &lt;dummy_add_sse+0x1b&gt;</a:t>
            </a:r>
          </a:p>
          <a:p>
            <a:pPr>
              <a:spcBef>
                <a:spcPct val="0"/>
              </a:spcBef>
              <a:buFontTx/>
              <a:buNone/>
            </a:pPr>
            <a:r>
              <a:rPr lang="en-US" altLang="zh-CN" sz="1900">
                <a:latin typeface="微软雅黑" panose="020B0503020204020204" pitchFamily="34" charset="-122"/>
                <a:ea typeface="微软雅黑" panose="020B0503020204020204" pitchFamily="34" charset="-122"/>
              </a:rPr>
              <a:t> 8048531:  5b		        pop    %ebx</a:t>
            </a:r>
          </a:p>
          <a:p>
            <a:pPr>
              <a:spcBef>
                <a:spcPct val="0"/>
              </a:spcBef>
              <a:buFontTx/>
              <a:buNone/>
            </a:pPr>
            <a:r>
              <a:rPr lang="en-US" altLang="zh-CN" sz="1900">
                <a:latin typeface="微软雅黑" panose="020B0503020204020204" pitchFamily="34" charset="-122"/>
                <a:ea typeface="微软雅黑" panose="020B0503020204020204" pitchFamily="34" charset="-122"/>
              </a:rPr>
              <a:t> 8048532:  5d		        pop    %ebp</a:t>
            </a:r>
          </a:p>
          <a:p>
            <a:pPr>
              <a:spcBef>
                <a:spcPct val="0"/>
              </a:spcBef>
              <a:buFontTx/>
              <a:buNone/>
            </a:pPr>
            <a:r>
              <a:rPr lang="en-US" altLang="zh-CN" sz="1900">
                <a:latin typeface="微软雅黑" panose="020B0503020204020204" pitchFamily="34" charset="-122"/>
                <a:ea typeface="微软雅黑" panose="020B0503020204020204" pitchFamily="34" charset="-122"/>
              </a:rPr>
              <a:t> 8048533:  c3	                     ret</a:t>
            </a:r>
          </a:p>
        </p:txBody>
      </p:sp>
      <p:sp>
        <p:nvSpPr>
          <p:cNvPr id="62468" name="Text Box 5"/>
          <p:cNvSpPr txBox="1">
            <a:spLocks noChangeArrowheads="1"/>
          </p:cNvSpPr>
          <p:nvPr/>
        </p:nvSpPr>
        <p:spPr bwMode="auto">
          <a:xfrm>
            <a:off x="250825" y="998538"/>
            <a:ext cx="4589463"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zh-CN" altLang="en-US" sz="2000">
                <a:solidFill>
                  <a:srgbClr val="FF3300"/>
                </a:solidFill>
                <a:latin typeface="微软雅黑" panose="020B0503020204020204" pitchFamily="34" charset="-122"/>
                <a:ea typeface="微软雅黑" panose="020B0503020204020204" pitchFamily="34" charset="-122"/>
              </a:rPr>
              <a:t>以下是</a:t>
            </a:r>
            <a:r>
              <a:rPr lang="en-US" altLang="zh-CN" sz="2000">
                <a:solidFill>
                  <a:srgbClr val="FF3300"/>
                </a:solidFill>
                <a:latin typeface="微软雅黑" panose="020B0503020204020204" pitchFamily="34" charset="-122"/>
                <a:ea typeface="微软雅黑" panose="020B0503020204020204" pitchFamily="34" charset="-122"/>
              </a:rPr>
              <a:t>SIMD</a:t>
            </a:r>
            <a:r>
              <a:rPr lang="zh-CN" altLang="en-US" sz="2000">
                <a:solidFill>
                  <a:srgbClr val="FF3300"/>
                </a:solidFill>
                <a:latin typeface="微软雅黑" panose="020B0503020204020204" pitchFamily="34" charset="-122"/>
                <a:ea typeface="微软雅黑" panose="020B0503020204020204" pitchFamily="34" charset="-122"/>
              </a:rPr>
              <a:t>指令写的程序</a:t>
            </a:r>
          </a:p>
        </p:txBody>
      </p:sp>
      <p:grpSp>
        <p:nvGrpSpPr>
          <p:cNvPr id="703494" name="Group 6"/>
          <p:cNvGrpSpPr>
            <a:grpSpLocks/>
          </p:cNvGrpSpPr>
          <p:nvPr/>
        </p:nvGrpSpPr>
        <p:grpSpPr bwMode="auto">
          <a:xfrm>
            <a:off x="3176588" y="4598988"/>
            <a:ext cx="403225" cy="314325"/>
            <a:chOff x="1718" y="3067"/>
            <a:chExt cx="226" cy="255"/>
          </a:xfrm>
        </p:grpSpPr>
        <p:sp>
          <p:nvSpPr>
            <p:cNvPr id="62477" name="Line 7"/>
            <p:cNvSpPr>
              <a:spLocks noChangeShapeType="1"/>
            </p:cNvSpPr>
            <p:nvPr/>
          </p:nvSpPr>
          <p:spPr bwMode="auto">
            <a:xfrm flipH="1">
              <a:off x="1718" y="3322"/>
              <a:ext cx="226" cy="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2478" name="Line 8"/>
            <p:cNvSpPr>
              <a:spLocks noChangeShapeType="1"/>
            </p:cNvSpPr>
            <p:nvPr/>
          </p:nvSpPr>
          <p:spPr bwMode="auto">
            <a:xfrm>
              <a:off x="1718" y="3067"/>
              <a:ext cx="0" cy="255"/>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2479" name="Line 9"/>
            <p:cNvSpPr>
              <a:spLocks noChangeShapeType="1"/>
            </p:cNvSpPr>
            <p:nvPr/>
          </p:nvSpPr>
          <p:spPr bwMode="auto">
            <a:xfrm>
              <a:off x="1718" y="3067"/>
              <a:ext cx="198"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703498" name="Text Box 10"/>
          <p:cNvSpPr txBox="1">
            <a:spLocks noChangeArrowheads="1"/>
          </p:cNvSpPr>
          <p:nvPr/>
        </p:nvSpPr>
        <p:spPr bwMode="auto">
          <a:xfrm>
            <a:off x="385763" y="6264275"/>
            <a:ext cx="7877175"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zh-CN" altLang="en-US" sz="2000">
                <a:solidFill>
                  <a:srgbClr val="007635"/>
                </a:solidFill>
                <a:latin typeface="微软雅黑" panose="020B0503020204020204" pitchFamily="34" charset="-122"/>
                <a:ea typeface="微软雅黑" panose="020B0503020204020204" pitchFamily="34" charset="-122"/>
              </a:rPr>
              <a:t>循环</a:t>
            </a:r>
            <a:r>
              <a:rPr lang="en-US" altLang="zh-CN" sz="2000">
                <a:solidFill>
                  <a:srgbClr val="007635"/>
                </a:solidFill>
                <a:latin typeface="微软雅黑" panose="020B0503020204020204" pitchFamily="34" charset="-122"/>
                <a:ea typeface="微软雅黑" panose="020B0503020204020204" pitchFamily="34" charset="-122"/>
              </a:rPr>
              <a:t>400000H=2</a:t>
            </a:r>
            <a:r>
              <a:rPr lang="en-US" altLang="zh-CN" sz="2000" baseline="30000">
                <a:solidFill>
                  <a:srgbClr val="007635"/>
                </a:solidFill>
                <a:latin typeface="微软雅黑" panose="020B0503020204020204" pitchFamily="34" charset="-122"/>
                <a:ea typeface="微软雅黑" panose="020B0503020204020204" pitchFamily="34" charset="-122"/>
              </a:rPr>
              <a:t>22</a:t>
            </a:r>
            <a:r>
              <a:rPr lang="zh-CN" altLang="en-US" sz="2000">
                <a:solidFill>
                  <a:srgbClr val="007635"/>
                </a:solidFill>
                <a:latin typeface="微软雅黑" panose="020B0503020204020204" pitchFamily="34" charset="-122"/>
                <a:ea typeface="微软雅黑" panose="020B0503020204020204" pitchFamily="34" charset="-122"/>
              </a:rPr>
              <a:t>次，每次同时有</a:t>
            </a:r>
            <a:r>
              <a:rPr lang="en-US" altLang="zh-CN" sz="2000">
                <a:solidFill>
                  <a:srgbClr val="007635"/>
                </a:solidFill>
                <a:latin typeface="微软雅黑" panose="020B0503020204020204" pitchFamily="34" charset="-122"/>
                <a:ea typeface="微软雅黑" panose="020B0503020204020204" pitchFamily="34" charset="-122"/>
              </a:rPr>
              <a:t>128/8=16</a:t>
            </a:r>
            <a:r>
              <a:rPr lang="zh-CN" altLang="en-US" sz="2000">
                <a:solidFill>
                  <a:srgbClr val="007635"/>
                </a:solidFill>
                <a:latin typeface="微软雅黑" panose="020B0503020204020204" pitchFamily="34" charset="-122"/>
                <a:ea typeface="微软雅黑" panose="020B0503020204020204" pitchFamily="34" charset="-122"/>
              </a:rPr>
              <a:t>个数（字节）相加</a:t>
            </a:r>
          </a:p>
        </p:txBody>
      </p:sp>
      <p:sp>
        <p:nvSpPr>
          <p:cNvPr id="703499" name="Rectangle 11"/>
          <p:cNvSpPr>
            <a:spLocks noChangeArrowheads="1"/>
          </p:cNvSpPr>
          <p:nvPr/>
        </p:nvSpPr>
        <p:spPr bwMode="auto">
          <a:xfrm>
            <a:off x="5427663" y="1089025"/>
            <a:ext cx="3074987"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2000">
                <a:solidFill>
                  <a:srgbClr val="FF3300"/>
                </a:solidFill>
                <a:latin typeface="微软雅黑" panose="020B0503020204020204" pitchFamily="34" charset="-122"/>
                <a:ea typeface="微软雅黑" panose="020B0503020204020204" pitchFamily="34" charset="-122"/>
              </a:rPr>
              <a:t>所用时间约为</a:t>
            </a:r>
            <a:r>
              <a:rPr lang="en-US" altLang="zh-CN" sz="2000">
                <a:solidFill>
                  <a:srgbClr val="FF3300"/>
                </a:solidFill>
                <a:latin typeface="微软雅黑" panose="020B0503020204020204" pitchFamily="34" charset="-122"/>
                <a:ea typeface="微软雅黑" panose="020B0503020204020204" pitchFamily="34" charset="-122"/>
              </a:rPr>
              <a:t>1.411588s</a:t>
            </a:r>
            <a:r>
              <a:rPr lang="en-US" altLang="zh-CN" sz="1800">
                <a:latin typeface="微软雅黑" panose="020B0503020204020204" pitchFamily="34" charset="-122"/>
                <a:ea typeface="微软雅黑" panose="020B0503020204020204" pitchFamily="34" charset="-122"/>
              </a:rPr>
              <a:t> </a:t>
            </a:r>
          </a:p>
        </p:txBody>
      </p:sp>
      <p:sp>
        <p:nvSpPr>
          <p:cNvPr id="703500" name="Rectangle 12"/>
          <p:cNvSpPr>
            <a:spLocks noChangeArrowheads="1"/>
          </p:cNvSpPr>
          <p:nvPr/>
        </p:nvSpPr>
        <p:spPr bwMode="auto">
          <a:xfrm>
            <a:off x="6732588" y="1628775"/>
            <a:ext cx="2249487" cy="213904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a:solidFill>
                  <a:srgbClr val="FF3300"/>
                </a:solidFill>
                <a:latin typeface="微软雅黑" panose="020B0503020204020204" pitchFamily="34" charset="-122"/>
                <a:ea typeface="微软雅黑" panose="020B0503020204020204" pitchFamily="34" charset="-122"/>
              </a:rPr>
              <a:t>    </a:t>
            </a:r>
            <a:r>
              <a:rPr lang="en-US" altLang="zh-CN" sz="1900">
                <a:solidFill>
                  <a:srgbClr val="FF3300"/>
                </a:solidFill>
                <a:latin typeface="微软雅黑" panose="020B0503020204020204" pitchFamily="34" charset="-122"/>
                <a:ea typeface="微软雅黑" panose="020B0503020204020204" pitchFamily="34" charset="-122"/>
              </a:rPr>
              <a:t>22.643816s/ 1.411588s</a:t>
            </a:r>
            <a:r>
              <a:rPr lang="en-US" altLang="zh-CN" sz="1900">
                <a:latin typeface="微软雅黑" panose="020B0503020204020204" pitchFamily="34" charset="-122"/>
                <a:ea typeface="微软雅黑" panose="020B0503020204020204" pitchFamily="34" charset="-122"/>
              </a:rPr>
              <a:t> </a:t>
            </a:r>
            <a:r>
              <a:rPr lang="en-US" altLang="zh-CN" sz="1900">
                <a:solidFill>
                  <a:srgbClr val="FF3300"/>
                </a:solidFill>
                <a:latin typeface="微软雅黑" panose="020B0503020204020204" pitchFamily="34" charset="-122"/>
                <a:ea typeface="微软雅黑" panose="020B0503020204020204" pitchFamily="34" charset="-122"/>
                <a:sym typeface="Symbol" panose="05050102010706020507" pitchFamily="18" charset="2"/>
              </a:rPr>
              <a:t>16.041378,</a:t>
            </a:r>
            <a:r>
              <a:rPr lang="zh-CN" altLang="en-US" sz="1900">
                <a:solidFill>
                  <a:srgbClr val="007635"/>
                </a:solidFill>
                <a:latin typeface="微软雅黑" panose="020B0503020204020204" pitchFamily="34" charset="-122"/>
                <a:ea typeface="微软雅黑" panose="020B0503020204020204" pitchFamily="34" charset="-122"/>
                <a:sym typeface="Symbol" panose="05050102010706020507" pitchFamily="18" charset="2"/>
              </a:rPr>
              <a:t>与预期结果一致</a:t>
            </a:r>
            <a:r>
              <a:rPr lang="en-US" altLang="zh-CN" sz="1900">
                <a:solidFill>
                  <a:srgbClr val="007635"/>
                </a:solidFill>
                <a:latin typeface="微软雅黑" panose="020B0503020204020204" pitchFamily="34" charset="-122"/>
                <a:ea typeface="微软雅黑" panose="020B0503020204020204" pitchFamily="34" charset="-122"/>
                <a:sym typeface="Symbol" panose="05050102010706020507" pitchFamily="18" charset="2"/>
              </a:rPr>
              <a:t>!</a:t>
            </a:r>
          </a:p>
          <a:p>
            <a:pPr>
              <a:lnSpc>
                <a:spcPct val="100000"/>
              </a:lnSpc>
              <a:spcBef>
                <a:spcPct val="0"/>
              </a:spcBef>
              <a:buFontTx/>
              <a:buNone/>
            </a:pPr>
            <a:r>
              <a:rPr lang="en-US" altLang="zh-CN" sz="1900">
                <a:solidFill>
                  <a:srgbClr val="FF3300"/>
                </a:solidFill>
                <a:latin typeface="微软雅黑" panose="020B0503020204020204" pitchFamily="34" charset="-122"/>
                <a:ea typeface="微软雅黑" panose="020B0503020204020204" pitchFamily="34" charset="-122"/>
                <a:sym typeface="Symbol" panose="05050102010706020507" pitchFamily="18" charset="2"/>
              </a:rPr>
              <a:t>     </a:t>
            </a:r>
            <a:r>
              <a:rPr lang="en-US" altLang="zh-CN" sz="1900">
                <a:solidFill>
                  <a:srgbClr val="3333CC"/>
                </a:solidFill>
                <a:latin typeface="微软雅黑" panose="020B0503020204020204" pitchFamily="34" charset="-122"/>
                <a:ea typeface="微软雅黑" panose="020B0503020204020204" pitchFamily="34" charset="-122"/>
                <a:sym typeface="Symbol" panose="05050102010706020507" pitchFamily="18" charset="2"/>
              </a:rPr>
              <a:t>SIMD</a:t>
            </a:r>
            <a:r>
              <a:rPr lang="zh-CN" altLang="en-US" sz="1900">
                <a:solidFill>
                  <a:srgbClr val="3333CC"/>
                </a:solidFill>
                <a:latin typeface="微软雅黑" panose="020B0503020204020204" pitchFamily="34" charset="-122"/>
                <a:ea typeface="微软雅黑" panose="020B0503020204020204" pitchFamily="34" charset="-122"/>
                <a:sym typeface="Symbol" panose="05050102010706020507" pitchFamily="18" charset="2"/>
              </a:rPr>
              <a:t>指令并行执行效率高</a:t>
            </a:r>
            <a:r>
              <a:rPr lang="en-US" altLang="zh-CN" sz="1900">
                <a:solidFill>
                  <a:srgbClr val="3333CC"/>
                </a:solidFill>
                <a:latin typeface="微软雅黑" panose="020B0503020204020204" pitchFamily="34" charset="-122"/>
                <a:ea typeface="微软雅黑" panose="020B0503020204020204" pitchFamily="34" charset="-122"/>
                <a:sym typeface="Symbol" panose="05050102010706020507" pitchFamily="18" charset="2"/>
              </a:rPr>
              <a:t>!</a:t>
            </a:r>
          </a:p>
          <a:p>
            <a:pPr>
              <a:lnSpc>
                <a:spcPct val="100000"/>
              </a:lnSpc>
              <a:spcBef>
                <a:spcPct val="0"/>
              </a:spcBef>
              <a:buFontTx/>
              <a:buNone/>
            </a:pPr>
            <a:endParaRPr lang="zh-CN" altLang="en-US" sz="1900">
              <a:solidFill>
                <a:srgbClr val="3333CC"/>
              </a:solidFill>
              <a:latin typeface="微软雅黑" panose="020B0503020204020204" pitchFamily="34" charset="-122"/>
              <a:ea typeface="微软雅黑" panose="020B0503020204020204" pitchFamily="34" charset="-122"/>
            </a:endParaRPr>
          </a:p>
        </p:txBody>
      </p:sp>
      <p:grpSp>
        <p:nvGrpSpPr>
          <p:cNvPr id="703503" name="Group 15"/>
          <p:cNvGrpSpPr>
            <a:grpSpLocks/>
          </p:cNvGrpSpPr>
          <p:nvPr/>
        </p:nvGrpSpPr>
        <p:grpSpPr bwMode="auto">
          <a:xfrm>
            <a:off x="6777038" y="3789363"/>
            <a:ext cx="1755775" cy="900112"/>
            <a:chOff x="4269" y="2387"/>
            <a:chExt cx="1106" cy="567"/>
          </a:xfrm>
        </p:grpSpPr>
        <p:sp>
          <p:nvSpPr>
            <p:cNvPr id="62475" name="AutoShape 13"/>
            <p:cNvSpPr>
              <a:spLocks/>
            </p:cNvSpPr>
            <p:nvPr/>
          </p:nvSpPr>
          <p:spPr bwMode="auto">
            <a:xfrm>
              <a:off x="4269" y="2387"/>
              <a:ext cx="170" cy="567"/>
            </a:xfrm>
            <a:prstGeom prst="rightBrace">
              <a:avLst>
                <a:gd name="adj1" fmla="val 27794"/>
                <a:gd name="adj2" fmla="val 50000"/>
              </a:avLst>
            </a:prstGeom>
            <a:noFill/>
            <a:ln w="28575">
              <a:solidFill>
                <a:srgbClr val="FF33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800">
                <a:latin typeface="微软雅黑" panose="020B0503020204020204" pitchFamily="34" charset="-122"/>
                <a:ea typeface="微软雅黑" panose="020B0503020204020204" pitchFamily="34" charset="-122"/>
              </a:endParaRPr>
            </a:p>
          </p:txBody>
        </p:sp>
        <p:sp>
          <p:nvSpPr>
            <p:cNvPr id="62476" name="Text Box 14"/>
            <p:cNvSpPr txBox="1">
              <a:spLocks noChangeArrowheads="1"/>
            </p:cNvSpPr>
            <p:nvPr/>
          </p:nvSpPr>
          <p:spPr bwMode="auto">
            <a:xfrm>
              <a:off x="4411" y="2529"/>
              <a:ext cx="964" cy="2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en-US" altLang="zh-CN" sz="1900">
                  <a:solidFill>
                    <a:srgbClr val="FF3300"/>
                  </a:solidFill>
                  <a:latin typeface="微软雅黑" panose="020B0503020204020204" pitchFamily="34" charset="-122"/>
                  <a:ea typeface="微软雅黑" panose="020B0503020204020204" pitchFamily="34" charset="-122"/>
                </a:rPr>
                <a:t>SIDM</a:t>
              </a:r>
              <a:r>
                <a:rPr lang="zh-CN" altLang="en-US" sz="1900">
                  <a:solidFill>
                    <a:srgbClr val="FF3300"/>
                  </a:solidFill>
                  <a:latin typeface="微软雅黑" panose="020B0503020204020204" pitchFamily="34" charset="-122"/>
                  <a:ea typeface="微软雅黑" panose="020B0503020204020204" pitchFamily="34" charset="-122"/>
                </a:rPr>
                <a:t>指令</a:t>
              </a:r>
            </a:p>
          </p:txBody>
        </p:sp>
      </p:grpSp>
      <p:sp>
        <p:nvSpPr>
          <p:cNvPr id="62474" name="Text Box 16"/>
          <p:cNvSpPr txBox="1">
            <a:spLocks noChangeArrowheads="1"/>
          </p:cNvSpPr>
          <p:nvPr/>
        </p:nvSpPr>
        <p:spPr bwMode="auto">
          <a:xfrm>
            <a:off x="5967413" y="5543550"/>
            <a:ext cx="26543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en-US" altLang="zh-CN" sz="2000">
                <a:solidFill>
                  <a:srgbClr val="FF3300"/>
                </a:solidFill>
                <a:latin typeface="微软雅黑" panose="020B0503020204020204" pitchFamily="34" charset="-122"/>
                <a:ea typeface="微软雅黑" panose="020B0503020204020204" pitchFamily="34" charset="-122"/>
              </a:rPr>
              <a:t>dqa</a:t>
            </a:r>
            <a:r>
              <a:rPr lang="zh-CN" altLang="en-US" sz="2000">
                <a:solidFill>
                  <a:srgbClr val="FF3300"/>
                </a:solidFill>
                <a:latin typeface="微软雅黑" panose="020B0503020204020204" pitchFamily="34" charset="-122"/>
                <a:ea typeface="微软雅黑" panose="020B0503020204020204" pitchFamily="34" charset="-122"/>
              </a:rPr>
              <a:t>：两个对齐四字</a:t>
            </a:r>
          </a:p>
        </p:txBody>
      </p:sp>
    </p:spTree>
    <p:extLst>
      <p:ext uri="{BB962C8B-B14F-4D97-AF65-F5344CB8AC3E}">
        <p14:creationId xmlns:p14="http://schemas.microsoft.com/office/powerpoint/2010/main" val="9366642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03494"/>
                                        </p:tgtEl>
                                        <p:attrNameLst>
                                          <p:attrName>style.visibility</p:attrName>
                                        </p:attrNameLst>
                                      </p:cBhvr>
                                      <p:to>
                                        <p:strVal val="visible"/>
                                      </p:to>
                                    </p:set>
                                    <p:animEffect transition="in" filter="blinds(horizontal)">
                                      <p:cBhvr>
                                        <p:cTn id="7" dur="500"/>
                                        <p:tgtEl>
                                          <p:spTgt spid="7034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03503"/>
                                        </p:tgtEl>
                                        <p:attrNameLst>
                                          <p:attrName>style.visibility</p:attrName>
                                        </p:attrNameLst>
                                      </p:cBhvr>
                                      <p:to>
                                        <p:strVal val="visible"/>
                                      </p:to>
                                    </p:set>
                                    <p:animEffect transition="in" filter="blinds(horizontal)">
                                      <p:cBhvr>
                                        <p:cTn id="12" dur="500"/>
                                        <p:tgtEl>
                                          <p:spTgt spid="70350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03498"/>
                                        </p:tgtEl>
                                        <p:attrNameLst>
                                          <p:attrName>style.visibility</p:attrName>
                                        </p:attrNameLst>
                                      </p:cBhvr>
                                      <p:to>
                                        <p:strVal val="visible"/>
                                      </p:to>
                                    </p:set>
                                    <p:animEffect transition="in" filter="blinds(horizontal)">
                                      <p:cBhvr>
                                        <p:cTn id="17" dur="500"/>
                                        <p:tgtEl>
                                          <p:spTgt spid="70349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03499"/>
                                        </p:tgtEl>
                                        <p:attrNameLst>
                                          <p:attrName>style.visibility</p:attrName>
                                        </p:attrNameLst>
                                      </p:cBhvr>
                                      <p:to>
                                        <p:strVal val="visible"/>
                                      </p:to>
                                    </p:set>
                                    <p:animEffect transition="in" filter="blinds(horizontal)">
                                      <p:cBhvr>
                                        <p:cTn id="22" dur="500"/>
                                        <p:tgtEl>
                                          <p:spTgt spid="70349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03500"/>
                                        </p:tgtEl>
                                        <p:attrNameLst>
                                          <p:attrName>style.visibility</p:attrName>
                                        </p:attrNameLst>
                                      </p:cBhvr>
                                      <p:to>
                                        <p:strVal val="visible"/>
                                      </p:to>
                                    </p:set>
                                    <p:animEffect transition="in" filter="blinds(horizontal)">
                                      <p:cBhvr>
                                        <p:cTn id="27" dur="500"/>
                                        <p:tgtEl>
                                          <p:spTgt spid="7035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3498" grpId="0"/>
      <p:bldP spid="703499" grpId="0"/>
      <p:bldP spid="70350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457200" y="142875"/>
            <a:ext cx="8229600" cy="561975"/>
          </a:xfrm>
        </p:spPr>
        <p:txBody>
          <a:bodyPr>
            <a:normAutofit fontScale="90000"/>
          </a:bodyPr>
          <a:lstStyle/>
          <a:p>
            <a:r>
              <a:rPr lang="zh-CN" altLang="en-US" sz="3600"/>
              <a:t>浮点操作与</a:t>
            </a:r>
            <a:r>
              <a:rPr lang="en-US" altLang="zh-CN" sz="3600"/>
              <a:t>SIMD</a:t>
            </a:r>
            <a:r>
              <a:rPr lang="zh-CN" altLang="en-US" sz="3600"/>
              <a:t>指令</a:t>
            </a:r>
          </a:p>
        </p:txBody>
      </p:sp>
      <p:sp>
        <p:nvSpPr>
          <p:cNvPr id="827395" name="Rectangle 3"/>
          <p:cNvSpPr>
            <a:spLocks noGrp="1" noChangeArrowheads="1"/>
          </p:cNvSpPr>
          <p:nvPr>
            <p:ph type="body" idx="1"/>
          </p:nvPr>
        </p:nvSpPr>
        <p:spPr>
          <a:xfrm>
            <a:off x="250825" y="773113"/>
            <a:ext cx="8686800" cy="5670550"/>
          </a:xfrm>
        </p:spPr>
        <p:txBody>
          <a:bodyPr/>
          <a:lstStyle/>
          <a:p>
            <a:r>
              <a:rPr lang="zh-CN" altLang="en-US">
                <a:ea typeface="微软雅黑" panose="020B0503020204020204" pitchFamily="34" charset="-122"/>
              </a:rPr>
              <a:t>浮点操作与</a:t>
            </a:r>
            <a:r>
              <a:rPr lang="en-US" altLang="zh-CN">
                <a:ea typeface="微软雅黑" panose="020B0503020204020204" pitchFamily="34" charset="-122"/>
              </a:rPr>
              <a:t>SIMD</a:t>
            </a:r>
            <a:r>
              <a:rPr lang="zh-CN" altLang="en-US">
                <a:ea typeface="微软雅黑" panose="020B0503020204020204" pitchFamily="34" charset="-122"/>
              </a:rPr>
              <a:t>指令 </a:t>
            </a:r>
          </a:p>
          <a:p>
            <a:pPr lvl="1"/>
            <a:r>
              <a:rPr lang="en-US" altLang="zh-CN" sz="2200">
                <a:latin typeface="微软雅黑" panose="020B0503020204020204" pitchFamily="34" charset="-122"/>
                <a:ea typeface="微软雅黑" panose="020B0503020204020204" pitchFamily="34" charset="-122"/>
              </a:rPr>
              <a:t>IA-32</a:t>
            </a:r>
            <a:r>
              <a:rPr lang="zh-CN" altLang="en-US" sz="2200">
                <a:latin typeface="微软雅黑" panose="020B0503020204020204" pitchFamily="34" charset="-122"/>
                <a:ea typeface="微软雅黑" panose="020B0503020204020204" pitchFamily="34" charset="-122"/>
              </a:rPr>
              <a:t>的浮点处理架构有两种</a:t>
            </a:r>
          </a:p>
          <a:p>
            <a:pPr lvl="1">
              <a:buFontTx/>
              <a:buNone/>
            </a:pPr>
            <a:r>
              <a:rPr lang="en-US" altLang="zh-CN" sz="2200">
                <a:latin typeface="微软雅黑" panose="020B0503020204020204" pitchFamily="34" charset="-122"/>
                <a:ea typeface="微软雅黑" panose="020B0503020204020204" pitchFamily="34" charset="-122"/>
              </a:rPr>
              <a:t>    </a:t>
            </a:r>
            <a:r>
              <a:rPr lang="en-US" altLang="zh-CN" sz="2200">
                <a:solidFill>
                  <a:srgbClr val="CC3300"/>
                </a:solidFill>
                <a:latin typeface="微软雅黑" panose="020B0503020204020204" pitchFamily="34" charset="-122"/>
                <a:ea typeface="微软雅黑" panose="020B0503020204020204" pitchFamily="34" charset="-122"/>
              </a:rPr>
              <a:t>(1)</a:t>
            </a:r>
            <a:r>
              <a:rPr lang="en-US" altLang="zh-CN" sz="2200">
                <a:latin typeface="微软雅黑" panose="020B0503020204020204" pitchFamily="34" charset="-122"/>
                <a:ea typeface="微软雅黑" panose="020B0503020204020204" pitchFamily="34" charset="-122"/>
              </a:rPr>
              <a:t> </a:t>
            </a:r>
            <a:r>
              <a:rPr lang="en-US" altLang="zh-CN" sz="2200">
                <a:solidFill>
                  <a:srgbClr val="CC3300"/>
                </a:solidFill>
                <a:latin typeface="微软雅黑" panose="020B0503020204020204" pitchFamily="34" charset="-122"/>
                <a:ea typeface="微软雅黑" panose="020B0503020204020204" pitchFamily="34" charset="-122"/>
              </a:rPr>
              <a:t>x86</a:t>
            </a:r>
            <a:r>
              <a:rPr lang="zh-CN" altLang="en-US" sz="2200">
                <a:solidFill>
                  <a:srgbClr val="CC3300"/>
                </a:solidFill>
                <a:latin typeface="微软雅黑" panose="020B0503020204020204" pitchFamily="34" charset="-122"/>
                <a:ea typeface="微软雅黑" panose="020B0503020204020204" pitchFamily="34" charset="-122"/>
              </a:rPr>
              <a:t>配套的浮点协处理器</a:t>
            </a:r>
            <a:r>
              <a:rPr lang="en-US" altLang="zh-CN" sz="2200">
                <a:solidFill>
                  <a:srgbClr val="FF3300"/>
                </a:solidFill>
                <a:latin typeface="微软雅黑" panose="020B0503020204020204" pitchFamily="34" charset="-122"/>
                <a:ea typeface="微软雅黑" panose="020B0503020204020204" pitchFamily="34" charset="-122"/>
              </a:rPr>
              <a:t>x87FPU</a:t>
            </a:r>
            <a:r>
              <a:rPr lang="zh-CN" altLang="en-US" sz="2200">
                <a:solidFill>
                  <a:srgbClr val="CC3300"/>
                </a:solidFill>
                <a:latin typeface="微软雅黑" panose="020B0503020204020204" pitchFamily="34" charset="-122"/>
                <a:ea typeface="微软雅黑" panose="020B0503020204020204" pitchFamily="34" charset="-122"/>
              </a:rPr>
              <a:t>架构，</a:t>
            </a:r>
            <a:r>
              <a:rPr lang="en-US" altLang="zh-CN" sz="2200">
                <a:solidFill>
                  <a:srgbClr val="CC3300"/>
                </a:solidFill>
                <a:latin typeface="微软雅黑" panose="020B0503020204020204" pitchFamily="34" charset="-122"/>
                <a:ea typeface="微软雅黑" panose="020B0503020204020204" pitchFamily="34" charset="-122"/>
              </a:rPr>
              <a:t>80</a:t>
            </a:r>
            <a:r>
              <a:rPr lang="zh-CN" altLang="en-US" sz="2200">
                <a:solidFill>
                  <a:srgbClr val="CC3300"/>
                </a:solidFill>
                <a:latin typeface="微软雅黑" panose="020B0503020204020204" pitchFamily="34" charset="-122"/>
                <a:ea typeface="微软雅黑" panose="020B0503020204020204" pitchFamily="34" charset="-122"/>
              </a:rPr>
              <a:t>位浮点寄存器栈</a:t>
            </a:r>
          </a:p>
          <a:p>
            <a:pPr lvl="1">
              <a:buFontTx/>
              <a:buNone/>
            </a:pPr>
            <a:r>
              <a:rPr lang="en-US" altLang="zh-CN" sz="2200">
                <a:latin typeface="微软雅黑" panose="020B0503020204020204" pitchFamily="34" charset="-122"/>
                <a:ea typeface="微软雅黑" panose="020B0503020204020204" pitchFamily="34" charset="-122"/>
              </a:rPr>
              <a:t>    </a:t>
            </a:r>
            <a:r>
              <a:rPr lang="en-US" altLang="zh-CN" sz="2200">
                <a:solidFill>
                  <a:srgbClr val="CC3300"/>
                </a:solidFill>
                <a:latin typeface="微软雅黑" panose="020B0503020204020204" pitchFamily="34" charset="-122"/>
                <a:ea typeface="微软雅黑" panose="020B0503020204020204" pitchFamily="34" charset="-122"/>
              </a:rPr>
              <a:t>(2) </a:t>
            </a:r>
            <a:r>
              <a:rPr lang="zh-CN" altLang="en-US" sz="2200">
                <a:solidFill>
                  <a:srgbClr val="CC3300"/>
                </a:solidFill>
                <a:latin typeface="微软雅黑" panose="020B0503020204020204" pitchFamily="34" charset="-122"/>
                <a:ea typeface="微软雅黑" panose="020B0503020204020204" pitchFamily="34" charset="-122"/>
              </a:rPr>
              <a:t>由</a:t>
            </a:r>
            <a:r>
              <a:rPr lang="en-US" altLang="zh-CN" sz="2200">
                <a:solidFill>
                  <a:srgbClr val="CC3300"/>
                </a:solidFill>
                <a:latin typeface="微软雅黑" panose="020B0503020204020204" pitchFamily="34" charset="-122"/>
                <a:ea typeface="微软雅黑" panose="020B0503020204020204" pitchFamily="34" charset="-122"/>
              </a:rPr>
              <a:t>MMX</a:t>
            </a:r>
            <a:r>
              <a:rPr lang="zh-CN" altLang="en-US" sz="2200">
                <a:solidFill>
                  <a:srgbClr val="CC3300"/>
                </a:solidFill>
                <a:latin typeface="微软雅黑" panose="020B0503020204020204" pitchFamily="34" charset="-122"/>
                <a:ea typeface="微软雅黑" panose="020B0503020204020204" pitchFamily="34" charset="-122"/>
              </a:rPr>
              <a:t>发展而来的</a:t>
            </a:r>
            <a:r>
              <a:rPr lang="en-US" altLang="zh-CN" sz="2200">
                <a:solidFill>
                  <a:srgbClr val="FF3300"/>
                </a:solidFill>
                <a:latin typeface="微软雅黑" panose="020B0503020204020204" pitchFamily="34" charset="-122"/>
                <a:ea typeface="微软雅黑" panose="020B0503020204020204" pitchFamily="34" charset="-122"/>
              </a:rPr>
              <a:t>SSE</a:t>
            </a:r>
            <a:r>
              <a:rPr lang="zh-CN" altLang="en-US" sz="2200">
                <a:solidFill>
                  <a:srgbClr val="FF3300"/>
                </a:solidFill>
                <a:latin typeface="微软雅黑" panose="020B0503020204020204" pitchFamily="34" charset="-122"/>
                <a:ea typeface="微软雅黑" panose="020B0503020204020204" pitchFamily="34" charset="-122"/>
              </a:rPr>
              <a:t>指令集</a:t>
            </a:r>
            <a:r>
              <a:rPr lang="zh-CN" altLang="en-US" sz="2200">
                <a:solidFill>
                  <a:srgbClr val="CC3300"/>
                </a:solidFill>
                <a:latin typeface="微软雅黑" panose="020B0503020204020204" pitchFamily="34" charset="-122"/>
                <a:ea typeface="微软雅黑" panose="020B0503020204020204" pitchFamily="34" charset="-122"/>
              </a:rPr>
              <a:t>架构，采用的是单指令多数据（</a:t>
            </a:r>
            <a:r>
              <a:rPr lang="en-US" altLang="zh-CN" sz="2200">
                <a:solidFill>
                  <a:srgbClr val="007635"/>
                </a:solidFill>
                <a:latin typeface="微软雅黑" panose="020B0503020204020204" pitchFamily="34" charset="-122"/>
                <a:ea typeface="微软雅黑" panose="020B0503020204020204" pitchFamily="34" charset="-122"/>
              </a:rPr>
              <a:t>Single Instruction Multi Data</a:t>
            </a:r>
            <a:r>
              <a:rPr lang="zh-CN" altLang="en-US" sz="2200">
                <a:solidFill>
                  <a:srgbClr val="007635"/>
                </a:solidFill>
                <a:latin typeface="微软雅黑" panose="020B0503020204020204" pitchFamily="34" charset="-122"/>
                <a:ea typeface="微软雅黑" panose="020B0503020204020204" pitchFamily="34" charset="-122"/>
              </a:rPr>
              <a:t>，</a:t>
            </a:r>
            <a:r>
              <a:rPr lang="en-US" altLang="zh-CN" sz="2200">
                <a:solidFill>
                  <a:srgbClr val="007635"/>
                </a:solidFill>
                <a:latin typeface="微软雅黑" panose="020B0503020204020204" pitchFamily="34" charset="-122"/>
                <a:ea typeface="微软雅黑" panose="020B0503020204020204" pitchFamily="34" charset="-122"/>
              </a:rPr>
              <a:t>SIMD</a:t>
            </a:r>
            <a:r>
              <a:rPr lang="zh-CN" altLang="en-US" sz="2200">
                <a:solidFill>
                  <a:srgbClr val="CC3300"/>
                </a:solidFill>
                <a:latin typeface="微软雅黑" panose="020B0503020204020204" pitchFamily="34" charset="-122"/>
                <a:ea typeface="微软雅黑" panose="020B0503020204020204" pitchFamily="34" charset="-122"/>
              </a:rPr>
              <a:t>）技术</a:t>
            </a:r>
          </a:p>
          <a:p>
            <a:pPr lvl="1">
              <a:buFontTx/>
              <a:buNone/>
            </a:pPr>
            <a:r>
              <a:rPr lang="zh-CN" altLang="en-US" sz="2200">
                <a:latin typeface="微软雅黑" panose="020B0503020204020204" pitchFamily="34" charset="-122"/>
                <a:ea typeface="微软雅黑" panose="020B0503020204020204" pitchFamily="34" charset="-122"/>
              </a:rPr>
              <a:t>    </a:t>
            </a:r>
            <a:r>
              <a:rPr lang="zh-CN" altLang="en-US" sz="2200">
                <a:solidFill>
                  <a:srgbClr val="FF3300"/>
                </a:solidFill>
                <a:latin typeface="微软雅黑" panose="020B0503020204020204" pitchFamily="34" charset="-122"/>
                <a:ea typeface="微软雅黑" panose="020B0503020204020204" pitchFamily="34" charset="-122"/>
              </a:rPr>
              <a:t>对于</a:t>
            </a:r>
            <a:r>
              <a:rPr lang="en-US" altLang="zh-CN" sz="2200">
                <a:solidFill>
                  <a:srgbClr val="FF3300"/>
                </a:solidFill>
                <a:latin typeface="微软雅黑" panose="020B0503020204020204" pitchFamily="34" charset="-122"/>
                <a:ea typeface="微软雅黑" panose="020B0503020204020204" pitchFamily="34" charset="-122"/>
              </a:rPr>
              <a:t>IA-32</a:t>
            </a:r>
            <a:r>
              <a:rPr lang="zh-CN" altLang="en-US" sz="2200">
                <a:solidFill>
                  <a:srgbClr val="FF3300"/>
                </a:solidFill>
                <a:latin typeface="微软雅黑" panose="020B0503020204020204" pitchFamily="34" charset="-122"/>
                <a:ea typeface="微软雅黑" panose="020B0503020204020204" pitchFamily="34" charset="-122"/>
              </a:rPr>
              <a:t>架构， </a:t>
            </a:r>
            <a:r>
              <a:rPr lang="en-US" altLang="zh-CN" sz="2200">
                <a:solidFill>
                  <a:srgbClr val="FF3300"/>
                </a:solidFill>
                <a:latin typeface="微软雅黑" panose="020B0503020204020204" pitchFamily="34" charset="-122"/>
                <a:ea typeface="微软雅黑" panose="020B0503020204020204" pitchFamily="34" charset="-122"/>
              </a:rPr>
              <a:t>gcc</a:t>
            </a:r>
            <a:r>
              <a:rPr lang="zh-CN" altLang="en-US" sz="2200">
                <a:solidFill>
                  <a:srgbClr val="FF3300"/>
                </a:solidFill>
                <a:latin typeface="微软雅黑" panose="020B0503020204020204" pitchFamily="34" charset="-122"/>
                <a:ea typeface="微软雅黑" panose="020B0503020204020204" pitchFamily="34" charset="-122"/>
              </a:rPr>
              <a:t>默认生成</a:t>
            </a:r>
            <a:r>
              <a:rPr lang="en-US" altLang="zh-CN" sz="2200">
                <a:solidFill>
                  <a:srgbClr val="FF3300"/>
                </a:solidFill>
                <a:latin typeface="微软雅黑" panose="020B0503020204020204" pitchFamily="34" charset="-122"/>
                <a:ea typeface="微软雅黑" panose="020B0503020204020204" pitchFamily="34" charset="-122"/>
              </a:rPr>
              <a:t>x87 FPU </a:t>
            </a:r>
            <a:r>
              <a:rPr lang="zh-CN" altLang="en-US" sz="2200">
                <a:solidFill>
                  <a:srgbClr val="FF3300"/>
                </a:solidFill>
                <a:latin typeface="微软雅黑" panose="020B0503020204020204" pitchFamily="34" charset="-122"/>
                <a:ea typeface="微软雅黑" panose="020B0503020204020204" pitchFamily="34" charset="-122"/>
              </a:rPr>
              <a:t>指令集代码</a:t>
            </a:r>
            <a:r>
              <a:rPr lang="zh-CN" altLang="en-US" sz="2200">
                <a:solidFill>
                  <a:srgbClr val="008000"/>
                </a:solidFill>
                <a:latin typeface="微软雅黑" panose="020B0503020204020204" pitchFamily="34" charset="-122"/>
                <a:ea typeface="微软雅黑" panose="020B0503020204020204" pitchFamily="34" charset="-122"/>
              </a:rPr>
              <a:t>，如果想要生成</a:t>
            </a:r>
            <a:r>
              <a:rPr lang="en-US" altLang="zh-CN" sz="2200">
                <a:solidFill>
                  <a:srgbClr val="008000"/>
                </a:solidFill>
                <a:latin typeface="微软雅黑" panose="020B0503020204020204" pitchFamily="34" charset="-122"/>
                <a:ea typeface="微软雅黑" panose="020B0503020204020204" pitchFamily="34" charset="-122"/>
              </a:rPr>
              <a:t>SEE</a:t>
            </a:r>
            <a:r>
              <a:rPr lang="zh-CN" altLang="en-US" sz="2200">
                <a:solidFill>
                  <a:srgbClr val="008000"/>
                </a:solidFill>
                <a:latin typeface="微软雅黑" panose="020B0503020204020204" pitchFamily="34" charset="-122"/>
                <a:ea typeface="微软雅黑" panose="020B0503020204020204" pitchFamily="34" charset="-122"/>
              </a:rPr>
              <a:t>指令集代码，则需要设置适当的编译选项</a:t>
            </a:r>
          </a:p>
          <a:p>
            <a:pPr lvl="1">
              <a:buFontTx/>
              <a:buNone/>
            </a:pPr>
            <a:endParaRPr lang="zh-CN" altLang="en-US" sz="900">
              <a:solidFill>
                <a:srgbClr val="CC3300"/>
              </a:solidFill>
              <a:latin typeface="微软雅黑" panose="020B0503020204020204" pitchFamily="34" charset="-122"/>
              <a:ea typeface="微软雅黑" panose="020B0503020204020204" pitchFamily="34" charset="-122"/>
            </a:endParaRPr>
          </a:p>
          <a:p>
            <a:pPr lvl="1"/>
            <a:r>
              <a:rPr lang="zh-CN" altLang="en-US" sz="2200">
                <a:latin typeface="微软雅黑" panose="020B0503020204020204" pitchFamily="34" charset="-122"/>
                <a:ea typeface="微软雅黑" panose="020B0503020204020204" pitchFamily="34" charset="-122"/>
              </a:rPr>
              <a:t>浮点数采用</a:t>
            </a:r>
            <a:r>
              <a:rPr lang="en-US" altLang="zh-CN" sz="2200">
                <a:latin typeface="微软雅黑" panose="020B0503020204020204" pitchFamily="34" charset="-122"/>
                <a:ea typeface="微软雅黑" panose="020B0503020204020204" pitchFamily="34" charset="-122"/>
              </a:rPr>
              <a:t>80</a:t>
            </a:r>
            <a:r>
              <a:rPr lang="zh-CN" altLang="en-US" sz="2200">
                <a:latin typeface="微软雅黑" panose="020B0503020204020204" pitchFamily="34" charset="-122"/>
                <a:ea typeface="微软雅黑" panose="020B0503020204020204" pitchFamily="34" charset="-122"/>
              </a:rPr>
              <a:t>位双精度扩展格式</a:t>
            </a:r>
            <a:endParaRPr lang="zh-CN" altLang="en-US" sz="2200">
              <a:solidFill>
                <a:srgbClr val="CC3300"/>
              </a:solidFill>
              <a:latin typeface="微软雅黑" panose="020B0503020204020204" pitchFamily="34" charset="-122"/>
              <a:ea typeface="微软雅黑" panose="020B0503020204020204" pitchFamily="34" charset="-122"/>
            </a:endParaRPr>
          </a:p>
          <a:p>
            <a:pPr lvl="1">
              <a:buFontTx/>
              <a:buNone/>
            </a:pPr>
            <a:r>
              <a:rPr lang="en-US" altLang="zh-CN" sz="2200">
                <a:solidFill>
                  <a:srgbClr val="008000"/>
                </a:solidFill>
                <a:latin typeface="微软雅黑" panose="020B0503020204020204" pitchFamily="34" charset="-122"/>
                <a:ea typeface="微软雅黑" panose="020B0503020204020204" pitchFamily="34" charset="-122"/>
              </a:rPr>
              <a:t>   1</a:t>
            </a:r>
            <a:r>
              <a:rPr lang="zh-CN" altLang="en-US" sz="2200">
                <a:solidFill>
                  <a:srgbClr val="008000"/>
                </a:solidFill>
                <a:latin typeface="微软雅黑" panose="020B0503020204020204" pitchFamily="34" charset="-122"/>
                <a:ea typeface="微软雅黑" panose="020B0503020204020204" pitchFamily="34" charset="-122"/>
              </a:rPr>
              <a:t>位符号位</a:t>
            </a:r>
            <a:r>
              <a:rPr lang="pt-BR" altLang="zh-CN" sz="2200">
                <a:solidFill>
                  <a:srgbClr val="008000"/>
                </a:solidFill>
                <a:latin typeface="微软雅黑" panose="020B0503020204020204" pitchFamily="34" charset="-122"/>
                <a:ea typeface="微软雅黑" panose="020B0503020204020204" pitchFamily="34" charset="-122"/>
              </a:rPr>
              <a:t>s</a:t>
            </a:r>
            <a:r>
              <a:rPr lang="zh-CN" altLang="en-US" sz="2200">
                <a:solidFill>
                  <a:srgbClr val="008000"/>
                </a:solidFill>
                <a:latin typeface="微软雅黑" panose="020B0503020204020204" pitchFamily="34" charset="-122"/>
                <a:ea typeface="微软雅黑" panose="020B0503020204020204" pitchFamily="34" charset="-122"/>
              </a:rPr>
              <a:t>、</a:t>
            </a:r>
            <a:r>
              <a:rPr lang="en-US" altLang="zh-CN" sz="2200">
                <a:solidFill>
                  <a:srgbClr val="008000"/>
                </a:solidFill>
                <a:latin typeface="微软雅黑" panose="020B0503020204020204" pitchFamily="34" charset="-122"/>
                <a:ea typeface="微软雅黑" panose="020B0503020204020204" pitchFamily="34" charset="-122"/>
              </a:rPr>
              <a:t>15</a:t>
            </a:r>
            <a:r>
              <a:rPr lang="zh-CN" altLang="en-US" sz="2200">
                <a:solidFill>
                  <a:srgbClr val="008000"/>
                </a:solidFill>
                <a:latin typeface="微软雅黑" panose="020B0503020204020204" pitchFamily="34" charset="-122"/>
                <a:ea typeface="微软雅黑" panose="020B0503020204020204" pitchFamily="34" charset="-122"/>
              </a:rPr>
              <a:t>位阶码</a:t>
            </a:r>
            <a:r>
              <a:rPr lang="pt-BR" altLang="zh-CN" sz="2200">
                <a:solidFill>
                  <a:srgbClr val="008000"/>
                </a:solidFill>
                <a:latin typeface="微软雅黑" panose="020B0503020204020204" pitchFamily="34" charset="-122"/>
                <a:ea typeface="微软雅黑" panose="020B0503020204020204" pitchFamily="34" charset="-122"/>
              </a:rPr>
              <a:t>e</a:t>
            </a:r>
            <a:r>
              <a:rPr lang="zh-CN" altLang="en-US" sz="2200">
                <a:solidFill>
                  <a:srgbClr val="008000"/>
                </a:solidFill>
                <a:latin typeface="微软雅黑" panose="020B0503020204020204" pitchFamily="34" charset="-122"/>
                <a:ea typeface="微软雅黑" panose="020B0503020204020204" pitchFamily="34" charset="-122"/>
              </a:rPr>
              <a:t>（偏置常数为</a:t>
            </a:r>
            <a:r>
              <a:rPr lang="en-US" altLang="zh-CN" sz="2200">
                <a:solidFill>
                  <a:srgbClr val="008000"/>
                </a:solidFill>
                <a:latin typeface="微软雅黑" panose="020B0503020204020204" pitchFamily="34" charset="-122"/>
                <a:ea typeface="微软雅黑" panose="020B0503020204020204" pitchFamily="34" charset="-122"/>
              </a:rPr>
              <a:t>16 383</a:t>
            </a:r>
            <a:r>
              <a:rPr lang="zh-CN" altLang="en-US" sz="2200">
                <a:solidFill>
                  <a:srgbClr val="008000"/>
                </a:solidFill>
                <a:latin typeface="微软雅黑" panose="020B0503020204020204" pitchFamily="34" charset="-122"/>
                <a:ea typeface="微软雅黑" panose="020B0503020204020204" pitchFamily="34" charset="-122"/>
              </a:rPr>
              <a:t>）、</a:t>
            </a:r>
            <a:r>
              <a:rPr lang="en-US" altLang="zh-CN" sz="2200">
                <a:solidFill>
                  <a:srgbClr val="008000"/>
                </a:solidFill>
                <a:latin typeface="微软雅黑" panose="020B0503020204020204" pitchFamily="34" charset="-122"/>
                <a:ea typeface="微软雅黑" panose="020B0503020204020204" pitchFamily="34" charset="-122"/>
              </a:rPr>
              <a:t>1</a:t>
            </a:r>
            <a:r>
              <a:rPr lang="zh-CN" altLang="en-US" sz="2200">
                <a:solidFill>
                  <a:srgbClr val="008000"/>
                </a:solidFill>
                <a:latin typeface="微软雅黑" panose="020B0503020204020204" pitchFamily="34" charset="-122"/>
                <a:ea typeface="微软雅黑" panose="020B0503020204020204" pitchFamily="34" charset="-122"/>
              </a:rPr>
              <a:t>位显式首 位有效位（</a:t>
            </a:r>
            <a:r>
              <a:rPr lang="en-US" altLang="zh-CN" sz="2200">
                <a:solidFill>
                  <a:srgbClr val="008000"/>
                </a:solidFill>
                <a:latin typeface="微软雅黑" panose="020B0503020204020204" pitchFamily="34" charset="-122"/>
                <a:ea typeface="微软雅黑" panose="020B0503020204020204" pitchFamily="34" charset="-122"/>
              </a:rPr>
              <a:t>explicit leading significant bit</a:t>
            </a:r>
            <a:r>
              <a:rPr lang="zh-CN" altLang="en-US" sz="2200">
                <a:solidFill>
                  <a:srgbClr val="008000"/>
                </a:solidFill>
                <a:latin typeface="微软雅黑" panose="020B0503020204020204" pitchFamily="34" charset="-122"/>
                <a:ea typeface="微软雅黑" panose="020B0503020204020204" pitchFamily="34" charset="-122"/>
              </a:rPr>
              <a:t>）</a:t>
            </a:r>
            <a:r>
              <a:rPr lang="pt-BR" altLang="zh-CN" sz="2200">
                <a:solidFill>
                  <a:srgbClr val="008000"/>
                </a:solidFill>
                <a:latin typeface="微软雅黑" panose="020B0503020204020204" pitchFamily="34" charset="-122"/>
                <a:ea typeface="微软雅黑" panose="020B0503020204020204" pitchFamily="34" charset="-122"/>
              </a:rPr>
              <a:t>j </a:t>
            </a:r>
            <a:r>
              <a:rPr lang="zh-CN" altLang="en-US" sz="2200">
                <a:solidFill>
                  <a:srgbClr val="008000"/>
                </a:solidFill>
                <a:latin typeface="微软雅黑" panose="020B0503020204020204" pitchFamily="34" charset="-122"/>
                <a:ea typeface="微软雅黑" panose="020B0503020204020204" pitchFamily="34" charset="-122"/>
              </a:rPr>
              <a:t>和 </a:t>
            </a:r>
            <a:r>
              <a:rPr lang="en-US" altLang="zh-CN" sz="2200">
                <a:solidFill>
                  <a:srgbClr val="008000"/>
                </a:solidFill>
                <a:latin typeface="微软雅黑" panose="020B0503020204020204" pitchFamily="34" charset="-122"/>
                <a:ea typeface="微软雅黑" panose="020B0503020204020204" pitchFamily="34" charset="-122"/>
              </a:rPr>
              <a:t>63</a:t>
            </a:r>
            <a:r>
              <a:rPr lang="zh-CN" altLang="en-US" sz="2200">
                <a:solidFill>
                  <a:srgbClr val="008000"/>
                </a:solidFill>
                <a:latin typeface="微软雅黑" panose="020B0503020204020204" pitchFamily="34" charset="-122"/>
                <a:ea typeface="微软雅黑" panose="020B0503020204020204" pitchFamily="34" charset="-122"/>
              </a:rPr>
              <a:t>位尾数</a:t>
            </a:r>
            <a:r>
              <a:rPr lang="pt-BR" altLang="zh-CN" sz="2200">
                <a:solidFill>
                  <a:srgbClr val="008000"/>
                </a:solidFill>
                <a:latin typeface="微软雅黑" panose="020B0503020204020204" pitchFamily="34" charset="-122"/>
                <a:ea typeface="微软雅黑" panose="020B0503020204020204" pitchFamily="34" charset="-122"/>
              </a:rPr>
              <a:t>f</a:t>
            </a:r>
            <a:r>
              <a:rPr lang="zh-CN" altLang="en-US" sz="2200">
                <a:solidFill>
                  <a:srgbClr val="008000"/>
                </a:solidFill>
                <a:latin typeface="微软雅黑" panose="020B0503020204020204" pitchFamily="34" charset="-122"/>
                <a:ea typeface="微软雅黑" panose="020B0503020204020204" pitchFamily="34" charset="-122"/>
              </a:rPr>
              <a:t>。它与</a:t>
            </a:r>
            <a:r>
              <a:rPr lang="en-US" altLang="zh-CN" sz="2200">
                <a:solidFill>
                  <a:srgbClr val="008000"/>
                </a:solidFill>
                <a:latin typeface="微软雅黑" panose="020B0503020204020204" pitchFamily="34" charset="-122"/>
                <a:ea typeface="微软雅黑" panose="020B0503020204020204" pitchFamily="34" charset="-122"/>
              </a:rPr>
              <a:t>IEEE 754</a:t>
            </a:r>
            <a:r>
              <a:rPr lang="zh-CN" altLang="en-US" sz="2200">
                <a:solidFill>
                  <a:srgbClr val="008000"/>
                </a:solidFill>
                <a:latin typeface="微软雅黑" panose="020B0503020204020204" pitchFamily="34" charset="-122"/>
                <a:ea typeface="微软雅黑" panose="020B0503020204020204" pitchFamily="34" charset="-122"/>
              </a:rPr>
              <a:t>单精度和双精度浮点格式的一个重要的区别是，</a:t>
            </a:r>
            <a:r>
              <a:rPr lang="zh-CN" altLang="en-US" sz="2200">
                <a:solidFill>
                  <a:srgbClr val="FF3300"/>
                </a:solidFill>
                <a:latin typeface="微软雅黑" panose="020B0503020204020204" pitchFamily="34" charset="-122"/>
                <a:ea typeface="微软雅黑" panose="020B0503020204020204" pitchFamily="34" charset="-122"/>
              </a:rPr>
              <a:t>它没有隐藏位，有效位数共</a:t>
            </a:r>
            <a:r>
              <a:rPr lang="en-US" altLang="zh-CN" sz="2200">
                <a:solidFill>
                  <a:srgbClr val="FF3300"/>
                </a:solidFill>
                <a:latin typeface="微软雅黑" panose="020B0503020204020204" pitchFamily="34" charset="-122"/>
                <a:ea typeface="微软雅黑" panose="020B0503020204020204" pitchFamily="34" charset="-122"/>
              </a:rPr>
              <a:t>64</a:t>
            </a:r>
            <a:r>
              <a:rPr lang="zh-CN" altLang="en-US" sz="2200">
                <a:solidFill>
                  <a:srgbClr val="FF3300"/>
                </a:solidFill>
                <a:latin typeface="微软雅黑" panose="020B0503020204020204" pitchFamily="34" charset="-122"/>
                <a:ea typeface="微软雅黑" panose="020B0503020204020204" pitchFamily="34" charset="-122"/>
              </a:rPr>
              <a:t>位</a:t>
            </a:r>
            <a:r>
              <a:rPr lang="zh-CN" altLang="en-US" sz="2200">
                <a:solidFill>
                  <a:srgbClr val="008000"/>
                </a:solidFill>
                <a:latin typeface="微软雅黑" panose="020B0503020204020204" pitchFamily="34" charset="-122"/>
                <a:ea typeface="微软雅黑" panose="020B0503020204020204" pitchFamily="34" charset="-122"/>
              </a:rPr>
              <a:t>。 </a:t>
            </a:r>
            <a:endParaRPr lang="zh-CN" altLang="en-US" sz="22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545943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27395">
                                            <p:txEl>
                                              <p:pRg st="2" end="2"/>
                                            </p:txEl>
                                          </p:spTgt>
                                        </p:tgtEl>
                                        <p:attrNameLst>
                                          <p:attrName>style.visibility</p:attrName>
                                        </p:attrNameLst>
                                      </p:cBhvr>
                                      <p:to>
                                        <p:strVal val="visible"/>
                                      </p:to>
                                    </p:set>
                                    <p:animEffect transition="in" filter="blinds(horizontal)">
                                      <p:cBhvr>
                                        <p:cTn id="7" dur="500"/>
                                        <p:tgtEl>
                                          <p:spTgt spid="827395">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27395">
                                            <p:txEl>
                                              <p:pRg st="3" end="3"/>
                                            </p:txEl>
                                          </p:spTgt>
                                        </p:tgtEl>
                                        <p:attrNameLst>
                                          <p:attrName>style.visibility</p:attrName>
                                        </p:attrNameLst>
                                      </p:cBhvr>
                                      <p:to>
                                        <p:strVal val="visible"/>
                                      </p:to>
                                    </p:set>
                                    <p:animEffect transition="in" filter="blinds(horizontal)">
                                      <p:cBhvr>
                                        <p:cTn id="12" dur="500"/>
                                        <p:tgtEl>
                                          <p:spTgt spid="827395">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827395">
                                            <p:txEl>
                                              <p:pRg st="4" end="4"/>
                                            </p:txEl>
                                          </p:spTgt>
                                        </p:tgtEl>
                                        <p:attrNameLst>
                                          <p:attrName>style.visibility</p:attrName>
                                        </p:attrNameLst>
                                      </p:cBhvr>
                                      <p:to>
                                        <p:strVal val="visible"/>
                                      </p:to>
                                    </p:set>
                                    <p:animEffect transition="in" filter="blinds(horizontal)">
                                      <p:cBhvr>
                                        <p:cTn id="17" dur="500"/>
                                        <p:tgtEl>
                                          <p:spTgt spid="827395">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827395">
                                            <p:txEl>
                                              <p:pRg st="7" end="7"/>
                                            </p:txEl>
                                          </p:spTgt>
                                        </p:tgtEl>
                                        <p:attrNameLst>
                                          <p:attrName>style.visibility</p:attrName>
                                        </p:attrNameLst>
                                      </p:cBhvr>
                                      <p:to>
                                        <p:strVal val="visible"/>
                                      </p:to>
                                    </p:set>
                                    <p:animEffect transition="in" filter="blinds(horizontal)">
                                      <p:cBhvr>
                                        <p:cTn id="22" dur="500"/>
                                        <p:tgtEl>
                                          <p:spTgt spid="82739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457200" y="142875"/>
            <a:ext cx="8229600" cy="561975"/>
          </a:xfrm>
        </p:spPr>
        <p:txBody>
          <a:bodyPr>
            <a:normAutofit fontScale="90000"/>
          </a:bodyPr>
          <a:lstStyle/>
          <a:p>
            <a:r>
              <a:rPr lang="en-US" altLang="zh-CN" sz="3600"/>
              <a:t>X87 FPU</a:t>
            </a:r>
            <a:r>
              <a:rPr lang="zh-CN" altLang="en-US" sz="3600"/>
              <a:t>指令</a:t>
            </a:r>
          </a:p>
        </p:txBody>
      </p:sp>
      <p:sp>
        <p:nvSpPr>
          <p:cNvPr id="829443" name="Rectangle 3"/>
          <p:cNvSpPr>
            <a:spLocks noGrp="1" noChangeArrowheads="1"/>
          </p:cNvSpPr>
          <p:nvPr>
            <p:ph type="body" idx="1"/>
          </p:nvPr>
        </p:nvSpPr>
        <p:spPr>
          <a:xfrm>
            <a:off x="476250" y="819150"/>
            <a:ext cx="8416925" cy="5580063"/>
          </a:xfrm>
        </p:spPr>
        <p:txBody>
          <a:bodyPr/>
          <a:lstStyle/>
          <a:p>
            <a:r>
              <a:rPr lang="en-US" altLang="en-US">
                <a:ea typeface="微软雅黑" panose="020B0503020204020204" pitchFamily="34" charset="-122"/>
              </a:rPr>
              <a:t>数据传送类</a:t>
            </a:r>
          </a:p>
          <a:p>
            <a:pPr>
              <a:buFontTx/>
              <a:buNone/>
            </a:pPr>
            <a:r>
              <a:rPr lang="en-US" altLang="zh-CN" sz="2000"/>
              <a:t>    </a:t>
            </a:r>
            <a:r>
              <a:rPr lang="en-US" altLang="en-US" sz="2200">
                <a:solidFill>
                  <a:srgbClr val="3333CC"/>
                </a:solidFill>
                <a:latin typeface="微软雅黑" panose="020B0503020204020204" pitchFamily="34" charset="-122"/>
                <a:ea typeface="微软雅黑" panose="020B0503020204020204" pitchFamily="34" charset="-122"/>
              </a:rPr>
              <a:t>从内存装入栈顶</a:t>
            </a:r>
            <a:r>
              <a:rPr lang="en-US" altLang="zh-CN" sz="2200">
                <a:solidFill>
                  <a:srgbClr val="3333CC"/>
                </a:solidFill>
                <a:latin typeface="微软雅黑" panose="020B0503020204020204" pitchFamily="34" charset="-122"/>
                <a:ea typeface="微软雅黑" panose="020B0503020204020204" pitchFamily="34" charset="-122"/>
              </a:rPr>
              <a:t>ST(0）</a:t>
            </a:r>
            <a:r>
              <a:rPr lang="zh-CN" altLang="en-US" sz="2200">
                <a:solidFill>
                  <a:srgbClr val="FF3300"/>
                </a:solidFill>
                <a:latin typeface="微软雅黑" panose="020B0503020204020204" pitchFamily="34" charset="-122"/>
                <a:ea typeface="微软雅黑" panose="020B0503020204020204" pitchFamily="34" charset="-122"/>
              </a:rPr>
              <a:t>带</a:t>
            </a:r>
            <a:r>
              <a:rPr lang="en-US" altLang="zh-CN" sz="2200">
                <a:solidFill>
                  <a:srgbClr val="FF3300"/>
                </a:solidFill>
                <a:latin typeface="微软雅黑" panose="020B0503020204020204" pitchFamily="34" charset="-122"/>
                <a:ea typeface="微软雅黑" panose="020B0503020204020204" pitchFamily="34" charset="-122"/>
              </a:rPr>
              <a:t>P</a:t>
            </a:r>
            <a:r>
              <a:rPr lang="zh-CN" altLang="en-US" sz="2200">
                <a:solidFill>
                  <a:srgbClr val="FF3300"/>
                </a:solidFill>
                <a:latin typeface="微软雅黑" panose="020B0503020204020204" pitchFamily="34" charset="-122"/>
                <a:ea typeface="微软雅黑" panose="020B0503020204020204" pitchFamily="34" charset="-122"/>
              </a:rPr>
              <a:t>结尾指令表示操作数会</a:t>
            </a:r>
            <a:r>
              <a:rPr lang="en-US" altLang="en-US" sz="2200">
                <a:solidFill>
                  <a:srgbClr val="FF3300"/>
                </a:solidFill>
                <a:latin typeface="微软雅黑" panose="020B0503020204020204" pitchFamily="34" charset="-122"/>
                <a:ea typeface="微软雅黑" panose="020B0503020204020204" pitchFamily="34" charset="-122"/>
              </a:rPr>
              <a:t>出栈</a:t>
            </a:r>
            <a:r>
              <a:rPr lang="en-US" altLang="en-US" sz="2200">
                <a:solidFill>
                  <a:srgbClr val="3333CC"/>
                </a:solidFill>
                <a:latin typeface="微软雅黑" panose="020B0503020204020204" pitchFamily="34" charset="-122"/>
                <a:ea typeface="微软雅黑" panose="020B0503020204020204" pitchFamily="34" charset="-122"/>
              </a:rPr>
              <a:t>，也</a:t>
            </a:r>
            <a:r>
              <a:rPr lang="en-US" altLang="zh-CN" sz="2200">
                <a:solidFill>
                  <a:srgbClr val="3333CC"/>
                </a:solidFill>
                <a:latin typeface="微软雅黑" panose="020B0503020204020204" pitchFamily="34" charset="-122"/>
                <a:ea typeface="微软雅黑" panose="020B0503020204020204" pitchFamily="34" charset="-122"/>
              </a:rPr>
              <a:t>即</a:t>
            </a:r>
            <a:r>
              <a:rPr lang="en-US" altLang="en-US" sz="2200">
                <a:solidFill>
                  <a:srgbClr val="3333CC"/>
                </a:solidFill>
                <a:latin typeface="微软雅黑" panose="020B0503020204020204" pitchFamily="34" charset="-122"/>
                <a:ea typeface="微软雅黑" panose="020B0503020204020204" pitchFamily="34" charset="-122"/>
              </a:rPr>
              <a:t>ST(1</a:t>
            </a:r>
            <a:r>
              <a:rPr lang="en-US" altLang="zh-CN" sz="2200">
                <a:solidFill>
                  <a:srgbClr val="3333CC"/>
                </a:solidFill>
                <a:latin typeface="微软雅黑" panose="020B0503020204020204" pitchFamily="34" charset="-122"/>
                <a:ea typeface="微软雅黑" panose="020B0503020204020204" pitchFamily="34" charset="-122"/>
              </a:rPr>
              <a:t>)将变</a:t>
            </a:r>
            <a:r>
              <a:rPr lang="en-US" altLang="en-US" sz="2200">
                <a:solidFill>
                  <a:srgbClr val="3333CC"/>
                </a:solidFill>
                <a:latin typeface="微软雅黑" panose="020B0503020204020204" pitchFamily="34" charset="-122"/>
                <a:ea typeface="微软雅黑" panose="020B0503020204020204" pitchFamily="34" charset="-122"/>
              </a:rPr>
              <a:t>成ST(0</a:t>
            </a:r>
            <a:r>
              <a:rPr lang="en-US" altLang="zh-CN" sz="2200">
                <a:solidFill>
                  <a:srgbClr val="3333CC"/>
                </a:solidFill>
                <a:latin typeface="微软雅黑" panose="020B0503020204020204" pitchFamily="34" charset="-122"/>
                <a:ea typeface="微软雅黑" panose="020B0503020204020204" pitchFamily="34" charset="-122"/>
              </a:rPr>
              <a:t>)</a:t>
            </a:r>
            <a:r>
              <a:rPr lang="en-US" altLang="en-US" sz="2200"/>
              <a:t> </a:t>
            </a:r>
          </a:p>
          <a:p>
            <a:pPr>
              <a:buFontTx/>
              <a:buNone/>
            </a:pPr>
            <a:r>
              <a:rPr lang="en-US" altLang="zh-CN" sz="2200">
                <a:solidFill>
                  <a:srgbClr val="008000"/>
                </a:solidFill>
                <a:latin typeface="微软雅黑" panose="020B0503020204020204" pitchFamily="34" charset="-122"/>
                <a:ea typeface="微软雅黑" panose="020B0503020204020204" pitchFamily="34" charset="-122"/>
              </a:rPr>
              <a:t>(1) </a:t>
            </a:r>
            <a:r>
              <a:rPr lang="en-US" altLang="en-US" sz="2200">
                <a:solidFill>
                  <a:srgbClr val="008000"/>
                </a:solidFill>
                <a:latin typeface="微软雅黑" panose="020B0503020204020204" pitchFamily="34" charset="-122"/>
                <a:ea typeface="微软雅黑" panose="020B0503020204020204" pitchFamily="34" charset="-122"/>
              </a:rPr>
              <a:t>装入 </a:t>
            </a:r>
          </a:p>
          <a:p>
            <a:pPr>
              <a:buFontTx/>
              <a:buNone/>
            </a:pPr>
            <a:r>
              <a:rPr lang="en-US" altLang="zh-CN" sz="2200">
                <a:solidFill>
                  <a:srgbClr val="008000"/>
                </a:solidFill>
                <a:latin typeface="微软雅黑" panose="020B0503020204020204" pitchFamily="34" charset="-122"/>
                <a:ea typeface="微软雅黑" panose="020B0503020204020204" pitchFamily="34" charset="-122"/>
              </a:rPr>
              <a:t>     </a:t>
            </a:r>
            <a:r>
              <a:rPr lang="en-US" altLang="en-US" sz="2200">
                <a:solidFill>
                  <a:srgbClr val="008000"/>
                </a:solidFill>
                <a:latin typeface="微软雅黑" panose="020B0503020204020204" pitchFamily="34" charset="-122"/>
                <a:ea typeface="微软雅黑" panose="020B0503020204020204" pitchFamily="34" charset="-122"/>
              </a:rPr>
              <a:t>FLD</a:t>
            </a:r>
            <a:r>
              <a:rPr lang="en-US" altLang="zh-CN" sz="2200">
                <a:solidFill>
                  <a:srgbClr val="008000"/>
                </a:solidFill>
                <a:latin typeface="微软雅黑" panose="020B0503020204020204" pitchFamily="34" charset="-122"/>
                <a:ea typeface="微软雅黑" panose="020B0503020204020204" pitchFamily="34" charset="-122"/>
              </a:rPr>
              <a:t>：</a:t>
            </a:r>
            <a:r>
              <a:rPr lang="zh-CN" altLang="en-US" sz="2200">
                <a:solidFill>
                  <a:srgbClr val="008000"/>
                </a:solidFill>
                <a:latin typeface="微软雅黑" panose="020B0503020204020204" pitchFamily="34" charset="-122"/>
                <a:ea typeface="微软雅黑" panose="020B0503020204020204" pitchFamily="34" charset="-122"/>
              </a:rPr>
              <a:t>将数据装入浮点寄存器栈顶</a:t>
            </a:r>
            <a:endParaRPr lang="en-US" altLang="en-US" sz="2200">
              <a:solidFill>
                <a:srgbClr val="008000"/>
              </a:solidFill>
              <a:latin typeface="微软雅黑" panose="020B0503020204020204" pitchFamily="34" charset="-122"/>
              <a:ea typeface="微软雅黑" panose="020B0503020204020204" pitchFamily="34" charset="-122"/>
            </a:endParaRPr>
          </a:p>
          <a:p>
            <a:pPr>
              <a:buFontTx/>
              <a:buNone/>
            </a:pPr>
            <a:r>
              <a:rPr lang="en-US" altLang="zh-CN" sz="2200">
                <a:solidFill>
                  <a:srgbClr val="008000"/>
                </a:solidFill>
                <a:latin typeface="微软雅黑" panose="020B0503020204020204" pitchFamily="34" charset="-122"/>
                <a:ea typeface="微软雅黑" panose="020B0503020204020204" pitchFamily="34" charset="-122"/>
              </a:rPr>
              <a:t>     </a:t>
            </a:r>
            <a:r>
              <a:rPr lang="en-US" altLang="en-US" sz="2200">
                <a:solidFill>
                  <a:srgbClr val="008000"/>
                </a:solidFill>
                <a:latin typeface="微软雅黑" panose="020B0503020204020204" pitchFamily="34" charset="-122"/>
                <a:ea typeface="微软雅黑" panose="020B0503020204020204" pitchFamily="34" charset="-122"/>
              </a:rPr>
              <a:t>FILD</a:t>
            </a:r>
            <a:r>
              <a:rPr lang="en-US" altLang="zh-CN" sz="2200">
                <a:solidFill>
                  <a:srgbClr val="008000"/>
                </a:solidFill>
                <a:latin typeface="微软雅黑" panose="020B0503020204020204" pitchFamily="34" charset="-122"/>
                <a:ea typeface="微软雅黑" panose="020B0503020204020204" pitchFamily="34" charset="-122"/>
              </a:rPr>
              <a:t>：</a:t>
            </a:r>
            <a:r>
              <a:rPr lang="zh-CN" altLang="en-US" sz="2200">
                <a:solidFill>
                  <a:srgbClr val="008000"/>
                </a:solidFill>
                <a:latin typeface="微软雅黑" panose="020B0503020204020204" pitchFamily="34" charset="-122"/>
                <a:ea typeface="微软雅黑" panose="020B0503020204020204" pitchFamily="34" charset="-122"/>
              </a:rPr>
              <a:t>将数据从</a:t>
            </a:r>
            <a:r>
              <a:rPr lang="en-US" altLang="zh-CN" sz="2200">
                <a:solidFill>
                  <a:srgbClr val="008000"/>
                </a:solidFill>
                <a:latin typeface="微软雅黑" panose="020B0503020204020204" pitchFamily="34" charset="-122"/>
                <a:ea typeface="微软雅黑" panose="020B0503020204020204" pitchFamily="34" charset="-122"/>
              </a:rPr>
              <a:t>int</a:t>
            </a:r>
            <a:r>
              <a:rPr lang="zh-CN" altLang="en-US" sz="2200">
                <a:solidFill>
                  <a:srgbClr val="008000"/>
                </a:solidFill>
                <a:latin typeface="微软雅黑" panose="020B0503020204020204" pitchFamily="34" charset="-122"/>
                <a:ea typeface="微软雅黑" panose="020B0503020204020204" pitchFamily="34" charset="-122"/>
              </a:rPr>
              <a:t>型转换为浮点格式后，装入浮点寄存器栈顶</a:t>
            </a:r>
            <a:endParaRPr lang="en-US" altLang="en-US" sz="2200">
              <a:solidFill>
                <a:srgbClr val="008000"/>
              </a:solidFill>
              <a:latin typeface="微软雅黑" panose="020B0503020204020204" pitchFamily="34" charset="-122"/>
              <a:ea typeface="微软雅黑" panose="020B0503020204020204" pitchFamily="34" charset="-122"/>
            </a:endParaRPr>
          </a:p>
          <a:p>
            <a:pPr>
              <a:buFontTx/>
              <a:buNone/>
            </a:pPr>
            <a:r>
              <a:rPr lang="en-US" altLang="zh-CN" sz="2200">
                <a:solidFill>
                  <a:srgbClr val="008000"/>
                </a:solidFill>
                <a:latin typeface="微软雅黑" panose="020B0503020204020204" pitchFamily="34" charset="-122"/>
                <a:ea typeface="微软雅黑" panose="020B0503020204020204" pitchFamily="34" charset="-122"/>
              </a:rPr>
              <a:t>(2) </a:t>
            </a:r>
            <a:r>
              <a:rPr lang="en-US" altLang="en-US" sz="2200">
                <a:solidFill>
                  <a:srgbClr val="008000"/>
                </a:solidFill>
                <a:latin typeface="微软雅黑" panose="020B0503020204020204" pitchFamily="34" charset="-122"/>
                <a:ea typeface="微软雅黑" panose="020B0503020204020204" pitchFamily="34" charset="-122"/>
              </a:rPr>
              <a:t>存储</a:t>
            </a:r>
          </a:p>
          <a:p>
            <a:pPr>
              <a:buFontTx/>
              <a:buNone/>
            </a:pPr>
            <a:r>
              <a:rPr lang="en-US" altLang="zh-CN" sz="2200">
                <a:solidFill>
                  <a:srgbClr val="008000"/>
                </a:solidFill>
                <a:latin typeface="微软雅黑" panose="020B0503020204020204" pitchFamily="34" charset="-122"/>
                <a:ea typeface="微软雅黑" panose="020B0503020204020204" pitchFamily="34" charset="-122"/>
              </a:rPr>
              <a:t>     </a:t>
            </a:r>
            <a:r>
              <a:rPr lang="en-US" altLang="en-US" sz="2200">
                <a:solidFill>
                  <a:srgbClr val="008000"/>
                </a:solidFill>
                <a:latin typeface="微软雅黑" panose="020B0503020204020204" pitchFamily="34" charset="-122"/>
                <a:ea typeface="微软雅黑" panose="020B0503020204020204" pitchFamily="34" charset="-122"/>
              </a:rPr>
              <a:t>FST</a:t>
            </a:r>
            <a:r>
              <a:rPr lang="en-US" altLang="zh-CN" sz="2200">
                <a:solidFill>
                  <a:srgbClr val="008000"/>
                </a:solidFill>
                <a:latin typeface="微软雅黑" panose="020B0503020204020204" pitchFamily="34" charset="-122"/>
                <a:ea typeface="微软雅黑" panose="020B0503020204020204" pitchFamily="34" charset="-122"/>
              </a:rPr>
              <a:t>x：x</a:t>
            </a:r>
            <a:r>
              <a:rPr lang="zh-CN" altLang="en-US" sz="2200">
                <a:solidFill>
                  <a:srgbClr val="008000"/>
                </a:solidFill>
                <a:latin typeface="微软雅黑" panose="020B0503020204020204" pitchFamily="34" charset="-122"/>
                <a:ea typeface="微软雅黑" panose="020B0503020204020204" pitchFamily="34" charset="-122"/>
              </a:rPr>
              <a:t>为</a:t>
            </a:r>
            <a:r>
              <a:rPr lang="en-US" altLang="zh-CN" sz="2200">
                <a:solidFill>
                  <a:srgbClr val="FF3300"/>
                </a:solidFill>
                <a:latin typeface="微软雅黑" panose="020B0503020204020204" pitchFamily="34" charset="-122"/>
                <a:ea typeface="微软雅黑" panose="020B0503020204020204" pitchFamily="34" charset="-122"/>
              </a:rPr>
              <a:t>s/l</a:t>
            </a:r>
            <a:r>
              <a:rPr lang="zh-CN" altLang="en-US" sz="2200">
                <a:solidFill>
                  <a:srgbClr val="008000"/>
                </a:solidFill>
                <a:latin typeface="微软雅黑" panose="020B0503020204020204" pitchFamily="34" charset="-122"/>
                <a:ea typeface="微软雅黑" panose="020B0503020204020204" pitchFamily="34" charset="-122"/>
              </a:rPr>
              <a:t>时，将栈顶</a:t>
            </a:r>
            <a:r>
              <a:rPr lang="en-US" altLang="zh-CN" sz="2200">
                <a:solidFill>
                  <a:srgbClr val="008000"/>
                </a:solidFill>
                <a:latin typeface="微软雅黑" panose="020B0503020204020204" pitchFamily="34" charset="-122"/>
                <a:ea typeface="微软雅黑" panose="020B0503020204020204" pitchFamily="34" charset="-122"/>
              </a:rPr>
              <a:t>ST(0)</a:t>
            </a:r>
            <a:r>
              <a:rPr lang="zh-CN" altLang="en-US" sz="2200">
                <a:solidFill>
                  <a:srgbClr val="008000"/>
                </a:solidFill>
                <a:latin typeface="微软雅黑" panose="020B0503020204020204" pitchFamily="34" charset="-122"/>
                <a:ea typeface="微软雅黑" panose="020B0503020204020204" pitchFamily="34" charset="-122"/>
              </a:rPr>
              <a:t>转换为</a:t>
            </a:r>
            <a:r>
              <a:rPr lang="zh-CN" altLang="en-US" sz="2200">
                <a:solidFill>
                  <a:srgbClr val="FF3300"/>
                </a:solidFill>
                <a:latin typeface="微软雅黑" panose="020B0503020204020204" pitchFamily="34" charset="-122"/>
                <a:ea typeface="微软雅黑" panose="020B0503020204020204" pitchFamily="34" charset="-122"/>
              </a:rPr>
              <a:t>单</a:t>
            </a:r>
            <a:r>
              <a:rPr lang="en-US" altLang="zh-CN" sz="2200">
                <a:solidFill>
                  <a:srgbClr val="FF3300"/>
                </a:solidFill>
                <a:latin typeface="微软雅黑" panose="020B0503020204020204" pitchFamily="34" charset="-122"/>
                <a:ea typeface="微软雅黑" panose="020B0503020204020204" pitchFamily="34" charset="-122"/>
              </a:rPr>
              <a:t>/</a:t>
            </a:r>
            <a:r>
              <a:rPr lang="zh-CN" altLang="en-US" sz="2200">
                <a:solidFill>
                  <a:srgbClr val="FF3300"/>
                </a:solidFill>
                <a:latin typeface="微软雅黑" panose="020B0503020204020204" pitchFamily="34" charset="-122"/>
                <a:ea typeface="微软雅黑" panose="020B0503020204020204" pitchFamily="34" charset="-122"/>
              </a:rPr>
              <a:t>双精度</a:t>
            </a:r>
            <a:r>
              <a:rPr lang="zh-CN" altLang="en-US" sz="2200">
                <a:solidFill>
                  <a:srgbClr val="008000"/>
                </a:solidFill>
                <a:latin typeface="微软雅黑" panose="020B0503020204020204" pitchFamily="34" charset="-122"/>
                <a:ea typeface="微软雅黑" panose="020B0503020204020204" pitchFamily="34" charset="-122"/>
              </a:rPr>
              <a:t>格式，然后存入存储单元</a:t>
            </a:r>
            <a:endParaRPr lang="en-US" altLang="en-US" sz="2200">
              <a:solidFill>
                <a:srgbClr val="008000"/>
              </a:solidFill>
              <a:latin typeface="微软雅黑" panose="020B0503020204020204" pitchFamily="34" charset="-122"/>
              <a:ea typeface="微软雅黑" panose="020B0503020204020204" pitchFamily="34" charset="-122"/>
            </a:endParaRPr>
          </a:p>
          <a:p>
            <a:pPr>
              <a:buFontTx/>
              <a:buNone/>
            </a:pPr>
            <a:r>
              <a:rPr lang="en-US" altLang="zh-CN" sz="2200">
                <a:solidFill>
                  <a:srgbClr val="008000"/>
                </a:solidFill>
                <a:latin typeface="微软雅黑" panose="020B0503020204020204" pitchFamily="34" charset="-122"/>
                <a:ea typeface="微软雅黑" panose="020B0503020204020204" pitchFamily="34" charset="-122"/>
              </a:rPr>
              <a:t>     </a:t>
            </a:r>
            <a:r>
              <a:rPr lang="en-US" altLang="en-US" sz="2200">
                <a:solidFill>
                  <a:srgbClr val="008000"/>
                </a:solidFill>
                <a:latin typeface="微软雅黑" panose="020B0503020204020204" pitchFamily="34" charset="-122"/>
                <a:ea typeface="微软雅黑" panose="020B0503020204020204" pitchFamily="34" charset="-122"/>
              </a:rPr>
              <a:t>FSTP</a:t>
            </a:r>
            <a:r>
              <a:rPr lang="en-US" altLang="zh-CN" sz="2200">
                <a:solidFill>
                  <a:srgbClr val="008000"/>
                </a:solidFill>
                <a:latin typeface="微软雅黑" panose="020B0503020204020204" pitchFamily="34" charset="-122"/>
                <a:ea typeface="微软雅黑" panose="020B0503020204020204" pitchFamily="34" charset="-122"/>
              </a:rPr>
              <a:t>x</a:t>
            </a:r>
            <a:r>
              <a:rPr lang="zh-CN" altLang="en-US" sz="2200">
                <a:solidFill>
                  <a:srgbClr val="008000"/>
                </a:solidFill>
                <a:latin typeface="微软雅黑" panose="020B0503020204020204" pitchFamily="34" charset="-122"/>
                <a:ea typeface="微软雅黑" panose="020B0503020204020204" pitchFamily="34" charset="-122"/>
              </a:rPr>
              <a:t>：弹出栈顶元素，并完成与</a:t>
            </a:r>
            <a:r>
              <a:rPr lang="en-US" altLang="zh-CN" sz="2200">
                <a:solidFill>
                  <a:srgbClr val="008000"/>
                </a:solidFill>
                <a:latin typeface="微软雅黑" panose="020B0503020204020204" pitchFamily="34" charset="-122"/>
                <a:ea typeface="微软雅黑" panose="020B0503020204020204" pitchFamily="34" charset="-122"/>
              </a:rPr>
              <a:t>FSTx</a:t>
            </a:r>
            <a:r>
              <a:rPr lang="zh-CN" altLang="en-US" sz="2200">
                <a:solidFill>
                  <a:srgbClr val="008000"/>
                </a:solidFill>
                <a:latin typeface="微软雅黑" panose="020B0503020204020204" pitchFamily="34" charset="-122"/>
                <a:ea typeface="微软雅黑" panose="020B0503020204020204" pitchFamily="34" charset="-122"/>
              </a:rPr>
              <a:t>相同的功能</a:t>
            </a:r>
            <a:endParaRPr lang="en-US" altLang="en-US" sz="2200">
              <a:solidFill>
                <a:srgbClr val="008000"/>
              </a:solidFill>
              <a:latin typeface="微软雅黑" panose="020B0503020204020204" pitchFamily="34" charset="-122"/>
              <a:ea typeface="微软雅黑" panose="020B0503020204020204" pitchFamily="34" charset="-122"/>
            </a:endParaRPr>
          </a:p>
          <a:p>
            <a:pPr>
              <a:buFontTx/>
              <a:buNone/>
            </a:pPr>
            <a:r>
              <a:rPr lang="en-US" altLang="zh-CN" sz="2200">
                <a:solidFill>
                  <a:srgbClr val="008000"/>
                </a:solidFill>
                <a:latin typeface="微软雅黑" panose="020B0503020204020204" pitchFamily="34" charset="-122"/>
                <a:ea typeface="微软雅黑" panose="020B0503020204020204" pitchFamily="34" charset="-122"/>
              </a:rPr>
              <a:t>     </a:t>
            </a:r>
            <a:r>
              <a:rPr lang="en-US" altLang="en-US" sz="2200">
                <a:solidFill>
                  <a:srgbClr val="008000"/>
                </a:solidFill>
                <a:latin typeface="微软雅黑" panose="020B0503020204020204" pitchFamily="34" charset="-122"/>
                <a:ea typeface="微软雅黑" panose="020B0503020204020204" pitchFamily="34" charset="-122"/>
              </a:rPr>
              <a:t>FIST</a:t>
            </a:r>
            <a:r>
              <a:rPr lang="en-US" altLang="zh-CN" sz="2200">
                <a:solidFill>
                  <a:srgbClr val="008000"/>
                </a:solidFill>
                <a:latin typeface="微软雅黑" panose="020B0503020204020204" pitchFamily="34" charset="-122"/>
                <a:ea typeface="微软雅黑" panose="020B0503020204020204" pitchFamily="34" charset="-122"/>
              </a:rPr>
              <a:t>x：</a:t>
            </a:r>
            <a:r>
              <a:rPr lang="zh-CN" altLang="en-US" sz="2200">
                <a:solidFill>
                  <a:srgbClr val="008000"/>
                </a:solidFill>
                <a:latin typeface="微软雅黑" panose="020B0503020204020204" pitchFamily="34" charset="-122"/>
                <a:ea typeface="微软雅黑" panose="020B0503020204020204" pitchFamily="34" charset="-122"/>
              </a:rPr>
              <a:t>将栈顶数据</a:t>
            </a:r>
            <a:r>
              <a:rPr lang="zh-CN" altLang="en-US" sz="2200">
                <a:solidFill>
                  <a:srgbClr val="FF3300"/>
                </a:solidFill>
                <a:latin typeface="微软雅黑" panose="020B0503020204020204" pitchFamily="34" charset="-122"/>
                <a:ea typeface="微软雅黑" panose="020B0503020204020204" pitchFamily="34" charset="-122"/>
              </a:rPr>
              <a:t>从浮点格式转换为</a:t>
            </a:r>
            <a:r>
              <a:rPr lang="en-US" altLang="zh-CN" sz="2200">
                <a:solidFill>
                  <a:srgbClr val="FF3300"/>
                </a:solidFill>
                <a:latin typeface="微软雅黑" panose="020B0503020204020204" pitchFamily="34" charset="-122"/>
                <a:ea typeface="微软雅黑" panose="020B0503020204020204" pitchFamily="34" charset="-122"/>
              </a:rPr>
              <a:t>int</a:t>
            </a:r>
            <a:r>
              <a:rPr lang="zh-CN" altLang="en-US" sz="2200">
                <a:solidFill>
                  <a:srgbClr val="FF3300"/>
                </a:solidFill>
                <a:latin typeface="微软雅黑" panose="020B0503020204020204" pitchFamily="34" charset="-122"/>
                <a:ea typeface="微软雅黑" panose="020B0503020204020204" pitchFamily="34" charset="-122"/>
              </a:rPr>
              <a:t>型</a:t>
            </a:r>
            <a:r>
              <a:rPr lang="zh-CN" altLang="en-US" sz="2200">
                <a:solidFill>
                  <a:srgbClr val="008000"/>
                </a:solidFill>
                <a:latin typeface="微软雅黑" panose="020B0503020204020204" pitchFamily="34" charset="-122"/>
                <a:ea typeface="微软雅黑" panose="020B0503020204020204" pitchFamily="34" charset="-122"/>
              </a:rPr>
              <a:t>后，存入存储单元</a:t>
            </a:r>
            <a:endParaRPr lang="en-US" altLang="en-US" sz="2200">
              <a:solidFill>
                <a:srgbClr val="008000"/>
              </a:solidFill>
              <a:latin typeface="微软雅黑" panose="020B0503020204020204" pitchFamily="34" charset="-122"/>
              <a:ea typeface="微软雅黑" panose="020B0503020204020204" pitchFamily="34" charset="-122"/>
            </a:endParaRPr>
          </a:p>
          <a:p>
            <a:pPr>
              <a:buFontTx/>
              <a:buNone/>
            </a:pPr>
            <a:r>
              <a:rPr lang="en-US" altLang="zh-CN" sz="2200">
                <a:solidFill>
                  <a:srgbClr val="008000"/>
                </a:solidFill>
                <a:latin typeface="微软雅黑" panose="020B0503020204020204" pitchFamily="34" charset="-122"/>
                <a:ea typeface="微软雅黑" panose="020B0503020204020204" pitchFamily="34" charset="-122"/>
              </a:rPr>
              <a:t>     </a:t>
            </a:r>
            <a:r>
              <a:rPr lang="en-US" altLang="en-US" sz="2200">
                <a:solidFill>
                  <a:srgbClr val="008000"/>
                </a:solidFill>
                <a:latin typeface="微软雅黑" panose="020B0503020204020204" pitchFamily="34" charset="-122"/>
                <a:ea typeface="微软雅黑" panose="020B0503020204020204" pitchFamily="34" charset="-122"/>
              </a:rPr>
              <a:t>FISTP</a:t>
            </a:r>
            <a:r>
              <a:rPr lang="en-US" altLang="zh-CN" sz="2200">
                <a:solidFill>
                  <a:srgbClr val="008000"/>
                </a:solidFill>
                <a:latin typeface="微软雅黑" panose="020B0503020204020204" pitchFamily="34" charset="-122"/>
                <a:ea typeface="微软雅黑" panose="020B0503020204020204" pitchFamily="34" charset="-122"/>
              </a:rPr>
              <a:t>x：</a:t>
            </a:r>
            <a:r>
              <a:rPr lang="zh-CN" altLang="en-US" sz="2200">
                <a:solidFill>
                  <a:srgbClr val="008000"/>
                </a:solidFill>
                <a:latin typeface="微软雅黑" panose="020B0503020204020204" pitchFamily="34" charset="-122"/>
                <a:ea typeface="微软雅黑" panose="020B0503020204020204" pitchFamily="34" charset="-122"/>
              </a:rPr>
              <a:t>弹出栈顶元素，并完成与</a:t>
            </a:r>
            <a:r>
              <a:rPr lang="en-US" altLang="zh-CN" sz="2200">
                <a:solidFill>
                  <a:srgbClr val="008000"/>
                </a:solidFill>
                <a:latin typeface="微软雅黑" panose="020B0503020204020204" pitchFamily="34" charset="-122"/>
                <a:ea typeface="微软雅黑" panose="020B0503020204020204" pitchFamily="34" charset="-122"/>
              </a:rPr>
              <a:t>FISTx</a:t>
            </a:r>
            <a:r>
              <a:rPr lang="zh-CN" altLang="en-US" sz="2200">
                <a:solidFill>
                  <a:srgbClr val="008000"/>
                </a:solidFill>
                <a:latin typeface="微软雅黑" panose="020B0503020204020204" pitchFamily="34" charset="-122"/>
                <a:ea typeface="微软雅黑" panose="020B0503020204020204" pitchFamily="34" charset="-122"/>
              </a:rPr>
              <a:t>相同的功能</a:t>
            </a:r>
            <a:endParaRPr lang="en-US" altLang="en-US" sz="2200">
              <a:solidFill>
                <a:srgbClr val="008000"/>
              </a:solidFill>
              <a:latin typeface="微软雅黑" panose="020B0503020204020204" pitchFamily="34" charset="-122"/>
              <a:ea typeface="微软雅黑" panose="020B0503020204020204" pitchFamily="34" charset="-122"/>
            </a:endParaRPr>
          </a:p>
        </p:txBody>
      </p:sp>
      <p:sp>
        <p:nvSpPr>
          <p:cNvPr id="64516" name="Text Box 4"/>
          <p:cNvSpPr txBox="1">
            <a:spLocks noChangeArrowheads="1"/>
          </p:cNvSpPr>
          <p:nvPr/>
        </p:nvSpPr>
        <p:spPr bwMode="auto">
          <a:xfrm>
            <a:off x="2051050" y="6219825"/>
            <a:ext cx="4681538"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zh-CN" altLang="en-US" sz="1800">
                <a:latin typeface="微软雅黑" panose="020B0503020204020204" pitchFamily="34" charset="-122"/>
                <a:ea typeface="微软雅黑" panose="020B0503020204020204" pitchFamily="34" charset="-122"/>
              </a:rPr>
              <a:t>不作要求，大概了解一下</a:t>
            </a:r>
          </a:p>
        </p:txBody>
      </p:sp>
    </p:spTree>
    <p:extLst>
      <p:ext uri="{BB962C8B-B14F-4D97-AF65-F5344CB8AC3E}">
        <p14:creationId xmlns:p14="http://schemas.microsoft.com/office/powerpoint/2010/main" val="38713356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29443">
                                            <p:txEl>
                                              <p:pRg st="1" end="1"/>
                                            </p:txEl>
                                          </p:spTgt>
                                        </p:tgtEl>
                                        <p:attrNameLst>
                                          <p:attrName>style.visibility</p:attrName>
                                        </p:attrNameLst>
                                      </p:cBhvr>
                                      <p:to>
                                        <p:strVal val="visible"/>
                                      </p:to>
                                    </p:set>
                                    <p:animEffect transition="in" filter="blinds(horizontal)">
                                      <p:cBhvr>
                                        <p:cTn id="7" dur="500"/>
                                        <p:tgtEl>
                                          <p:spTgt spid="82944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29443">
                                            <p:txEl>
                                              <p:pRg st="2" end="2"/>
                                            </p:txEl>
                                          </p:spTgt>
                                        </p:tgtEl>
                                        <p:attrNameLst>
                                          <p:attrName>style.visibility</p:attrName>
                                        </p:attrNameLst>
                                      </p:cBhvr>
                                      <p:to>
                                        <p:strVal val="visible"/>
                                      </p:to>
                                    </p:set>
                                    <p:animEffect transition="in" filter="blinds(horizontal)">
                                      <p:cBhvr>
                                        <p:cTn id="12" dur="500"/>
                                        <p:tgtEl>
                                          <p:spTgt spid="829443">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829443">
                                            <p:txEl>
                                              <p:pRg st="3" end="3"/>
                                            </p:txEl>
                                          </p:spTgt>
                                        </p:tgtEl>
                                        <p:attrNameLst>
                                          <p:attrName>style.visibility</p:attrName>
                                        </p:attrNameLst>
                                      </p:cBhvr>
                                      <p:to>
                                        <p:strVal val="visible"/>
                                      </p:to>
                                    </p:set>
                                    <p:animEffect transition="in" filter="blinds(horizontal)">
                                      <p:cBhvr>
                                        <p:cTn id="15" dur="500"/>
                                        <p:tgtEl>
                                          <p:spTgt spid="829443">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829443">
                                            <p:txEl>
                                              <p:pRg st="4" end="4"/>
                                            </p:txEl>
                                          </p:spTgt>
                                        </p:tgtEl>
                                        <p:attrNameLst>
                                          <p:attrName>style.visibility</p:attrName>
                                        </p:attrNameLst>
                                      </p:cBhvr>
                                      <p:to>
                                        <p:strVal val="visible"/>
                                      </p:to>
                                    </p:set>
                                    <p:animEffect transition="in" filter="blinds(horizontal)">
                                      <p:cBhvr>
                                        <p:cTn id="18" dur="500"/>
                                        <p:tgtEl>
                                          <p:spTgt spid="829443">
                                            <p:txEl>
                                              <p:pRg st="4" end="4"/>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829443">
                                            <p:txEl>
                                              <p:pRg st="5" end="5"/>
                                            </p:txEl>
                                          </p:spTgt>
                                        </p:tgtEl>
                                        <p:attrNameLst>
                                          <p:attrName>style.visibility</p:attrName>
                                        </p:attrNameLst>
                                      </p:cBhvr>
                                      <p:to>
                                        <p:strVal val="visible"/>
                                      </p:to>
                                    </p:set>
                                    <p:animEffect transition="in" filter="blinds(horizontal)">
                                      <p:cBhvr>
                                        <p:cTn id="23" dur="500"/>
                                        <p:tgtEl>
                                          <p:spTgt spid="829443">
                                            <p:txEl>
                                              <p:pRg st="5" end="5"/>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829443">
                                            <p:txEl>
                                              <p:pRg st="6" end="6"/>
                                            </p:txEl>
                                          </p:spTgt>
                                        </p:tgtEl>
                                        <p:attrNameLst>
                                          <p:attrName>style.visibility</p:attrName>
                                        </p:attrNameLst>
                                      </p:cBhvr>
                                      <p:to>
                                        <p:strVal val="visible"/>
                                      </p:to>
                                    </p:set>
                                    <p:animEffect transition="in" filter="blinds(horizontal)">
                                      <p:cBhvr>
                                        <p:cTn id="26" dur="500"/>
                                        <p:tgtEl>
                                          <p:spTgt spid="829443">
                                            <p:txEl>
                                              <p:pRg st="6" end="6"/>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829443">
                                            <p:txEl>
                                              <p:pRg st="7" end="7"/>
                                            </p:txEl>
                                          </p:spTgt>
                                        </p:tgtEl>
                                        <p:attrNameLst>
                                          <p:attrName>style.visibility</p:attrName>
                                        </p:attrNameLst>
                                      </p:cBhvr>
                                      <p:to>
                                        <p:strVal val="visible"/>
                                      </p:to>
                                    </p:set>
                                    <p:animEffect transition="in" filter="blinds(horizontal)">
                                      <p:cBhvr>
                                        <p:cTn id="29" dur="500"/>
                                        <p:tgtEl>
                                          <p:spTgt spid="829443">
                                            <p:txEl>
                                              <p:pRg st="7" end="7"/>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829443">
                                            <p:txEl>
                                              <p:pRg st="8" end="8"/>
                                            </p:txEl>
                                          </p:spTgt>
                                        </p:tgtEl>
                                        <p:attrNameLst>
                                          <p:attrName>style.visibility</p:attrName>
                                        </p:attrNameLst>
                                      </p:cBhvr>
                                      <p:to>
                                        <p:strVal val="visible"/>
                                      </p:to>
                                    </p:set>
                                    <p:animEffect transition="in" filter="blinds(horizontal)">
                                      <p:cBhvr>
                                        <p:cTn id="32" dur="500"/>
                                        <p:tgtEl>
                                          <p:spTgt spid="829443">
                                            <p:txEl>
                                              <p:pRg st="8" end="8"/>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829443">
                                            <p:txEl>
                                              <p:pRg st="9" end="9"/>
                                            </p:txEl>
                                          </p:spTgt>
                                        </p:tgtEl>
                                        <p:attrNameLst>
                                          <p:attrName>style.visibility</p:attrName>
                                        </p:attrNameLst>
                                      </p:cBhvr>
                                      <p:to>
                                        <p:strVal val="visible"/>
                                      </p:to>
                                    </p:set>
                                    <p:animEffect transition="in" filter="blinds(horizontal)">
                                      <p:cBhvr>
                                        <p:cTn id="35" dur="500"/>
                                        <p:tgtEl>
                                          <p:spTgt spid="82944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457200" y="142875"/>
            <a:ext cx="8229600" cy="561975"/>
          </a:xfrm>
        </p:spPr>
        <p:txBody>
          <a:bodyPr>
            <a:normAutofit fontScale="90000"/>
          </a:bodyPr>
          <a:lstStyle/>
          <a:p>
            <a:r>
              <a:rPr lang="en-US" altLang="zh-CN" sz="3600"/>
              <a:t>X87 FPU</a:t>
            </a:r>
            <a:r>
              <a:rPr lang="zh-CN" altLang="en-US" sz="3600"/>
              <a:t>指令</a:t>
            </a:r>
          </a:p>
        </p:txBody>
      </p:sp>
      <p:sp>
        <p:nvSpPr>
          <p:cNvPr id="830467" name="Rectangle 3"/>
          <p:cNvSpPr>
            <a:spLocks noGrp="1" noChangeArrowheads="1"/>
          </p:cNvSpPr>
          <p:nvPr>
            <p:ph type="body" idx="1"/>
          </p:nvPr>
        </p:nvSpPr>
        <p:spPr/>
        <p:txBody>
          <a:bodyPr>
            <a:normAutofit lnSpcReduction="10000"/>
          </a:bodyPr>
          <a:lstStyle/>
          <a:p>
            <a:r>
              <a:rPr lang="en-US" altLang="en-US">
                <a:ea typeface="微软雅黑" panose="020B0503020204020204" pitchFamily="34" charset="-122"/>
              </a:rPr>
              <a:t>数据传送类</a:t>
            </a:r>
          </a:p>
          <a:p>
            <a:pPr>
              <a:buFontTx/>
              <a:buNone/>
            </a:pPr>
            <a:r>
              <a:rPr lang="en-US" altLang="zh-CN" sz="2200">
                <a:solidFill>
                  <a:srgbClr val="008000"/>
                </a:solidFill>
                <a:latin typeface="微软雅黑" panose="020B0503020204020204" pitchFamily="34" charset="-122"/>
                <a:ea typeface="微软雅黑" panose="020B0503020204020204" pitchFamily="34" charset="-122"/>
              </a:rPr>
              <a:t>(3) </a:t>
            </a:r>
            <a:r>
              <a:rPr lang="en-US" altLang="en-US" sz="2200">
                <a:solidFill>
                  <a:srgbClr val="008000"/>
                </a:solidFill>
                <a:latin typeface="微软雅黑" panose="020B0503020204020204" pitchFamily="34" charset="-122"/>
                <a:ea typeface="微软雅黑" panose="020B0503020204020204" pitchFamily="34" charset="-122"/>
              </a:rPr>
              <a:t>交换</a:t>
            </a:r>
          </a:p>
          <a:p>
            <a:pPr>
              <a:buFontTx/>
              <a:buNone/>
            </a:pPr>
            <a:r>
              <a:rPr lang="en-US" altLang="zh-CN" sz="2200">
                <a:solidFill>
                  <a:srgbClr val="008000"/>
                </a:solidFill>
                <a:latin typeface="微软雅黑" panose="020B0503020204020204" pitchFamily="34" charset="-122"/>
                <a:ea typeface="微软雅黑" panose="020B0503020204020204" pitchFamily="34" charset="-122"/>
              </a:rPr>
              <a:t>     </a:t>
            </a:r>
            <a:r>
              <a:rPr lang="en-US" altLang="en-US" sz="2200">
                <a:solidFill>
                  <a:srgbClr val="008000"/>
                </a:solidFill>
                <a:latin typeface="微软雅黑" panose="020B0503020204020204" pitchFamily="34" charset="-122"/>
                <a:ea typeface="微软雅黑" panose="020B0503020204020204" pitchFamily="34" charset="-122"/>
              </a:rPr>
              <a:t>FXCH</a:t>
            </a:r>
            <a:r>
              <a:rPr lang="en-US" altLang="zh-CN" sz="2200">
                <a:solidFill>
                  <a:srgbClr val="008000"/>
                </a:solidFill>
                <a:latin typeface="微软雅黑" panose="020B0503020204020204" pitchFamily="34" charset="-122"/>
                <a:ea typeface="微软雅黑" panose="020B0503020204020204" pitchFamily="34" charset="-122"/>
              </a:rPr>
              <a:t>：</a:t>
            </a:r>
            <a:r>
              <a:rPr lang="zh-CN" altLang="en-US" sz="2200">
                <a:solidFill>
                  <a:srgbClr val="008000"/>
                </a:solidFill>
                <a:latin typeface="微软雅黑" panose="020B0503020204020204" pitchFamily="34" charset="-122"/>
                <a:ea typeface="微软雅黑" panose="020B0503020204020204" pitchFamily="34" charset="-122"/>
              </a:rPr>
              <a:t>交换栈顶和次栈顶两元素</a:t>
            </a:r>
            <a:endParaRPr lang="en-US" altLang="en-US" sz="2200">
              <a:solidFill>
                <a:srgbClr val="008000"/>
              </a:solidFill>
              <a:latin typeface="微软雅黑" panose="020B0503020204020204" pitchFamily="34" charset="-122"/>
              <a:ea typeface="微软雅黑" panose="020B0503020204020204" pitchFamily="34" charset="-122"/>
            </a:endParaRPr>
          </a:p>
          <a:p>
            <a:pPr>
              <a:buFontTx/>
              <a:buNone/>
            </a:pPr>
            <a:r>
              <a:rPr lang="en-US" altLang="zh-CN" sz="2200">
                <a:solidFill>
                  <a:srgbClr val="008000"/>
                </a:solidFill>
                <a:latin typeface="微软雅黑" panose="020B0503020204020204" pitchFamily="34" charset="-122"/>
                <a:ea typeface="微软雅黑" panose="020B0503020204020204" pitchFamily="34" charset="-122"/>
              </a:rPr>
              <a:t>(4) </a:t>
            </a:r>
            <a:r>
              <a:rPr lang="en-US" altLang="en-US" sz="2200">
                <a:solidFill>
                  <a:srgbClr val="008000"/>
                </a:solidFill>
                <a:latin typeface="微软雅黑" panose="020B0503020204020204" pitchFamily="34" charset="-122"/>
                <a:ea typeface="微软雅黑" panose="020B0503020204020204" pitchFamily="34" charset="-122"/>
              </a:rPr>
              <a:t>常数装载</a:t>
            </a:r>
            <a:r>
              <a:rPr lang="en-US" altLang="zh-CN" sz="2200">
                <a:solidFill>
                  <a:srgbClr val="008000"/>
                </a:solidFill>
                <a:latin typeface="微软雅黑" panose="020B0503020204020204" pitchFamily="34" charset="-122"/>
                <a:ea typeface="微软雅黑" panose="020B0503020204020204" pitchFamily="34" charset="-122"/>
              </a:rPr>
              <a:t>到</a:t>
            </a:r>
            <a:r>
              <a:rPr lang="zh-CN" altLang="en-US" sz="2200">
                <a:solidFill>
                  <a:srgbClr val="008000"/>
                </a:solidFill>
                <a:latin typeface="微软雅黑" panose="020B0503020204020204" pitchFamily="34" charset="-122"/>
                <a:ea typeface="微软雅黑" panose="020B0503020204020204" pitchFamily="34" charset="-122"/>
              </a:rPr>
              <a:t>栈顶</a:t>
            </a:r>
          </a:p>
          <a:p>
            <a:pPr>
              <a:buFontTx/>
              <a:buNone/>
            </a:pPr>
            <a:r>
              <a:rPr lang="en-US" altLang="zh-CN" sz="2200">
                <a:solidFill>
                  <a:srgbClr val="008000"/>
                </a:solidFill>
                <a:latin typeface="微软雅黑" panose="020B0503020204020204" pitchFamily="34" charset="-122"/>
                <a:ea typeface="微软雅黑" panose="020B0503020204020204" pitchFamily="34" charset="-122"/>
              </a:rPr>
              <a:t>     </a:t>
            </a:r>
            <a:r>
              <a:rPr lang="en-US" altLang="en-US" sz="2200">
                <a:solidFill>
                  <a:srgbClr val="008000"/>
                </a:solidFill>
                <a:latin typeface="微软雅黑" panose="020B0503020204020204" pitchFamily="34" charset="-122"/>
                <a:ea typeface="微软雅黑" panose="020B0503020204020204" pitchFamily="34" charset="-122"/>
              </a:rPr>
              <a:t>FLD1 </a:t>
            </a:r>
            <a:r>
              <a:rPr lang="en-US" altLang="zh-CN" sz="2200">
                <a:solidFill>
                  <a:srgbClr val="008000"/>
                </a:solidFill>
                <a:latin typeface="微软雅黑" panose="020B0503020204020204" pitchFamily="34" charset="-122"/>
                <a:ea typeface="微软雅黑" panose="020B0503020204020204" pitchFamily="34" charset="-122"/>
              </a:rPr>
              <a:t>：</a:t>
            </a:r>
            <a:r>
              <a:rPr lang="en-US" altLang="en-US" sz="2200">
                <a:solidFill>
                  <a:srgbClr val="008000"/>
                </a:solidFill>
                <a:latin typeface="微软雅黑" panose="020B0503020204020204" pitchFamily="34" charset="-122"/>
                <a:ea typeface="微软雅黑" panose="020B0503020204020204" pitchFamily="34" charset="-122"/>
              </a:rPr>
              <a:t>装入常数1.0 </a:t>
            </a:r>
          </a:p>
          <a:p>
            <a:pPr>
              <a:buFontTx/>
              <a:buNone/>
            </a:pPr>
            <a:r>
              <a:rPr lang="en-US" altLang="zh-CN" sz="2200">
                <a:solidFill>
                  <a:srgbClr val="008000"/>
                </a:solidFill>
                <a:latin typeface="微软雅黑" panose="020B0503020204020204" pitchFamily="34" charset="-122"/>
                <a:ea typeface="微软雅黑" panose="020B0503020204020204" pitchFamily="34" charset="-122"/>
              </a:rPr>
              <a:t>     </a:t>
            </a:r>
            <a:r>
              <a:rPr lang="en-US" altLang="en-US" sz="2200">
                <a:solidFill>
                  <a:srgbClr val="008000"/>
                </a:solidFill>
                <a:latin typeface="微软雅黑" panose="020B0503020204020204" pitchFamily="34" charset="-122"/>
                <a:ea typeface="微软雅黑" panose="020B0503020204020204" pitchFamily="34" charset="-122"/>
              </a:rPr>
              <a:t>FLDZ </a:t>
            </a:r>
            <a:r>
              <a:rPr lang="en-US" altLang="zh-CN" sz="2200">
                <a:solidFill>
                  <a:srgbClr val="008000"/>
                </a:solidFill>
                <a:latin typeface="微软雅黑" panose="020B0503020204020204" pitchFamily="34" charset="-122"/>
                <a:ea typeface="微软雅黑" panose="020B0503020204020204" pitchFamily="34" charset="-122"/>
              </a:rPr>
              <a:t>：</a:t>
            </a:r>
            <a:r>
              <a:rPr lang="en-US" altLang="en-US" sz="2200">
                <a:solidFill>
                  <a:srgbClr val="008000"/>
                </a:solidFill>
                <a:latin typeface="微软雅黑" panose="020B0503020204020204" pitchFamily="34" charset="-122"/>
                <a:ea typeface="微软雅黑" panose="020B0503020204020204" pitchFamily="34" charset="-122"/>
              </a:rPr>
              <a:t>装入常数0.0 </a:t>
            </a:r>
          </a:p>
          <a:p>
            <a:pPr>
              <a:buFontTx/>
              <a:buNone/>
            </a:pPr>
            <a:r>
              <a:rPr lang="en-US" altLang="zh-CN" sz="2200">
                <a:solidFill>
                  <a:srgbClr val="008000"/>
                </a:solidFill>
                <a:latin typeface="微软雅黑" panose="020B0503020204020204" pitchFamily="34" charset="-122"/>
                <a:ea typeface="微软雅黑" panose="020B0503020204020204" pitchFamily="34" charset="-122"/>
              </a:rPr>
              <a:t>     </a:t>
            </a:r>
            <a:r>
              <a:rPr lang="en-US" altLang="en-US" sz="2200">
                <a:solidFill>
                  <a:srgbClr val="008000"/>
                </a:solidFill>
                <a:latin typeface="微软雅黑" panose="020B0503020204020204" pitchFamily="34" charset="-122"/>
                <a:ea typeface="微软雅黑" panose="020B0503020204020204" pitchFamily="34" charset="-122"/>
              </a:rPr>
              <a:t>FLDPI </a:t>
            </a:r>
            <a:r>
              <a:rPr lang="en-US" altLang="zh-CN" sz="2200">
                <a:solidFill>
                  <a:srgbClr val="008000"/>
                </a:solidFill>
                <a:latin typeface="微软雅黑" panose="020B0503020204020204" pitchFamily="34" charset="-122"/>
                <a:ea typeface="微软雅黑" panose="020B0503020204020204" pitchFamily="34" charset="-122"/>
              </a:rPr>
              <a:t>：</a:t>
            </a:r>
            <a:r>
              <a:rPr lang="en-US" altLang="en-US" sz="2200">
                <a:solidFill>
                  <a:srgbClr val="008000"/>
                </a:solidFill>
                <a:latin typeface="微软雅黑" panose="020B0503020204020204" pitchFamily="34" charset="-122"/>
                <a:ea typeface="微软雅黑" panose="020B0503020204020204" pitchFamily="34" charset="-122"/>
              </a:rPr>
              <a:t>装入常数pi (=3.1415926...） </a:t>
            </a:r>
          </a:p>
          <a:p>
            <a:pPr>
              <a:buFontTx/>
              <a:buNone/>
            </a:pPr>
            <a:r>
              <a:rPr lang="en-US" altLang="zh-CN" sz="2200">
                <a:solidFill>
                  <a:srgbClr val="008000"/>
                </a:solidFill>
                <a:latin typeface="微软雅黑" panose="020B0503020204020204" pitchFamily="34" charset="-122"/>
                <a:ea typeface="微软雅黑" panose="020B0503020204020204" pitchFamily="34" charset="-122"/>
              </a:rPr>
              <a:t>     </a:t>
            </a:r>
            <a:r>
              <a:rPr lang="en-US" altLang="en-US" sz="2200">
                <a:solidFill>
                  <a:srgbClr val="008000"/>
                </a:solidFill>
                <a:latin typeface="微软雅黑" panose="020B0503020204020204" pitchFamily="34" charset="-122"/>
                <a:ea typeface="微软雅黑" panose="020B0503020204020204" pitchFamily="34" charset="-122"/>
              </a:rPr>
              <a:t>FLDL2E </a:t>
            </a:r>
            <a:r>
              <a:rPr lang="en-US" altLang="zh-CN" sz="2200">
                <a:solidFill>
                  <a:srgbClr val="008000"/>
                </a:solidFill>
                <a:latin typeface="微软雅黑" panose="020B0503020204020204" pitchFamily="34" charset="-122"/>
                <a:ea typeface="微软雅黑" panose="020B0503020204020204" pitchFamily="34" charset="-122"/>
              </a:rPr>
              <a:t>：</a:t>
            </a:r>
            <a:r>
              <a:rPr lang="en-US" altLang="en-US" sz="2200">
                <a:solidFill>
                  <a:srgbClr val="008000"/>
                </a:solidFill>
                <a:latin typeface="微软雅黑" panose="020B0503020204020204" pitchFamily="34" charset="-122"/>
                <a:ea typeface="微软雅黑" panose="020B0503020204020204" pitchFamily="34" charset="-122"/>
              </a:rPr>
              <a:t>装入常数log(2)e </a:t>
            </a:r>
          </a:p>
          <a:p>
            <a:pPr>
              <a:buFontTx/>
              <a:buNone/>
            </a:pPr>
            <a:r>
              <a:rPr lang="en-US" altLang="zh-CN" sz="2200">
                <a:solidFill>
                  <a:srgbClr val="008000"/>
                </a:solidFill>
                <a:latin typeface="微软雅黑" panose="020B0503020204020204" pitchFamily="34" charset="-122"/>
                <a:ea typeface="微软雅黑" panose="020B0503020204020204" pitchFamily="34" charset="-122"/>
              </a:rPr>
              <a:t>     </a:t>
            </a:r>
            <a:r>
              <a:rPr lang="en-US" altLang="en-US" sz="2200">
                <a:solidFill>
                  <a:srgbClr val="008000"/>
                </a:solidFill>
                <a:latin typeface="微软雅黑" panose="020B0503020204020204" pitchFamily="34" charset="-122"/>
                <a:ea typeface="微软雅黑" panose="020B0503020204020204" pitchFamily="34" charset="-122"/>
              </a:rPr>
              <a:t>FLDL2T </a:t>
            </a:r>
            <a:r>
              <a:rPr lang="en-US" altLang="zh-CN" sz="2200">
                <a:solidFill>
                  <a:srgbClr val="008000"/>
                </a:solidFill>
                <a:latin typeface="微软雅黑" panose="020B0503020204020204" pitchFamily="34" charset="-122"/>
                <a:ea typeface="微软雅黑" panose="020B0503020204020204" pitchFamily="34" charset="-122"/>
              </a:rPr>
              <a:t>：</a:t>
            </a:r>
            <a:r>
              <a:rPr lang="en-US" altLang="en-US" sz="2200">
                <a:solidFill>
                  <a:srgbClr val="008000"/>
                </a:solidFill>
                <a:latin typeface="微软雅黑" panose="020B0503020204020204" pitchFamily="34" charset="-122"/>
                <a:ea typeface="微软雅黑" panose="020B0503020204020204" pitchFamily="34" charset="-122"/>
              </a:rPr>
              <a:t>装入常数log(2)10 </a:t>
            </a:r>
          </a:p>
          <a:p>
            <a:pPr>
              <a:buFontTx/>
              <a:buNone/>
            </a:pPr>
            <a:r>
              <a:rPr lang="en-US" altLang="zh-CN" sz="2200">
                <a:solidFill>
                  <a:srgbClr val="008000"/>
                </a:solidFill>
                <a:latin typeface="微软雅黑" panose="020B0503020204020204" pitchFamily="34" charset="-122"/>
                <a:ea typeface="微软雅黑" panose="020B0503020204020204" pitchFamily="34" charset="-122"/>
              </a:rPr>
              <a:t>     </a:t>
            </a:r>
            <a:r>
              <a:rPr lang="en-US" altLang="en-US" sz="2200">
                <a:solidFill>
                  <a:srgbClr val="008000"/>
                </a:solidFill>
                <a:latin typeface="微软雅黑" panose="020B0503020204020204" pitchFamily="34" charset="-122"/>
                <a:ea typeface="微软雅黑" panose="020B0503020204020204" pitchFamily="34" charset="-122"/>
              </a:rPr>
              <a:t>FLDLG2 </a:t>
            </a:r>
            <a:r>
              <a:rPr lang="en-US" altLang="zh-CN" sz="2200">
                <a:solidFill>
                  <a:srgbClr val="008000"/>
                </a:solidFill>
                <a:latin typeface="微软雅黑" panose="020B0503020204020204" pitchFamily="34" charset="-122"/>
                <a:ea typeface="微软雅黑" panose="020B0503020204020204" pitchFamily="34" charset="-122"/>
              </a:rPr>
              <a:t>：</a:t>
            </a:r>
            <a:r>
              <a:rPr lang="en-US" altLang="en-US" sz="2200">
                <a:solidFill>
                  <a:srgbClr val="008000"/>
                </a:solidFill>
                <a:latin typeface="微软雅黑" panose="020B0503020204020204" pitchFamily="34" charset="-122"/>
                <a:ea typeface="微软雅黑" panose="020B0503020204020204" pitchFamily="34" charset="-122"/>
              </a:rPr>
              <a:t>装入常数log(10)2 </a:t>
            </a:r>
            <a:endParaRPr lang="en-US" altLang="zh-CN" sz="2200">
              <a:solidFill>
                <a:srgbClr val="008000"/>
              </a:solidFill>
              <a:latin typeface="微软雅黑" panose="020B0503020204020204" pitchFamily="34" charset="-122"/>
              <a:ea typeface="微软雅黑" panose="020B0503020204020204" pitchFamily="34" charset="-122"/>
            </a:endParaRPr>
          </a:p>
          <a:p>
            <a:pPr>
              <a:buFontTx/>
              <a:buNone/>
            </a:pPr>
            <a:r>
              <a:rPr lang="en-US" altLang="zh-CN" sz="2200">
                <a:solidFill>
                  <a:srgbClr val="008000"/>
                </a:solidFill>
                <a:latin typeface="微软雅黑" panose="020B0503020204020204" pitchFamily="34" charset="-122"/>
                <a:ea typeface="微软雅黑" panose="020B0503020204020204" pitchFamily="34" charset="-122"/>
              </a:rPr>
              <a:t>     </a:t>
            </a:r>
            <a:r>
              <a:rPr lang="en-US" altLang="en-US" sz="2200">
                <a:solidFill>
                  <a:srgbClr val="008000"/>
                </a:solidFill>
                <a:latin typeface="微软雅黑" panose="020B0503020204020204" pitchFamily="34" charset="-122"/>
                <a:ea typeface="微软雅黑" panose="020B0503020204020204" pitchFamily="34" charset="-122"/>
              </a:rPr>
              <a:t>FLDLN2 </a:t>
            </a:r>
            <a:r>
              <a:rPr lang="en-US" altLang="zh-CN" sz="2200">
                <a:solidFill>
                  <a:srgbClr val="008000"/>
                </a:solidFill>
                <a:latin typeface="微软雅黑" panose="020B0503020204020204" pitchFamily="34" charset="-122"/>
                <a:ea typeface="微软雅黑" panose="020B0503020204020204" pitchFamily="34" charset="-122"/>
              </a:rPr>
              <a:t>：</a:t>
            </a:r>
            <a:r>
              <a:rPr lang="en-US" altLang="en-US" sz="2200">
                <a:solidFill>
                  <a:srgbClr val="008000"/>
                </a:solidFill>
                <a:latin typeface="微软雅黑" panose="020B0503020204020204" pitchFamily="34" charset="-122"/>
                <a:ea typeface="微软雅黑" panose="020B0503020204020204" pitchFamily="34" charset="-122"/>
              </a:rPr>
              <a:t>装入常数Log(e)2 </a:t>
            </a:r>
            <a:endParaRPr lang="zh-CN" altLang="en-US" sz="2200">
              <a:solidFill>
                <a:srgbClr val="008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79216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30467">
                                            <p:txEl>
                                              <p:pRg st="1" end="1"/>
                                            </p:txEl>
                                          </p:spTgt>
                                        </p:tgtEl>
                                        <p:attrNameLst>
                                          <p:attrName>style.visibility</p:attrName>
                                        </p:attrNameLst>
                                      </p:cBhvr>
                                      <p:to>
                                        <p:strVal val="visible"/>
                                      </p:to>
                                    </p:set>
                                    <p:animEffect transition="in" filter="blinds(horizontal)">
                                      <p:cBhvr>
                                        <p:cTn id="7" dur="500"/>
                                        <p:tgtEl>
                                          <p:spTgt spid="830467">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830467">
                                            <p:txEl>
                                              <p:pRg st="2" end="2"/>
                                            </p:txEl>
                                          </p:spTgt>
                                        </p:tgtEl>
                                        <p:attrNameLst>
                                          <p:attrName>style.visibility</p:attrName>
                                        </p:attrNameLst>
                                      </p:cBhvr>
                                      <p:to>
                                        <p:strVal val="visible"/>
                                      </p:to>
                                    </p:set>
                                    <p:animEffect transition="in" filter="blinds(horizontal)">
                                      <p:cBhvr>
                                        <p:cTn id="10" dur="500"/>
                                        <p:tgtEl>
                                          <p:spTgt spid="830467">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830467">
                                            <p:txEl>
                                              <p:pRg st="3" end="3"/>
                                            </p:txEl>
                                          </p:spTgt>
                                        </p:tgtEl>
                                        <p:attrNameLst>
                                          <p:attrName>style.visibility</p:attrName>
                                        </p:attrNameLst>
                                      </p:cBhvr>
                                      <p:to>
                                        <p:strVal val="visible"/>
                                      </p:to>
                                    </p:set>
                                    <p:animEffect transition="in" filter="blinds(horizontal)">
                                      <p:cBhvr>
                                        <p:cTn id="15" dur="500"/>
                                        <p:tgtEl>
                                          <p:spTgt spid="830467">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830467">
                                            <p:txEl>
                                              <p:pRg st="4" end="4"/>
                                            </p:txEl>
                                          </p:spTgt>
                                        </p:tgtEl>
                                        <p:attrNameLst>
                                          <p:attrName>style.visibility</p:attrName>
                                        </p:attrNameLst>
                                      </p:cBhvr>
                                      <p:to>
                                        <p:strVal val="visible"/>
                                      </p:to>
                                    </p:set>
                                    <p:animEffect transition="in" filter="blinds(horizontal)">
                                      <p:cBhvr>
                                        <p:cTn id="18" dur="500"/>
                                        <p:tgtEl>
                                          <p:spTgt spid="830467">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830467">
                                            <p:txEl>
                                              <p:pRg st="5" end="5"/>
                                            </p:txEl>
                                          </p:spTgt>
                                        </p:tgtEl>
                                        <p:attrNameLst>
                                          <p:attrName>style.visibility</p:attrName>
                                        </p:attrNameLst>
                                      </p:cBhvr>
                                      <p:to>
                                        <p:strVal val="visible"/>
                                      </p:to>
                                    </p:set>
                                    <p:animEffect transition="in" filter="blinds(horizontal)">
                                      <p:cBhvr>
                                        <p:cTn id="21" dur="500"/>
                                        <p:tgtEl>
                                          <p:spTgt spid="830467">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830467">
                                            <p:txEl>
                                              <p:pRg st="6" end="6"/>
                                            </p:txEl>
                                          </p:spTgt>
                                        </p:tgtEl>
                                        <p:attrNameLst>
                                          <p:attrName>style.visibility</p:attrName>
                                        </p:attrNameLst>
                                      </p:cBhvr>
                                      <p:to>
                                        <p:strVal val="visible"/>
                                      </p:to>
                                    </p:set>
                                    <p:animEffect transition="in" filter="blinds(horizontal)">
                                      <p:cBhvr>
                                        <p:cTn id="24" dur="500"/>
                                        <p:tgtEl>
                                          <p:spTgt spid="830467">
                                            <p:txEl>
                                              <p:pRg st="6" end="6"/>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830467">
                                            <p:txEl>
                                              <p:pRg st="7" end="7"/>
                                            </p:txEl>
                                          </p:spTgt>
                                        </p:tgtEl>
                                        <p:attrNameLst>
                                          <p:attrName>style.visibility</p:attrName>
                                        </p:attrNameLst>
                                      </p:cBhvr>
                                      <p:to>
                                        <p:strVal val="visible"/>
                                      </p:to>
                                    </p:set>
                                    <p:animEffect transition="in" filter="blinds(horizontal)">
                                      <p:cBhvr>
                                        <p:cTn id="27" dur="500"/>
                                        <p:tgtEl>
                                          <p:spTgt spid="830467">
                                            <p:txEl>
                                              <p:pRg st="7" end="7"/>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830467">
                                            <p:txEl>
                                              <p:pRg st="8" end="8"/>
                                            </p:txEl>
                                          </p:spTgt>
                                        </p:tgtEl>
                                        <p:attrNameLst>
                                          <p:attrName>style.visibility</p:attrName>
                                        </p:attrNameLst>
                                      </p:cBhvr>
                                      <p:to>
                                        <p:strVal val="visible"/>
                                      </p:to>
                                    </p:set>
                                    <p:animEffect transition="in" filter="blinds(horizontal)">
                                      <p:cBhvr>
                                        <p:cTn id="30" dur="500"/>
                                        <p:tgtEl>
                                          <p:spTgt spid="830467">
                                            <p:txEl>
                                              <p:pRg st="8" end="8"/>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830467">
                                            <p:txEl>
                                              <p:pRg st="9" end="9"/>
                                            </p:txEl>
                                          </p:spTgt>
                                        </p:tgtEl>
                                        <p:attrNameLst>
                                          <p:attrName>style.visibility</p:attrName>
                                        </p:attrNameLst>
                                      </p:cBhvr>
                                      <p:to>
                                        <p:strVal val="visible"/>
                                      </p:to>
                                    </p:set>
                                    <p:animEffect transition="in" filter="blinds(horizontal)">
                                      <p:cBhvr>
                                        <p:cTn id="33" dur="500"/>
                                        <p:tgtEl>
                                          <p:spTgt spid="830467">
                                            <p:txEl>
                                              <p:pRg st="9" end="9"/>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830467">
                                            <p:txEl>
                                              <p:pRg st="10" end="10"/>
                                            </p:txEl>
                                          </p:spTgt>
                                        </p:tgtEl>
                                        <p:attrNameLst>
                                          <p:attrName>style.visibility</p:attrName>
                                        </p:attrNameLst>
                                      </p:cBhvr>
                                      <p:to>
                                        <p:strVal val="visible"/>
                                      </p:to>
                                    </p:set>
                                    <p:animEffect transition="in" filter="blinds(horizontal)">
                                      <p:cBhvr>
                                        <p:cTn id="36" dur="500"/>
                                        <p:tgtEl>
                                          <p:spTgt spid="83046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457200" y="98425"/>
            <a:ext cx="8229600" cy="561975"/>
          </a:xfrm>
        </p:spPr>
        <p:txBody>
          <a:bodyPr>
            <a:normAutofit fontScale="90000"/>
          </a:bodyPr>
          <a:lstStyle/>
          <a:p>
            <a:r>
              <a:rPr lang="en-US" altLang="zh-CN" sz="3600"/>
              <a:t>X87 FPU</a:t>
            </a:r>
            <a:r>
              <a:rPr lang="zh-CN" altLang="en-US" sz="3600"/>
              <a:t>指令</a:t>
            </a:r>
          </a:p>
        </p:txBody>
      </p:sp>
      <p:sp>
        <p:nvSpPr>
          <p:cNvPr id="831491" name="Rectangle 3"/>
          <p:cNvSpPr>
            <a:spLocks noGrp="1" noChangeArrowheads="1"/>
          </p:cNvSpPr>
          <p:nvPr>
            <p:ph type="body" idx="1"/>
          </p:nvPr>
        </p:nvSpPr>
        <p:spPr>
          <a:xfrm>
            <a:off x="476250" y="819150"/>
            <a:ext cx="8229600" cy="5218113"/>
          </a:xfrm>
        </p:spPr>
        <p:txBody>
          <a:bodyPr>
            <a:normAutofit fontScale="92500"/>
          </a:bodyPr>
          <a:lstStyle/>
          <a:p>
            <a:r>
              <a:rPr lang="en-US" altLang="en-US">
                <a:ea typeface="微软雅黑" panose="020B0503020204020204" pitchFamily="34" charset="-122"/>
              </a:rPr>
              <a:t>算术运算类 </a:t>
            </a:r>
          </a:p>
          <a:p>
            <a:pPr>
              <a:buFontTx/>
              <a:buNone/>
            </a:pPr>
            <a:r>
              <a:rPr lang="en-US" altLang="zh-CN">
                <a:solidFill>
                  <a:srgbClr val="008000"/>
                </a:solidFill>
                <a:ea typeface="微软雅黑" panose="020B0503020204020204" pitchFamily="34" charset="-122"/>
              </a:rPr>
              <a:t>(1) </a:t>
            </a:r>
            <a:r>
              <a:rPr lang="en-US" altLang="en-US">
                <a:solidFill>
                  <a:srgbClr val="008000"/>
                </a:solidFill>
                <a:ea typeface="微软雅黑" panose="020B0503020204020204" pitchFamily="34" charset="-122"/>
              </a:rPr>
              <a:t>加法</a:t>
            </a:r>
            <a:endParaRPr lang="en-US" altLang="en-US">
              <a:ea typeface="微软雅黑" panose="020B0503020204020204" pitchFamily="34" charset="-122"/>
            </a:endParaRPr>
          </a:p>
          <a:p>
            <a:pPr>
              <a:buFontTx/>
              <a:buNone/>
            </a:pPr>
            <a:r>
              <a:rPr lang="en-US" altLang="zh-CN">
                <a:solidFill>
                  <a:srgbClr val="008000"/>
                </a:solidFill>
                <a:ea typeface="微软雅黑" panose="020B0503020204020204" pitchFamily="34" charset="-122"/>
              </a:rPr>
              <a:t>    </a:t>
            </a:r>
            <a:r>
              <a:rPr lang="en-US" altLang="en-US">
                <a:solidFill>
                  <a:srgbClr val="008000"/>
                </a:solidFill>
                <a:ea typeface="微软雅黑" panose="020B0503020204020204" pitchFamily="34" charset="-122"/>
              </a:rPr>
              <a:t>FADD/FADDP</a:t>
            </a:r>
            <a:r>
              <a:rPr lang="en-US" altLang="zh-CN">
                <a:solidFill>
                  <a:srgbClr val="008000"/>
                </a:solidFill>
                <a:ea typeface="微软雅黑" panose="020B0503020204020204" pitchFamily="34" charset="-122"/>
              </a:rPr>
              <a:t>：</a:t>
            </a:r>
            <a:r>
              <a:rPr lang="en-US" altLang="en-US">
                <a:solidFill>
                  <a:srgbClr val="008000"/>
                </a:solidFill>
                <a:ea typeface="微软雅黑" panose="020B0503020204020204" pitchFamily="34" charset="-122"/>
              </a:rPr>
              <a:t> </a:t>
            </a:r>
            <a:r>
              <a:rPr lang="zh-CN" altLang="en-US">
                <a:solidFill>
                  <a:srgbClr val="008000"/>
                </a:solidFill>
                <a:ea typeface="微软雅黑" panose="020B0503020204020204" pitchFamily="34" charset="-122"/>
              </a:rPr>
              <a:t>相加／相加后弹出</a:t>
            </a:r>
            <a:endParaRPr lang="en-US" altLang="en-US">
              <a:solidFill>
                <a:srgbClr val="008000"/>
              </a:solidFill>
              <a:ea typeface="微软雅黑" panose="020B0503020204020204" pitchFamily="34" charset="-122"/>
            </a:endParaRPr>
          </a:p>
          <a:p>
            <a:pPr>
              <a:buFontTx/>
              <a:buNone/>
            </a:pPr>
            <a:r>
              <a:rPr lang="en-US" altLang="zh-CN">
                <a:solidFill>
                  <a:srgbClr val="008000"/>
                </a:solidFill>
                <a:ea typeface="微软雅黑" panose="020B0503020204020204" pitchFamily="34" charset="-122"/>
              </a:rPr>
              <a:t>    FIADD：</a:t>
            </a:r>
            <a:r>
              <a:rPr lang="zh-CN" altLang="en-US">
                <a:solidFill>
                  <a:srgbClr val="008000"/>
                </a:solidFill>
                <a:ea typeface="微软雅黑" panose="020B0503020204020204" pitchFamily="34" charset="-122"/>
              </a:rPr>
              <a:t>按</a:t>
            </a:r>
            <a:r>
              <a:rPr lang="en-US" altLang="zh-CN">
                <a:solidFill>
                  <a:srgbClr val="008000"/>
                </a:solidFill>
                <a:ea typeface="微软雅黑" panose="020B0503020204020204" pitchFamily="34" charset="-122"/>
              </a:rPr>
              <a:t>int</a:t>
            </a:r>
            <a:r>
              <a:rPr lang="zh-CN" altLang="en-US">
                <a:solidFill>
                  <a:srgbClr val="008000"/>
                </a:solidFill>
                <a:ea typeface="微软雅黑" panose="020B0503020204020204" pitchFamily="34" charset="-122"/>
              </a:rPr>
              <a:t>型相加</a:t>
            </a:r>
            <a:endParaRPr lang="en-US" altLang="en-US">
              <a:solidFill>
                <a:srgbClr val="008000"/>
              </a:solidFill>
              <a:ea typeface="微软雅黑" panose="020B0503020204020204" pitchFamily="34" charset="-122"/>
            </a:endParaRPr>
          </a:p>
          <a:p>
            <a:pPr>
              <a:buFontTx/>
              <a:buNone/>
            </a:pPr>
            <a:r>
              <a:rPr lang="en-US" altLang="zh-CN">
                <a:solidFill>
                  <a:srgbClr val="008000"/>
                </a:solidFill>
                <a:ea typeface="微软雅黑" panose="020B0503020204020204" pitchFamily="34" charset="-122"/>
              </a:rPr>
              <a:t>(2) </a:t>
            </a:r>
            <a:r>
              <a:rPr lang="en-US" altLang="en-US">
                <a:solidFill>
                  <a:srgbClr val="008000"/>
                </a:solidFill>
                <a:ea typeface="微软雅黑" panose="020B0503020204020204" pitchFamily="34" charset="-122"/>
              </a:rPr>
              <a:t>减法 </a:t>
            </a:r>
          </a:p>
          <a:p>
            <a:pPr>
              <a:buFontTx/>
              <a:buNone/>
            </a:pPr>
            <a:r>
              <a:rPr lang="en-US" altLang="zh-CN">
                <a:solidFill>
                  <a:srgbClr val="008000"/>
                </a:solidFill>
                <a:ea typeface="微软雅黑" panose="020B0503020204020204" pitchFamily="34" charset="-122"/>
              </a:rPr>
              <a:t>    </a:t>
            </a:r>
            <a:r>
              <a:rPr lang="en-US" altLang="en-US">
                <a:solidFill>
                  <a:srgbClr val="008000"/>
                </a:solidFill>
                <a:ea typeface="微软雅黑" panose="020B0503020204020204" pitchFamily="34" charset="-122"/>
              </a:rPr>
              <a:t>FSUB/FSUBP </a:t>
            </a:r>
            <a:r>
              <a:rPr lang="en-US" altLang="zh-CN">
                <a:solidFill>
                  <a:srgbClr val="008000"/>
                </a:solidFill>
                <a:ea typeface="微软雅黑" panose="020B0503020204020204" pitchFamily="34" charset="-122"/>
              </a:rPr>
              <a:t>：</a:t>
            </a:r>
            <a:r>
              <a:rPr lang="en-US" altLang="en-US">
                <a:solidFill>
                  <a:srgbClr val="008000"/>
                </a:solidFill>
                <a:ea typeface="微软雅黑" panose="020B0503020204020204" pitchFamily="34" charset="-122"/>
              </a:rPr>
              <a:t> </a:t>
            </a:r>
            <a:r>
              <a:rPr lang="zh-CN" altLang="en-US">
                <a:solidFill>
                  <a:srgbClr val="008000"/>
                </a:solidFill>
                <a:ea typeface="微软雅黑" panose="020B0503020204020204" pitchFamily="34" charset="-122"/>
              </a:rPr>
              <a:t>相减／相减后弹出</a:t>
            </a:r>
            <a:endParaRPr lang="en-US" altLang="en-US">
              <a:solidFill>
                <a:srgbClr val="008000"/>
              </a:solidFill>
              <a:ea typeface="微软雅黑" panose="020B0503020204020204" pitchFamily="34" charset="-122"/>
            </a:endParaRPr>
          </a:p>
          <a:p>
            <a:pPr>
              <a:buFontTx/>
              <a:buNone/>
            </a:pPr>
            <a:r>
              <a:rPr lang="en-US" altLang="zh-CN">
                <a:solidFill>
                  <a:srgbClr val="008000"/>
                </a:solidFill>
                <a:ea typeface="微软雅黑" panose="020B0503020204020204" pitchFamily="34" charset="-122"/>
              </a:rPr>
              <a:t>    FSUBR/FSUBRP</a:t>
            </a:r>
            <a:r>
              <a:rPr lang="zh-CN" altLang="en-US">
                <a:solidFill>
                  <a:srgbClr val="008000"/>
                </a:solidFill>
                <a:ea typeface="微软雅黑" panose="020B0503020204020204" pitchFamily="34" charset="-122"/>
              </a:rPr>
              <a:t>：调换次序相减／相减后弹出</a:t>
            </a:r>
          </a:p>
          <a:p>
            <a:pPr>
              <a:buFontTx/>
              <a:buNone/>
            </a:pPr>
            <a:r>
              <a:rPr lang="en-US" altLang="zh-CN">
                <a:solidFill>
                  <a:srgbClr val="008000"/>
                </a:solidFill>
                <a:ea typeface="微软雅黑" panose="020B0503020204020204" pitchFamily="34" charset="-122"/>
              </a:rPr>
              <a:t>    FISUB</a:t>
            </a:r>
            <a:r>
              <a:rPr lang="zh-CN" altLang="en-US">
                <a:solidFill>
                  <a:srgbClr val="008000"/>
                </a:solidFill>
                <a:ea typeface="微软雅黑" panose="020B0503020204020204" pitchFamily="34" charset="-122"/>
              </a:rPr>
              <a:t>：按</a:t>
            </a:r>
            <a:r>
              <a:rPr lang="en-US" altLang="zh-CN">
                <a:solidFill>
                  <a:srgbClr val="008000"/>
                </a:solidFill>
                <a:ea typeface="微软雅黑" panose="020B0503020204020204" pitchFamily="34" charset="-122"/>
              </a:rPr>
              <a:t>int</a:t>
            </a:r>
            <a:r>
              <a:rPr lang="zh-CN" altLang="en-US">
                <a:solidFill>
                  <a:srgbClr val="008000"/>
                </a:solidFill>
                <a:ea typeface="微软雅黑" panose="020B0503020204020204" pitchFamily="34" charset="-122"/>
              </a:rPr>
              <a:t>型相减</a:t>
            </a:r>
            <a:r>
              <a:rPr lang="en-US" altLang="en-US">
                <a:solidFill>
                  <a:srgbClr val="008000"/>
                </a:solidFill>
                <a:ea typeface="微软雅黑" panose="020B0503020204020204" pitchFamily="34" charset="-122"/>
              </a:rPr>
              <a:t> </a:t>
            </a:r>
          </a:p>
          <a:p>
            <a:pPr>
              <a:buFontTx/>
              <a:buNone/>
            </a:pPr>
            <a:r>
              <a:rPr lang="en-US" altLang="zh-CN">
                <a:solidFill>
                  <a:srgbClr val="008000"/>
                </a:solidFill>
                <a:ea typeface="微软雅黑" panose="020B0503020204020204" pitchFamily="34" charset="-122"/>
              </a:rPr>
              <a:t>    </a:t>
            </a:r>
            <a:r>
              <a:rPr lang="en-US" altLang="en-US">
                <a:solidFill>
                  <a:srgbClr val="008000"/>
                </a:solidFill>
                <a:ea typeface="微软雅黑" panose="020B0503020204020204" pitchFamily="34" charset="-122"/>
              </a:rPr>
              <a:t>FISUBR</a:t>
            </a:r>
            <a:r>
              <a:rPr lang="en-US" altLang="zh-CN">
                <a:solidFill>
                  <a:srgbClr val="008000"/>
                </a:solidFill>
                <a:ea typeface="微软雅黑" panose="020B0503020204020204" pitchFamily="34" charset="-122"/>
              </a:rPr>
              <a:t>：</a:t>
            </a:r>
            <a:r>
              <a:rPr lang="zh-CN" altLang="en-US">
                <a:solidFill>
                  <a:srgbClr val="008000"/>
                </a:solidFill>
                <a:ea typeface="微软雅黑" panose="020B0503020204020204" pitchFamily="34" charset="-122"/>
              </a:rPr>
              <a:t>按</a:t>
            </a:r>
            <a:r>
              <a:rPr lang="en-US" altLang="zh-CN">
                <a:solidFill>
                  <a:srgbClr val="008000"/>
                </a:solidFill>
                <a:ea typeface="微软雅黑" panose="020B0503020204020204" pitchFamily="34" charset="-122"/>
              </a:rPr>
              <a:t>int</a:t>
            </a:r>
            <a:r>
              <a:rPr lang="zh-CN" altLang="en-US">
                <a:solidFill>
                  <a:srgbClr val="008000"/>
                </a:solidFill>
                <a:ea typeface="微软雅黑" panose="020B0503020204020204" pitchFamily="34" charset="-122"/>
              </a:rPr>
              <a:t>型相减，调换相减次序</a:t>
            </a:r>
          </a:p>
        </p:txBody>
      </p:sp>
      <p:sp>
        <p:nvSpPr>
          <p:cNvPr id="831492" name="Rectangle 4"/>
          <p:cNvSpPr>
            <a:spLocks noChangeArrowheads="1"/>
          </p:cNvSpPr>
          <p:nvPr/>
        </p:nvSpPr>
        <p:spPr bwMode="auto">
          <a:xfrm>
            <a:off x="385763" y="5364163"/>
            <a:ext cx="8240712" cy="13160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spcBef>
                <a:spcPct val="10000"/>
              </a:spcBef>
              <a:buFontTx/>
              <a:buNone/>
            </a:pPr>
            <a:r>
              <a:rPr lang="en-US" altLang="zh-CN" sz="1800">
                <a:latin typeface="微软雅黑" panose="020B0503020204020204" pitchFamily="34" charset="-122"/>
                <a:ea typeface="微软雅黑" panose="020B0503020204020204" pitchFamily="34" charset="-122"/>
              </a:rPr>
              <a:t>       </a:t>
            </a:r>
            <a:r>
              <a:rPr lang="zh-CN" altLang="en-US" sz="2200">
                <a:solidFill>
                  <a:srgbClr val="FF3300"/>
                </a:solidFill>
                <a:latin typeface="微软雅黑" panose="020B0503020204020204" pitchFamily="34" charset="-122"/>
                <a:ea typeface="微软雅黑" panose="020B0503020204020204" pitchFamily="34" charset="-122"/>
              </a:rPr>
              <a:t>若</a:t>
            </a:r>
            <a:r>
              <a:rPr lang="en-US" altLang="en-US" sz="2200">
                <a:solidFill>
                  <a:srgbClr val="FF3300"/>
                </a:solidFill>
                <a:latin typeface="微软雅黑" panose="020B0503020204020204" pitchFamily="34" charset="-122"/>
                <a:ea typeface="微软雅黑" panose="020B0503020204020204" pitchFamily="34" charset="-122"/>
              </a:rPr>
              <a:t>指令未带操作数，</a:t>
            </a:r>
            <a:r>
              <a:rPr lang="en-US" altLang="zh-CN" sz="2200">
                <a:solidFill>
                  <a:srgbClr val="FF3300"/>
                </a:solidFill>
                <a:latin typeface="微软雅黑" panose="020B0503020204020204" pitchFamily="34" charset="-122"/>
                <a:ea typeface="微软雅黑" panose="020B0503020204020204" pitchFamily="34" charset="-122"/>
              </a:rPr>
              <a:t>则</a:t>
            </a:r>
            <a:r>
              <a:rPr lang="en-US" altLang="en-US" sz="2200">
                <a:solidFill>
                  <a:srgbClr val="FF3300"/>
                </a:solidFill>
                <a:latin typeface="微软雅黑" panose="020B0503020204020204" pitchFamily="34" charset="-122"/>
                <a:ea typeface="微软雅黑" panose="020B0503020204020204" pitchFamily="34" charset="-122"/>
              </a:rPr>
              <a:t>默认操作数为</a:t>
            </a:r>
            <a:r>
              <a:rPr lang="en-US" altLang="zh-CN" sz="2200">
                <a:solidFill>
                  <a:srgbClr val="FF3300"/>
                </a:solidFill>
                <a:latin typeface="微软雅黑" panose="020B0503020204020204" pitchFamily="34" charset="-122"/>
                <a:ea typeface="微软雅黑" panose="020B0503020204020204" pitchFamily="34" charset="-122"/>
              </a:rPr>
              <a:t>ST(0）</a:t>
            </a:r>
            <a:r>
              <a:rPr lang="zh-CN" altLang="en-US" sz="2200">
                <a:solidFill>
                  <a:srgbClr val="FF3300"/>
                </a:solidFill>
                <a:latin typeface="微软雅黑" panose="020B0503020204020204" pitchFamily="34" charset="-122"/>
                <a:ea typeface="微软雅黑" panose="020B0503020204020204" pitchFamily="34" charset="-122"/>
              </a:rPr>
              <a:t>、</a:t>
            </a:r>
            <a:r>
              <a:rPr lang="en-US" altLang="zh-CN" sz="2200">
                <a:solidFill>
                  <a:srgbClr val="FF3300"/>
                </a:solidFill>
                <a:latin typeface="微软雅黑" panose="020B0503020204020204" pitchFamily="34" charset="-122"/>
                <a:ea typeface="微软雅黑" panose="020B0503020204020204" pitchFamily="34" charset="-122"/>
              </a:rPr>
              <a:t>ST(1</a:t>
            </a:r>
            <a:r>
              <a:rPr lang="en-US" altLang="en-US" sz="2200">
                <a:solidFill>
                  <a:srgbClr val="FF3300"/>
                </a:solidFill>
                <a:latin typeface="微软雅黑" panose="020B0503020204020204" pitchFamily="34" charset="-122"/>
                <a:ea typeface="微软雅黑" panose="020B0503020204020204" pitchFamily="34" charset="-122"/>
              </a:rPr>
              <a:t>）</a:t>
            </a:r>
            <a:endParaRPr lang="en-US" altLang="zh-CN" sz="2200">
              <a:solidFill>
                <a:srgbClr val="FF3300"/>
              </a:solidFill>
              <a:latin typeface="微软雅黑" panose="020B0503020204020204" pitchFamily="34" charset="-122"/>
              <a:ea typeface="微软雅黑" panose="020B0503020204020204" pitchFamily="34" charset="-122"/>
            </a:endParaRPr>
          </a:p>
          <a:p>
            <a:pPr>
              <a:spcBef>
                <a:spcPct val="10000"/>
              </a:spcBef>
              <a:buFontTx/>
              <a:buNone/>
            </a:pPr>
            <a:r>
              <a:rPr lang="en-US" altLang="zh-CN" sz="2200">
                <a:solidFill>
                  <a:srgbClr val="FF3300"/>
                </a:solidFill>
                <a:latin typeface="微软雅黑" panose="020B0503020204020204" pitchFamily="34" charset="-122"/>
                <a:ea typeface="微软雅黑" panose="020B0503020204020204" pitchFamily="34" charset="-122"/>
              </a:rPr>
              <a:t>      </a:t>
            </a:r>
            <a:r>
              <a:rPr lang="en-US" altLang="en-US" sz="2200">
                <a:solidFill>
                  <a:srgbClr val="FF3300"/>
                </a:solidFill>
                <a:latin typeface="微软雅黑" panose="020B0503020204020204" pitchFamily="34" charset="-122"/>
                <a:ea typeface="微软雅黑" panose="020B0503020204020204" pitchFamily="34" charset="-122"/>
              </a:rPr>
              <a:t>带R</a:t>
            </a:r>
            <a:r>
              <a:rPr lang="en-US" altLang="zh-CN" sz="2200">
                <a:solidFill>
                  <a:srgbClr val="FF3300"/>
                </a:solidFill>
                <a:latin typeface="微软雅黑" panose="020B0503020204020204" pitchFamily="34" charset="-122"/>
                <a:ea typeface="微软雅黑" panose="020B0503020204020204" pitchFamily="34" charset="-122"/>
              </a:rPr>
              <a:t>后缀指令是</a:t>
            </a:r>
            <a:r>
              <a:rPr lang="zh-CN" altLang="en-US" sz="2200">
                <a:solidFill>
                  <a:srgbClr val="FF3300"/>
                </a:solidFill>
                <a:latin typeface="微软雅黑" panose="020B0503020204020204" pitchFamily="34" charset="-122"/>
                <a:ea typeface="微软雅黑" panose="020B0503020204020204" pitchFamily="34" charset="-122"/>
              </a:rPr>
              <a:t>指操作数顺序变反</a:t>
            </a:r>
            <a:r>
              <a:rPr lang="en-US" altLang="en-US" sz="2200">
                <a:solidFill>
                  <a:srgbClr val="FF3300"/>
                </a:solidFill>
                <a:latin typeface="微软雅黑" panose="020B0503020204020204" pitchFamily="34" charset="-122"/>
                <a:ea typeface="微软雅黑" panose="020B0503020204020204" pitchFamily="34" charset="-122"/>
              </a:rPr>
              <a:t>，</a:t>
            </a:r>
            <a:r>
              <a:rPr lang="en-US" altLang="zh-CN" sz="2200">
                <a:solidFill>
                  <a:srgbClr val="FF3300"/>
                </a:solidFill>
                <a:latin typeface="微软雅黑" panose="020B0503020204020204" pitchFamily="34" charset="-122"/>
                <a:ea typeface="微软雅黑" panose="020B0503020204020204" pitchFamily="34" charset="-122"/>
              </a:rPr>
              <a:t>例</a:t>
            </a:r>
            <a:r>
              <a:rPr lang="en-US" altLang="en-US" sz="2200">
                <a:solidFill>
                  <a:srgbClr val="FF3300"/>
                </a:solidFill>
                <a:latin typeface="微软雅黑" panose="020B0503020204020204" pitchFamily="34" charset="-122"/>
                <a:ea typeface="微软雅黑" panose="020B0503020204020204" pitchFamily="34" charset="-122"/>
              </a:rPr>
              <a:t>如</a:t>
            </a:r>
            <a:r>
              <a:rPr lang="en-US" altLang="zh-CN" sz="2200">
                <a:solidFill>
                  <a:srgbClr val="FF3300"/>
                </a:solidFill>
                <a:latin typeface="微软雅黑" panose="020B0503020204020204" pitchFamily="34" charset="-122"/>
                <a:ea typeface="微软雅黑" panose="020B0503020204020204" pitchFamily="34" charset="-122"/>
              </a:rPr>
              <a:t>：</a:t>
            </a:r>
          </a:p>
          <a:p>
            <a:pPr>
              <a:spcBef>
                <a:spcPct val="10000"/>
              </a:spcBef>
              <a:buFontTx/>
              <a:buNone/>
            </a:pPr>
            <a:r>
              <a:rPr lang="en-US" altLang="zh-CN" sz="2200">
                <a:solidFill>
                  <a:srgbClr val="FF3300"/>
                </a:solidFill>
                <a:latin typeface="微软雅黑" panose="020B0503020204020204" pitchFamily="34" charset="-122"/>
                <a:ea typeface="微软雅黑" panose="020B0503020204020204" pitchFamily="34" charset="-122"/>
              </a:rPr>
              <a:t>      </a:t>
            </a:r>
            <a:r>
              <a:rPr lang="en-US" altLang="en-US" sz="2200">
                <a:solidFill>
                  <a:srgbClr val="FF3300"/>
                </a:solidFill>
                <a:latin typeface="微软雅黑" panose="020B0503020204020204" pitchFamily="34" charset="-122"/>
                <a:ea typeface="微软雅黑" panose="020B0503020204020204" pitchFamily="34" charset="-122"/>
              </a:rPr>
              <a:t>fsub执行的是</a:t>
            </a:r>
            <a:r>
              <a:rPr lang="en-US" altLang="zh-CN" sz="2200">
                <a:solidFill>
                  <a:srgbClr val="FF3300"/>
                </a:solidFill>
                <a:latin typeface="微软雅黑" panose="020B0503020204020204" pitchFamily="34" charset="-122"/>
                <a:ea typeface="微软雅黑" panose="020B0503020204020204" pitchFamily="34" charset="-122"/>
              </a:rPr>
              <a:t>x-y</a:t>
            </a:r>
            <a:r>
              <a:rPr lang="zh-CN" altLang="en-US" sz="2200">
                <a:solidFill>
                  <a:srgbClr val="FF3300"/>
                </a:solidFill>
                <a:latin typeface="微软雅黑" panose="020B0503020204020204" pitchFamily="34" charset="-122"/>
                <a:ea typeface="微软雅黑" panose="020B0503020204020204" pitchFamily="34" charset="-122"/>
              </a:rPr>
              <a:t>，</a:t>
            </a:r>
            <a:r>
              <a:rPr lang="en-US" altLang="zh-CN" sz="2200">
                <a:solidFill>
                  <a:srgbClr val="FF3300"/>
                </a:solidFill>
                <a:latin typeface="微软雅黑" panose="020B0503020204020204" pitchFamily="34" charset="-122"/>
                <a:ea typeface="微软雅黑" panose="020B0503020204020204" pitchFamily="34" charset="-122"/>
              </a:rPr>
              <a:t>fsubr</a:t>
            </a:r>
            <a:r>
              <a:rPr lang="en-US" altLang="en-US" sz="2200">
                <a:solidFill>
                  <a:srgbClr val="FF3300"/>
                </a:solidFill>
                <a:latin typeface="微软雅黑" panose="020B0503020204020204" pitchFamily="34" charset="-122"/>
                <a:ea typeface="微软雅黑" panose="020B0503020204020204" pitchFamily="34" charset="-122"/>
              </a:rPr>
              <a:t>执行的就是y-x</a:t>
            </a:r>
            <a:endParaRPr lang="zh-CN" altLang="en-US" sz="2200">
              <a:solidFill>
                <a:srgbClr val="FF33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594217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31491">
                                            <p:txEl>
                                              <p:pRg st="1" end="1"/>
                                            </p:txEl>
                                          </p:spTgt>
                                        </p:tgtEl>
                                        <p:attrNameLst>
                                          <p:attrName>style.visibility</p:attrName>
                                        </p:attrNameLst>
                                      </p:cBhvr>
                                      <p:to>
                                        <p:strVal val="visible"/>
                                      </p:to>
                                    </p:set>
                                    <p:animEffect transition="in" filter="blinds(horizontal)">
                                      <p:cBhvr>
                                        <p:cTn id="7" dur="500"/>
                                        <p:tgtEl>
                                          <p:spTgt spid="831491">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831491">
                                            <p:txEl>
                                              <p:pRg st="2" end="2"/>
                                            </p:txEl>
                                          </p:spTgt>
                                        </p:tgtEl>
                                        <p:attrNameLst>
                                          <p:attrName>style.visibility</p:attrName>
                                        </p:attrNameLst>
                                      </p:cBhvr>
                                      <p:to>
                                        <p:strVal val="visible"/>
                                      </p:to>
                                    </p:set>
                                    <p:animEffect transition="in" filter="blinds(horizontal)">
                                      <p:cBhvr>
                                        <p:cTn id="10" dur="500"/>
                                        <p:tgtEl>
                                          <p:spTgt spid="831491">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831491">
                                            <p:txEl>
                                              <p:pRg st="3" end="3"/>
                                            </p:txEl>
                                          </p:spTgt>
                                        </p:tgtEl>
                                        <p:attrNameLst>
                                          <p:attrName>style.visibility</p:attrName>
                                        </p:attrNameLst>
                                      </p:cBhvr>
                                      <p:to>
                                        <p:strVal val="visible"/>
                                      </p:to>
                                    </p:set>
                                    <p:animEffect transition="in" filter="blinds(horizontal)">
                                      <p:cBhvr>
                                        <p:cTn id="13" dur="500"/>
                                        <p:tgtEl>
                                          <p:spTgt spid="831491">
                                            <p:txEl>
                                              <p:pRg st="3" end="3"/>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831491">
                                            <p:txEl>
                                              <p:pRg st="4" end="4"/>
                                            </p:txEl>
                                          </p:spTgt>
                                        </p:tgtEl>
                                        <p:attrNameLst>
                                          <p:attrName>style.visibility</p:attrName>
                                        </p:attrNameLst>
                                      </p:cBhvr>
                                      <p:to>
                                        <p:strVal val="visible"/>
                                      </p:to>
                                    </p:set>
                                    <p:animEffect transition="in" filter="blinds(horizontal)">
                                      <p:cBhvr>
                                        <p:cTn id="18" dur="500"/>
                                        <p:tgtEl>
                                          <p:spTgt spid="831491">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831491">
                                            <p:txEl>
                                              <p:pRg st="5" end="5"/>
                                            </p:txEl>
                                          </p:spTgt>
                                        </p:tgtEl>
                                        <p:attrNameLst>
                                          <p:attrName>style.visibility</p:attrName>
                                        </p:attrNameLst>
                                      </p:cBhvr>
                                      <p:to>
                                        <p:strVal val="visible"/>
                                      </p:to>
                                    </p:set>
                                    <p:animEffect transition="in" filter="blinds(horizontal)">
                                      <p:cBhvr>
                                        <p:cTn id="21" dur="500"/>
                                        <p:tgtEl>
                                          <p:spTgt spid="831491">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831491">
                                            <p:txEl>
                                              <p:pRg st="6" end="6"/>
                                            </p:txEl>
                                          </p:spTgt>
                                        </p:tgtEl>
                                        <p:attrNameLst>
                                          <p:attrName>style.visibility</p:attrName>
                                        </p:attrNameLst>
                                      </p:cBhvr>
                                      <p:to>
                                        <p:strVal val="visible"/>
                                      </p:to>
                                    </p:set>
                                    <p:animEffect transition="in" filter="blinds(horizontal)">
                                      <p:cBhvr>
                                        <p:cTn id="24" dur="500"/>
                                        <p:tgtEl>
                                          <p:spTgt spid="831491">
                                            <p:txEl>
                                              <p:pRg st="6" end="6"/>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831491">
                                            <p:txEl>
                                              <p:pRg st="7" end="7"/>
                                            </p:txEl>
                                          </p:spTgt>
                                        </p:tgtEl>
                                        <p:attrNameLst>
                                          <p:attrName>style.visibility</p:attrName>
                                        </p:attrNameLst>
                                      </p:cBhvr>
                                      <p:to>
                                        <p:strVal val="visible"/>
                                      </p:to>
                                    </p:set>
                                    <p:animEffect transition="in" filter="blinds(horizontal)">
                                      <p:cBhvr>
                                        <p:cTn id="27" dur="500"/>
                                        <p:tgtEl>
                                          <p:spTgt spid="831491">
                                            <p:txEl>
                                              <p:pRg st="7" end="7"/>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831491">
                                            <p:txEl>
                                              <p:pRg st="8" end="8"/>
                                            </p:txEl>
                                          </p:spTgt>
                                        </p:tgtEl>
                                        <p:attrNameLst>
                                          <p:attrName>style.visibility</p:attrName>
                                        </p:attrNameLst>
                                      </p:cBhvr>
                                      <p:to>
                                        <p:strVal val="visible"/>
                                      </p:to>
                                    </p:set>
                                    <p:animEffect transition="in" filter="blinds(horizontal)">
                                      <p:cBhvr>
                                        <p:cTn id="30" dur="500"/>
                                        <p:tgtEl>
                                          <p:spTgt spid="831491">
                                            <p:txEl>
                                              <p:pRg st="8" end="8"/>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831492"/>
                                        </p:tgtEl>
                                        <p:attrNameLst>
                                          <p:attrName>style.visibility</p:attrName>
                                        </p:attrNameLst>
                                      </p:cBhvr>
                                      <p:to>
                                        <p:strVal val="visible"/>
                                      </p:to>
                                    </p:set>
                                    <p:animEffect transition="in" filter="blinds(horizontal)">
                                      <p:cBhvr>
                                        <p:cTn id="35" dur="500"/>
                                        <p:tgtEl>
                                          <p:spTgt spid="831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149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457200" y="142875"/>
            <a:ext cx="8229600" cy="561975"/>
          </a:xfrm>
        </p:spPr>
        <p:txBody>
          <a:bodyPr>
            <a:normAutofit fontScale="90000"/>
          </a:bodyPr>
          <a:lstStyle/>
          <a:p>
            <a:r>
              <a:rPr lang="en-US" altLang="zh-CN"/>
              <a:t>X87 FPU</a:t>
            </a:r>
            <a:r>
              <a:rPr lang="zh-CN" altLang="en-US"/>
              <a:t>指令</a:t>
            </a:r>
          </a:p>
        </p:txBody>
      </p:sp>
      <p:sp>
        <p:nvSpPr>
          <p:cNvPr id="832515" name="Rectangle 3"/>
          <p:cNvSpPr>
            <a:spLocks noGrp="1" noChangeArrowheads="1"/>
          </p:cNvSpPr>
          <p:nvPr>
            <p:ph type="body" idx="1"/>
          </p:nvPr>
        </p:nvSpPr>
        <p:spPr/>
        <p:txBody>
          <a:bodyPr>
            <a:normAutofit fontScale="92500" lnSpcReduction="20000"/>
          </a:bodyPr>
          <a:lstStyle/>
          <a:p>
            <a:r>
              <a:rPr lang="en-US" altLang="en-US">
                <a:ea typeface="微软雅黑" panose="020B0503020204020204" pitchFamily="34" charset="-122"/>
              </a:rPr>
              <a:t>算术运算类 </a:t>
            </a:r>
            <a:endParaRPr lang="en-US" altLang="zh-CN">
              <a:ea typeface="微软雅黑" panose="020B0503020204020204" pitchFamily="34" charset="-122"/>
            </a:endParaRPr>
          </a:p>
          <a:p>
            <a:pPr>
              <a:buFontTx/>
              <a:buNone/>
            </a:pPr>
            <a:r>
              <a:rPr lang="en-US" altLang="zh-CN">
                <a:solidFill>
                  <a:srgbClr val="008000"/>
                </a:solidFill>
                <a:latin typeface="微软雅黑" panose="020B0503020204020204" pitchFamily="34" charset="-122"/>
                <a:ea typeface="微软雅黑" panose="020B0503020204020204" pitchFamily="34" charset="-122"/>
              </a:rPr>
              <a:t>(3) </a:t>
            </a:r>
            <a:r>
              <a:rPr lang="en-US" altLang="en-US">
                <a:solidFill>
                  <a:srgbClr val="008000"/>
                </a:solidFill>
                <a:latin typeface="微软雅黑" panose="020B0503020204020204" pitchFamily="34" charset="-122"/>
                <a:ea typeface="微软雅黑" panose="020B0503020204020204" pitchFamily="34" charset="-122"/>
              </a:rPr>
              <a:t>乘法 </a:t>
            </a:r>
          </a:p>
          <a:p>
            <a:pPr>
              <a:buFontTx/>
              <a:buNone/>
            </a:pPr>
            <a:r>
              <a:rPr lang="en-US" altLang="zh-CN">
                <a:solidFill>
                  <a:srgbClr val="008000"/>
                </a:solidFill>
                <a:latin typeface="微软雅黑" panose="020B0503020204020204" pitchFamily="34" charset="-122"/>
                <a:ea typeface="微软雅黑" panose="020B0503020204020204" pitchFamily="34" charset="-122"/>
              </a:rPr>
              <a:t>     </a:t>
            </a:r>
            <a:r>
              <a:rPr lang="en-US" altLang="en-US">
                <a:solidFill>
                  <a:srgbClr val="008000"/>
                </a:solidFill>
                <a:latin typeface="微软雅黑" panose="020B0503020204020204" pitchFamily="34" charset="-122"/>
                <a:ea typeface="微软雅黑" panose="020B0503020204020204" pitchFamily="34" charset="-122"/>
              </a:rPr>
              <a:t>FMUL/FMULP</a:t>
            </a:r>
            <a:r>
              <a:rPr lang="en-US" altLang="zh-CN">
                <a:solidFill>
                  <a:srgbClr val="008000"/>
                </a:solidFill>
                <a:latin typeface="微软雅黑" panose="020B0503020204020204" pitchFamily="34" charset="-122"/>
                <a:ea typeface="微软雅黑" panose="020B0503020204020204" pitchFamily="34" charset="-122"/>
              </a:rPr>
              <a:t>:</a:t>
            </a:r>
            <a:r>
              <a:rPr lang="en-US" altLang="en-US">
                <a:solidFill>
                  <a:srgbClr val="008000"/>
                </a:solidFill>
                <a:latin typeface="微软雅黑" panose="020B0503020204020204" pitchFamily="34" charset="-122"/>
                <a:ea typeface="微软雅黑" panose="020B0503020204020204" pitchFamily="34" charset="-122"/>
              </a:rPr>
              <a:t> </a:t>
            </a:r>
            <a:r>
              <a:rPr lang="en-US" altLang="zh-CN">
                <a:solidFill>
                  <a:srgbClr val="008000"/>
                </a:solidFill>
                <a:latin typeface="微软雅黑" panose="020B0503020204020204" pitchFamily="34" charset="-122"/>
                <a:ea typeface="微软雅黑" panose="020B0503020204020204" pitchFamily="34" charset="-122"/>
              </a:rPr>
              <a:t>相乘</a:t>
            </a:r>
            <a:r>
              <a:rPr lang="en-US" altLang="en-US">
                <a:solidFill>
                  <a:srgbClr val="008000"/>
                </a:solidFill>
                <a:latin typeface="微软雅黑" panose="020B0503020204020204" pitchFamily="34" charset="-122"/>
                <a:ea typeface="微软雅黑" panose="020B0503020204020204" pitchFamily="34" charset="-122"/>
              </a:rPr>
              <a:t>/</a:t>
            </a:r>
            <a:r>
              <a:rPr lang="en-US" altLang="zh-CN">
                <a:solidFill>
                  <a:srgbClr val="008000"/>
                </a:solidFill>
                <a:latin typeface="微软雅黑" panose="020B0503020204020204" pitchFamily="34" charset="-122"/>
                <a:ea typeface="微软雅黑" panose="020B0503020204020204" pitchFamily="34" charset="-122"/>
              </a:rPr>
              <a:t>相乘</a:t>
            </a:r>
            <a:r>
              <a:rPr lang="zh-CN" altLang="en-US">
                <a:solidFill>
                  <a:srgbClr val="008000"/>
                </a:solidFill>
                <a:latin typeface="微软雅黑" panose="020B0503020204020204" pitchFamily="34" charset="-122"/>
                <a:ea typeface="微软雅黑" panose="020B0503020204020204" pitchFamily="34" charset="-122"/>
              </a:rPr>
              <a:t>后出栈</a:t>
            </a:r>
            <a:r>
              <a:rPr lang="en-US" altLang="en-US">
                <a:solidFill>
                  <a:srgbClr val="008000"/>
                </a:solidFill>
                <a:latin typeface="微软雅黑" panose="020B0503020204020204" pitchFamily="34" charset="-122"/>
                <a:ea typeface="微软雅黑" panose="020B0503020204020204" pitchFamily="34" charset="-122"/>
              </a:rPr>
              <a:t> </a:t>
            </a:r>
          </a:p>
          <a:p>
            <a:pPr>
              <a:buFontTx/>
              <a:buNone/>
            </a:pPr>
            <a:r>
              <a:rPr lang="en-US" altLang="zh-CN">
                <a:solidFill>
                  <a:srgbClr val="008000"/>
                </a:solidFill>
                <a:latin typeface="微软雅黑" panose="020B0503020204020204" pitchFamily="34" charset="-122"/>
                <a:ea typeface="微软雅黑" panose="020B0503020204020204" pitchFamily="34" charset="-122"/>
              </a:rPr>
              <a:t>     </a:t>
            </a:r>
            <a:r>
              <a:rPr lang="en-US" altLang="en-US">
                <a:solidFill>
                  <a:srgbClr val="008000"/>
                </a:solidFill>
                <a:latin typeface="微软雅黑" panose="020B0503020204020204" pitchFamily="34" charset="-122"/>
                <a:ea typeface="微软雅黑" panose="020B0503020204020204" pitchFamily="34" charset="-122"/>
              </a:rPr>
              <a:t>FIMUL</a:t>
            </a:r>
            <a:r>
              <a:rPr lang="en-US" altLang="zh-CN">
                <a:solidFill>
                  <a:srgbClr val="008000"/>
                </a:solidFill>
                <a:latin typeface="微软雅黑" panose="020B0503020204020204" pitchFamily="34" charset="-122"/>
                <a:ea typeface="微软雅黑" panose="020B0503020204020204" pitchFamily="34" charset="-122"/>
              </a:rPr>
              <a:t>：</a:t>
            </a:r>
            <a:r>
              <a:rPr lang="zh-CN" altLang="en-US">
                <a:solidFill>
                  <a:srgbClr val="008000"/>
                </a:solidFill>
                <a:latin typeface="微软雅黑" panose="020B0503020204020204" pitchFamily="34" charset="-122"/>
                <a:ea typeface="微软雅黑" panose="020B0503020204020204" pitchFamily="34" charset="-122"/>
              </a:rPr>
              <a:t>按</a:t>
            </a:r>
            <a:r>
              <a:rPr lang="en-US" altLang="zh-CN">
                <a:solidFill>
                  <a:srgbClr val="008000"/>
                </a:solidFill>
                <a:latin typeface="微软雅黑" panose="020B0503020204020204" pitchFamily="34" charset="-122"/>
                <a:ea typeface="微软雅黑" panose="020B0503020204020204" pitchFamily="34" charset="-122"/>
              </a:rPr>
              <a:t>int</a:t>
            </a:r>
            <a:r>
              <a:rPr lang="zh-CN" altLang="en-US">
                <a:solidFill>
                  <a:srgbClr val="008000"/>
                </a:solidFill>
                <a:latin typeface="微软雅黑" panose="020B0503020204020204" pitchFamily="34" charset="-122"/>
                <a:ea typeface="微软雅黑" panose="020B0503020204020204" pitchFamily="34" charset="-122"/>
              </a:rPr>
              <a:t>型相乘</a:t>
            </a:r>
            <a:endParaRPr lang="en-US" altLang="en-US">
              <a:solidFill>
                <a:srgbClr val="008000"/>
              </a:solidFill>
              <a:latin typeface="微软雅黑" panose="020B0503020204020204" pitchFamily="34" charset="-122"/>
              <a:ea typeface="微软雅黑" panose="020B0503020204020204" pitchFamily="34" charset="-122"/>
            </a:endParaRPr>
          </a:p>
          <a:p>
            <a:pPr>
              <a:buFontTx/>
              <a:buNone/>
            </a:pPr>
            <a:r>
              <a:rPr lang="en-US" altLang="zh-CN">
                <a:solidFill>
                  <a:srgbClr val="008000"/>
                </a:solidFill>
                <a:latin typeface="微软雅黑" panose="020B0503020204020204" pitchFamily="34" charset="-122"/>
                <a:ea typeface="微软雅黑" panose="020B0503020204020204" pitchFamily="34" charset="-122"/>
              </a:rPr>
              <a:t>(4) </a:t>
            </a:r>
            <a:r>
              <a:rPr lang="en-US" altLang="en-US">
                <a:solidFill>
                  <a:srgbClr val="008000"/>
                </a:solidFill>
                <a:latin typeface="微软雅黑" panose="020B0503020204020204" pitchFamily="34" charset="-122"/>
                <a:ea typeface="微软雅黑" panose="020B0503020204020204" pitchFamily="34" charset="-122"/>
              </a:rPr>
              <a:t>除法 </a:t>
            </a:r>
          </a:p>
          <a:p>
            <a:pPr>
              <a:buFontTx/>
              <a:buNone/>
            </a:pPr>
            <a:r>
              <a:rPr lang="en-US" altLang="zh-CN">
                <a:solidFill>
                  <a:srgbClr val="008000"/>
                </a:solidFill>
                <a:latin typeface="微软雅黑" panose="020B0503020204020204" pitchFamily="34" charset="-122"/>
                <a:ea typeface="微软雅黑" panose="020B0503020204020204" pitchFamily="34" charset="-122"/>
              </a:rPr>
              <a:t>     </a:t>
            </a:r>
            <a:r>
              <a:rPr lang="en-US" altLang="en-US">
                <a:solidFill>
                  <a:srgbClr val="008000"/>
                </a:solidFill>
                <a:latin typeface="微软雅黑" panose="020B0503020204020204" pitchFamily="34" charset="-122"/>
                <a:ea typeface="微软雅黑" panose="020B0503020204020204" pitchFamily="34" charset="-122"/>
              </a:rPr>
              <a:t>FDIV/FDIVP </a:t>
            </a:r>
            <a:r>
              <a:rPr lang="en-US" altLang="zh-CN">
                <a:solidFill>
                  <a:srgbClr val="008000"/>
                </a:solidFill>
                <a:latin typeface="微软雅黑" panose="020B0503020204020204" pitchFamily="34" charset="-122"/>
                <a:ea typeface="微软雅黑" panose="020B0503020204020204" pitchFamily="34" charset="-122"/>
              </a:rPr>
              <a:t>:</a:t>
            </a:r>
            <a:r>
              <a:rPr lang="en-US" altLang="en-US">
                <a:solidFill>
                  <a:srgbClr val="008000"/>
                </a:solidFill>
                <a:latin typeface="微软雅黑" panose="020B0503020204020204" pitchFamily="34" charset="-122"/>
                <a:ea typeface="微软雅黑" panose="020B0503020204020204" pitchFamily="34" charset="-122"/>
              </a:rPr>
              <a:t> </a:t>
            </a:r>
            <a:r>
              <a:rPr lang="en-US" altLang="zh-CN">
                <a:solidFill>
                  <a:srgbClr val="008000"/>
                </a:solidFill>
                <a:latin typeface="微软雅黑" panose="020B0503020204020204" pitchFamily="34" charset="-122"/>
                <a:ea typeface="微软雅黑" panose="020B0503020204020204" pitchFamily="34" charset="-122"/>
              </a:rPr>
              <a:t>相</a:t>
            </a:r>
            <a:r>
              <a:rPr lang="zh-CN" altLang="en-US">
                <a:solidFill>
                  <a:srgbClr val="008000"/>
                </a:solidFill>
                <a:latin typeface="微软雅黑" panose="020B0503020204020204" pitchFamily="34" charset="-122"/>
                <a:ea typeface="微软雅黑" panose="020B0503020204020204" pitchFamily="34" charset="-122"/>
              </a:rPr>
              <a:t>除</a:t>
            </a:r>
            <a:r>
              <a:rPr lang="en-US" altLang="en-US">
                <a:solidFill>
                  <a:srgbClr val="008000"/>
                </a:solidFill>
                <a:latin typeface="微软雅黑" panose="020B0503020204020204" pitchFamily="34" charset="-122"/>
                <a:ea typeface="微软雅黑" panose="020B0503020204020204" pitchFamily="34" charset="-122"/>
              </a:rPr>
              <a:t>/</a:t>
            </a:r>
            <a:r>
              <a:rPr lang="en-US" altLang="zh-CN">
                <a:solidFill>
                  <a:srgbClr val="008000"/>
                </a:solidFill>
                <a:latin typeface="微软雅黑" panose="020B0503020204020204" pitchFamily="34" charset="-122"/>
                <a:ea typeface="微软雅黑" panose="020B0503020204020204" pitchFamily="34" charset="-122"/>
              </a:rPr>
              <a:t>相</a:t>
            </a:r>
            <a:r>
              <a:rPr lang="zh-CN" altLang="en-US">
                <a:solidFill>
                  <a:srgbClr val="008000"/>
                </a:solidFill>
                <a:latin typeface="微软雅黑" panose="020B0503020204020204" pitchFamily="34" charset="-122"/>
                <a:ea typeface="微软雅黑" panose="020B0503020204020204" pitchFamily="34" charset="-122"/>
              </a:rPr>
              <a:t>除后出栈</a:t>
            </a:r>
            <a:r>
              <a:rPr lang="en-US" altLang="en-US">
                <a:solidFill>
                  <a:srgbClr val="008000"/>
                </a:solidFill>
                <a:latin typeface="微软雅黑" panose="020B0503020204020204" pitchFamily="34" charset="-122"/>
                <a:ea typeface="微软雅黑" panose="020B0503020204020204" pitchFamily="34" charset="-122"/>
              </a:rPr>
              <a:t> </a:t>
            </a:r>
          </a:p>
          <a:p>
            <a:pPr>
              <a:buFontTx/>
              <a:buNone/>
            </a:pPr>
            <a:r>
              <a:rPr lang="en-US" altLang="zh-CN">
                <a:solidFill>
                  <a:srgbClr val="008000"/>
                </a:solidFill>
                <a:latin typeface="微软雅黑" panose="020B0503020204020204" pitchFamily="34" charset="-122"/>
                <a:ea typeface="微软雅黑" panose="020B0503020204020204" pitchFamily="34" charset="-122"/>
              </a:rPr>
              <a:t>     </a:t>
            </a:r>
            <a:r>
              <a:rPr lang="en-US" altLang="en-US">
                <a:solidFill>
                  <a:srgbClr val="008000"/>
                </a:solidFill>
                <a:latin typeface="微软雅黑" panose="020B0503020204020204" pitchFamily="34" charset="-122"/>
                <a:ea typeface="微软雅黑" panose="020B0503020204020204" pitchFamily="34" charset="-122"/>
              </a:rPr>
              <a:t>FIDIV</a:t>
            </a:r>
            <a:r>
              <a:rPr lang="en-US" altLang="zh-CN">
                <a:solidFill>
                  <a:srgbClr val="008000"/>
                </a:solidFill>
                <a:latin typeface="微软雅黑" panose="020B0503020204020204" pitchFamily="34" charset="-122"/>
                <a:ea typeface="微软雅黑" panose="020B0503020204020204" pitchFamily="34" charset="-122"/>
              </a:rPr>
              <a:t>：</a:t>
            </a:r>
            <a:r>
              <a:rPr lang="zh-CN" altLang="en-US">
                <a:solidFill>
                  <a:srgbClr val="008000"/>
                </a:solidFill>
                <a:latin typeface="微软雅黑" panose="020B0503020204020204" pitchFamily="34" charset="-122"/>
                <a:ea typeface="微软雅黑" panose="020B0503020204020204" pitchFamily="34" charset="-122"/>
              </a:rPr>
              <a:t>按</a:t>
            </a:r>
            <a:r>
              <a:rPr lang="en-US" altLang="zh-CN">
                <a:solidFill>
                  <a:srgbClr val="008000"/>
                </a:solidFill>
                <a:latin typeface="微软雅黑" panose="020B0503020204020204" pitchFamily="34" charset="-122"/>
                <a:ea typeface="微软雅黑" panose="020B0503020204020204" pitchFamily="34" charset="-122"/>
              </a:rPr>
              <a:t>int</a:t>
            </a:r>
            <a:r>
              <a:rPr lang="zh-CN" altLang="en-US">
                <a:solidFill>
                  <a:srgbClr val="008000"/>
                </a:solidFill>
                <a:latin typeface="微软雅黑" panose="020B0503020204020204" pitchFamily="34" charset="-122"/>
                <a:ea typeface="微软雅黑" panose="020B0503020204020204" pitchFamily="34" charset="-122"/>
              </a:rPr>
              <a:t>型相除</a:t>
            </a:r>
            <a:endParaRPr lang="en-US" altLang="en-US">
              <a:solidFill>
                <a:srgbClr val="008000"/>
              </a:solidFill>
              <a:latin typeface="微软雅黑" panose="020B0503020204020204" pitchFamily="34" charset="-122"/>
              <a:ea typeface="微软雅黑" panose="020B0503020204020204" pitchFamily="34" charset="-122"/>
            </a:endParaRPr>
          </a:p>
          <a:p>
            <a:pPr>
              <a:buFontTx/>
              <a:buNone/>
            </a:pPr>
            <a:r>
              <a:rPr lang="en-US" altLang="zh-CN">
                <a:solidFill>
                  <a:srgbClr val="008000"/>
                </a:solidFill>
                <a:latin typeface="微软雅黑" panose="020B0503020204020204" pitchFamily="34" charset="-122"/>
                <a:ea typeface="微软雅黑" panose="020B0503020204020204" pitchFamily="34" charset="-122"/>
              </a:rPr>
              <a:t>     </a:t>
            </a:r>
            <a:r>
              <a:rPr lang="en-US" altLang="en-US">
                <a:solidFill>
                  <a:srgbClr val="008000"/>
                </a:solidFill>
                <a:latin typeface="微软雅黑" panose="020B0503020204020204" pitchFamily="34" charset="-122"/>
                <a:ea typeface="微软雅黑" panose="020B0503020204020204" pitchFamily="34" charset="-122"/>
              </a:rPr>
              <a:t>FDIVR/FDIVRP</a:t>
            </a:r>
          </a:p>
          <a:p>
            <a:pPr>
              <a:buFontTx/>
              <a:buNone/>
            </a:pPr>
            <a:r>
              <a:rPr lang="en-US" altLang="zh-CN">
                <a:solidFill>
                  <a:srgbClr val="008000"/>
                </a:solidFill>
                <a:latin typeface="微软雅黑" panose="020B0503020204020204" pitchFamily="34" charset="-122"/>
                <a:ea typeface="微软雅黑" panose="020B0503020204020204" pitchFamily="34" charset="-122"/>
              </a:rPr>
              <a:t>     </a:t>
            </a:r>
            <a:r>
              <a:rPr lang="en-US" altLang="en-US">
                <a:solidFill>
                  <a:srgbClr val="008000"/>
                </a:solidFill>
                <a:latin typeface="微软雅黑" panose="020B0503020204020204" pitchFamily="34" charset="-122"/>
                <a:ea typeface="微软雅黑" panose="020B0503020204020204" pitchFamily="34" charset="-122"/>
              </a:rPr>
              <a:t>FIDIVR</a:t>
            </a:r>
          </a:p>
        </p:txBody>
      </p:sp>
      <p:sp>
        <p:nvSpPr>
          <p:cNvPr id="67588" name="矩形 1"/>
          <p:cNvSpPr>
            <a:spLocks noChangeArrowheads="1"/>
          </p:cNvSpPr>
          <p:nvPr/>
        </p:nvSpPr>
        <p:spPr bwMode="auto">
          <a:xfrm>
            <a:off x="468313" y="5408613"/>
            <a:ext cx="8559800" cy="127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40000"/>
              </a:lnSpc>
              <a:spcBef>
                <a:spcPct val="0"/>
              </a:spcBef>
              <a:buFontTx/>
              <a:buNone/>
            </a:pPr>
            <a:r>
              <a:rPr lang="zh-CN" altLang="en-US" sz="2100">
                <a:latin typeface="微软雅黑" panose="020B0503020204020204" pitchFamily="34" charset="-122"/>
                <a:ea typeface="微软雅黑" panose="020B0503020204020204" pitchFamily="34" charset="-122"/>
              </a:rPr>
              <a:t>例如：</a:t>
            </a:r>
            <a:r>
              <a:rPr lang="en-US" altLang="zh-CN" sz="2100">
                <a:latin typeface="微软雅黑" panose="020B0503020204020204" pitchFamily="34" charset="-122"/>
                <a:ea typeface="微软雅黑" panose="020B0503020204020204" pitchFamily="34" charset="-122"/>
              </a:rPr>
              <a:t> </a:t>
            </a:r>
            <a:r>
              <a:rPr lang="en-US" altLang="zh-CN" sz="2100">
                <a:solidFill>
                  <a:srgbClr val="008000"/>
                </a:solidFill>
                <a:latin typeface="微软雅黑" panose="020B0503020204020204" pitchFamily="34" charset="-122"/>
                <a:ea typeface="微软雅黑" panose="020B0503020204020204" pitchFamily="34" charset="-122"/>
              </a:rPr>
              <a:t>fidivl 0x8(%ebp)</a:t>
            </a:r>
            <a:r>
              <a:rPr lang="zh-CN" altLang="en-US" sz="2100">
                <a:solidFill>
                  <a:srgbClr val="FF3300"/>
                </a:solidFill>
                <a:latin typeface="微软雅黑" panose="020B0503020204020204" pitchFamily="34" charset="-122"/>
                <a:ea typeface="微软雅黑" panose="020B0503020204020204" pitchFamily="34" charset="-122"/>
              </a:rPr>
              <a:t>将指定存储单元操作数</a:t>
            </a:r>
            <a:r>
              <a:rPr lang="en-US" altLang="zh-CN" sz="2100">
                <a:solidFill>
                  <a:srgbClr val="FF3300"/>
                </a:solidFill>
                <a:latin typeface="微软雅黑" panose="020B0503020204020204" pitchFamily="34" charset="-122"/>
                <a:ea typeface="微软雅黑" panose="020B0503020204020204" pitchFamily="34" charset="-122"/>
              </a:rPr>
              <a:t>M[R[ebp]+8]</a:t>
            </a:r>
            <a:r>
              <a:rPr lang="zh-CN" altLang="en-US" sz="2100">
                <a:solidFill>
                  <a:srgbClr val="FF3300"/>
                </a:solidFill>
                <a:latin typeface="微软雅黑" panose="020B0503020204020204" pitchFamily="34" charset="-122"/>
                <a:ea typeface="微软雅黑" panose="020B0503020204020204" pitchFamily="34" charset="-122"/>
              </a:rPr>
              <a:t>中的</a:t>
            </a:r>
            <a:r>
              <a:rPr lang="en-US" altLang="zh-CN" sz="2100">
                <a:solidFill>
                  <a:srgbClr val="FF3300"/>
                </a:solidFill>
                <a:latin typeface="微软雅黑" panose="020B0503020204020204" pitchFamily="34" charset="-122"/>
                <a:ea typeface="微软雅黑" panose="020B0503020204020204" pitchFamily="34" charset="-122"/>
              </a:rPr>
              <a:t>int</a:t>
            </a:r>
            <a:r>
              <a:rPr lang="zh-CN" altLang="en-US" sz="2100">
                <a:solidFill>
                  <a:srgbClr val="FF3300"/>
                </a:solidFill>
                <a:latin typeface="微软雅黑" panose="020B0503020204020204" pitchFamily="34" charset="-122"/>
                <a:ea typeface="微软雅黑" panose="020B0503020204020204" pitchFamily="34" charset="-122"/>
              </a:rPr>
              <a:t>型数转换为</a:t>
            </a:r>
            <a:r>
              <a:rPr lang="en-US" altLang="zh-CN" sz="2100">
                <a:solidFill>
                  <a:srgbClr val="FF3300"/>
                </a:solidFill>
                <a:latin typeface="微软雅黑" panose="020B0503020204020204" pitchFamily="34" charset="-122"/>
                <a:ea typeface="微软雅黑" panose="020B0503020204020204" pitchFamily="34" charset="-122"/>
              </a:rPr>
              <a:t>double</a:t>
            </a:r>
            <a:r>
              <a:rPr lang="zh-CN" altLang="en-US" sz="2100">
                <a:solidFill>
                  <a:srgbClr val="FF3300"/>
                </a:solidFill>
                <a:latin typeface="微软雅黑" panose="020B0503020204020204" pitchFamily="34" charset="-122"/>
                <a:ea typeface="微软雅黑" panose="020B0503020204020204" pitchFamily="34" charset="-122"/>
              </a:rPr>
              <a:t>型，再将</a:t>
            </a:r>
            <a:r>
              <a:rPr lang="en-US" altLang="zh-CN" sz="2100">
                <a:solidFill>
                  <a:srgbClr val="FF3300"/>
                </a:solidFill>
                <a:latin typeface="微软雅黑" panose="020B0503020204020204" pitchFamily="34" charset="-122"/>
                <a:ea typeface="微软雅黑" panose="020B0503020204020204" pitchFamily="34" charset="-122"/>
              </a:rPr>
              <a:t>ST(0)</a:t>
            </a:r>
            <a:r>
              <a:rPr lang="zh-CN" altLang="en-US" sz="2100">
                <a:solidFill>
                  <a:srgbClr val="FF3300"/>
                </a:solidFill>
                <a:latin typeface="微软雅黑" panose="020B0503020204020204" pitchFamily="34" charset="-122"/>
                <a:ea typeface="微软雅黑" panose="020B0503020204020204" pitchFamily="34" charset="-122"/>
              </a:rPr>
              <a:t>除以该数，并将结果存入</a:t>
            </a:r>
            <a:r>
              <a:rPr lang="en-US" altLang="zh-CN" sz="2100">
                <a:solidFill>
                  <a:srgbClr val="FF3300"/>
                </a:solidFill>
                <a:latin typeface="微软雅黑" panose="020B0503020204020204" pitchFamily="34" charset="-122"/>
                <a:ea typeface="微软雅黑" panose="020B0503020204020204" pitchFamily="34" charset="-122"/>
              </a:rPr>
              <a:t>ST(0)</a:t>
            </a:r>
            <a:r>
              <a:rPr lang="zh-CN" altLang="en-US" sz="2100">
                <a:solidFill>
                  <a:srgbClr val="FF3300"/>
                </a:solidFill>
                <a:latin typeface="微软雅黑" panose="020B0503020204020204" pitchFamily="34" charset="-122"/>
                <a:ea typeface="微软雅黑" panose="020B0503020204020204" pitchFamily="34" charset="-122"/>
              </a:rPr>
              <a:t>中</a:t>
            </a:r>
          </a:p>
          <a:p>
            <a:pPr>
              <a:lnSpc>
                <a:spcPct val="100000"/>
              </a:lnSpc>
              <a:spcBef>
                <a:spcPct val="0"/>
              </a:spcBef>
              <a:buFontTx/>
              <a:buNone/>
            </a:pPr>
            <a:r>
              <a:rPr lang="en-US" altLang="zh-CN" sz="1800">
                <a:latin typeface="微软雅黑" panose="020B0503020204020204" pitchFamily="34" charset="-122"/>
                <a:ea typeface="微软雅黑" panose="020B0503020204020204" pitchFamily="34" charset="-122"/>
              </a:rPr>
              <a:t> </a:t>
            </a:r>
            <a:endParaRPr lang="zh-CN" altLang="en-US" sz="18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883975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32515">
                                            <p:txEl>
                                              <p:pRg st="1" end="1"/>
                                            </p:txEl>
                                          </p:spTgt>
                                        </p:tgtEl>
                                        <p:attrNameLst>
                                          <p:attrName>style.visibility</p:attrName>
                                        </p:attrNameLst>
                                      </p:cBhvr>
                                      <p:to>
                                        <p:strVal val="visible"/>
                                      </p:to>
                                    </p:set>
                                    <p:animEffect transition="in" filter="blinds(horizontal)">
                                      <p:cBhvr>
                                        <p:cTn id="7" dur="500"/>
                                        <p:tgtEl>
                                          <p:spTgt spid="83251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832515">
                                            <p:txEl>
                                              <p:pRg st="2" end="2"/>
                                            </p:txEl>
                                          </p:spTgt>
                                        </p:tgtEl>
                                        <p:attrNameLst>
                                          <p:attrName>style.visibility</p:attrName>
                                        </p:attrNameLst>
                                      </p:cBhvr>
                                      <p:to>
                                        <p:strVal val="visible"/>
                                      </p:to>
                                    </p:set>
                                    <p:animEffect transition="in" filter="blinds(horizontal)">
                                      <p:cBhvr>
                                        <p:cTn id="10" dur="500"/>
                                        <p:tgtEl>
                                          <p:spTgt spid="832515">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832515">
                                            <p:txEl>
                                              <p:pRg st="3" end="3"/>
                                            </p:txEl>
                                          </p:spTgt>
                                        </p:tgtEl>
                                        <p:attrNameLst>
                                          <p:attrName>style.visibility</p:attrName>
                                        </p:attrNameLst>
                                      </p:cBhvr>
                                      <p:to>
                                        <p:strVal val="visible"/>
                                      </p:to>
                                    </p:set>
                                    <p:animEffect transition="in" filter="blinds(horizontal)">
                                      <p:cBhvr>
                                        <p:cTn id="13" dur="500"/>
                                        <p:tgtEl>
                                          <p:spTgt spid="832515">
                                            <p:txEl>
                                              <p:pRg st="3" end="3"/>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832515">
                                            <p:txEl>
                                              <p:pRg st="4" end="4"/>
                                            </p:txEl>
                                          </p:spTgt>
                                        </p:tgtEl>
                                        <p:attrNameLst>
                                          <p:attrName>style.visibility</p:attrName>
                                        </p:attrNameLst>
                                      </p:cBhvr>
                                      <p:to>
                                        <p:strVal val="visible"/>
                                      </p:to>
                                    </p:set>
                                    <p:animEffect transition="in" filter="blinds(horizontal)">
                                      <p:cBhvr>
                                        <p:cTn id="18" dur="500"/>
                                        <p:tgtEl>
                                          <p:spTgt spid="832515">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832515">
                                            <p:txEl>
                                              <p:pRg st="5" end="5"/>
                                            </p:txEl>
                                          </p:spTgt>
                                        </p:tgtEl>
                                        <p:attrNameLst>
                                          <p:attrName>style.visibility</p:attrName>
                                        </p:attrNameLst>
                                      </p:cBhvr>
                                      <p:to>
                                        <p:strVal val="visible"/>
                                      </p:to>
                                    </p:set>
                                    <p:animEffect transition="in" filter="blinds(horizontal)">
                                      <p:cBhvr>
                                        <p:cTn id="21" dur="500"/>
                                        <p:tgtEl>
                                          <p:spTgt spid="832515">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832515">
                                            <p:txEl>
                                              <p:pRg st="6" end="6"/>
                                            </p:txEl>
                                          </p:spTgt>
                                        </p:tgtEl>
                                        <p:attrNameLst>
                                          <p:attrName>style.visibility</p:attrName>
                                        </p:attrNameLst>
                                      </p:cBhvr>
                                      <p:to>
                                        <p:strVal val="visible"/>
                                      </p:to>
                                    </p:set>
                                    <p:animEffect transition="in" filter="blinds(horizontal)">
                                      <p:cBhvr>
                                        <p:cTn id="24" dur="500"/>
                                        <p:tgtEl>
                                          <p:spTgt spid="832515">
                                            <p:txEl>
                                              <p:pRg st="6" end="6"/>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832515">
                                            <p:txEl>
                                              <p:pRg st="7" end="7"/>
                                            </p:txEl>
                                          </p:spTgt>
                                        </p:tgtEl>
                                        <p:attrNameLst>
                                          <p:attrName>style.visibility</p:attrName>
                                        </p:attrNameLst>
                                      </p:cBhvr>
                                      <p:to>
                                        <p:strVal val="visible"/>
                                      </p:to>
                                    </p:set>
                                    <p:animEffect transition="in" filter="blinds(horizontal)">
                                      <p:cBhvr>
                                        <p:cTn id="27" dur="500"/>
                                        <p:tgtEl>
                                          <p:spTgt spid="832515">
                                            <p:txEl>
                                              <p:pRg st="7" end="7"/>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832515">
                                            <p:txEl>
                                              <p:pRg st="8" end="8"/>
                                            </p:txEl>
                                          </p:spTgt>
                                        </p:tgtEl>
                                        <p:attrNameLst>
                                          <p:attrName>style.visibility</p:attrName>
                                        </p:attrNameLst>
                                      </p:cBhvr>
                                      <p:to>
                                        <p:strVal val="visible"/>
                                      </p:to>
                                    </p:set>
                                    <p:animEffect transition="in" filter="blinds(horizontal)">
                                      <p:cBhvr>
                                        <p:cTn id="30" dur="500"/>
                                        <p:tgtEl>
                                          <p:spTgt spid="83251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457200" y="98425"/>
            <a:ext cx="8229600" cy="561975"/>
          </a:xfrm>
        </p:spPr>
        <p:txBody>
          <a:bodyPr>
            <a:normAutofit fontScale="90000"/>
          </a:bodyPr>
          <a:lstStyle/>
          <a:p>
            <a:r>
              <a:rPr lang="en-US" altLang="zh-CN" sz="3200">
                <a:ea typeface="微软雅黑" panose="020B0503020204020204" pitchFamily="34" charset="-122"/>
              </a:rPr>
              <a:t>IA-32</a:t>
            </a:r>
            <a:r>
              <a:rPr lang="zh-CN" altLang="en-US" sz="3200">
                <a:ea typeface="微软雅黑" panose="020B0503020204020204" pitchFamily="34" charset="-122"/>
              </a:rPr>
              <a:t>浮点操作举例</a:t>
            </a:r>
            <a:endParaRPr lang="zh-CN" altLang="en-US" sz="3600"/>
          </a:p>
        </p:txBody>
      </p:sp>
      <p:sp>
        <p:nvSpPr>
          <p:cNvPr id="68611" name="Rectangle 3"/>
          <p:cNvSpPr>
            <a:spLocks noGrp="1" noChangeArrowheads="1"/>
          </p:cNvSpPr>
          <p:nvPr>
            <p:ph type="body" idx="1"/>
          </p:nvPr>
        </p:nvSpPr>
        <p:spPr>
          <a:xfrm>
            <a:off x="206375" y="819150"/>
            <a:ext cx="8416925" cy="927100"/>
          </a:xfrm>
        </p:spPr>
        <p:txBody>
          <a:bodyPr/>
          <a:lstStyle/>
          <a:p>
            <a:pPr>
              <a:lnSpc>
                <a:spcPct val="105000"/>
              </a:lnSpc>
              <a:buFontTx/>
              <a:buNone/>
            </a:pPr>
            <a:r>
              <a:rPr lang="zh-CN" altLang="en-US" sz="2600">
                <a:solidFill>
                  <a:srgbClr val="0000FF"/>
                </a:solidFill>
                <a:latin typeface="微软雅黑" panose="020B0503020204020204" pitchFamily="34" charset="-122"/>
                <a:ea typeface="微软雅黑" panose="020B0503020204020204" pitchFamily="34" charset="-122"/>
              </a:rPr>
              <a:t>    </a:t>
            </a:r>
            <a:r>
              <a:rPr lang="zh-CN" altLang="en-US" sz="2300">
                <a:solidFill>
                  <a:srgbClr val="0000FF"/>
                </a:solidFill>
                <a:latin typeface="微软雅黑" panose="020B0503020204020204" pitchFamily="34" charset="-122"/>
                <a:ea typeface="微软雅黑" panose="020B0503020204020204" pitchFamily="34" charset="-122"/>
              </a:rPr>
              <a:t>问题：使用老版本</a:t>
            </a:r>
            <a:r>
              <a:rPr lang="en-US" altLang="zh-CN" sz="2300">
                <a:solidFill>
                  <a:srgbClr val="0000FF"/>
                </a:solidFill>
                <a:latin typeface="微软雅黑" panose="020B0503020204020204" pitchFamily="34" charset="-122"/>
                <a:ea typeface="微软雅黑" panose="020B0503020204020204" pitchFamily="34" charset="-122"/>
              </a:rPr>
              <a:t>gcc –O2</a:t>
            </a:r>
            <a:r>
              <a:rPr lang="zh-CN" altLang="en-US" sz="2300">
                <a:solidFill>
                  <a:srgbClr val="0000FF"/>
                </a:solidFill>
                <a:latin typeface="微软雅黑" panose="020B0503020204020204" pitchFamily="34" charset="-122"/>
                <a:ea typeface="微软雅黑" panose="020B0503020204020204" pitchFamily="34" charset="-122"/>
              </a:rPr>
              <a:t>编译时，程序一输出</a:t>
            </a:r>
            <a:r>
              <a:rPr lang="en-US" altLang="zh-CN" sz="2300">
                <a:solidFill>
                  <a:srgbClr val="0000FF"/>
                </a:solidFill>
                <a:latin typeface="微软雅黑" panose="020B0503020204020204" pitchFamily="34" charset="-122"/>
                <a:ea typeface="微软雅黑" panose="020B0503020204020204" pitchFamily="34" charset="-122"/>
              </a:rPr>
              <a:t>0</a:t>
            </a:r>
            <a:r>
              <a:rPr lang="zh-CN" altLang="en-US" sz="2300">
                <a:solidFill>
                  <a:srgbClr val="0000FF"/>
                </a:solidFill>
                <a:latin typeface="微软雅黑" panose="020B0503020204020204" pitchFamily="34" charset="-122"/>
                <a:ea typeface="微软雅黑" panose="020B0503020204020204" pitchFamily="34" charset="-122"/>
              </a:rPr>
              <a:t>，程序二输出却是</a:t>
            </a:r>
            <a:r>
              <a:rPr lang="en-US" altLang="zh-CN" sz="2300">
                <a:solidFill>
                  <a:srgbClr val="0000FF"/>
                </a:solidFill>
                <a:latin typeface="微软雅黑" panose="020B0503020204020204" pitchFamily="34" charset="-122"/>
                <a:ea typeface="微软雅黑" panose="020B0503020204020204" pitchFamily="34" charset="-122"/>
              </a:rPr>
              <a:t>1</a:t>
            </a:r>
            <a:r>
              <a:rPr lang="zh-CN" altLang="en-US" sz="2300">
                <a:solidFill>
                  <a:srgbClr val="0000FF"/>
                </a:solidFill>
                <a:latin typeface="微软雅黑" panose="020B0503020204020204" pitchFamily="34" charset="-122"/>
                <a:ea typeface="微软雅黑" panose="020B0503020204020204" pitchFamily="34" charset="-122"/>
              </a:rPr>
              <a:t>，是什么原因造成的？</a:t>
            </a:r>
            <a:endParaRPr lang="zh-CN" altLang="en-US" sz="2300"/>
          </a:p>
        </p:txBody>
      </p:sp>
      <p:grpSp>
        <p:nvGrpSpPr>
          <p:cNvPr id="68612" name="Group 4"/>
          <p:cNvGrpSpPr>
            <a:grpSpLocks/>
          </p:cNvGrpSpPr>
          <p:nvPr/>
        </p:nvGrpSpPr>
        <p:grpSpPr bwMode="auto">
          <a:xfrm>
            <a:off x="3806825" y="1719263"/>
            <a:ext cx="3556000" cy="5094287"/>
            <a:chOff x="2568" y="1111"/>
            <a:chExt cx="2410" cy="3209"/>
          </a:xfrm>
        </p:grpSpPr>
        <p:pic>
          <p:nvPicPr>
            <p:cNvPr id="6861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8" y="1111"/>
              <a:ext cx="2410" cy="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6" name="Rectangle 6"/>
            <p:cNvSpPr>
              <a:spLocks noChangeArrowheads="1"/>
            </p:cNvSpPr>
            <p:nvPr/>
          </p:nvSpPr>
          <p:spPr bwMode="auto">
            <a:xfrm>
              <a:off x="3305" y="3295"/>
              <a:ext cx="822" cy="226"/>
            </a:xfrm>
            <a:prstGeom prst="rect">
              <a:avLst/>
            </a:prstGeom>
            <a:noFill/>
            <a:ln w="38100" algn="ctr">
              <a:solidFill>
                <a:srgbClr val="FF33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800">
                <a:latin typeface="微软雅黑" panose="020B0503020204020204" pitchFamily="34" charset="-122"/>
                <a:ea typeface="微软雅黑" panose="020B0503020204020204" pitchFamily="34" charset="-122"/>
              </a:endParaRPr>
            </a:p>
          </p:txBody>
        </p:sp>
      </p:grpSp>
      <p:pic>
        <p:nvPicPr>
          <p:cNvPr id="6861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88" y="1763713"/>
            <a:ext cx="3716337" cy="509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3544" name="Text Box 8"/>
          <p:cNvSpPr txBox="1">
            <a:spLocks noChangeArrowheads="1"/>
          </p:cNvSpPr>
          <p:nvPr/>
        </p:nvSpPr>
        <p:spPr bwMode="auto">
          <a:xfrm>
            <a:off x="4527550" y="1314450"/>
            <a:ext cx="4410075"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en-US" altLang="zh-CN" sz="2000">
                <a:solidFill>
                  <a:srgbClr val="FF3300"/>
                </a:solidFill>
                <a:latin typeface="微软雅黑" panose="020B0503020204020204" pitchFamily="34" charset="-122"/>
                <a:ea typeface="微软雅黑" panose="020B0503020204020204" pitchFamily="34" charset="-122"/>
              </a:rPr>
              <a:t>f(10)</a:t>
            </a:r>
            <a:r>
              <a:rPr lang="zh-CN" altLang="en-US" sz="2000">
                <a:solidFill>
                  <a:srgbClr val="FF3300"/>
                </a:solidFill>
                <a:latin typeface="微软雅黑" panose="020B0503020204020204" pitchFamily="34" charset="-122"/>
                <a:ea typeface="微软雅黑" panose="020B0503020204020204" pitchFamily="34" charset="-122"/>
              </a:rPr>
              <a:t>的值是多少？机器数是多少？</a:t>
            </a:r>
          </a:p>
        </p:txBody>
      </p:sp>
    </p:spTree>
    <p:extLst>
      <p:ext uri="{BB962C8B-B14F-4D97-AF65-F5344CB8AC3E}">
        <p14:creationId xmlns:p14="http://schemas.microsoft.com/office/powerpoint/2010/main" val="21593694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33544"/>
                                        </p:tgtEl>
                                        <p:attrNameLst>
                                          <p:attrName>style.visibility</p:attrName>
                                        </p:attrNameLst>
                                      </p:cBhvr>
                                      <p:to>
                                        <p:strVal val="visible"/>
                                      </p:to>
                                    </p:set>
                                    <p:animEffect transition="in" filter="blinds(horizontal)">
                                      <p:cBhvr>
                                        <p:cTn id="7" dur="500"/>
                                        <p:tgtEl>
                                          <p:spTgt spid="8335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354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457200" y="98425"/>
            <a:ext cx="8229600" cy="561975"/>
          </a:xfrm>
        </p:spPr>
        <p:txBody>
          <a:bodyPr>
            <a:normAutofit fontScale="90000"/>
          </a:bodyPr>
          <a:lstStyle/>
          <a:p>
            <a:r>
              <a:rPr lang="en-US" altLang="zh-CN" sz="3200">
                <a:ea typeface="微软雅黑" panose="020B0503020204020204" pitchFamily="34" charset="-122"/>
              </a:rPr>
              <a:t>IA-32</a:t>
            </a:r>
            <a:r>
              <a:rPr lang="zh-CN" altLang="en-US" sz="3200">
                <a:ea typeface="微软雅黑" panose="020B0503020204020204" pitchFamily="34" charset="-122"/>
              </a:rPr>
              <a:t>浮点操作举例</a:t>
            </a:r>
            <a:endParaRPr lang="zh-CN" altLang="en-US" sz="3600"/>
          </a:p>
        </p:txBody>
      </p:sp>
      <p:sp>
        <p:nvSpPr>
          <p:cNvPr id="69635" name="Rectangle 3"/>
          <p:cNvSpPr>
            <a:spLocks noChangeArrowheads="1"/>
          </p:cNvSpPr>
          <p:nvPr/>
        </p:nvSpPr>
        <p:spPr bwMode="auto">
          <a:xfrm>
            <a:off x="3581400" y="998538"/>
            <a:ext cx="5202238" cy="1828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2000">
                <a:latin typeface="微软雅黑" panose="020B0503020204020204" pitchFamily="34" charset="-122"/>
                <a:ea typeface="微软雅黑" panose="020B0503020204020204" pitchFamily="34" charset="-122"/>
              </a:rPr>
              <a:t>8048328:    55              push   %ebp</a:t>
            </a:r>
          </a:p>
          <a:p>
            <a:pPr>
              <a:lnSpc>
                <a:spcPct val="100000"/>
              </a:lnSpc>
              <a:spcBef>
                <a:spcPct val="0"/>
              </a:spcBef>
              <a:buFontTx/>
              <a:buNone/>
            </a:pPr>
            <a:r>
              <a:rPr lang="en-US" altLang="zh-CN" sz="2000">
                <a:latin typeface="微软雅黑" panose="020B0503020204020204" pitchFamily="34" charset="-122"/>
                <a:ea typeface="微软雅黑" panose="020B0503020204020204" pitchFamily="34" charset="-122"/>
              </a:rPr>
              <a:t>8048329:    89 e5         mov    %esp,%ebp</a:t>
            </a:r>
          </a:p>
          <a:p>
            <a:pPr>
              <a:lnSpc>
                <a:spcPct val="100000"/>
              </a:lnSpc>
              <a:spcBef>
                <a:spcPct val="0"/>
              </a:spcBef>
              <a:buFontTx/>
              <a:buNone/>
            </a:pPr>
            <a:r>
              <a:rPr lang="en-US" altLang="zh-CN" sz="2000">
                <a:latin typeface="微软雅黑" panose="020B0503020204020204" pitchFamily="34" charset="-122"/>
                <a:ea typeface="微软雅黑" panose="020B0503020204020204" pitchFamily="34" charset="-122"/>
              </a:rPr>
              <a:t>804832b:    d9 e8         </a:t>
            </a:r>
            <a:r>
              <a:rPr lang="en-US" altLang="zh-CN" sz="2000">
                <a:solidFill>
                  <a:srgbClr val="FF3300"/>
                </a:solidFill>
                <a:latin typeface="微软雅黑" panose="020B0503020204020204" pitchFamily="34" charset="-122"/>
                <a:ea typeface="微软雅黑" panose="020B0503020204020204" pitchFamily="34" charset="-122"/>
              </a:rPr>
              <a:t>fld1 </a:t>
            </a:r>
            <a:r>
              <a:rPr lang="en-US" altLang="zh-CN" sz="2000">
                <a:latin typeface="微软雅黑" panose="020B0503020204020204" pitchFamily="34" charset="-122"/>
                <a:ea typeface="微软雅黑" panose="020B0503020204020204" pitchFamily="34" charset="-122"/>
              </a:rPr>
              <a:t>  </a:t>
            </a:r>
          </a:p>
          <a:p>
            <a:pPr>
              <a:lnSpc>
                <a:spcPct val="100000"/>
              </a:lnSpc>
              <a:spcBef>
                <a:spcPct val="0"/>
              </a:spcBef>
              <a:buFontTx/>
              <a:buNone/>
            </a:pPr>
            <a:r>
              <a:rPr lang="en-US" altLang="zh-CN" sz="2000">
                <a:latin typeface="微软雅黑" panose="020B0503020204020204" pitchFamily="34" charset="-122"/>
                <a:ea typeface="微软雅黑" panose="020B0503020204020204" pitchFamily="34" charset="-122"/>
              </a:rPr>
              <a:t>804832d:    da 75 08    </a:t>
            </a:r>
            <a:r>
              <a:rPr lang="en-US" altLang="zh-CN" sz="2000">
                <a:solidFill>
                  <a:srgbClr val="FF3300"/>
                </a:solidFill>
                <a:latin typeface="微软雅黑" panose="020B0503020204020204" pitchFamily="34" charset="-122"/>
                <a:ea typeface="微软雅黑" panose="020B0503020204020204" pitchFamily="34" charset="-122"/>
              </a:rPr>
              <a:t>fidivl 0x8(%ebp)</a:t>
            </a:r>
            <a:r>
              <a:rPr lang="en-US" altLang="zh-CN" sz="2000">
                <a:latin typeface="微软雅黑" panose="020B0503020204020204" pitchFamily="34" charset="-122"/>
                <a:ea typeface="微软雅黑" panose="020B0503020204020204" pitchFamily="34" charset="-122"/>
              </a:rPr>
              <a:t> </a:t>
            </a:r>
          </a:p>
          <a:p>
            <a:pPr>
              <a:lnSpc>
                <a:spcPct val="100000"/>
              </a:lnSpc>
              <a:spcBef>
                <a:spcPct val="0"/>
              </a:spcBef>
              <a:buFontTx/>
              <a:buNone/>
            </a:pPr>
            <a:r>
              <a:rPr lang="en-US" altLang="zh-CN" sz="2000">
                <a:latin typeface="微软雅黑" panose="020B0503020204020204" pitchFamily="34" charset="-122"/>
                <a:ea typeface="微软雅黑" panose="020B0503020204020204" pitchFamily="34" charset="-122"/>
              </a:rPr>
              <a:t>8048330:    c9               leave  </a:t>
            </a:r>
          </a:p>
          <a:p>
            <a:pPr>
              <a:lnSpc>
                <a:spcPct val="100000"/>
              </a:lnSpc>
              <a:spcBef>
                <a:spcPct val="0"/>
              </a:spcBef>
              <a:buFontTx/>
              <a:buNone/>
            </a:pPr>
            <a:r>
              <a:rPr lang="en-US" altLang="zh-CN" sz="2000">
                <a:latin typeface="微软雅黑" panose="020B0503020204020204" pitchFamily="34" charset="-122"/>
                <a:ea typeface="微软雅黑" panose="020B0503020204020204" pitchFamily="34" charset="-122"/>
              </a:rPr>
              <a:t>8048331:    c3               ret</a:t>
            </a:r>
            <a:r>
              <a:rPr lang="en-US" altLang="zh-CN" sz="1800">
                <a:latin typeface="微软雅黑" panose="020B0503020204020204" pitchFamily="34" charset="-122"/>
                <a:ea typeface="微软雅黑" panose="020B0503020204020204" pitchFamily="34" charset="-122"/>
              </a:rPr>
              <a:t>    </a:t>
            </a:r>
          </a:p>
        </p:txBody>
      </p:sp>
      <p:sp>
        <p:nvSpPr>
          <p:cNvPr id="69636" name="Rectangle 4"/>
          <p:cNvSpPr>
            <a:spLocks noChangeArrowheads="1"/>
          </p:cNvSpPr>
          <p:nvPr/>
        </p:nvSpPr>
        <p:spPr bwMode="auto">
          <a:xfrm>
            <a:off x="431800" y="1112005"/>
            <a:ext cx="2430463" cy="135421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2200">
                <a:latin typeface="微软雅黑" panose="020B0503020204020204" pitchFamily="34" charset="-122"/>
                <a:ea typeface="微软雅黑" panose="020B0503020204020204" pitchFamily="34" charset="-122"/>
              </a:rPr>
              <a:t>double f(int x)</a:t>
            </a:r>
          </a:p>
          <a:p>
            <a:pPr>
              <a:lnSpc>
                <a:spcPct val="100000"/>
              </a:lnSpc>
              <a:spcBef>
                <a:spcPct val="0"/>
              </a:spcBef>
              <a:buFontTx/>
              <a:buNone/>
            </a:pPr>
            <a:r>
              <a:rPr lang="en-US" altLang="zh-CN" sz="2200">
                <a:latin typeface="微软雅黑" panose="020B0503020204020204" pitchFamily="34" charset="-122"/>
                <a:ea typeface="微软雅黑" panose="020B0503020204020204" pitchFamily="34" charset="-122"/>
              </a:rPr>
              <a:t>{</a:t>
            </a:r>
          </a:p>
          <a:p>
            <a:pPr>
              <a:lnSpc>
                <a:spcPct val="100000"/>
              </a:lnSpc>
              <a:spcBef>
                <a:spcPct val="0"/>
              </a:spcBef>
              <a:buFontTx/>
              <a:buNone/>
            </a:pPr>
            <a:r>
              <a:rPr lang="en-US" altLang="zh-CN" sz="2200">
                <a:latin typeface="微软雅黑" panose="020B0503020204020204" pitchFamily="34" charset="-122"/>
                <a:ea typeface="微软雅黑" panose="020B0503020204020204" pitchFamily="34" charset="-122"/>
              </a:rPr>
              <a:t>     return 1.0 / x ;</a:t>
            </a:r>
          </a:p>
          <a:p>
            <a:pPr>
              <a:lnSpc>
                <a:spcPct val="100000"/>
              </a:lnSpc>
              <a:spcBef>
                <a:spcPct val="0"/>
              </a:spcBef>
              <a:buFontTx/>
              <a:buNone/>
            </a:pPr>
            <a:r>
              <a:rPr lang="en-US" altLang="zh-CN" sz="2200">
                <a:latin typeface="微软雅黑" panose="020B0503020204020204" pitchFamily="34" charset="-122"/>
                <a:ea typeface="微软雅黑" panose="020B0503020204020204" pitchFamily="34" charset="-122"/>
              </a:rPr>
              <a:t>}</a:t>
            </a:r>
          </a:p>
        </p:txBody>
      </p:sp>
      <p:sp>
        <p:nvSpPr>
          <p:cNvPr id="69637" name="Rectangle 5"/>
          <p:cNvSpPr>
            <a:spLocks noChangeArrowheads="1"/>
          </p:cNvSpPr>
          <p:nvPr/>
        </p:nvSpPr>
        <p:spPr bwMode="auto">
          <a:xfrm>
            <a:off x="168275" y="3114675"/>
            <a:ext cx="8813800" cy="18002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40000"/>
              </a:lnSpc>
              <a:spcBef>
                <a:spcPct val="0"/>
              </a:spcBef>
              <a:buFontTx/>
              <a:buNone/>
            </a:pPr>
            <a:r>
              <a:rPr lang="zh-CN" altLang="en-US" sz="2000">
                <a:solidFill>
                  <a:srgbClr val="0066FF"/>
                </a:solidFill>
                <a:latin typeface="微软雅黑" panose="020B0503020204020204" pitchFamily="34" charset="-122"/>
                <a:ea typeface="微软雅黑" panose="020B0503020204020204" pitchFamily="34" charset="-122"/>
              </a:rPr>
              <a:t>两条重要指令的功能如下。</a:t>
            </a:r>
          </a:p>
          <a:p>
            <a:pPr>
              <a:lnSpc>
                <a:spcPct val="140000"/>
              </a:lnSpc>
              <a:spcBef>
                <a:spcPct val="0"/>
              </a:spcBef>
              <a:buFontTx/>
              <a:buNone/>
            </a:pPr>
            <a:r>
              <a:rPr lang="en-US" altLang="zh-CN" sz="2000">
                <a:solidFill>
                  <a:srgbClr val="FF3300"/>
                </a:solidFill>
                <a:latin typeface="微软雅黑" panose="020B0503020204020204" pitchFamily="34" charset="-122"/>
                <a:ea typeface="微软雅黑" panose="020B0503020204020204" pitchFamily="34" charset="-122"/>
              </a:rPr>
              <a:t>fld1</a:t>
            </a:r>
            <a:r>
              <a:rPr lang="zh-CN" altLang="en-US" sz="2000">
                <a:solidFill>
                  <a:srgbClr val="FF3300"/>
                </a:solidFill>
                <a:latin typeface="微软雅黑" panose="020B0503020204020204" pitchFamily="34" charset="-122"/>
                <a:ea typeface="微软雅黑" panose="020B0503020204020204" pitchFamily="34" charset="-122"/>
              </a:rPr>
              <a:t>：将常数</a:t>
            </a:r>
            <a:r>
              <a:rPr lang="en-US" altLang="zh-CN" sz="2000">
                <a:solidFill>
                  <a:srgbClr val="FF3300"/>
                </a:solidFill>
                <a:latin typeface="微软雅黑" panose="020B0503020204020204" pitchFamily="34" charset="-122"/>
                <a:ea typeface="微软雅黑" panose="020B0503020204020204" pitchFamily="34" charset="-122"/>
              </a:rPr>
              <a:t>1</a:t>
            </a:r>
            <a:r>
              <a:rPr lang="zh-CN" altLang="en-US" sz="2000">
                <a:solidFill>
                  <a:srgbClr val="FF3300"/>
                </a:solidFill>
                <a:latin typeface="微软雅黑" panose="020B0503020204020204" pitchFamily="34" charset="-122"/>
                <a:ea typeface="微软雅黑" panose="020B0503020204020204" pitchFamily="34" charset="-122"/>
              </a:rPr>
              <a:t>压入栈顶</a:t>
            </a:r>
            <a:r>
              <a:rPr lang="en-US" altLang="zh-CN" sz="2000">
                <a:solidFill>
                  <a:srgbClr val="FF3300"/>
                </a:solidFill>
                <a:latin typeface="微软雅黑" panose="020B0503020204020204" pitchFamily="34" charset="-122"/>
                <a:ea typeface="微软雅黑" panose="020B0503020204020204" pitchFamily="34" charset="-122"/>
              </a:rPr>
              <a:t>ST(0)</a:t>
            </a:r>
          </a:p>
          <a:p>
            <a:pPr>
              <a:lnSpc>
                <a:spcPct val="140000"/>
              </a:lnSpc>
              <a:spcBef>
                <a:spcPct val="0"/>
              </a:spcBef>
              <a:buFontTx/>
              <a:buNone/>
            </a:pPr>
            <a:r>
              <a:rPr lang="en-US" altLang="zh-CN" sz="2000">
                <a:solidFill>
                  <a:srgbClr val="FF3300"/>
                </a:solidFill>
                <a:latin typeface="微软雅黑" panose="020B0503020204020204" pitchFamily="34" charset="-122"/>
                <a:ea typeface="微软雅黑" panose="020B0503020204020204" pitchFamily="34" charset="-122"/>
              </a:rPr>
              <a:t>fidivl</a:t>
            </a:r>
            <a:r>
              <a:rPr lang="zh-CN" altLang="en-US" sz="2000">
                <a:solidFill>
                  <a:srgbClr val="FF3300"/>
                </a:solidFill>
                <a:latin typeface="微软雅黑" panose="020B0503020204020204" pitchFamily="34" charset="-122"/>
                <a:ea typeface="微软雅黑" panose="020B0503020204020204" pitchFamily="34" charset="-122"/>
              </a:rPr>
              <a:t>：将指定存储单元操作数</a:t>
            </a:r>
            <a:r>
              <a:rPr lang="en-US" altLang="zh-CN" sz="2000">
                <a:solidFill>
                  <a:srgbClr val="FF3300"/>
                </a:solidFill>
                <a:latin typeface="微软雅黑" panose="020B0503020204020204" pitchFamily="34" charset="-122"/>
                <a:ea typeface="微软雅黑" panose="020B0503020204020204" pitchFamily="34" charset="-122"/>
              </a:rPr>
              <a:t>M[R[ebp]+8]</a:t>
            </a:r>
            <a:r>
              <a:rPr lang="zh-CN" altLang="en-US" sz="2000">
                <a:solidFill>
                  <a:srgbClr val="FF3300"/>
                </a:solidFill>
                <a:latin typeface="微软雅黑" panose="020B0503020204020204" pitchFamily="34" charset="-122"/>
                <a:ea typeface="微软雅黑" panose="020B0503020204020204" pitchFamily="34" charset="-122"/>
              </a:rPr>
              <a:t>中的</a:t>
            </a:r>
            <a:r>
              <a:rPr lang="en-US" altLang="zh-CN" sz="2000">
                <a:solidFill>
                  <a:srgbClr val="FF3300"/>
                </a:solidFill>
                <a:latin typeface="微软雅黑" panose="020B0503020204020204" pitchFamily="34" charset="-122"/>
                <a:ea typeface="微软雅黑" panose="020B0503020204020204" pitchFamily="34" charset="-122"/>
              </a:rPr>
              <a:t>int</a:t>
            </a:r>
            <a:r>
              <a:rPr lang="zh-CN" altLang="en-US" sz="2000">
                <a:solidFill>
                  <a:srgbClr val="FF3300"/>
                </a:solidFill>
                <a:latin typeface="微软雅黑" panose="020B0503020204020204" pitchFamily="34" charset="-122"/>
                <a:ea typeface="微软雅黑" panose="020B0503020204020204" pitchFamily="34" charset="-122"/>
              </a:rPr>
              <a:t>型数转换为</a:t>
            </a:r>
            <a:r>
              <a:rPr lang="en-US" altLang="zh-CN" sz="2000">
                <a:solidFill>
                  <a:srgbClr val="FF3300"/>
                </a:solidFill>
                <a:latin typeface="微软雅黑" panose="020B0503020204020204" pitchFamily="34" charset="-122"/>
                <a:ea typeface="微软雅黑" panose="020B0503020204020204" pitchFamily="34" charset="-122"/>
              </a:rPr>
              <a:t>double</a:t>
            </a:r>
            <a:r>
              <a:rPr lang="zh-CN" altLang="en-US" sz="2000">
                <a:solidFill>
                  <a:srgbClr val="FF3300"/>
                </a:solidFill>
                <a:latin typeface="微软雅黑" panose="020B0503020204020204" pitchFamily="34" charset="-122"/>
                <a:ea typeface="微软雅黑" panose="020B0503020204020204" pitchFamily="34" charset="-122"/>
              </a:rPr>
              <a:t>型，</a:t>
            </a:r>
          </a:p>
          <a:p>
            <a:pPr>
              <a:lnSpc>
                <a:spcPct val="140000"/>
              </a:lnSpc>
              <a:spcBef>
                <a:spcPct val="0"/>
              </a:spcBef>
              <a:buFontTx/>
              <a:buNone/>
            </a:pPr>
            <a:r>
              <a:rPr lang="zh-CN" altLang="en-US" sz="2000">
                <a:solidFill>
                  <a:srgbClr val="FF3300"/>
                </a:solidFill>
                <a:latin typeface="微软雅黑" panose="020B0503020204020204" pitchFamily="34" charset="-122"/>
                <a:ea typeface="微软雅黑" panose="020B0503020204020204" pitchFamily="34" charset="-122"/>
              </a:rPr>
              <a:t>            再将</a:t>
            </a:r>
            <a:r>
              <a:rPr lang="en-US" altLang="zh-CN" sz="2000">
                <a:solidFill>
                  <a:srgbClr val="FF3300"/>
                </a:solidFill>
                <a:latin typeface="微软雅黑" panose="020B0503020204020204" pitchFamily="34" charset="-122"/>
                <a:ea typeface="微软雅黑" panose="020B0503020204020204" pitchFamily="34" charset="-122"/>
              </a:rPr>
              <a:t>ST(0)</a:t>
            </a:r>
            <a:r>
              <a:rPr lang="zh-CN" altLang="en-US" sz="2000">
                <a:solidFill>
                  <a:srgbClr val="FF3300"/>
                </a:solidFill>
                <a:latin typeface="微软雅黑" panose="020B0503020204020204" pitchFamily="34" charset="-122"/>
                <a:ea typeface="微软雅黑" panose="020B0503020204020204" pitchFamily="34" charset="-122"/>
              </a:rPr>
              <a:t>除以该数，并将结果存入</a:t>
            </a:r>
            <a:r>
              <a:rPr lang="en-US" altLang="zh-CN" sz="2000">
                <a:solidFill>
                  <a:srgbClr val="FF3300"/>
                </a:solidFill>
                <a:latin typeface="微软雅黑" panose="020B0503020204020204" pitchFamily="34" charset="-122"/>
                <a:ea typeface="微软雅黑" panose="020B0503020204020204" pitchFamily="34" charset="-122"/>
              </a:rPr>
              <a:t>ST(0)</a:t>
            </a:r>
            <a:r>
              <a:rPr lang="zh-CN" altLang="en-US" sz="2000">
                <a:solidFill>
                  <a:srgbClr val="FF3300"/>
                </a:solidFill>
                <a:latin typeface="微软雅黑" panose="020B0503020204020204" pitchFamily="34" charset="-122"/>
                <a:ea typeface="微软雅黑" panose="020B0503020204020204" pitchFamily="34" charset="-122"/>
              </a:rPr>
              <a:t>中</a:t>
            </a:r>
          </a:p>
        </p:txBody>
      </p:sp>
      <p:sp>
        <p:nvSpPr>
          <p:cNvPr id="69638" name="Rectangle 6"/>
          <p:cNvSpPr>
            <a:spLocks noChangeArrowheads="1"/>
          </p:cNvSpPr>
          <p:nvPr/>
        </p:nvSpPr>
        <p:spPr bwMode="auto">
          <a:xfrm>
            <a:off x="134938" y="5597525"/>
            <a:ext cx="8982075"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2000">
                <a:latin typeface="微软雅黑" panose="020B0503020204020204" pitchFamily="34" charset="-122"/>
                <a:ea typeface="微软雅黑" panose="020B0503020204020204" pitchFamily="34" charset="-122"/>
              </a:rPr>
              <a:t>0.1=0.00011[0011]B= 0.00011 0011 0011 0011 0011 0011 0011</a:t>
            </a:r>
            <a:r>
              <a:rPr lang="en-US" altLang="en-US" sz="2000">
                <a:latin typeface="微软雅黑" panose="020B0503020204020204" pitchFamily="34" charset="-122"/>
                <a:ea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rPr>
              <a:t>B</a:t>
            </a:r>
            <a:endParaRPr lang="zh-CN" altLang="en-US" sz="2000">
              <a:latin typeface="微软雅黑" panose="020B0503020204020204" pitchFamily="34" charset="-122"/>
              <a:ea typeface="微软雅黑" panose="020B0503020204020204" pitchFamily="34" charset="-122"/>
            </a:endParaRPr>
          </a:p>
        </p:txBody>
      </p:sp>
      <p:sp>
        <p:nvSpPr>
          <p:cNvPr id="69639" name="Text Box 7"/>
          <p:cNvSpPr txBox="1">
            <a:spLocks noChangeArrowheads="1"/>
          </p:cNvSpPr>
          <p:nvPr/>
        </p:nvSpPr>
        <p:spPr bwMode="auto">
          <a:xfrm>
            <a:off x="161925" y="5146675"/>
            <a:ext cx="2295525"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en-US" altLang="zh-CN" sz="2000">
                <a:latin typeface="微软雅黑" panose="020B0503020204020204" pitchFamily="34" charset="-122"/>
                <a:ea typeface="微软雅黑" panose="020B0503020204020204" pitchFamily="34" charset="-122"/>
              </a:rPr>
              <a:t>f(10)=0.1</a:t>
            </a:r>
          </a:p>
        </p:txBody>
      </p:sp>
    </p:spTree>
    <p:extLst>
      <p:ext uri="{BB962C8B-B14F-4D97-AF65-F5344CB8AC3E}">
        <p14:creationId xmlns:p14="http://schemas.microsoft.com/office/powerpoint/2010/main" val="33520468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476250" y="122238"/>
            <a:ext cx="8229600" cy="561975"/>
          </a:xfrm>
        </p:spPr>
        <p:txBody>
          <a:bodyPr>
            <a:normAutofit fontScale="90000"/>
          </a:bodyPr>
          <a:lstStyle/>
          <a:p>
            <a:r>
              <a:rPr lang="en-US" altLang="zh-CN" sz="3200">
                <a:ea typeface="微软雅黑" panose="020B0503020204020204" pitchFamily="34" charset="-122"/>
              </a:rPr>
              <a:t>IA-32</a:t>
            </a:r>
            <a:r>
              <a:rPr lang="zh-CN" altLang="en-US" sz="3200">
                <a:ea typeface="微软雅黑" panose="020B0503020204020204" pitchFamily="34" charset="-122"/>
              </a:rPr>
              <a:t>浮点操作举例</a:t>
            </a:r>
            <a:endParaRPr lang="zh-CN" altLang="en-US" sz="3600"/>
          </a:p>
        </p:txBody>
      </p:sp>
      <p:sp>
        <p:nvSpPr>
          <p:cNvPr id="70659" name="Rectangle 3"/>
          <p:cNvSpPr>
            <a:spLocks noChangeArrowheads="1"/>
          </p:cNvSpPr>
          <p:nvPr/>
        </p:nvSpPr>
        <p:spPr bwMode="auto">
          <a:xfrm>
            <a:off x="206375" y="607171"/>
            <a:ext cx="7279237" cy="6227859"/>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indent="2667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08048334 &lt;main&gt;:</a:t>
            </a: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8048334:       55                       push   %</a:t>
            </a:r>
            <a:r>
              <a:rPr lang="en-US" altLang="zh-CN" sz="1700" dirty="0" err="1">
                <a:latin typeface="微软雅黑" panose="020B0503020204020204" pitchFamily="34" charset="-122"/>
                <a:ea typeface="微软雅黑" panose="020B0503020204020204" pitchFamily="34" charset="-122"/>
              </a:rPr>
              <a:t>ebp</a:t>
            </a:r>
            <a:endParaRPr lang="en-US" altLang="zh-CN" sz="1700" dirty="0">
              <a:latin typeface="微软雅黑" panose="020B0503020204020204" pitchFamily="34" charset="-122"/>
              <a:ea typeface="微软雅黑" panose="020B0503020204020204" pitchFamily="34" charset="-122"/>
            </a:endParaRP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8048335:       89 e5                  </a:t>
            </a:r>
            <a:r>
              <a:rPr lang="en-US" altLang="zh-CN" sz="1700" dirty="0" err="1">
                <a:latin typeface="微软雅黑" panose="020B0503020204020204" pitchFamily="34" charset="-122"/>
                <a:ea typeface="微软雅黑" panose="020B0503020204020204" pitchFamily="34" charset="-122"/>
              </a:rPr>
              <a:t>mov</a:t>
            </a:r>
            <a:r>
              <a:rPr lang="en-US" altLang="zh-CN" sz="1700" dirty="0">
                <a:latin typeface="微软雅黑" panose="020B0503020204020204" pitchFamily="34" charset="-122"/>
                <a:ea typeface="微软雅黑" panose="020B0503020204020204" pitchFamily="34" charset="-122"/>
              </a:rPr>
              <a:t>    %</a:t>
            </a:r>
            <a:r>
              <a:rPr lang="en-US" altLang="zh-CN" sz="1700" dirty="0" err="1">
                <a:latin typeface="微软雅黑" panose="020B0503020204020204" pitchFamily="34" charset="-122"/>
                <a:ea typeface="微软雅黑" panose="020B0503020204020204" pitchFamily="34" charset="-122"/>
              </a:rPr>
              <a:t>esp</a:t>
            </a:r>
            <a:r>
              <a:rPr lang="en-US" altLang="zh-CN" sz="1700" dirty="0">
                <a:latin typeface="微软雅黑" panose="020B0503020204020204" pitchFamily="34" charset="-122"/>
                <a:ea typeface="微软雅黑" panose="020B0503020204020204" pitchFamily="34" charset="-122"/>
              </a:rPr>
              <a:t>,%</a:t>
            </a:r>
            <a:r>
              <a:rPr lang="en-US" altLang="zh-CN" sz="1700" dirty="0" err="1">
                <a:latin typeface="微软雅黑" panose="020B0503020204020204" pitchFamily="34" charset="-122"/>
                <a:ea typeface="微软雅黑" panose="020B0503020204020204" pitchFamily="34" charset="-122"/>
              </a:rPr>
              <a:t>ebp</a:t>
            </a:r>
            <a:endParaRPr lang="en-US" altLang="zh-CN" sz="1700" dirty="0">
              <a:latin typeface="微软雅黑" panose="020B0503020204020204" pitchFamily="34" charset="-122"/>
              <a:ea typeface="微软雅黑" panose="020B0503020204020204" pitchFamily="34" charset="-122"/>
            </a:endParaRP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8048337:       83 </a:t>
            </a:r>
            <a:r>
              <a:rPr lang="en-US" altLang="zh-CN" sz="1700" dirty="0" err="1">
                <a:latin typeface="微软雅黑" panose="020B0503020204020204" pitchFamily="34" charset="-122"/>
                <a:ea typeface="微软雅黑" panose="020B0503020204020204" pitchFamily="34" charset="-122"/>
              </a:rPr>
              <a:t>ec</a:t>
            </a:r>
            <a:r>
              <a:rPr lang="en-US" altLang="zh-CN" sz="1700" dirty="0">
                <a:latin typeface="微软雅黑" panose="020B0503020204020204" pitchFamily="34" charset="-122"/>
                <a:ea typeface="微软雅黑" panose="020B0503020204020204" pitchFamily="34" charset="-122"/>
              </a:rPr>
              <a:t> 08             sub    $0x8,%esp</a:t>
            </a: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804833a:       83 e4 f0             and    $0xfffffff0,%esp</a:t>
            </a: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804833d:       83 </a:t>
            </a:r>
            <a:r>
              <a:rPr lang="en-US" altLang="zh-CN" sz="1700" dirty="0" err="1">
                <a:latin typeface="微软雅黑" panose="020B0503020204020204" pitchFamily="34" charset="-122"/>
                <a:ea typeface="微软雅黑" panose="020B0503020204020204" pitchFamily="34" charset="-122"/>
              </a:rPr>
              <a:t>ec</a:t>
            </a:r>
            <a:r>
              <a:rPr lang="en-US" altLang="zh-CN" sz="1700" dirty="0">
                <a:latin typeface="微软雅黑" panose="020B0503020204020204" pitchFamily="34" charset="-122"/>
                <a:ea typeface="微软雅黑" panose="020B0503020204020204" pitchFamily="34" charset="-122"/>
              </a:rPr>
              <a:t> 0c             sub    $0xc,%esp</a:t>
            </a: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8048340:       6a 0a                  push   $0xa</a:t>
            </a: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8048342:       e8 e1 </a:t>
            </a:r>
            <a:r>
              <a:rPr lang="en-US" altLang="zh-CN" sz="1700" dirty="0" err="1">
                <a:latin typeface="微软雅黑" panose="020B0503020204020204" pitchFamily="34" charset="-122"/>
                <a:ea typeface="微软雅黑" panose="020B0503020204020204" pitchFamily="34" charset="-122"/>
              </a:rPr>
              <a:t>ff</a:t>
            </a:r>
            <a:r>
              <a:rPr lang="en-US" altLang="zh-CN" sz="1700" dirty="0">
                <a:latin typeface="微软雅黑" panose="020B0503020204020204" pitchFamily="34" charset="-122"/>
                <a:ea typeface="微软雅黑" panose="020B0503020204020204" pitchFamily="34" charset="-122"/>
              </a:rPr>
              <a:t> </a:t>
            </a:r>
            <a:r>
              <a:rPr lang="en-US" altLang="zh-CN" sz="1700" dirty="0" err="1">
                <a:latin typeface="微软雅黑" panose="020B0503020204020204" pitchFamily="34" charset="-122"/>
                <a:ea typeface="微软雅黑" panose="020B0503020204020204" pitchFamily="34" charset="-122"/>
              </a:rPr>
              <a:t>ff</a:t>
            </a:r>
            <a:r>
              <a:rPr lang="en-US" altLang="zh-CN" sz="1700" dirty="0">
                <a:latin typeface="微软雅黑" panose="020B0503020204020204" pitchFamily="34" charset="-122"/>
                <a:ea typeface="微软雅黑" panose="020B0503020204020204" pitchFamily="34" charset="-122"/>
              </a:rPr>
              <a:t> </a:t>
            </a:r>
            <a:r>
              <a:rPr lang="en-US" altLang="zh-CN" sz="1700" dirty="0" err="1">
                <a:latin typeface="微软雅黑" panose="020B0503020204020204" pitchFamily="34" charset="-122"/>
                <a:ea typeface="微软雅黑" panose="020B0503020204020204" pitchFamily="34" charset="-122"/>
              </a:rPr>
              <a:t>ff</a:t>
            </a:r>
            <a:r>
              <a:rPr lang="en-US" altLang="zh-CN" sz="1700" dirty="0">
                <a:latin typeface="微软雅黑" panose="020B0503020204020204" pitchFamily="34" charset="-122"/>
                <a:ea typeface="微软雅黑" panose="020B0503020204020204" pitchFamily="34" charset="-122"/>
              </a:rPr>
              <a:t>       call   8048328 &lt;f&gt; </a:t>
            </a:r>
            <a:r>
              <a:rPr lang="en-US" altLang="zh-CN" sz="1700" dirty="0">
                <a:solidFill>
                  <a:srgbClr val="3333CC"/>
                </a:solidFill>
                <a:latin typeface="微软雅黑" panose="020B0503020204020204" pitchFamily="34" charset="-122"/>
                <a:ea typeface="微软雅黑" panose="020B0503020204020204" pitchFamily="34" charset="-122"/>
              </a:rPr>
              <a:t>//</a:t>
            </a:r>
            <a:r>
              <a:rPr lang="zh-CN" altLang="en-US" sz="1700" dirty="0">
                <a:solidFill>
                  <a:srgbClr val="3333CC"/>
                </a:solidFill>
                <a:latin typeface="微软雅黑" panose="020B0503020204020204" pitchFamily="34" charset="-122"/>
                <a:ea typeface="微软雅黑" panose="020B0503020204020204" pitchFamily="34" charset="-122"/>
              </a:rPr>
              <a:t>计算</a:t>
            </a:r>
            <a:r>
              <a:rPr lang="en-US" altLang="zh-CN" sz="1700" dirty="0">
                <a:solidFill>
                  <a:srgbClr val="3333CC"/>
                </a:solidFill>
                <a:latin typeface="微软雅黑" panose="020B0503020204020204" pitchFamily="34" charset="-122"/>
                <a:ea typeface="微软雅黑" panose="020B0503020204020204" pitchFamily="34" charset="-122"/>
              </a:rPr>
              <a:t>a=f(10)</a:t>
            </a: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8048347:       </a:t>
            </a:r>
            <a:r>
              <a:rPr lang="en-US" altLang="zh-CN" sz="1700" dirty="0" err="1">
                <a:latin typeface="微软雅黑" panose="020B0503020204020204" pitchFamily="34" charset="-122"/>
                <a:ea typeface="微软雅黑" panose="020B0503020204020204" pitchFamily="34" charset="-122"/>
              </a:rPr>
              <a:t>dd</a:t>
            </a:r>
            <a:r>
              <a:rPr lang="en-US" altLang="zh-CN" sz="1700" dirty="0">
                <a:latin typeface="微软雅黑" panose="020B0503020204020204" pitchFamily="34" charset="-122"/>
                <a:ea typeface="微软雅黑" panose="020B0503020204020204" pitchFamily="34" charset="-122"/>
              </a:rPr>
              <a:t> 5d f8             </a:t>
            </a:r>
            <a:r>
              <a:rPr lang="en-US" altLang="zh-CN" sz="1700" dirty="0" err="1">
                <a:solidFill>
                  <a:srgbClr val="FF3300"/>
                </a:solidFill>
                <a:latin typeface="微软雅黑" panose="020B0503020204020204" pitchFamily="34" charset="-122"/>
                <a:ea typeface="微软雅黑" panose="020B0503020204020204" pitchFamily="34" charset="-122"/>
              </a:rPr>
              <a:t>fstpl</a:t>
            </a:r>
            <a:r>
              <a:rPr lang="en-US" altLang="zh-CN" sz="1700" dirty="0">
                <a:solidFill>
                  <a:srgbClr val="FF3300"/>
                </a:solidFill>
                <a:latin typeface="微软雅黑" panose="020B0503020204020204" pitchFamily="34" charset="-122"/>
                <a:ea typeface="微软雅黑" panose="020B0503020204020204" pitchFamily="34" charset="-122"/>
              </a:rPr>
              <a:t>  0xfffffff8(%</a:t>
            </a:r>
            <a:r>
              <a:rPr lang="en-US" altLang="zh-CN" sz="1700" dirty="0" err="1">
                <a:solidFill>
                  <a:srgbClr val="FF3300"/>
                </a:solidFill>
                <a:latin typeface="微软雅黑" panose="020B0503020204020204" pitchFamily="34" charset="-122"/>
                <a:ea typeface="微软雅黑" panose="020B0503020204020204" pitchFamily="34" charset="-122"/>
              </a:rPr>
              <a:t>ebp</a:t>
            </a:r>
            <a:r>
              <a:rPr lang="en-US" altLang="zh-CN" sz="1700" dirty="0">
                <a:solidFill>
                  <a:srgbClr val="FF3300"/>
                </a:solidFill>
                <a:latin typeface="微软雅黑" panose="020B0503020204020204" pitchFamily="34" charset="-122"/>
                <a:ea typeface="微软雅黑" panose="020B0503020204020204" pitchFamily="34" charset="-122"/>
              </a:rPr>
              <a:t>) </a:t>
            </a:r>
            <a:r>
              <a:rPr lang="en-US" altLang="zh-CN" sz="1700" dirty="0">
                <a:solidFill>
                  <a:srgbClr val="3333CC"/>
                </a:solidFill>
                <a:latin typeface="微软雅黑" panose="020B0503020204020204" pitchFamily="34" charset="-122"/>
                <a:ea typeface="微软雅黑" panose="020B0503020204020204" pitchFamily="34" charset="-122"/>
              </a:rPr>
              <a:t>//a</a:t>
            </a:r>
            <a:r>
              <a:rPr lang="zh-CN" altLang="en-US" sz="1700" dirty="0">
                <a:solidFill>
                  <a:srgbClr val="3333CC"/>
                </a:solidFill>
                <a:latin typeface="微软雅黑" panose="020B0503020204020204" pitchFamily="34" charset="-122"/>
                <a:ea typeface="微软雅黑" panose="020B0503020204020204" pitchFamily="34" charset="-122"/>
              </a:rPr>
              <a:t>存入内存</a:t>
            </a: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804834a:       c7 04 24 0a 00 00 00    </a:t>
            </a:r>
            <a:r>
              <a:rPr lang="en-US" altLang="zh-CN" sz="1700" dirty="0" err="1">
                <a:latin typeface="微软雅黑" panose="020B0503020204020204" pitchFamily="34" charset="-122"/>
                <a:ea typeface="微软雅黑" panose="020B0503020204020204" pitchFamily="34" charset="-122"/>
              </a:rPr>
              <a:t>movl</a:t>
            </a:r>
            <a:r>
              <a:rPr lang="en-US" altLang="zh-CN" sz="1700" dirty="0">
                <a:latin typeface="微软雅黑" panose="020B0503020204020204" pitchFamily="34" charset="-122"/>
                <a:ea typeface="微软雅黑" panose="020B0503020204020204" pitchFamily="34" charset="-122"/>
              </a:rPr>
              <a:t>   $0xa,(%</a:t>
            </a:r>
            <a:r>
              <a:rPr lang="en-US" altLang="zh-CN" sz="1700" dirty="0" err="1">
                <a:latin typeface="微软雅黑" panose="020B0503020204020204" pitchFamily="34" charset="-122"/>
                <a:ea typeface="微软雅黑" panose="020B0503020204020204" pitchFamily="34" charset="-122"/>
              </a:rPr>
              <a:t>esp</a:t>
            </a:r>
            <a:r>
              <a:rPr lang="en-US" altLang="zh-CN" sz="1700" dirty="0">
                <a:latin typeface="微软雅黑" panose="020B0503020204020204" pitchFamily="34" charset="-122"/>
                <a:ea typeface="微软雅黑" panose="020B0503020204020204" pitchFamily="34" charset="-122"/>
              </a:rPr>
              <a:t>)</a:t>
            </a: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8048351:       e8 d2 </a:t>
            </a:r>
            <a:r>
              <a:rPr lang="en-US" altLang="zh-CN" sz="1700" dirty="0" err="1">
                <a:latin typeface="微软雅黑" panose="020B0503020204020204" pitchFamily="34" charset="-122"/>
                <a:ea typeface="微软雅黑" panose="020B0503020204020204" pitchFamily="34" charset="-122"/>
              </a:rPr>
              <a:t>ff</a:t>
            </a:r>
            <a:r>
              <a:rPr lang="en-US" altLang="zh-CN" sz="1700" dirty="0">
                <a:latin typeface="微软雅黑" panose="020B0503020204020204" pitchFamily="34" charset="-122"/>
                <a:ea typeface="微软雅黑" panose="020B0503020204020204" pitchFamily="34" charset="-122"/>
              </a:rPr>
              <a:t> </a:t>
            </a:r>
            <a:r>
              <a:rPr lang="en-US" altLang="zh-CN" sz="1700" dirty="0" err="1">
                <a:latin typeface="微软雅黑" panose="020B0503020204020204" pitchFamily="34" charset="-122"/>
                <a:ea typeface="微软雅黑" panose="020B0503020204020204" pitchFamily="34" charset="-122"/>
              </a:rPr>
              <a:t>ff</a:t>
            </a:r>
            <a:r>
              <a:rPr lang="en-US" altLang="zh-CN" sz="1700" dirty="0">
                <a:latin typeface="微软雅黑" panose="020B0503020204020204" pitchFamily="34" charset="-122"/>
                <a:ea typeface="微软雅黑" panose="020B0503020204020204" pitchFamily="34" charset="-122"/>
              </a:rPr>
              <a:t> </a:t>
            </a:r>
            <a:r>
              <a:rPr lang="en-US" altLang="zh-CN" sz="1700" dirty="0" err="1">
                <a:latin typeface="微软雅黑" panose="020B0503020204020204" pitchFamily="34" charset="-122"/>
                <a:ea typeface="微软雅黑" panose="020B0503020204020204" pitchFamily="34" charset="-122"/>
              </a:rPr>
              <a:t>ff</a:t>
            </a:r>
            <a:r>
              <a:rPr lang="en-US" altLang="zh-CN" sz="1700" dirty="0">
                <a:latin typeface="微软雅黑" panose="020B0503020204020204" pitchFamily="34" charset="-122"/>
                <a:ea typeface="微软雅黑" panose="020B0503020204020204" pitchFamily="34" charset="-122"/>
              </a:rPr>
              <a:t>       call   8048328 &lt;f&gt; </a:t>
            </a:r>
            <a:r>
              <a:rPr lang="en-US" altLang="zh-CN" sz="1800" dirty="0">
                <a:solidFill>
                  <a:srgbClr val="3333CC"/>
                </a:solidFill>
                <a:latin typeface="微软雅黑" panose="020B0503020204020204" pitchFamily="34" charset="-122"/>
                <a:ea typeface="微软雅黑" panose="020B0503020204020204" pitchFamily="34" charset="-122"/>
              </a:rPr>
              <a:t>//</a:t>
            </a:r>
            <a:r>
              <a:rPr lang="zh-CN" altLang="en-US" sz="1800" dirty="0">
                <a:solidFill>
                  <a:srgbClr val="3333CC"/>
                </a:solidFill>
                <a:latin typeface="微软雅黑" panose="020B0503020204020204" pitchFamily="34" charset="-122"/>
                <a:ea typeface="微软雅黑" panose="020B0503020204020204" pitchFamily="34" charset="-122"/>
              </a:rPr>
              <a:t>计算</a:t>
            </a:r>
            <a:r>
              <a:rPr lang="en-US" altLang="zh-CN" sz="1800" dirty="0">
                <a:solidFill>
                  <a:srgbClr val="3333CC"/>
                </a:solidFill>
                <a:latin typeface="微软雅黑" panose="020B0503020204020204" pitchFamily="34" charset="-122"/>
                <a:ea typeface="微软雅黑" panose="020B0503020204020204" pitchFamily="34" charset="-122"/>
              </a:rPr>
              <a:t>b=f(10)</a:t>
            </a:r>
            <a:endParaRPr lang="en-US" altLang="zh-CN" sz="1700" dirty="0">
              <a:latin typeface="微软雅黑" panose="020B0503020204020204" pitchFamily="34" charset="-122"/>
              <a:ea typeface="微软雅黑" panose="020B0503020204020204" pitchFamily="34" charset="-122"/>
            </a:endParaRP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8048356:       </a:t>
            </a:r>
            <a:r>
              <a:rPr lang="en-US" altLang="zh-CN" sz="1700" dirty="0" err="1">
                <a:latin typeface="微软雅黑" panose="020B0503020204020204" pitchFamily="34" charset="-122"/>
                <a:ea typeface="微软雅黑" panose="020B0503020204020204" pitchFamily="34" charset="-122"/>
              </a:rPr>
              <a:t>dd</a:t>
            </a:r>
            <a:r>
              <a:rPr lang="en-US" altLang="zh-CN" sz="1700" dirty="0">
                <a:latin typeface="微软雅黑" panose="020B0503020204020204" pitchFamily="34" charset="-122"/>
                <a:ea typeface="微软雅黑" panose="020B0503020204020204" pitchFamily="34" charset="-122"/>
              </a:rPr>
              <a:t> 45 f8             </a:t>
            </a:r>
            <a:r>
              <a:rPr lang="en-US" altLang="zh-CN" sz="1700" dirty="0" err="1">
                <a:solidFill>
                  <a:srgbClr val="FF3300"/>
                </a:solidFill>
                <a:latin typeface="微软雅黑" panose="020B0503020204020204" pitchFamily="34" charset="-122"/>
                <a:ea typeface="微软雅黑" panose="020B0503020204020204" pitchFamily="34" charset="-122"/>
              </a:rPr>
              <a:t>fldl</a:t>
            </a:r>
            <a:r>
              <a:rPr lang="en-US" altLang="zh-CN" sz="1700" dirty="0">
                <a:solidFill>
                  <a:srgbClr val="FF3300"/>
                </a:solidFill>
                <a:latin typeface="微软雅黑" panose="020B0503020204020204" pitchFamily="34" charset="-122"/>
                <a:ea typeface="微软雅黑" panose="020B0503020204020204" pitchFamily="34" charset="-122"/>
              </a:rPr>
              <a:t>   0xfffffff8(%</a:t>
            </a:r>
            <a:r>
              <a:rPr lang="en-US" altLang="zh-CN" sz="1700" dirty="0" err="1">
                <a:solidFill>
                  <a:srgbClr val="FF3300"/>
                </a:solidFill>
                <a:latin typeface="微软雅黑" panose="020B0503020204020204" pitchFamily="34" charset="-122"/>
                <a:ea typeface="微软雅黑" panose="020B0503020204020204" pitchFamily="34" charset="-122"/>
              </a:rPr>
              <a:t>ebp</a:t>
            </a:r>
            <a:r>
              <a:rPr lang="en-US" altLang="zh-CN" sz="1700" dirty="0">
                <a:solidFill>
                  <a:srgbClr val="FF3300"/>
                </a:solidFill>
                <a:latin typeface="微软雅黑" panose="020B0503020204020204" pitchFamily="34" charset="-122"/>
                <a:ea typeface="微软雅黑" panose="020B0503020204020204" pitchFamily="34" charset="-122"/>
              </a:rPr>
              <a:t>)</a:t>
            </a:r>
            <a:r>
              <a:rPr lang="en-US" altLang="zh-CN" sz="1700" dirty="0">
                <a:latin typeface="微软雅黑" panose="020B0503020204020204" pitchFamily="34" charset="-122"/>
                <a:ea typeface="微软雅黑" panose="020B0503020204020204" pitchFamily="34" charset="-122"/>
              </a:rPr>
              <a:t> </a:t>
            </a:r>
            <a:r>
              <a:rPr lang="en-US" altLang="zh-CN" sz="1700" dirty="0">
                <a:solidFill>
                  <a:srgbClr val="3333CC"/>
                </a:solidFill>
                <a:latin typeface="微软雅黑" panose="020B0503020204020204" pitchFamily="34" charset="-122"/>
                <a:ea typeface="微软雅黑" panose="020B0503020204020204" pitchFamily="34" charset="-122"/>
              </a:rPr>
              <a:t>//a</a:t>
            </a:r>
            <a:r>
              <a:rPr lang="zh-CN" altLang="en-US" sz="1700" dirty="0">
                <a:solidFill>
                  <a:srgbClr val="3333CC"/>
                </a:solidFill>
                <a:latin typeface="微软雅黑" panose="020B0503020204020204" pitchFamily="34" charset="-122"/>
                <a:ea typeface="微软雅黑" panose="020B0503020204020204" pitchFamily="34" charset="-122"/>
              </a:rPr>
              <a:t>入栈顶</a:t>
            </a: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8048359:       58                       pop    %</a:t>
            </a:r>
            <a:r>
              <a:rPr lang="en-US" altLang="zh-CN" sz="1700" dirty="0" err="1">
                <a:latin typeface="微软雅黑" panose="020B0503020204020204" pitchFamily="34" charset="-122"/>
                <a:ea typeface="微软雅黑" panose="020B0503020204020204" pitchFamily="34" charset="-122"/>
              </a:rPr>
              <a:t>eax</a:t>
            </a:r>
            <a:endParaRPr lang="en-US" altLang="zh-CN" sz="1700" dirty="0">
              <a:latin typeface="微软雅黑" panose="020B0503020204020204" pitchFamily="34" charset="-122"/>
              <a:ea typeface="微软雅黑" panose="020B0503020204020204" pitchFamily="34" charset="-122"/>
            </a:endParaRP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804835a:       da e9                  </a:t>
            </a:r>
            <a:r>
              <a:rPr lang="en-US" altLang="zh-CN" sz="1700" dirty="0" err="1">
                <a:latin typeface="微软雅黑" panose="020B0503020204020204" pitchFamily="34" charset="-122"/>
                <a:ea typeface="微软雅黑" panose="020B0503020204020204" pitchFamily="34" charset="-122"/>
              </a:rPr>
              <a:t>fucompp</a:t>
            </a:r>
            <a:r>
              <a:rPr lang="en-US" altLang="zh-CN" sz="1700" dirty="0">
                <a:latin typeface="微软雅黑" panose="020B0503020204020204" pitchFamily="34" charset="-122"/>
                <a:ea typeface="微软雅黑" panose="020B0503020204020204" pitchFamily="34" charset="-122"/>
              </a:rPr>
              <a:t>      </a:t>
            </a:r>
            <a:r>
              <a:rPr lang="en-US" altLang="zh-CN" sz="1700" dirty="0">
                <a:solidFill>
                  <a:srgbClr val="3333CC"/>
                </a:solidFill>
                <a:latin typeface="微软雅黑" panose="020B0503020204020204" pitchFamily="34" charset="-122"/>
                <a:ea typeface="微软雅黑" panose="020B0503020204020204" pitchFamily="34" charset="-122"/>
              </a:rPr>
              <a:t>//</a:t>
            </a:r>
            <a:r>
              <a:rPr lang="zh-CN" altLang="en-US" sz="1700" dirty="0">
                <a:solidFill>
                  <a:srgbClr val="3333CC"/>
                </a:solidFill>
                <a:latin typeface="微软雅黑" panose="020B0503020204020204" pitchFamily="34" charset="-122"/>
                <a:ea typeface="微软雅黑" panose="020B0503020204020204" pitchFamily="34" charset="-122"/>
              </a:rPr>
              <a:t>比较</a:t>
            </a:r>
            <a:r>
              <a:rPr lang="en-US" altLang="zh-CN" sz="1700" dirty="0">
                <a:solidFill>
                  <a:srgbClr val="3333CC"/>
                </a:solidFill>
                <a:latin typeface="微软雅黑" panose="020B0503020204020204" pitchFamily="34" charset="-122"/>
                <a:ea typeface="微软雅黑" panose="020B0503020204020204" pitchFamily="34" charset="-122"/>
              </a:rPr>
              <a:t>ST(0)</a:t>
            </a:r>
            <a:r>
              <a:rPr lang="en-US" altLang="zh-CN" sz="1700" dirty="0">
                <a:solidFill>
                  <a:srgbClr val="FF3300"/>
                </a:solidFill>
                <a:latin typeface="微软雅黑" panose="020B0503020204020204" pitchFamily="34" charset="-122"/>
                <a:ea typeface="微软雅黑" panose="020B0503020204020204" pitchFamily="34" charset="-122"/>
              </a:rPr>
              <a:t>a</a:t>
            </a:r>
            <a:r>
              <a:rPr lang="zh-CN" altLang="en-US" sz="1700" dirty="0">
                <a:solidFill>
                  <a:srgbClr val="3333CC"/>
                </a:solidFill>
                <a:latin typeface="微软雅黑" panose="020B0503020204020204" pitchFamily="34" charset="-122"/>
                <a:ea typeface="微软雅黑" panose="020B0503020204020204" pitchFamily="34" charset="-122"/>
              </a:rPr>
              <a:t>和</a:t>
            </a:r>
            <a:r>
              <a:rPr lang="en-US" altLang="zh-CN" sz="1700" dirty="0">
                <a:solidFill>
                  <a:srgbClr val="3333CC"/>
                </a:solidFill>
                <a:latin typeface="微软雅黑" panose="020B0503020204020204" pitchFamily="34" charset="-122"/>
                <a:ea typeface="微软雅黑" panose="020B0503020204020204" pitchFamily="34" charset="-122"/>
              </a:rPr>
              <a:t>ST(1)</a:t>
            </a:r>
            <a:r>
              <a:rPr lang="en-US" altLang="zh-CN" sz="1700" dirty="0">
                <a:solidFill>
                  <a:srgbClr val="FF3300"/>
                </a:solidFill>
                <a:latin typeface="微软雅黑" panose="020B0503020204020204" pitchFamily="34" charset="-122"/>
                <a:ea typeface="微软雅黑" panose="020B0503020204020204" pitchFamily="34" charset="-122"/>
              </a:rPr>
              <a:t>b</a:t>
            </a: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804835c:       </a:t>
            </a:r>
            <a:r>
              <a:rPr lang="en-US" altLang="zh-CN" sz="1700" dirty="0" err="1">
                <a:latin typeface="微软雅黑" panose="020B0503020204020204" pitchFamily="34" charset="-122"/>
                <a:ea typeface="微软雅黑" panose="020B0503020204020204" pitchFamily="34" charset="-122"/>
              </a:rPr>
              <a:t>df</a:t>
            </a:r>
            <a:r>
              <a:rPr lang="en-US" altLang="zh-CN" sz="1700" dirty="0">
                <a:latin typeface="微软雅黑" panose="020B0503020204020204" pitchFamily="34" charset="-122"/>
                <a:ea typeface="微软雅黑" panose="020B0503020204020204" pitchFamily="34" charset="-122"/>
              </a:rPr>
              <a:t> e0                   </a:t>
            </a:r>
            <a:r>
              <a:rPr lang="en-US" altLang="zh-CN" sz="1700" dirty="0" err="1">
                <a:latin typeface="微软雅黑" panose="020B0503020204020204" pitchFamily="34" charset="-122"/>
                <a:ea typeface="微软雅黑" panose="020B0503020204020204" pitchFamily="34" charset="-122"/>
              </a:rPr>
              <a:t>fnstsw</a:t>
            </a:r>
            <a:r>
              <a:rPr lang="en-US" altLang="zh-CN" sz="1700" dirty="0">
                <a:latin typeface="微软雅黑" panose="020B0503020204020204" pitchFamily="34" charset="-122"/>
                <a:ea typeface="微软雅黑" panose="020B0503020204020204" pitchFamily="34" charset="-122"/>
              </a:rPr>
              <a:t> %ax  </a:t>
            </a:r>
            <a:r>
              <a:rPr lang="en-US" altLang="zh-CN" sz="1700" dirty="0">
                <a:solidFill>
                  <a:srgbClr val="3333CC"/>
                </a:solidFill>
                <a:latin typeface="微软雅黑" panose="020B0503020204020204" pitchFamily="34" charset="-122"/>
                <a:ea typeface="微软雅黑" panose="020B0503020204020204" pitchFamily="34" charset="-122"/>
              </a:rPr>
              <a:t>//</a:t>
            </a:r>
            <a:r>
              <a:rPr lang="zh-CN" altLang="en-US" sz="1700" dirty="0">
                <a:solidFill>
                  <a:srgbClr val="3333CC"/>
                </a:solidFill>
                <a:latin typeface="微软雅黑" panose="020B0503020204020204" pitchFamily="34" charset="-122"/>
                <a:ea typeface="微软雅黑" panose="020B0503020204020204" pitchFamily="34" charset="-122"/>
              </a:rPr>
              <a:t>把</a:t>
            </a:r>
            <a:r>
              <a:rPr lang="en-US" altLang="zh-CN" sz="1700" dirty="0">
                <a:solidFill>
                  <a:srgbClr val="3333CC"/>
                </a:solidFill>
                <a:latin typeface="微软雅黑" panose="020B0503020204020204" pitchFamily="34" charset="-122"/>
                <a:ea typeface="微软雅黑" panose="020B0503020204020204" pitchFamily="34" charset="-122"/>
              </a:rPr>
              <a:t>FPU</a:t>
            </a:r>
            <a:r>
              <a:rPr lang="zh-CN" altLang="en-US" sz="1700" dirty="0">
                <a:solidFill>
                  <a:srgbClr val="3333CC"/>
                </a:solidFill>
                <a:latin typeface="微软雅黑" panose="020B0503020204020204" pitchFamily="34" charset="-122"/>
                <a:ea typeface="微软雅黑" panose="020B0503020204020204" pitchFamily="34" charset="-122"/>
              </a:rPr>
              <a:t>状态字送到</a:t>
            </a:r>
            <a:r>
              <a:rPr lang="en-US" altLang="zh-CN" sz="1700" dirty="0">
                <a:solidFill>
                  <a:srgbClr val="3333CC"/>
                </a:solidFill>
                <a:latin typeface="微软雅黑" panose="020B0503020204020204" pitchFamily="34" charset="-122"/>
                <a:ea typeface="微软雅黑" panose="020B0503020204020204" pitchFamily="34" charset="-122"/>
              </a:rPr>
              <a:t>AX</a:t>
            </a:r>
            <a:endParaRPr lang="zh-CN" altLang="en-US" sz="1700" dirty="0">
              <a:solidFill>
                <a:srgbClr val="3333CC"/>
              </a:solidFill>
              <a:latin typeface="微软雅黑" panose="020B0503020204020204" pitchFamily="34" charset="-122"/>
              <a:ea typeface="微软雅黑" panose="020B0503020204020204" pitchFamily="34" charset="-122"/>
            </a:endParaRP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804835e:       80 e4 45             and    $0x45,%ah</a:t>
            </a: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8048361:       80 fc 40              </a:t>
            </a:r>
            <a:r>
              <a:rPr lang="en-US" altLang="zh-CN" sz="1700" dirty="0" err="1">
                <a:latin typeface="微软雅黑" panose="020B0503020204020204" pitchFamily="34" charset="-122"/>
                <a:ea typeface="微软雅黑" panose="020B0503020204020204" pitchFamily="34" charset="-122"/>
              </a:rPr>
              <a:t>cmp</a:t>
            </a:r>
            <a:r>
              <a:rPr lang="en-US" altLang="zh-CN" sz="1700" dirty="0">
                <a:latin typeface="微软雅黑" panose="020B0503020204020204" pitchFamily="34" charset="-122"/>
                <a:ea typeface="微软雅黑" panose="020B0503020204020204" pitchFamily="34" charset="-122"/>
              </a:rPr>
              <a:t>    $0x40,%ah</a:t>
            </a: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8048364:       0f 94 c0              </a:t>
            </a:r>
            <a:r>
              <a:rPr lang="en-US" altLang="zh-CN" sz="1700" dirty="0" err="1">
                <a:latin typeface="微软雅黑" panose="020B0503020204020204" pitchFamily="34" charset="-122"/>
                <a:ea typeface="微软雅黑" panose="020B0503020204020204" pitchFamily="34" charset="-122"/>
              </a:rPr>
              <a:t>sete</a:t>
            </a:r>
            <a:r>
              <a:rPr lang="en-US" altLang="zh-CN" sz="1700" dirty="0">
                <a:latin typeface="微软雅黑" panose="020B0503020204020204" pitchFamily="34" charset="-122"/>
                <a:ea typeface="微软雅黑" panose="020B0503020204020204" pitchFamily="34" charset="-122"/>
              </a:rPr>
              <a:t>   %al</a:t>
            </a: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8048367:       5a                       pop    %</a:t>
            </a:r>
            <a:r>
              <a:rPr lang="en-US" altLang="zh-CN" sz="1700" dirty="0" err="1">
                <a:latin typeface="微软雅黑" panose="020B0503020204020204" pitchFamily="34" charset="-122"/>
                <a:ea typeface="微软雅黑" panose="020B0503020204020204" pitchFamily="34" charset="-122"/>
              </a:rPr>
              <a:t>edx</a:t>
            </a:r>
            <a:endParaRPr lang="en-US" altLang="zh-CN" sz="1700" dirty="0">
              <a:latin typeface="微软雅黑" panose="020B0503020204020204" pitchFamily="34" charset="-122"/>
              <a:ea typeface="微软雅黑" panose="020B0503020204020204" pitchFamily="34" charset="-122"/>
            </a:endParaRP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8048368:       0f b6 c0             </a:t>
            </a:r>
            <a:r>
              <a:rPr lang="en-US" altLang="zh-CN" sz="1700" dirty="0" err="1">
                <a:latin typeface="微软雅黑" panose="020B0503020204020204" pitchFamily="34" charset="-122"/>
                <a:ea typeface="微软雅黑" panose="020B0503020204020204" pitchFamily="34" charset="-122"/>
              </a:rPr>
              <a:t>movzbl</a:t>
            </a:r>
            <a:r>
              <a:rPr lang="en-US" altLang="zh-CN" sz="1700" dirty="0">
                <a:latin typeface="微软雅黑" panose="020B0503020204020204" pitchFamily="34" charset="-122"/>
                <a:ea typeface="微软雅黑" panose="020B0503020204020204" pitchFamily="34" charset="-122"/>
              </a:rPr>
              <a:t> %al,%</a:t>
            </a:r>
            <a:r>
              <a:rPr lang="en-US" altLang="zh-CN" sz="1700" dirty="0" err="1">
                <a:latin typeface="微软雅黑" panose="020B0503020204020204" pitchFamily="34" charset="-122"/>
                <a:ea typeface="微软雅黑" panose="020B0503020204020204" pitchFamily="34" charset="-122"/>
              </a:rPr>
              <a:t>eax</a:t>
            </a:r>
            <a:endParaRPr lang="en-US" altLang="zh-CN" sz="1700" dirty="0">
              <a:latin typeface="微软雅黑" panose="020B0503020204020204" pitchFamily="34" charset="-122"/>
              <a:ea typeface="微软雅黑" panose="020B0503020204020204" pitchFamily="34" charset="-122"/>
            </a:endParaRP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804836b:       50                      push   %</a:t>
            </a:r>
            <a:r>
              <a:rPr lang="en-US" altLang="zh-CN" sz="1700" dirty="0" err="1">
                <a:latin typeface="微软雅黑" panose="020B0503020204020204" pitchFamily="34" charset="-122"/>
                <a:ea typeface="微软雅黑" panose="020B0503020204020204" pitchFamily="34" charset="-122"/>
              </a:rPr>
              <a:t>eax</a:t>
            </a:r>
            <a:endParaRPr lang="en-US" altLang="zh-CN" sz="1700" dirty="0">
              <a:latin typeface="微软雅黑" panose="020B0503020204020204" pitchFamily="34" charset="-122"/>
              <a:ea typeface="微软雅黑" panose="020B0503020204020204" pitchFamily="34" charset="-122"/>
            </a:endParaRP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804836c:       68 d8 83 04 08  push   $0x80483d8</a:t>
            </a: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8048371:       e8 f2 </a:t>
            </a:r>
            <a:r>
              <a:rPr lang="en-US" altLang="zh-CN" sz="1700" dirty="0" err="1">
                <a:latin typeface="微软雅黑" panose="020B0503020204020204" pitchFamily="34" charset="-122"/>
                <a:ea typeface="微软雅黑" panose="020B0503020204020204" pitchFamily="34" charset="-122"/>
              </a:rPr>
              <a:t>fe</a:t>
            </a:r>
            <a:r>
              <a:rPr lang="en-US" altLang="zh-CN" sz="1700" dirty="0">
                <a:latin typeface="微软雅黑" panose="020B0503020204020204" pitchFamily="34" charset="-122"/>
                <a:ea typeface="微软雅黑" panose="020B0503020204020204" pitchFamily="34" charset="-122"/>
              </a:rPr>
              <a:t> </a:t>
            </a:r>
            <a:r>
              <a:rPr lang="en-US" altLang="zh-CN" sz="1700" dirty="0" err="1">
                <a:latin typeface="微软雅黑" panose="020B0503020204020204" pitchFamily="34" charset="-122"/>
                <a:ea typeface="微软雅黑" panose="020B0503020204020204" pitchFamily="34" charset="-122"/>
              </a:rPr>
              <a:t>ff</a:t>
            </a:r>
            <a:r>
              <a:rPr lang="en-US" altLang="zh-CN" sz="1700" dirty="0">
                <a:latin typeface="微软雅黑" panose="020B0503020204020204" pitchFamily="34" charset="-122"/>
                <a:ea typeface="微软雅黑" panose="020B0503020204020204" pitchFamily="34" charset="-122"/>
              </a:rPr>
              <a:t> </a:t>
            </a:r>
            <a:r>
              <a:rPr lang="en-US" altLang="zh-CN" sz="1700" dirty="0" err="1">
                <a:latin typeface="微软雅黑" panose="020B0503020204020204" pitchFamily="34" charset="-122"/>
                <a:ea typeface="微软雅黑" panose="020B0503020204020204" pitchFamily="34" charset="-122"/>
              </a:rPr>
              <a:t>ff</a:t>
            </a:r>
            <a:r>
              <a:rPr lang="en-US" altLang="zh-CN" sz="1700" dirty="0">
                <a:latin typeface="微软雅黑" panose="020B0503020204020204" pitchFamily="34" charset="-122"/>
                <a:ea typeface="微软雅黑" panose="020B0503020204020204" pitchFamily="34" charset="-122"/>
              </a:rPr>
              <a:t>      call   8048268 &lt;_init+0x38&gt;</a:t>
            </a: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8048376:       c9                      leave  </a:t>
            </a:r>
          </a:p>
          <a:p>
            <a:pPr>
              <a:lnSpc>
                <a:spcPct val="95000"/>
              </a:lnSpc>
              <a:spcBef>
                <a:spcPct val="0"/>
              </a:spcBef>
              <a:buFontTx/>
              <a:buNone/>
            </a:pPr>
            <a:r>
              <a:rPr lang="en-US" altLang="zh-CN" sz="1700" dirty="0">
                <a:latin typeface="微软雅黑" panose="020B0503020204020204" pitchFamily="34" charset="-122"/>
                <a:ea typeface="微软雅黑" panose="020B0503020204020204" pitchFamily="34" charset="-122"/>
              </a:rPr>
              <a:t> 8048377:       c3                      ret </a:t>
            </a:r>
          </a:p>
        </p:txBody>
      </p:sp>
      <p:sp>
        <p:nvSpPr>
          <p:cNvPr id="70660" name="Rectangle 4"/>
          <p:cNvSpPr>
            <a:spLocks noChangeArrowheads="1"/>
          </p:cNvSpPr>
          <p:nvPr/>
        </p:nvSpPr>
        <p:spPr bwMode="auto">
          <a:xfrm>
            <a:off x="7451725" y="279400"/>
            <a:ext cx="1350963" cy="1382713"/>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a:latin typeface="微软雅黑" panose="020B0503020204020204" pitchFamily="34" charset="-122"/>
                <a:ea typeface="微软雅黑" panose="020B0503020204020204" pitchFamily="34" charset="-122"/>
              </a:rPr>
              <a:t> …</a:t>
            </a:r>
          </a:p>
          <a:p>
            <a:pPr>
              <a:lnSpc>
                <a:spcPct val="100000"/>
              </a:lnSpc>
              <a:spcBef>
                <a:spcPct val="0"/>
              </a:spcBef>
              <a:buFontTx/>
              <a:buNone/>
            </a:pPr>
            <a:r>
              <a:rPr lang="en-US" altLang="zh-CN" sz="1800">
                <a:latin typeface="微软雅黑" panose="020B0503020204020204" pitchFamily="34" charset="-122"/>
                <a:ea typeface="微软雅黑" panose="020B0503020204020204" pitchFamily="34" charset="-122"/>
              </a:rPr>
              <a:t> a = f(10) ;</a:t>
            </a:r>
          </a:p>
          <a:p>
            <a:pPr>
              <a:lnSpc>
                <a:spcPct val="100000"/>
              </a:lnSpc>
              <a:spcBef>
                <a:spcPct val="0"/>
              </a:spcBef>
              <a:buFontTx/>
              <a:buNone/>
            </a:pPr>
            <a:r>
              <a:rPr lang="en-US" altLang="zh-CN" sz="1800">
                <a:latin typeface="微软雅黑" panose="020B0503020204020204" pitchFamily="34" charset="-122"/>
                <a:ea typeface="微软雅黑" panose="020B0503020204020204" pitchFamily="34" charset="-122"/>
              </a:rPr>
              <a:t> b = f(10) ;</a:t>
            </a:r>
          </a:p>
          <a:p>
            <a:pPr>
              <a:lnSpc>
                <a:spcPct val="100000"/>
              </a:lnSpc>
              <a:spcBef>
                <a:spcPct val="0"/>
              </a:spcBef>
              <a:buFontTx/>
              <a:buNone/>
            </a:pPr>
            <a:r>
              <a:rPr lang="en-US" altLang="zh-CN" sz="1800">
                <a:latin typeface="微软雅黑" panose="020B0503020204020204" pitchFamily="34" charset="-122"/>
                <a:ea typeface="微软雅黑" panose="020B0503020204020204" pitchFamily="34" charset="-122"/>
              </a:rPr>
              <a:t> i = a == b;</a:t>
            </a:r>
          </a:p>
          <a:p>
            <a:pPr>
              <a:lnSpc>
                <a:spcPct val="100000"/>
              </a:lnSpc>
              <a:spcBef>
                <a:spcPct val="0"/>
              </a:spcBef>
              <a:buFontTx/>
              <a:buNone/>
            </a:pPr>
            <a:r>
              <a:rPr lang="en-US" altLang="zh-CN" sz="1800">
                <a:latin typeface="微软雅黑" panose="020B0503020204020204" pitchFamily="34" charset="-122"/>
                <a:ea typeface="微软雅黑" panose="020B0503020204020204" pitchFamily="34" charset="-122"/>
              </a:rPr>
              <a:t> … </a:t>
            </a:r>
          </a:p>
        </p:txBody>
      </p:sp>
      <p:sp>
        <p:nvSpPr>
          <p:cNvPr id="835589" name="Rectangle 5"/>
          <p:cNvSpPr>
            <a:spLocks noChangeArrowheads="1"/>
          </p:cNvSpPr>
          <p:nvPr/>
        </p:nvSpPr>
        <p:spPr bwMode="auto">
          <a:xfrm>
            <a:off x="6102350" y="4387850"/>
            <a:ext cx="2744788" cy="1676400"/>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72000" rIns="72000" bIns="72000"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25000"/>
              </a:lnSpc>
              <a:spcBef>
                <a:spcPct val="0"/>
              </a:spcBef>
              <a:buFontTx/>
              <a:buNone/>
            </a:pPr>
            <a:r>
              <a:rPr lang="en-US" altLang="zh-CN" sz="2000">
                <a:solidFill>
                  <a:srgbClr val="CC3300"/>
                </a:solidFill>
                <a:latin typeface="微软雅黑" panose="020B0503020204020204" pitchFamily="34" charset="-122"/>
                <a:ea typeface="微软雅黑" panose="020B0503020204020204" pitchFamily="34" charset="-122"/>
              </a:rPr>
              <a:t>0.1</a:t>
            </a:r>
            <a:r>
              <a:rPr lang="zh-CN" altLang="en-US" sz="2000">
                <a:solidFill>
                  <a:srgbClr val="CC3300"/>
                </a:solidFill>
                <a:latin typeface="微软雅黑" panose="020B0503020204020204" pitchFamily="34" charset="-122"/>
                <a:ea typeface="微软雅黑" panose="020B0503020204020204" pitchFamily="34" charset="-122"/>
              </a:rPr>
              <a:t>是无限循环小数，无法精确表示，因而，</a:t>
            </a:r>
            <a:r>
              <a:rPr lang="zh-CN" altLang="en-US" sz="2000">
                <a:solidFill>
                  <a:srgbClr val="FF3300"/>
                </a:solidFill>
                <a:latin typeface="微软雅黑" panose="020B0503020204020204" pitchFamily="34" charset="-122"/>
                <a:ea typeface="微软雅黑" panose="020B0503020204020204" pitchFamily="34" charset="-122"/>
              </a:rPr>
              <a:t>比较时，</a:t>
            </a:r>
            <a:r>
              <a:rPr lang="en-US" altLang="zh-CN" sz="2000">
                <a:solidFill>
                  <a:srgbClr val="FF3300"/>
                </a:solidFill>
                <a:latin typeface="微软雅黑" panose="020B0503020204020204" pitchFamily="34" charset="-122"/>
                <a:ea typeface="微软雅黑" panose="020B0503020204020204" pitchFamily="34" charset="-122"/>
              </a:rPr>
              <a:t>a</a:t>
            </a:r>
            <a:r>
              <a:rPr lang="zh-CN" altLang="en-US" sz="2000">
                <a:solidFill>
                  <a:srgbClr val="FF3300"/>
                </a:solidFill>
                <a:latin typeface="微软雅黑" panose="020B0503020204020204" pitchFamily="34" charset="-122"/>
                <a:ea typeface="微软雅黑" panose="020B0503020204020204" pitchFamily="34" charset="-122"/>
              </a:rPr>
              <a:t>舍入过而</a:t>
            </a:r>
            <a:r>
              <a:rPr lang="en-US" altLang="zh-CN" sz="2000">
                <a:solidFill>
                  <a:srgbClr val="FF3300"/>
                </a:solidFill>
                <a:latin typeface="微软雅黑" panose="020B0503020204020204" pitchFamily="34" charset="-122"/>
                <a:ea typeface="微软雅黑" panose="020B0503020204020204" pitchFamily="34" charset="-122"/>
              </a:rPr>
              <a:t>b</a:t>
            </a:r>
            <a:r>
              <a:rPr lang="zh-CN" altLang="en-US" sz="2000">
                <a:solidFill>
                  <a:srgbClr val="FF3300"/>
                </a:solidFill>
                <a:latin typeface="微软雅黑" panose="020B0503020204020204" pitchFamily="34" charset="-122"/>
                <a:ea typeface="微软雅黑" panose="020B0503020204020204" pitchFamily="34" charset="-122"/>
              </a:rPr>
              <a:t>没有舍入过，故 </a:t>
            </a:r>
            <a:r>
              <a:rPr lang="en-US" altLang="zh-CN" sz="2000">
                <a:solidFill>
                  <a:srgbClr val="FF3300"/>
                </a:solidFill>
                <a:latin typeface="微软雅黑" panose="020B0503020204020204" pitchFamily="34" charset="-122"/>
                <a:ea typeface="微软雅黑" panose="020B0503020204020204" pitchFamily="34" charset="-122"/>
              </a:rPr>
              <a:t>a</a:t>
            </a:r>
            <a:r>
              <a:rPr lang="en-US" altLang="zh-CN" sz="2000">
                <a:solidFill>
                  <a:srgbClr val="FF3300"/>
                </a:solidFill>
                <a:latin typeface="微软雅黑" panose="020B0503020204020204" pitchFamily="34" charset="-122"/>
                <a:ea typeface="微软雅黑" panose="020B0503020204020204" pitchFamily="34" charset="-122"/>
                <a:cs typeface="Arial" panose="020B0604020202020204" pitchFamily="34" charset="0"/>
              </a:rPr>
              <a:t>≠b</a:t>
            </a:r>
            <a:endParaRPr lang="en-US" altLang="en-US" sz="2000">
              <a:solidFill>
                <a:srgbClr val="FF33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835590" name="Text Box 6"/>
          <p:cNvSpPr txBox="1">
            <a:spLocks noChangeArrowheads="1"/>
          </p:cNvSpPr>
          <p:nvPr/>
        </p:nvSpPr>
        <p:spPr bwMode="auto">
          <a:xfrm>
            <a:off x="7586663" y="2581275"/>
            <a:ext cx="1557337"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en-US" altLang="zh-CN" sz="1800">
                <a:latin typeface="微软雅黑" panose="020B0503020204020204" pitchFamily="34" charset="-122"/>
                <a:ea typeface="微软雅黑" panose="020B0503020204020204" pitchFamily="34" charset="-122"/>
              </a:rPr>
              <a:t>80</a:t>
            </a:r>
            <a:r>
              <a:rPr lang="zh-CN" altLang="en-US" sz="1800">
                <a:latin typeface="微软雅黑" panose="020B0503020204020204" pitchFamily="34" charset="-122"/>
                <a:ea typeface="微软雅黑" panose="020B0503020204020204" pitchFamily="34" charset="-122"/>
              </a:rPr>
              <a:t>位</a:t>
            </a:r>
            <a:r>
              <a:rPr lang="zh-CN" altLang="en-US" sz="1800">
                <a:ea typeface="微软雅黑" panose="020B0503020204020204" pitchFamily="34" charset="-122"/>
                <a:cs typeface="Arial" panose="020B0604020202020204" pitchFamily="34" charset="0"/>
              </a:rPr>
              <a:t>→</a:t>
            </a:r>
            <a:r>
              <a:rPr lang="en-US" altLang="zh-CN" sz="1800">
                <a:ea typeface="微软雅黑" panose="020B0503020204020204" pitchFamily="34" charset="-122"/>
                <a:cs typeface="Arial" panose="020B0604020202020204" pitchFamily="34" charset="0"/>
              </a:rPr>
              <a:t>64</a:t>
            </a:r>
            <a:r>
              <a:rPr lang="zh-CN" altLang="en-US" sz="1800">
                <a:ea typeface="微软雅黑" panose="020B0503020204020204" pitchFamily="34" charset="-122"/>
                <a:cs typeface="Arial" panose="020B0604020202020204" pitchFamily="34" charset="0"/>
              </a:rPr>
              <a:t>位</a:t>
            </a:r>
          </a:p>
        </p:txBody>
      </p:sp>
      <p:sp>
        <p:nvSpPr>
          <p:cNvPr id="835591" name="Text Box 7"/>
          <p:cNvSpPr txBox="1">
            <a:spLocks noChangeArrowheads="1"/>
          </p:cNvSpPr>
          <p:nvPr/>
        </p:nvSpPr>
        <p:spPr bwMode="auto">
          <a:xfrm>
            <a:off x="7424738" y="3302000"/>
            <a:ext cx="1557337"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en-US" altLang="zh-CN" sz="1800">
                <a:latin typeface="微软雅黑" panose="020B0503020204020204" pitchFamily="34" charset="-122"/>
                <a:ea typeface="微软雅黑" panose="020B0503020204020204" pitchFamily="34" charset="-122"/>
              </a:rPr>
              <a:t>64</a:t>
            </a:r>
            <a:r>
              <a:rPr lang="zh-CN" altLang="en-US" sz="1800">
                <a:latin typeface="微软雅黑" panose="020B0503020204020204" pitchFamily="34" charset="-122"/>
                <a:ea typeface="微软雅黑" panose="020B0503020204020204" pitchFamily="34" charset="-122"/>
              </a:rPr>
              <a:t>位</a:t>
            </a:r>
            <a:r>
              <a:rPr lang="zh-CN" altLang="en-US" sz="1800">
                <a:ea typeface="微软雅黑" panose="020B0503020204020204" pitchFamily="34" charset="-122"/>
                <a:cs typeface="Arial" panose="020B0604020202020204" pitchFamily="34" charset="0"/>
              </a:rPr>
              <a:t>→</a:t>
            </a:r>
            <a:r>
              <a:rPr lang="en-US" altLang="zh-CN" sz="1800">
                <a:ea typeface="微软雅黑" panose="020B0503020204020204" pitchFamily="34" charset="-122"/>
                <a:cs typeface="Arial" panose="020B0604020202020204" pitchFamily="34" charset="0"/>
              </a:rPr>
              <a:t>80</a:t>
            </a:r>
            <a:r>
              <a:rPr lang="zh-CN" altLang="en-US" sz="1800">
                <a:ea typeface="微软雅黑" panose="020B0503020204020204" pitchFamily="34" charset="-122"/>
                <a:cs typeface="Arial" panose="020B0604020202020204" pitchFamily="34" charset="0"/>
              </a:rPr>
              <a:t>位</a:t>
            </a:r>
          </a:p>
        </p:txBody>
      </p:sp>
    </p:spTree>
    <p:extLst>
      <p:ext uri="{BB962C8B-B14F-4D97-AF65-F5344CB8AC3E}">
        <p14:creationId xmlns:p14="http://schemas.microsoft.com/office/powerpoint/2010/main" val="40789476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35590"/>
                                        </p:tgtEl>
                                        <p:attrNameLst>
                                          <p:attrName>style.visibility</p:attrName>
                                        </p:attrNameLst>
                                      </p:cBhvr>
                                      <p:to>
                                        <p:strVal val="visible"/>
                                      </p:to>
                                    </p:set>
                                    <p:animEffect transition="in" filter="blinds(horizontal)">
                                      <p:cBhvr>
                                        <p:cTn id="7" dur="500"/>
                                        <p:tgtEl>
                                          <p:spTgt spid="8355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35591"/>
                                        </p:tgtEl>
                                        <p:attrNameLst>
                                          <p:attrName>style.visibility</p:attrName>
                                        </p:attrNameLst>
                                      </p:cBhvr>
                                      <p:to>
                                        <p:strVal val="visible"/>
                                      </p:to>
                                    </p:set>
                                    <p:animEffect transition="in" filter="blinds(horizontal)">
                                      <p:cBhvr>
                                        <p:cTn id="12" dur="500"/>
                                        <p:tgtEl>
                                          <p:spTgt spid="8355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35589"/>
                                        </p:tgtEl>
                                        <p:attrNameLst>
                                          <p:attrName>style.visibility</p:attrName>
                                        </p:attrNameLst>
                                      </p:cBhvr>
                                      <p:to>
                                        <p:strVal val="visible"/>
                                      </p:to>
                                    </p:set>
                                    <p:animEffect transition="in" filter="blinds(horizontal)">
                                      <p:cBhvr>
                                        <p:cTn id="17" dur="500"/>
                                        <p:tgtEl>
                                          <p:spTgt spid="8355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5589" grpId="0" animBg="1"/>
      <p:bldP spid="835590" grpId="0"/>
      <p:bldP spid="83559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457200" y="98425"/>
            <a:ext cx="8229600" cy="561975"/>
          </a:xfrm>
        </p:spPr>
        <p:txBody>
          <a:bodyPr>
            <a:normAutofit fontScale="90000"/>
          </a:bodyPr>
          <a:lstStyle/>
          <a:p>
            <a:r>
              <a:rPr lang="en-US" altLang="zh-CN" sz="3200">
                <a:ea typeface="微软雅黑" panose="020B0503020204020204" pitchFamily="34" charset="-122"/>
              </a:rPr>
              <a:t>IA-32</a:t>
            </a:r>
            <a:r>
              <a:rPr lang="zh-CN" altLang="en-US" sz="3200">
                <a:ea typeface="微软雅黑" panose="020B0503020204020204" pitchFamily="34" charset="-122"/>
              </a:rPr>
              <a:t>浮点操作举例</a:t>
            </a:r>
            <a:endParaRPr lang="zh-CN" altLang="en-US" sz="3600"/>
          </a:p>
        </p:txBody>
      </p:sp>
      <p:sp>
        <p:nvSpPr>
          <p:cNvPr id="71683" name="Rectangle 3"/>
          <p:cNvSpPr>
            <a:spLocks noChangeArrowheads="1"/>
          </p:cNvSpPr>
          <p:nvPr/>
        </p:nvSpPr>
        <p:spPr bwMode="auto">
          <a:xfrm>
            <a:off x="109538" y="1217320"/>
            <a:ext cx="7583166" cy="4604337"/>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indent="2667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10000"/>
              </a:lnSpc>
              <a:spcBef>
                <a:spcPct val="0"/>
              </a:spcBef>
              <a:buFontTx/>
              <a:buNone/>
            </a:pPr>
            <a:r>
              <a:rPr lang="en-US" altLang="zh-CN" sz="1700">
                <a:latin typeface="微软雅黑" panose="020B0503020204020204" pitchFamily="34" charset="-122"/>
                <a:ea typeface="微软雅黑" panose="020B0503020204020204" pitchFamily="34" charset="-122"/>
              </a:rPr>
              <a:t>8048342:       e8 e1 ff ff ff      call   8048328 &lt;f&gt; </a:t>
            </a:r>
            <a:r>
              <a:rPr lang="en-US" altLang="zh-CN" sz="1700">
                <a:solidFill>
                  <a:srgbClr val="3333CC"/>
                </a:solidFill>
                <a:latin typeface="微软雅黑" panose="020B0503020204020204" pitchFamily="34" charset="-122"/>
                <a:ea typeface="微软雅黑" panose="020B0503020204020204" pitchFamily="34" charset="-122"/>
              </a:rPr>
              <a:t>//</a:t>
            </a:r>
            <a:r>
              <a:rPr lang="zh-CN" altLang="en-US" sz="1700">
                <a:solidFill>
                  <a:srgbClr val="3333CC"/>
                </a:solidFill>
                <a:latin typeface="微软雅黑" panose="020B0503020204020204" pitchFamily="34" charset="-122"/>
                <a:ea typeface="微软雅黑" panose="020B0503020204020204" pitchFamily="34" charset="-122"/>
              </a:rPr>
              <a:t>计算</a:t>
            </a:r>
            <a:r>
              <a:rPr lang="en-US" altLang="zh-CN" sz="1700">
                <a:solidFill>
                  <a:srgbClr val="3333CC"/>
                </a:solidFill>
                <a:latin typeface="微软雅黑" panose="020B0503020204020204" pitchFamily="34" charset="-122"/>
                <a:ea typeface="微软雅黑" panose="020B0503020204020204" pitchFamily="34" charset="-122"/>
              </a:rPr>
              <a:t>a</a:t>
            </a:r>
          </a:p>
          <a:p>
            <a:pPr>
              <a:lnSpc>
                <a:spcPct val="110000"/>
              </a:lnSpc>
              <a:spcBef>
                <a:spcPct val="0"/>
              </a:spcBef>
              <a:buFontTx/>
              <a:buNone/>
            </a:pPr>
            <a:r>
              <a:rPr lang="en-US" altLang="zh-CN" sz="1700">
                <a:latin typeface="微软雅黑" panose="020B0503020204020204" pitchFamily="34" charset="-122"/>
                <a:ea typeface="微软雅黑" panose="020B0503020204020204" pitchFamily="34" charset="-122"/>
              </a:rPr>
              <a:t> 8048347:       dd 5d f8           </a:t>
            </a:r>
            <a:r>
              <a:rPr lang="en-US" altLang="zh-CN" sz="1700">
                <a:solidFill>
                  <a:srgbClr val="FF3300"/>
                </a:solidFill>
                <a:latin typeface="微软雅黑" panose="020B0503020204020204" pitchFamily="34" charset="-122"/>
                <a:ea typeface="微软雅黑" panose="020B0503020204020204" pitchFamily="34" charset="-122"/>
              </a:rPr>
              <a:t>fstpl  0xfffffff8(%ebp)</a:t>
            </a:r>
            <a:r>
              <a:rPr lang="en-US" altLang="zh-CN" sz="1700">
                <a:latin typeface="微软雅黑" panose="020B0503020204020204" pitchFamily="34" charset="-122"/>
                <a:ea typeface="微软雅黑" panose="020B0503020204020204" pitchFamily="34" charset="-122"/>
              </a:rPr>
              <a:t> </a:t>
            </a:r>
            <a:r>
              <a:rPr lang="en-US" altLang="zh-CN" sz="1700">
                <a:solidFill>
                  <a:srgbClr val="3333CC"/>
                </a:solidFill>
                <a:latin typeface="微软雅黑" panose="020B0503020204020204" pitchFamily="34" charset="-122"/>
                <a:ea typeface="微软雅黑" panose="020B0503020204020204" pitchFamily="34" charset="-122"/>
              </a:rPr>
              <a:t>//</a:t>
            </a:r>
            <a:r>
              <a:rPr lang="zh-CN" altLang="en-US" sz="1700">
                <a:solidFill>
                  <a:srgbClr val="3333CC"/>
                </a:solidFill>
                <a:latin typeface="微软雅黑" panose="020B0503020204020204" pitchFamily="34" charset="-122"/>
                <a:ea typeface="微软雅黑" panose="020B0503020204020204" pitchFamily="34" charset="-122"/>
              </a:rPr>
              <a:t>把</a:t>
            </a:r>
            <a:r>
              <a:rPr lang="en-US" altLang="zh-CN" sz="1700">
                <a:solidFill>
                  <a:srgbClr val="3333CC"/>
                </a:solidFill>
                <a:latin typeface="微软雅黑" panose="020B0503020204020204" pitchFamily="34" charset="-122"/>
                <a:ea typeface="微软雅黑" panose="020B0503020204020204" pitchFamily="34" charset="-122"/>
              </a:rPr>
              <a:t>a</a:t>
            </a:r>
            <a:r>
              <a:rPr lang="zh-CN" altLang="en-US" sz="1700">
                <a:solidFill>
                  <a:srgbClr val="3333CC"/>
                </a:solidFill>
                <a:latin typeface="微软雅黑" panose="020B0503020204020204" pitchFamily="34" charset="-122"/>
                <a:ea typeface="微软雅黑" panose="020B0503020204020204" pitchFamily="34" charset="-122"/>
              </a:rPr>
              <a:t>存回内存</a:t>
            </a:r>
          </a:p>
          <a:p>
            <a:pPr>
              <a:lnSpc>
                <a:spcPct val="110000"/>
              </a:lnSpc>
              <a:spcBef>
                <a:spcPct val="0"/>
              </a:spcBef>
              <a:buFontTx/>
              <a:buNone/>
            </a:pPr>
            <a:r>
              <a:rPr lang="zh-CN" altLang="en-US" sz="1700">
                <a:latin typeface="微软雅黑" panose="020B0503020204020204" pitchFamily="34" charset="-122"/>
                <a:ea typeface="微软雅黑" panose="020B0503020204020204" pitchFamily="34" charset="-122"/>
              </a:rPr>
              <a:t>                                                          </a:t>
            </a:r>
            <a:r>
              <a:rPr lang="en-US" altLang="zh-CN" sz="1700">
                <a:solidFill>
                  <a:srgbClr val="3333CC"/>
                </a:solidFill>
                <a:latin typeface="微软雅黑" panose="020B0503020204020204" pitchFamily="34" charset="-122"/>
                <a:ea typeface="微软雅黑" panose="020B0503020204020204" pitchFamily="34" charset="-122"/>
              </a:rPr>
              <a:t>//a</a:t>
            </a:r>
            <a:r>
              <a:rPr lang="zh-CN" altLang="en-US" sz="1700">
                <a:solidFill>
                  <a:srgbClr val="3333CC"/>
                </a:solidFill>
                <a:latin typeface="微软雅黑" panose="020B0503020204020204" pitchFamily="34" charset="-122"/>
                <a:ea typeface="微软雅黑" panose="020B0503020204020204" pitchFamily="34" charset="-122"/>
              </a:rPr>
              <a:t>产生精度损失</a:t>
            </a:r>
          </a:p>
          <a:p>
            <a:pPr>
              <a:lnSpc>
                <a:spcPct val="110000"/>
              </a:lnSpc>
              <a:spcBef>
                <a:spcPct val="0"/>
              </a:spcBef>
              <a:buFontTx/>
              <a:buNone/>
            </a:pPr>
            <a:r>
              <a:rPr lang="zh-CN" altLang="en-US" sz="1700">
                <a:latin typeface="微软雅黑" panose="020B0503020204020204" pitchFamily="34" charset="-122"/>
                <a:ea typeface="微软雅黑" panose="020B0503020204020204" pitchFamily="34" charset="-122"/>
              </a:rPr>
              <a:t> </a:t>
            </a:r>
            <a:r>
              <a:rPr lang="en-US" altLang="zh-CN" sz="1700">
                <a:latin typeface="微软雅黑" panose="020B0503020204020204" pitchFamily="34" charset="-122"/>
                <a:ea typeface="微软雅黑" panose="020B0503020204020204" pitchFamily="34" charset="-122"/>
              </a:rPr>
              <a:t>804834a:       c7 04 24 0a 00 00 00    movl   $0xa,(%esp,1)</a:t>
            </a:r>
          </a:p>
          <a:p>
            <a:pPr>
              <a:lnSpc>
                <a:spcPct val="110000"/>
              </a:lnSpc>
              <a:spcBef>
                <a:spcPct val="0"/>
              </a:spcBef>
              <a:buFontTx/>
              <a:buNone/>
            </a:pPr>
            <a:r>
              <a:rPr lang="en-US" altLang="zh-CN" sz="1700">
                <a:latin typeface="微软雅黑" panose="020B0503020204020204" pitchFamily="34" charset="-122"/>
                <a:ea typeface="微软雅黑" panose="020B0503020204020204" pitchFamily="34" charset="-122"/>
              </a:rPr>
              <a:t> 8048351:       e8 d2 ff ff ff     call   8048328 &lt;f&gt; </a:t>
            </a:r>
            <a:r>
              <a:rPr lang="en-US" altLang="zh-CN" sz="1700">
                <a:solidFill>
                  <a:srgbClr val="3333CC"/>
                </a:solidFill>
                <a:latin typeface="微软雅黑" panose="020B0503020204020204" pitchFamily="34" charset="-122"/>
                <a:ea typeface="微软雅黑" panose="020B0503020204020204" pitchFamily="34" charset="-122"/>
              </a:rPr>
              <a:t>//</a:t>
            </a:r>
            <a:r>
              <a:rPr lang="zh-CN" altLang="en-US" sz="1700">
                <a:solidFill>
                  <a:srgbClr val="3333CC"/>
                </a:solidFill>
                <a:latin typeface="微软雅黑" panose="020B0503020204020204" pitchFamily="34" charset="-122"/>
                <a:ea typeface="微软雅黑" panose="020B0503020204020204" pitchFamily="34" charset="-122"/>
              </a:rPr>
              <a:t>计算</a:t>
            </a:r>
            <a:r>
              <a:rPr lang="en-US" altLang="zh-CN" sz="1700">
                <a:solidFill>
                  <a:srgbClr val="3333CC"/>
                </a:solidFill>
                <a:latin typeface="微软雅黑" panose="020B0503020204020204" pitchFamily="34" charset="-122"/>
                <a:ea typeface="微软雅黑" panose="020B0503020204020204" pitchFamily="34" charset="-122"/>
              </a:rPr>
              <a:t>b</a:t>
            </a:r>
          </a:p>
          <a:p>
            <a:pPr>
              <a:lnSpc>
                <a:spcPct val="110000"/>
              </a:lnSpc>
              <a:spcBef>
                <a:spcPct val="0"/>
              </a:spcBef>
              <a:buFontTx/>
              <a:buNone/>
            </a:pPr>
            <a:r>
              <a:rPr lang="en-US" altLang="zh-CN" sz="1700">
                <a:latin typeface="微软雅黑" panose="020B0503020204020204" pitchFamily="34" charset="-122"/>
                <a:ea typeface="微软雅黑" panose="020B0503020204020204" pitchFamily="34" charset="-122"/>
              </a:rPr>
              <a:t> 8048356:       dd 5d f0           </a:t>
            </a:r>
            <a:r>
              <a:rPr lang="en-US" altLang="zh-CN" sz="1700">
                <a:solidFill>
                  <a:srgbClr val="FF3300"/>
                </a:solidFill>
                <a:latin typeface="微软雅黑" panose="020B0503020204020204" pitchFamily="34" charset="-122"/>
                <a:ea typeface="微软雅黑" panose="020B0503020204020204" pitchFamily="34" charset="-122"/>
              </a:rPr>
              <a:t>fstpl  0xfffffff0(%ebp) </a:t>
            </a:r>
            <a:r>
              <a:rPr lang="en-US" altLang="zh-CN" sz="1700">
                <a:solidFill>
                  <a:srgbClr val="3333CC"/>
                </a:solidFill>
                <a:latin typeface="微软雅黑" panose="020B0503020204020204" pitchFamily="34" charset="-122"/>
                <a:ea typeface="微软雅黑" panose="020B0503020204020204" pitchFamily="34" charset="-122"/>
              </a:rPr>
              <a:t>//</a:t>
            </a:r>
            <a:r>
              <a:rPr lang="zh-CN" altLang="en-US" sz="1700">
                <a:solidFill>
                  <a:srgbClr val="3333CC"/>
                </a:solidFill>
                <a:latin typeface="微软雅黑" panose="020B0503020204020204" pitchFamily="34" charset="-122"/>
                <a:ea typeface="微软雅黑" panose="020B0503020204020204" pitchFamily="34" charset="-122"/>
              </a:rPr>
              <a:t>把</a:t>
            </a:r>
            <a:r>
              <a:rPr lang="en-US" altLang="zh-CN" sz="1700">
                <a:solidFill>
                  <a:srgbClr val="3333CC"/>
                </a:solidFill>
                <a:latin typeface="微软雅黑" panose="020B0503020204020204" pitchFamily="34" charset="-122"/>
                <a:ea typeface="微软雅黑" panose="020B0503020204020204" pitchFamily="34" charset="-122"/>
              </a:rPr>
              <a:t>b</a:t>
            </a:r>
            <a:r>
              <a:rPr lang="zh-CN" altLang="en-US" sz="1700">
                <a:solidFill>
                  <a:srgbClr val="3333CC"/>
                </a:solidFill>
                <a:latin typeface="微软雅黑" panose="020B0503020204020204" pitchFamily="34" charset="-122"/>
                <a:ea typeface="微软雅黑" panose="020B0503020204020204" pitchFamily="34" charset="-122"/>
              </a:rPr>
              <a:t>存回内存</a:t>
            </a:r>
          </a:p>
          <a:p>
            <a:pPr>
              <a:lnSpc>
                <a:spcPct val="110000"/>
              </a:lnSpc>
              <a:spcBef>
                <a:spcPct val="0"/>
              </a:spcBef>
              <a:buFontTx/>
              <a:buNone/>
            </a:pPr>
            <a:r>
              <a:rPr lang="zh-CN" altLang="en-US" sz="1700">
                <a:latin typeface="微软雅黑" panose="020B0503020204020204" pitchFamily="34" charset="-122"/>
                <a:ea typeface="微软雅黑" panose="020B0503020204020204" pitchFamily="34" charset="-122"/>
              </a:rPr>
              <a:t>                                                         </a:t>
            </a:r>
            <a:r>
              <a:rPr lang="en-US" altLang="zh-CN" sz="1700">
                <a:solidFill>
                  <a:srgbClr val="3333CC"/>
                </a:solidFill>
                <a:latin typeface="微软雅黑" panose="020B0503020204020204" pitchFamily="34" charset="-122"/>
                <a:ea typeface="微软雅黑" panose="020B0503020204020204" pitchFamily="34" charset="-122"/>
              </a:rPr>
              <a:t>//b</a:t>
            </a:r>
            <a:r>
              <a:rPr lang="zh-CN" altLang="en-US" sz="1700">
                <a:solidFill>
                  <a:srgbClr val="3333CC"/>
                </a:solidFill>
                <a:latin typeface="微软雅黑" panose="020B0503020204020204" pitchFamily="34" charset="-122"/>
                <a:ea typeface="微软雅黑" panose="020B0503020204020204" pitchFamily="34" charset="-122"/>
              </a:rPr>
              <a:t>产生精度损失</a:t>
            </a:r>
          </a:p>
          <a:p>
            <a:pPr>
              <a:lnSpc>
                <a:spcPct val="110000"/>
              </a:lnSpc>
              <a:spcBef>
                <a:spcPct val="0"/>
              </a:spcBef>
              <a:buFontTx/>
              <a:buNone/>
            </a:pPr>
            <a:r>
              <a:rPr lang="zh-CN" altLang="en-US" sz="1700">
                <a:latin typeface="微软雅黑" panose="020B0503020204020204" pitchFamily="34" charset="-122"/>
                <a:ea typeface="微软雅黑" panose="020B0503020204020204" pitchFamily="34" charset="-122"/>
              </a:rPr>
              <a:t> </a:t>
            </a:r>
            <a:r>
              <a:rPr lang="en-US" altLang="zh-CN" sz="1700">
                <a:latin typeface="微软雅黑" panose="020B0503020204020204" pitchFamily="34" charset="-122"/>
                <a:ea typeface="微软雅黑" panose="020B0503020204020204" pitchFamily="34" charset="-122"/>
              </a:rPr>
              <a:t>8048359:       c7 04 24 0a 00 00 00    </a:t>
            </a:r>
            <a:r>
              <a:rPr lang="en-US" altLang="zh-CN" sz="1700">
                <a:solidFill>
                  <a:srgbClr val="CC3300"/>
                </a:solidFill>
                <a:latin typeface="微软雅黑" panose="020B0503020204020204" pitchFamily="34" charset="-122"/>
                <a:ea typeface="微软雅黑" panose="020B0503020204020204" pitchFamily="34" charset="-122"/>
              </a:rPr>
              <a:t>movl   $0xa,(%esp,1)</a:t>
            </a:r>
          </a:p>
          <a:p>
            <a:pPr>
              <a:lnSpc>
                <a:spcPct val="110000"/>
              </a:lnSpc>
              <a:spcBef>
                <a:spcPct val="0"/>
              </a:spcBef>
              <a:buFontTx/>
              <a:buNone/>
            </a:pPr>
            <a:r>
              <a:rPr lang="en-US" altLang="zh-CN" sz="1700">
                <a:latin typeface="微软雅黑" panose="020B0503020204020204" pitchFamily="34" charset="-122"/>
                <a:ea typeface="微软雅黑" panose="020B0503020204020204" pitchFamily="34" charset="-122"/>
              </a:rPr>
              <a:t> 8048360:       e8 c3 ff ff ff      </a:t>
            </a:r>
            <a:r>
              <a:rPr lang="en-US" altLang="zh-CN" sz="1700">
                <a:solidFill>
                  <a:srgbClr val="CC3300"/>
                </a:solidFill>
                <a:latin typeface="微软雅黑" panose="020B0503020204020204" pitchFamily="34" charset="-122"/>
                <a:ea typeface="微软雅黑" panose="020B0503020204020204" pitchFamily="34" charset="-122"/>
              </a:rPr>
              <a:t>call   8048328 &lt;f&gt;</a:t>
            </a:r>
            <a:r>
              <a:rPr lang="en-US" altLang="zh-CN" sz="1700">
                <a:latin typeface="微软雅黑" panose="020B0503020204020204" pitchFamily="34" charset="-122"/>
                <a:ea typeface="微软雅黑" panose="020B0503020204020204" pitchFamily="34" charset="-122"/>
              </a:rPr>
              <a:t> </a:t>
            </a:r>
            <a:r>
              <a:rPr lang="en-US" altLang="zh-CN" sz="1700">
                <a:solidFill>
                  <a:srgbClr val="3333CC"/>
                </a:solidFill>
                <a:latin typeface="微软雅黑" panose="020B0503020204020204" pitchFamily="34" charset="-122"/>
                <a:ea typeface="微软雅黑" panose="020B0503020204020204" pitchFamily="34" charset="-122"/>
              </a:rPr>
              <a:t>//</a:t>
            </a:r>
            <a:r>
              <a:rPr lang="zh-CN" altLang="en-US" sz="1700">
                <a:solidFill>
                  <a:srgbClr val="3333CC"/>
                </a:solidFill>
                <a:latin typeface="微软雅黑" panose="020B0503020204020204" pitchFamily="34" charset="-122"/>
                <a:ea typeface="微软雅黑" panose="020B0503020204020204" pitchFamily="34" charset="-122"/>
              </a:rPr>
              <a:t>计算</a:t>
            </a:r>
            <a:r>
              <a:rPr lang="en-US" altLang="zh-CN" sz="1700">
                <a:solidFill>
                  <a:srgbClr val="3333CC"/>
                </a:solidFill>
                <a:latin typeface="微软雅黑" panose="020B0503020204020204" pitchFamily="34" charset="-122"/>
                <a:ea typeface="微软雅黑" panose="020B0503020204020204" pitchFamily="34" charset="-122"/>
              </a:rPr>
              <a:t>c</a:t>
            </a:r>
          </a:p>
          <a:p>
            <a:pPr>
              <a:lnSpc>
                <a:spcPct val="110000"/>
              </a:lnSpc>
              <a:spcBef>
                <a:spcPct val="0"/>
              </a:spcBef>
              <a:buFontTx/>
              <a:buNone/>
            </a:pPr>
            <a:r>
              <a:rPr lang="en-US" altLang="zh-CN" sz="1700">
                <a:latin typeface="微软雅黑" panose="020B0503020204020204" pitchFamily="34" charset="-122"/>
                <a:ea typeface="微软雅黑" panose="020B0503020204020204" pitchFamily="34" charset="-122"/>
              </a:rPr>
              <a:t> 8048365:       dd d8                </a:t>
            </a:r>
            <a:r>
              <a:rPr lang="en-US" altLang="zh-CN" sz="1700">
                <a:solidFill>
                  <a:srgbClr val="CC3300"/>
                </a:solidFill>
                <a:latin typeface="微软雅黑" panose="020B0503020204020204" pitchFamily="34" charset="-122"/>
                <a:ea typeface="微软雅黑" panose="020B0503020204020204" pitchFamily="34" charset="-122"/>
              </a:rPr>
              <a:t>fstp   %st(0)</a:t>
            </a:r>
          </a:p>
          <a:p>
            <a:pPr>
              <a:lnSpc>
                <a:spcPct val="110000"/>
              </a:lnSpc>
              <a:spcBef>
                <a:spcPct val="0"/>
              </a:spcBef>
              <a:buFontTx/>
              <a:buNone/>
            </a:pPr>
            <a:r>
              <a:rPr lang="en-US" altLang="zh-CN" sz="1700">
                <a:latin typeface="微软雅黑" panose="020B0503020204020204" pitchFamily="34" charset="-122"/>
                <a:ea typeface="微软雅黑" panose="020B0503020204020204" pitchFamily="34" charset="-122"/>
              </a:rPr>
              <a:t> 8048367:       dd 45 f8            fldl   0xfffffff8(%ebp) </a:t>
            </a:r>
            <a:r>
              <a:rPr lang="en-US" altLang="zh-CN" sz="1700">
                <a:solidFill>
                  <a:srgbClr val="3333CC"/>
                </a:solidFill>
                <a:latin typeface="微软雅黑" panose="020B0503020204020204" pitchFamily="34" charset="-122"/>
                <a:ea typeface="微软雅黑" panose="020B0503020204020204" pitchFamily="34" charset="-122"/>
              </a:rPr>
              <a:t>//</a:t>
            </a:r>
            <a:r>
              <a:rPr lang="zh-CN" altLang="en-US" sz="1700">
                <a:solidFill>
                  <a:srgbClr val="3333CC"/>
                </a:solidFill>
                <a:latin typeface="微软雅黑" panose="020B0503020204020204" pitchFamily="34" charset="-122"/>
                <a:ea typeface="微软雅黑" panose="020B0503020204020204" pitchFamily="34" charset="-122"/>
              </a:rPr>
              <a:t>从内存中载入</a:t>
            </a:r>
            <a:r>
              <a:rPr lang="en-US" altLang="zh-CN" sz="1700">
                <a:solidFill>
                  <a:srgbClr val="3333CC"/>
                </a:solidFill>
                <a:latin typeface="微软雅黑" panose="020B0503020204020204" pitchFamily="34" charset="-122"/>
                <a:ea typeface="微软雅黑" panose="020B0503020204020204" pitchFamily="34" charset="-122"/>
              </a:rPr>
              <a:t>a</a:t>
            </a:r>
          </a:p>
          <a:p>
            <a:pPr>
              <a:lnSpc>
                <a:spcPct val="110000"/>
              </a:lnSpc>
              <a:spcBef>
                <a:spcPct val="0"/>
              </a:spcBef>
              <a:buFontTx/>
              <a:buNone/>
            </a:pPr>
            <a:r>
              <a:rPr lang="en-US" altLang="zh-CN" sz="1700">
                <a:latin typeface="微软雅黑" panose="020B0503020204020204" pitchFamily="34" charset="-122"/>
                <a:ea typeface="微软雅黑" panose="020B0503020204020204" pitchFamily="34" charset="-122"/>
              </a:rPr>
              <a:t> 804836a:       dd 45 f0            fldl   0xfffffff0(%ebp) </a:t>
            </a:r>
            <a:r>
              <a:rPr lang="en-US" altLang="zh-CN" sz="1700">
                <a:solidFill>
                  <a:srgbClr val="3333CC"/>
                </a:solidFill>
                <a:latin typeface="微软雅黑" panose="020B0503020204020204" pitchFamily="34" charset="-122"/>
                <a:ea typeface="微软雅黑" panose="020B0503020204020204" pitchFamily="34" charset="-122"/>
              </a:rPr>
              <a:t>//</a:t>
            </a:r>
            <a:r>
              <a:rPr lang="zh-CN" altLang="en-US" sz="1700">
                <a:solidFill>
                  <a:srgbClr val="3333CC"/>
                </a:solidFill>
                <a:latin typeface="微软雅黑" panose="020B0503020204020204" pitchFamily="34" charset="-122"/>
                <a:ea typeface="微软雅黑" panose="020B0503020204020204" pitchFamily="34" charset="-122"/>
              </a:rPr>
              <a:t>从内存中载入</a:t>
            </a:r>
            <a:r>
              <a:rPr lang="en-US" altLang="zh-CN" sz="1700">
                <a:solidFill>
                  <a:srgbClr val="3333CC"/>
                </a:solidFill>
                <a:latin typeface="微软雅黑" panose="020B0503020204020204" pitchFamily="34" charset="-122"/>
                <a:ea typeface="微软雅黑" panose="020B0503020204020204" pitchFamily="34" charset="-122"/>
              </a:rPr>
              <a:t>b</a:t>
            </a:r>
          </a:p>
          <a:p>
            <a:pPr>
              <a:lnSpc>
                <a:spcPct val="110000"/>
              </a:lnSpc>
              <a:spcBef>
                <a:spcPct val="0"/>
              </a:spcBef>
              <a:buFontTx/>
              <a:buNone/>
            </a:pPr>
            <a:r>
              <a:rPr lang="en-US" altLang="zh-CN" sz="1700">
                <a:latin typeface="微软雅黑" panose="020B0503020204020204" pitchFamily="34" charset="-122"/>
                <a:ea typeface="微软雅黑" panose="020B0503020204020204" pitchFamily="34" charset="-122"/>
              </a:rPr>
              <a:t> 804836d:       d9 c9                 fxch   %st(1) </a:t>
            </a:r>
          </a:p>
          <a:p>
            <a:pPr>
              <a:lnSpc>
                <a:spcPct val="110000"/>
              </a:lnSpc>
              <a:spcBef>
                <a:spcPct val="0"/>
              </a:spcBef>
              <a:buFontTx/>
              <a:buNone/>
            </a:pPr>
            <a:r>
              <a:rPr lang="en-US" altLang="zh-CN" sz="1700">
                <a:latin typeface="微软雅黑" panose="020B0503020204020204" pitchFamily="34" charset="-122"/>
                <a:ea typeface="微软雅黑" panose="020B0503020204020204" pitchFamily="34" charset="-122"/>
              </a:rPr>
              <a:t> 804836f:       58                       pop    %eax</a:t>
            </a:r>
          </a:p>
          <a:p>
            <a:pPr>
              <a:lnSpc>
                <a:spcPct val="110000"/>
              </a:lnSpc>
              <a:spcBef>
                <a:spcPct val="0"/>
              </a:spcBef>
              <a:buFontTx/>
              <a:buNone/>
            </a:pPr>
            <a:r>
              <a:rPr lang="en-US" altLang="zh-CN" sz="1700">
                <a:latin typeface="微软雅黑" panose="020B0503020204020204" pitchFamily="34" charset="-122"/>
                <a:ea typeface="微软雅黑" panose="020B0503020204020204" pitchFamily="34" charset="-122"/>
              </a:rPr>
              <a:t> 8048370:       da e9                 fucompp </a:t>
            </a:r>
            <a:r>
              <a:rPr lang="en-US" altLang="zh-CN" sz="1700">
                <a:solidFill>
                  <a:srgbClr val="3333CC"/>
                </a:solidFill>
                <a:latin typeface="微软雅黑" panose="020B0503020204020204" pitchFamily="34" charset="-122"/>
                <a:ea typeface="微软雅黑" panose="020B0503020204020204" pitchFamily="34" charset="-122"/>
              </a:rPr>
              <a:t>//</a:t>
            </a:r>
            <a:r>
              <a:rPr lang="zh-CN" altLang="en-US" sz="1700">
                <a:solidFill>
                  <a:srgbClr val="3333CC"/>
                </a:solidFill>
                <a:latin typeface="微软雅黑" panose="020B0503020204020204" pitchFamily="34" charset="-122"/>
                <a:ea typeface="微软雅黑" panose="020B0503020204020204" pitchFamily="34" charset="-122"/>
              </a:rPr>
              <a:t>比较</a:t>
            </a:r>
            <a:r>
              <a:rPr lang="en-US" altLang="zh-CN" sz="1700">
                <a:solidFill>
                  <a:srgbClr val="3333CC"/>
                </a:solidFill>
                <a:latin typeface="微软雅黑" panose="020B0503020204020204" pitchFamily="34" charset="-122"/>
                <a:ea typeface="微软雅黑" panose="020B0503020204020204" pitchFamily="34" charset="-122"/>
              </a:rPr>
              <a:t>a , b</a:t>
            </a:r>
          </a:p>
          <a:p>
            <a:pPr>
              <a:lnSpc>
                <a:spcPct val="110000"/>
              </a:lnSpc>
              <a:spcBef>
                <a:spcPct val="0"/>
              </a:spcBef>
              <a:buFontTx/>
              <a:buNone/>
            </a:pPr>
            <a:r>
              <a:rPr lang="en-US" altLang="zh-CN" sz="1700">
                <a:latin typeface="微软雅黑" panose="020B0503020204020204" pitchFamily="34" charset="-122"/>
                <a:ea typeface="微软雅黑" panose="020B0503020204020204" pitchFamily="34" charset="-122"/>
              </a:rPr>
              <a:t> 8048372:       df e0                  fnstsw %ax</a:t>
            </a:r>
          </a:p>
        </p:txBody>
      </p:sp>
      <p:sp>
        <p:nvSpPr>
          <p:cNvPr id="71684" name="Rectangle 4"/>
          <p:cNvSpPr>
            <a:spLocks noChangeArrowheads="1"/>
          </p:cNvSpPr>
          <p:nvPr/>
        </p:nvSpPr>
        <p:spPr bwMode="auto">
          <a:xfrm>
            <a:off x="7451725" y="236538"/>
            <a:ext cx="1350963" cy="1657350"/>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800">
                <a:latin typeface="微软雅黑" panose="020B0503020204020204" pitchFamily="34" charset="-122"/>
                <a:ea typeface="微软雅黑" panose="020B0503020204020204" pitchFamily="34" charset="-122"/>
              </a:rPr>
              <a:t> …</a:t>
            </a:r>
          </a:p>
          <a:p>
            <a:pPr>
              <a:lnSpc>
                <a:spcPct val="100000"/>
              </a:lnSpc>
              <a:spcBef>
                <a:spcPct val="0"/>
              </a:spcBef>
              <a:buFontTx/>
              <a:buNone/>
            </a:pPr>
            <a:r>
              <a:rPr lang="en-US" altLang="zh-CN" sz="1800">
                <a:latin typeface="微软雅黑" panose="020B0503020204020204" pitchFamily="34" charset="-122"/>
                <a:ea typeface="微软雅黑" panose="020B0503020204020204" pitchFamily="34" charset="-122"/>
              </a:rPr>
              <a:t> a = f(10) ;</a:t>
            </a:r>
          </a:p>
          <a:p>
            <a:pPr>
              <a:lnSpc>
                <a:spcPct val="100000"/>
              </a:lnSpc>
              <a:spcBef>
                <a:spcPct val="0"/>
              </a:spcBef>
              <a:buFontTx/>
              <a:buNone/>
            </a:pPr>
            <a:r>
              <a:rPr lang="en-US" altLang="zh-CN" sz="1800">
                <a:latin typeface="微软雅黑" panose="020B0503020204020204" pitchFamily="34" charset="-122"/>
                <a:ea typeface="微软雅黑" panose="020B0503020204020204" pitchFamily="34" charset="-122"/>
              </a:rPr>
              <a:t> b = f(10) ;</a:t>
            </a:r>
          </a:p>
          <a:p>
            <a:pPr>
              <a:lnSpc>
                <a:spcPct val="100000"/>
              </a:lnSpc>
              <a:spcBef>
                <a:spcPct val="0"/>
              </a:spcBef>
              <a:buFontTx/>
              <a:buNone/>
            </a:pPr>
            <a:r>
              <a:rPr lang="en-US" altLang="zh-CN" sz="1800">
                <a:latin typeface="微软雅黑" panose="020B0503020204020204" pitchFamily="34" charset="-122"/>
                <a:ea typeface="微软雅黑" panose="020B0503020204020204" pitchFamily="34" charset="-122"/>
              </a:rPr>
              <a:t> </a:t>
            </a:r>
            <a:r>
              <a:rPr lang="en-US" altLang="zh-CN" sz="1800">
                <a:solidFill>
                  <a:srgbClr val="CC3300"/>
                </a:solidFill>
                <a:latin typeface="微软雅黑" panose="020B0503020204020204" pitchFamily="34" charset="-122"/>
                <a:ea typeface="微软雅黑" panose="020B0503020204020204" pitchFamily="34" charset="-122"/>
              </a:rPr>
              <a:t>c = f(10) ;</a:t>
            </a:r>
          </a:p>
          <a:p>
            <a:pPr>
              <a:lnSpc>
                <a:spcPct val="100000"/>
              </a:lnSpc>
              <a:spcBef>
                <a:spcPct val="0"/>
              </a:spcBef>
              <a:buFontTx/>
              <a:buNone/>
            </a:pPr>
            <a:r>
              <a:rPr lang="en-US" altLang="zh-CN" sz="1800">
                <a:latin typeface="微软雅黑" panose="020B0503020204020204" pitchFamily="34" charset="-122"/>
                <a:ea typeface="微软雅黑" panose="020B0503020204020204" pitchFamily="34" charset="-122"/>
              </a:rPr>
              <a:t> i = a == b;</a:t>
            </a:r>
          </a:p>
          <a:p>
            <a:pPr>
              <a:lnSpc>
                <a:spcPct val="100000"/>
              </a:lnSpc>
              <a:spcBef>
                <a:spcPct val="0"/>
              </a:spcBef>
              <a:buFontTx/>
              <a:buNone/>
            </a:pPr>
            <a:r>
              <a:rPr lang="en-US" altLang="zh-CN" sz="1800">
                <a:latin typeface="微软雅黑" panose="020B0503020204020204" pitchFamily="34" charset="-122"/>
                <a:ea typeface="微软雅黑" panose="020B0503020204020204" pitchFamily="34" charset="-122"/>
              </a:rPr>
              <a:t> … </a:t>
            </a:r>
          </a:p>
        </p:txBody>
      </p:sp>
      <p:sp>
        <p:nvSpPr>
          <p:cNvPr id="836613" name="Rectangle 5"/>
          <p:cNvSpPr>
            <a:spLocks noChangeArrowheads="1"/>
          </p:cNvSpPr>
          <p:nvPr/>
        </p:nvSpPr>
        <p:spPr bwMode="auto">
          <a:xfrm>
            <a:off x="6011863" y="5164138"/>
            <a:ext cx="2384425" cy="1238250"/>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900">
                <a:solidFill>
                  <a:srgbClr val="CC3300"/>
                </a:solidFill>
                <a:latin typeface="微软雅黑" panose="020B0503020204020204" pitchFamily="34" charset="-122"/>
                <a:ea typeface="微软雅黑" panose="020B0503020204020204" pitchFamily="34" charset="-122"/>
              </a:rPr>
              <a:t>0.1</a:t>
            </a:r>
            <a:r>
              <a:rPr lang="zh-CN" altLang="en-US" sz="1900">
                <a:solidFill>
                  <a:srgbClr val="CC3300"/>
                </a:solidFill>
                <a:latin typeface="微软雅黑" panose="020B0503020204020204" pitchFamily="34" charset="-122"/>
                <a:ea typeface="微软雅黑" panose="020B0503020204020204" pitchFamily="34" charset="-122"/>
              </a:rPr>
              <a:t>是无限循环小数，无法精确表示，因而，</a:t>
            </a:r>
            <a:r>
              <a:rPr lang="zh-CN" altLang="en-US" sz="1900">
                <a:solidFill>
                  <a:srgbClr val="FF3300"/>
                </a:solidFill>
                <a:latin typeface="微软雅黑" panose="020B0503020204020204" pitchFamily="34" charset="-122"/>
                <a:ea typeface="微软雅黑" panose="020B0503020204020204" pitchFamily="34" charset="-122"/>
              </a:rPr>
              <a:t>比较时，</a:t>
            </a:r>
            <a:r>
              <a:rPr lang="en-US" altLang="zh-CN" sz="1900">
                <a:solidFill>
                  <a:srgbClr val="FF3300"/>
                </a:solidFill>
                <a:latin typeface="微软雅黑" panose="020B0503020204020204" pitchFamily="34" charset="-122"/>
                <a:ea typeface="微软雅黑" panose="020B0503020204020204" pitchFamily="34" charset="-122"/>
              </a:rPr>
              <a:t>a</a:t>
            </a:r>
            <a:r>
              <a:rPr lang="zh-CN" altLang="en-US" sz="1900">
                <a:solidFill>
                  <a:srgbClr val="FF3300"/>
                </a:solidFill>
                <a:latin typeface="微软雅黑" panose="020B0503020204020204" pitchFamily="34" charset="-122"/>
                <a:ea typeface="微软雅黑" panose="020B0503020204020204" pitchFamily="34" charset="-122"/>
              </a:rPr>
              <a:t>和</a:t>
            </a:r>
            <a:r>
              <a:rPr lang="en-US" altLang="zh-CN" sz="1900">
                <a:solidFill>
                  <a:srgbClr val="FF3300"/>
                </a:solidFill>
                <a:latin typeface="微软雅黑" panose="020B0503020204020204" pitchFamily="34" charset="-122"/>
                <a:ea typeface="微软雅黑" panose="020B0503020204020204" pitchFamily="34" charset="-122"/>
              </a:rPr>
              <a:t>b</a:t>
            </a:r>
            <a:r>
              <a:rPr lang="zh-CN" altLang="en-US" sz="1900">
                <a:solidFill>
                  <a:srgbClr val="FF3300"/>
                </a:solidFill>
                <a:latin typeface="微软雅黑" panose="020B0503020204020204" pitchFamily="34" charset="-122"/>
                <a:ea typeface="微软雅黑" panose="020B0503020204020204" pitchFamily="34" charset="-122"/>
              </a:rPr>
              <a:t>都是舍入过的，故 </a:t>
            </a:r>
            <a:r>
              <a:rPr lang="en-US" altLang="zh-CN" sz="1900">
                <a:solidFill>
                  <a:srgbClr val="FF3300"/>
                </a:solidFill>
                <a:latin typeface="微软雅黑" panose="020B0503020204020204" pitchFamily="34" charset="-122"/>
                <a:ea typeface="微软雅黑" panose="020B0503020204020204" pitchFamily="34" charset="-122"/>
              </a:rPr>
              <a:t>a</a:t>
            </a:r>
            <a:r>
              <a:rPr lang="en-US" altLang="zh-CN" sz="1900">
                <a:solidFill>
                  <a:srgbClr val="FF3300"/>
                </a:solidFill>
                <a:latin typeface="微软雅黑" panose="020B0503020204020204" pitchFamily="34" charset="-122"/>
                <a:ea typeface="微软雅黑" panose="020B0503020204020204" pitchFamily="34" charset="-122"/>
                <a:cs typeface="Arial" panose="020B0604020202020204" pitchFamily="34" charset="0"/>
              </a:rPr>
              <a:t>=b</a:t>
            </a:r>
            <a:r>
              <a:rPr lang="zh-CN" altLang="en-US" sz="1900">
                <a:solidFill>
                  <a:srgbClr val="FF3300"/>
                </a:solidFill>
                <a:latin typeface="微软雅黑" panose="020B0503020204020204" pitchFamily="34" charset="-122"/>
                <a:ea typeface="微软雅黑" panose="020B0503020204020204" pitchFamily="34" charset="-122"/>
                <a:cs typeface="Arial" panose="020B0604020202020204" pitchFamily="34" charset="0"/>
              </a:rPr>
              <a:t>！</a:t>
            </a:r>
            <a:endParaRPr lang="en-US" altLang="en-US" sz="1900">
              <a:solidFill>
                <a:srgbClr val="FF3300"/>
              </a:solidFill>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10215238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36613"/>
                                        </p:tgtEl>
                                        <p:attrNameLst>
                                          <p:attrName>style.visibility</p:attrName>
                                        </p:attrNameLst>
                                      </p:cBhvr>
                                      <p:to>
                                        <p:strVal val="visible"/>
                                      </p:to>
                                    </p:set>
                                    <p:animEffect transition="in" filter="blinds(horizontal)">
                                      <p:cBhvr>
                                        <p:cTn id="7" dur="500"/>
                                        <p:tgtEl>
                                          <p:spTgt spid="8366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661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457200" y="98425"/>
            <a:ext cx="8229600" cy="561975"/>
          </a:xfrm>
        </p:spPr>
        <p:txBody>
          <a:bodyPr>
            <a:normAutofit fontScale="90000"/>
          </a:bodyPr>
          <a:lstStyle/>
          <a:p>
            <a:r>
              <a:rPr lang="en-US" altLang="zh-CN" sz="3200">
                <a:ea typeface="微软雅黑" panose="020B0503020204020204" pitchFamily="34" charset="-122"/>
              </a:rPr>
              <a:t>IA-32</a:t>
            </a:r>
            <a:r>
              <a:rPr lang="zh-CN" altLang="en-US" sz="3200">
                <a:ea typeface="微软雅黑" panose="020B0503020204020204" pitchFamily="34" charset="-122"/>
              </a:rPr>
              <a:t>浮点操作举例</a:t>
            </a:r>
            <a:endParaRPr lang="zh-CN" altLang="en-US" sz="3600"/>
          </a:p>
        </p:txBody>
      </p:sp>
      <p:sp>
        <p:nvSpPr>
          <p:cNvPr id="837635" name="Rectangle 3"/>
          <p:cNvSpPr>
            <a:spLocks noGrp="1" noChangeArrowheads="1"/>
          </p:cNvSpPr>
          <p:nvPr>
            <p:ph type="body" idx="1"/>
          </p:nvPr>
        </p:nvSpPr>
        <p:spPr>
          <a:xfrm>
            <a:off x="250825" y="866775"/>
            <a:ext cx="8675688" cy="5218113"/>
          </a:xfrm>
        </p:spPr>
        <p:txBody>
          <a:bodyPr/>
          <a:lstStyle/>
          <a:p>
            <a:pPr>
              <a:lnSpc>
                <a:spcPct val="125000"/>
              </a:lnSpc>
              <a:spcBef>
                <a:spcPct val="30000"/>
              </a:spcBef>
            </a:pPr>
            <a:r>
              <a:rPr lang="zh-CN" altLang="en-US">
                <a:latin typeface="微软雅黑" panose="020B0503020204020204" pitchFamily="34" charset="-122"/>
                <a:ea typeface="微软雅黑" panose="020B0503020204020204" pitchFamily="34" charset="-122"/>
              </a:rPr>
              <a:t>从这个例子可以看出</a:t>
            </a:r>
          </a:p>
          <a:p>
            <a:pPr lvl="1">
              <a:lnSpc>
                <a:spcPct val="125000"/>
              </a:lnSpc>
              <a:spcBef>
                <a:spcPct val="30000"/>
              </a:spcBef>
            </a:pPr>
            <a:r>
              <a:rPr lang="zh-CN" altLang="en-US" sz="2300">
                <a:latin typeface="微软雅黑" panose="020B0503020204020204" pitchFamily="34" charset="-122"/>
                <a:ea typeface="微软雅黑" panose="020B0503020204020204" pitchFamily="34" charset="-122"/>
              </a:rPr>
              <a:t>编译器的设计和硬件结构紧密相关。</a:t>
            </a:r>
          </a:p>
          <a:p>
            <a:pPr lvl="1">
              <a:lnSpc>
                <a:spcPct val="125000"/>
              </a:lnSpc>
              <a:spcBef>
                <a:spcPct val="30000"/>
              </a:spcBef>
            </a:pPr>
            <a:r>
              <a:rPr lang="zh-CN" altLang="en-US" sz="2300">
                <a:latin typeface="微软雅黑" panose="020B0503020204020204" pitchFamily="34" charset="-122"/>
                <a:ea typeface="微软雅黑" panose="020B0503020204020204" pitchFamily="34" charset="-122"/>
              </a:rPr>
              <a:t>对于</a:t>
            </a:r>
            <a:r>
              <a:rPr lang="zh-CN" altLang="en-US" sz="2300">
                <a:solidFill>
                  <a:srgbClr val="FF3300"/>
                </a:solidFill>
                <a:latin typeface="微软雅黑" panose="020B0503020204020204" pitchFamily="34" charset="-122"/>
                <a:ea typeface="微软雅黑" panose="020B0503020204020204" pitchFamily="34" charset="-122"/>
              </a:rPr>
              <a:t>编译器设计者</a:t>
            </a:r>
            <a:r>
              <a:rPr lang="zh-CN" altLang="en-US" sz="2300">
                <a:latin typeface="微软雅黑" panose="020B0503020204020204" pitchFamily="34" charset="-122"/>
                <a:ea typeface="微软雅黑" panose="020B0503020204020204" pitchFamily="34" charset="-122"/>
              </a:rPr>
              <a:t>来说，只有真正了解底层硬件结构和真正理解指令集体系结构，才能够翻译出没有错误的目标代码，并为程序员完全屏蔽掉硬件实现的细节，方便应用程序员开发出可靠的程序。</a:t>
            </a:r>
          </a:p>
          <a:p>
            <a:pPr lvl="1">
              <a:lnSpc>
                <a:spcPct val="125000"/>
              </a:lnSpc>
              <a:spcBef>
                <a:spcPct val="30000"/>
              </a:spcBef>
            </a:pPr>
            <a:r>
              <a:rPr lang="zh-CN" altLang="en-US" sz="2300">
                <a:latin typeface="微软雅黑" panose="020B0503020204020204" pitchFamily="34" charset="-122"/>
                <a:ea typeface="微软雅黑" panose="020B0503020204020204" pitchFamily="34" charset="-122"/>
              </a:rPr>
              <a:t>对于</a:t>
            </a:r>
            <a:r>
              <a:rPr lang="zh-CN" altLang="en-US" sz="2300">
                <a:solidFill>
                  <a:srgbClr val="FF3300"/>
                </a:solidFill>
                <a:latin typeface="微软雅黑" panose="020B0503020204020204" pitchFamily="34" charset="-122"/>
                <a:ea typeface="微软雅黑" panose="020B0503020204020204" pitchFamily="34" charset="-122"/>
              </a:rPr>
              <a:t>应用程序开发者</a:t>
            </a:r>
            <a:r>
              <a:rPr lang="zh-CN" altLang="en-US" sz="2300">
                <a:latin typeface="微软雅黑" panose="020B0503020204020204" pitchFamily="34" charset="-122"/>
                <a:ea typeface="微软雅黑" panose="020B0503020204020204" pitchFamily="34" charset="-122"/>
              </a:rPr>
              <a:t>来说，也只有真正了解底层硬件的结构，才有能力编制出高效的程序，能够快速定位出错的地方，并对程序的行为作出正确的判断。</a:t>
            </a:r>
          </a:p>
        </p:txBody>
      </p:sp>
    </p:spTree>
    <p:extLst>
      <p:ext uri="{BB962C8B-B14F-4D97-AF65-F5344CB8AC3E}">
        <p14:creationId xmlns:p14="http://schemas.microsoft.com/office/powerpoint/2010/main" val="40524472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37635">
                                            <p:txEl>
                                              <p:pRg st="1" end="1"/>
                                            </p:txEl>
                                          </p:spTgt>
                                        </p:tgtEl>
                                        <p:attrNameLst>
                                          <p:attrName>style.visibility</p:attrName>
                                        </p:attrNameLst>
                                      </p:cBhvr>
                                      <p:to>
                                        <p:strVal val="visible"/>
                                      </p:to>
                                    </p:set>
                                    <p:animEffect transition="in" filter="blinds(horizontal)">
                                      <p:cBhvr>
                                        <p:cTn id="7" dur="500"/>
                                        <p:tgtEl>
                                          <p:spTgt spid="83763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37635">
                                            <p:txEl>
                                              <p:pRg st="2" end="2"/>
                                            </p:txEl>
                                          </p:spTgt>
                                        </p:tgtEl>
                                        <p:attrNameLst>
                                          <p:attrName>style.visibility</p:attrName>
                                        </p:attrNameLst>
                                      </p:cBhvr>
                                      <p:to>
                                        <p:strVal val="visible"/>
                                      </p:to>
                                    </p:set>
                                    <p:animEffect transition="in" filter="blinds(horizontal)">
                                      <p:cBhvr>
                                        <p:cTn id="12" dur="500"/>
                                        <p:tgtEl>
                                          <p:spTgt spid="83763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837635">
                                            <p:txEl>
                                              <p:pRg st="3" end="3"/>
                                            </p:txEl>
                                          </p:spTgt>
                                        </p:tgtEl>
                                        <p:attrNameLst>
                                          <p:attrName>style.visibility</p:attrName>
                                        </p:attrNameLst>
                                      </p:cBhvr>
                                      <p:to>
                                        <p:strVal val="visible"/>
                                      </p:to>
                                    </p:set>
                                    <p:animEffect transition="in" filter="blinds(horizontal)">
                                      <p:cBhvr>
                                        <p:cTn id="17" dur="500"/>
                                        <p:tgtEl>
                                          <p:spTgt spid="8376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chemeClr val="accent6">
                    <a:lumMod val="50000"/>
                  </a:schemeClr>
                </a:solidFill>
              </a:rPr>
              <a:t>总结</a:t>
            </a:r>
          </a:p>
        </p:txBody>
      </p:sp>
      <p:sp>
        <p:nvSpPr>
          <p:cNvPr id="3" name="内容占位符 2"/>
          <p:cNvSpPr>
            <a:spLocks noGrp="1"/>
          </p:cNvSpPr>
          <p:nvPr>
            <p:ph idx="1"/>
          </p:nvPr>
        </p:nvSpPr>
        <p:spPr/>
        <p:txBody>
          <a:bodyPr>
            <a:normAutofit/>
          </a:bodyPr>
          <a:lstStyle/>
          <a:p>
            <a:pPr indent="-540000">
              <a:lnSpc>
                <a:spcPct val="150000"/>
              </a:lnSpc>
              <a:buFont typeface="Wingdings" panose="05000000000000000000" pitchFamily="2" charset="2"/>
              <a:buChar char="Ø"/>
            </a:pPr>
            <a:r>
              <a:rPr lang="zh-CN" altLang="en-US" dirty="0"/>
              <a:t>按位运算指令</a:t>
            </a:r>
            <a:endParaRPr lang="en-US" altLang="zh-CN" dirty="0"/>
          </a:p>
          <a:p>
            <a:pPr indent="-540000">
              <a:lnSpc>
                <a:spcPct val="150000"/>
              </a:lnSpc>
              <a:buFont typeface="Wingdings" panose="05000000000000000000" pitchFamily="2" charset="2"/>
              <a:buChar char="Ø"/>
            </a:pPr>
            <a:r>
              <a:rPr lang="zh-CN" altLang="en-US" dirty="0"/>
              <a:t>控制转移指令</a:t>
            </a:r>
            <a:endParaRPr lang="en-US" altLang="zh-CN" dirty="0"/>
          </a:p>
        </p:txBody>
      </p:sp>
    </p:spTree>
    <p:extLst>
      <p:ext uri="{BB962C8B-B14F-4D97-AF65-F5344CB8AC3E}">
        <p14:creationId xmlns:p14="http://schemas.microsoft.com/office/powerpoint/2010/main" val="91631997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normAutofit fontScale="90000"/>
          </a:bodyPr>
          <a:lstStyle/>
          <a:p>
            <a:pPr>
              <a:lnSpc>
                <a:spcPct val="150000"/>
              </a:lnSpc>
            </a:pPr>
            <a:r>
              <a:rPr lang="zh-CN" altLang="en-US" dirty="0">
                <a:solidFill>
                  <a:schemeClr val="accent6">
                    <a:lumMod val="50000"/>
                  </a:schemeClr>
                </a:solidFill>
              </a:rPr>
              <a:t>第三章 程序的转换与机器级表示</a:t>
            </a:r>
            <a:br>
              <a:rPr lang="en-US" altLang="zh-CN" dirty="0">
                <a:solidFill>
                  <a:schemeClr val="accent6">
                    <a:lumMod val="50000"/>
                  </a:schemeClr>
                </a:solidFill>
              </a:rPr>
            </a:br>
            <a:r>
              <a:rPr lang="zh-CN" altLang="en-US" dirty="0">
                <a:solidFill>
                  <a:schemeClr val="accent6">
                    <a:lumMod val="50000"/>
                  </a:schemeClr>
                </a:solidFill>
              </a:rPr>
              <a:t>第</a:t>
            </a:r>
            <a:r>
              <a:rPr lang="en-US" altLang="zh-CN" dirty="0">
                <a:solidFill>
                  <a:schemeClr val="accent6">
                    <a:lumMod val="50000"/>
                  </a:schemeClr>
                </a:solidFill>
              </a:rPr>
              <a:t>4</a:t>
            </a:r>
            <a:r>
              <a:rPr lang="zh-CN" altLang="en-US" dirty="0">
                <a:solidFill>
                  <a:schemeClr val="accent6">
                    <a:lumMod val="50000"/>
                  </a:schemeClr>
                </a:solidFill>
              </a:rPr>
              <a:t>课 </a:t>
            </a:r>
            <a:r>
              <a:rPr lang="en-US" altLang="zh-CN" dirty="0">
                <a:solidFill>
                  <a:schemeClr val="accent6">
                    <a:lumMod val="50000"/>
                  </a:schemeClr>
                </a:solidFill>
              </a:rPr>
              <a:t>C</a:t>
            </a:r>
            <a:r>
              <a:rPr lang="zh-CN" altLang="en-US" dirty="0">
                <a:solidFill>
                  <a:schemeClr val="accent6">
                    <a:lumMod val="50000"/>
                  </a:schemeClr>
                </a:solidFill>
              </a:rPr>
              <a:t>语言程序的机器级表示（上）</a:t>
            </a:r>
          </a:p>
        </p:txBody>
      </p:sp>
    </p:spTree>
    <p:extLst>
      <p:ext uri="{BB962C8B-B14F-4D97-AF65-F5344CB8AC3E}">
        <p14:creationId xmlns:p14="http://schemas.microsoft.com/office/powerpoint/2010/main" val="1431282883"/>
      </p:ext>
    </p:extLst>
  </p:cSld>
  <p:clrMapOvr>
    <a:masterClrMapping/>
  </p:clrMapOvr>
  <mc:AlternateContent xmlns:mc="http://schemas.openxmlformats.org/markup-compatibility/2006" xmlns:p14="http://schemas.microsoft.com/office/powerpoint/2010/main">
    <mc:Choice Requires="p14">
      <p:transition spd="slow" p14:dur="999" advTm="1245"/>
    </mc:Choice>
    <mc:Fallback xmlns="">
      <p:transition spd="slow" advTm="1245"/>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chemeClr val="accent6">
                    <a:lumMod val="50000"/>
                  </a:schemeClr>
                </a:solidFill>
              </a:rPr>
              <a:t>提纲</a:t>
            </a:r>
          </a:p>
        </p:txBody>
      </p:sp>
      <p:sp>
        <p:nvSpPr>
          <p:cNvPr id="3" name="内容占位符 2"/>
          <p:cNvSpPr>
            <a:spLocks noGrp="1"/>
          </p:cNvSpPr>
          <p:nvPr>
            <p:ph idx="1"/>
          </p:nvPr>
        </p:nvSpPr>
        <p:spPr>
          <a:xfrm>
            <a:off x="457200" y="1844824"/>
            <a:ext cx="8229600" cy="3816424"/>
          </a:xfrm>
        </p:spPr>
        <p:txBody>
          <a:bodyPr>
            <a:normAutofit/>
          </a:bodyPr>
          <a:lstStyle/>
          <a:p>
            <a:pPr indent="-540000">
              <a:lnSpc>
                <a:spcPct val="150000"/>
              </a:lnSpc>
              <a:buFont typeface="Wingdings" panose="05000000000000000000" pitchFamily="2" charset="2"/>
              <a:buChar char="Ø"/>
            </a:pPr>
            <a:r>
              <a:rPr lang="zh-CN" altLang="en-US" dirty="0"/>
              <a:t>过程调用的机器级表示</a:t>
            </a:r>
            <a:endParaRPr lang="en-US" altLang="zh-CN" dirty="0"/>
          </a:p>
          <a:p>
            <a:pPr lvl="1" indent="-540000">
              <a:lnSpc>
                <a:spcPct val="150000"/>
              </a:lnSpc>
              <a:buFont typeface="Arial" panose="020B0604020202020204" pitchFamily="34" charset="0"/>
              <a:buChar char="•"/>
            </a:pPr>
            <a:r>
              <a:rPr lang="zh-CN" altLang="en-US" dirty="0">
                <a:solidFill>
                  <a:srgbClr val="FF0000"/>
                </a:solidFill>
              </a:rPr>
              <a:t>过程调用概述</a:t>
            </a:r>
            <a:endParaRPr lang="en-US" altLang="zh-CN" dirty="0">
              <a:solidFill>
                <a:srgbClr val="FF0000"/>
              </a:solidFill>
            </a:endParaRPr>
          </a:p>
          <a:p>
            <a:pPr lvl="1" indent="-540000">
              <a:lnSpc>
                <a:spcPct val="150000"/>
              </a:lnSpc>
              <a:buFont typeface="Arial" panose="020B0604020202020204" pitchFamily="34" charset="0"/>
              <a:buChar char="•"/>
            </a:pPr>
            <a:r>
              <a:rPr lang="zh-CN" altLang="en-US" dirty="0"/>
              <a:t>过程调用的栈和栈桢</a:t>
            </a:r>
            <a:endParaRPr lang="en-US" altLang="zh-CN" dirty="0"/>
          </a:p>
          <a:p>
            <a:pPr lvl="1" indent="-540000">
              <a:lnSpc>
                <a:spcPct val="150000"/>
              </a:lnSpc>
              <a:buFont typeface="Arial" panose="020B0604020202020204" pitchFamily="34" charset="0"/>
              <a:buChar char="•"/>
            </a:pPr>
            <a:r>
              <a:rPr lang="zh-CN" altLang="en-US" dirty="0"/>
              <a:t>过程调用的参数传递</a:t>
            </a:r>
            <a:endParaRPr lang="en-US" altLang="zh-CN" dirty="0"/>
          </a:p>
        </p:txBody>
      </p:sp>
    </p:spTree>
    <p:extLst>
      <p:ext uri="{BB962C8B-B14F-4D97-AF65-F5344CB8AC3E}">
        <p14:creationId xmlns:p14="http://schemas.microsoft.com/office/powerpoint/2010/main" val="1483978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chemeClr val="accent6">
                    <a:lumMod val="50000"/>
                  </a:schemeClr>
                </a:solidFill>
              </a:rPr>
              <a:t>过程调用</a:t>
            </a:r>
          </a:p>
        </p:txBody>
      </p:sp>
      <p:sp>
        <p:nvSpPr>
          <p:cNvPr id="3" name="内容占位符 2"/>
          <p:cNvSpPr>
            <a:spLocks noGrp="1"/>
          </p:cNvSpPr>
          <p:nvPr>
            <p:ph idx="1"/>
          </p:nvPr>
        </p:nvSpPr>
        <p:spPr>
          <a:xfrm>
            <a:off x="481684" y="1268760"/>
            <a:ext cx="8229600" cy="5440362"/>
          </a:xfrm>
        </p:spPr>
        <p:txBody>
          <a:bodyPr>
            <a:normAutofit fontScale="92500" lnSpcReduction="10000"/>
          </a:bodyPr>
          <a:lstStyle/>
          <a:p>
            <a:pPr indent="-540000">
              <a:lnSpc>
                <a:spcPct val="150000"/>
              </a:lnSpc>
              <a:spcAft>
                <a:spcPts val="1200"/>
              </a:spcAft>
              <a:buFont typeface="Wingdings" panose="05000000000000000000" pitchFamily="2" charset="2"/>
              <a:buChar char="Ø"/>
            </a:pPr>
            <a:r>
              <a:rPr lang="zh-CN" altLang="en-US" dirty="0"/>
              <a:t>程序员可使用参数将过程与其他程序及数据进行</a:t>
            </a:r>
            <a:r>
              <a:rPr lang="zh-CN" altLang="en-US" dirty="0">
                <a:solidFill>
                  <a:srgbClr val="FF0000"/>
                </a:solidFill>
              </a:rPr>
              <a:t>分离</a:t>
            </a:r>
            <a:endParaRPr lang="en-US" altLang="zh-CN" dirty="0">
              <a:solidFill>
                <a:srgbClr val="FF0000"/>
              </a:solidFill>
            </a:endParaRPr>
          </a:p>
          <a:p>
            <a:pPr indent="-540000">
              <a:lnSpc>
                <a:spcPct val="150000"/>
              </a:lnSpc>
              <a:spcAft>
                <a:spcPts val="1200"/>
              </a:spcAft>
              <a:buFont typeface="Wingdings" panose="05000000000000000000" pitchFamily="2" charset="2"/>
              <a:buChar char="Ø"/>
            </a:pPr>
            <a:r>
              <a:rPr lang="zh-CN" altLang="en-US" dirty="0"/>
              <a:t>调用过程只要</a:t>
            </a:r>
            <a:r>
              <a:rPr lang="zh-CN" altLang="en-US" dirty="0">
                <a:solidFill>
                  <a:srgbClr val="FF0000"/>
                </a:solidFill>
              </a:rPr>
              <a:t>传送输入参数</a:t>
            </a:r>
            <a:r>
              <a:rPr lang="zh-CN" altLang="en-US" dirty="0"/>
              <a:t>给被调用过程，最后再由被调用过程</a:t>
            </a:r>
            <a:r>
              <a:rPr lang="zh-CN" altLang="en-US" dirty="0">
                <a:solidFill>
                  <a:srgbClr val="FF0000"/>
                </a:solidFill>
              </a:rPr>
              <a:t>返回结果参数</a:t>
            </a:r>
            <a:r>
              <a:rPr lang="zh-CN" altLang="en-US" dirty="0"/>
              <a:t>给调用过程</a:t>
            </a:r>
            <a:endParaRPr lang="en-US" altLang="zh-CN" dirty="0"/>
          </a:p>
          <a:p>
            <a:pPr indent="-540000">
              <a:lnSpc>
                <a:spcPct val="150000"/>
              </a:lnSpc>
              <a:spcAft>
                <a:spcPts val="1200"/>
              </a:spcAft>
              <a:buFont typeface="Wingdings" panose="05000000000000000000" pitchFamily="2" charset="2"/>
              <a:buChar char="Ø"/>
            </a:pPr>
            <a:r>
              <a:rPr lang="zh-CN" altLang="en-US" dirty="0"/>
              <a:t>引入过程使得每个程序员只需要关注本模块中函数或过程的编写任务</a:t>
            </a:r>
            <a:endParaRPr lang="en-US" altLang="zh-CN" dirty="0"/>
          </a:p>
          <a:p>
            <a:pPr indent="-540000">
              <a:lnSpc>
                <a:spcPct val="150000"/>
              </a:lnSpc>
              <a:spcAft>
                <a:spcPts val="1200"/>
              </a:spcAft>
              <a:buFont typeface="Wingdings" panose="05000000000000000000" pitchFamily="2" charset="2"/>
              <a:buChar char="Ø"/>
            </a:pPr>
            <a:r>
              <a:rPr lang="zh-CN" altLang="en-US" dirty="0"/>
              <a:t>在</a:t>
            </a:r>
            <a:r>
              <a:rPr lang="en-US" altLang="zh-CN" dirty="0"/>
              <a:t>C</a:t>
            </a:r>
            <a:r>
              <a:rPr lang="zh-CN" altLang="en-US" dirty="0"/>
              <a:t>语言中，</a:t>
            </a:r>
            <a:r>
              <a:rPr lang="zh-CN" altLang="en-US" dirty="0">
                <a:solidFill>
                  <a:srgbClr val="FF0000"/>
                </a:solidFill>
              </a:rPr>
              <a:t>过程和函数是等价的</a:t>
            </a:r>
            <a:endParaRPr lang="en-US" altLang="zh-CN" dirty="0">
              <a:solidFill>
                <a:srgbClr val="FF0000"/>
              </a:solidFill>
            </a:endParaRPr>
          </a:p>
        </p:txBody>
      </p:sp>
    </p:spTree>
    <p:extLst>
      <p:ext uri="{BB962C8B-B14F-4D97-AF65-F5344CB8AC3E}">
        <p14:creationId xmlns:p14="http://schemas.microsoft.com/office/powerpoint/2010/main" val="300004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074" name="Text Box 2"/>
          <p:cNvSpPr txBox="1">
            <a:spLocks noChangeArrowheads="1"/>
          </p:cNvSpPr>
          <p:nvPr/>
        </p:nvSpPr>
        <p:spPr bwMode="auto">
          <a:xfrm>
            <a:off x="323850" y="2151063"/>
            <a:ext cx="3825875" cy="3138487"/>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en-US" altLang="zh-CN" sz="2200" b="1"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int</a:t>
            </a:r>
            <a:r>
              <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add ( </a:t>
            </a:r>
            <a:r>
              <a:rPr kumimoji="0" lang="en-US" altLang="zh-CN" sz="2200" b="1"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int</a:t>
            </a:r>
            <a:r>
              <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x, </a:t>
            </a:r>
            <a:r>
              <a:rPr kumimoji="0" lang="en-US" altLang="zh-CN" sz="2200" b="1"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int</a:t>
            </a:r>
            <a:r>
              <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y ) {</a:t>
            </a:r>
          </a:p>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return </a:t>
            </a:r>
            <a:r>
              <a:rPr kumimoji="0" lang="en-US" altLang="zh-CN" sz="2200" b="1"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x+y</a:t>
            </a:r>
            <a:r>
              <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p>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p>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en-US" altLang="zh-CN" sz="2200" b="1"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int</a:t>
            </a:r>
            <a:r>
              <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main ( ) {	</a:t>
            </a:r>
          </a:p>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2200" b="1"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int</a:t>
            </a:r>
            <a:r>
              <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t1 = 125;</a:t>
            </a:r>
          </a:p>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2200" b="1"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int</a:t>
            </a:r>
            <a:r>
              <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t2 = 80;</a:t>
            </a:r>
          </a:p>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2200" b="1"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int</a:t>
            </a:r>
            <a:r>
              <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sum = </a:t>
            </a:r>
            <a:r>
              <a:rPr kumimoji="0" lang="en-US" altLang="zh-CN" sz="22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add (t1, t2)</a:t>
            </a:r>
            <a:r>
              <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p>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return sum;</a:t>
            </a:r>
            <a:endParaRPr kumimoji="0" lang="zh-CN" altLang="en-US"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5779" name="Rectangle 3"/>
          <p:cNvSpPr>
            <a:spLocks noGrp="1" noChangeArrowheads="1"/>
          </p:cNvSpPr>
          <p:nvPr>
            <p:ph type="title"/>
          </p:nvPr>
        </p:nvSpPr>
        <p:spPr>
          <a:xfrm>
            <a:off x="333038" y="114301"/>
            <a:ext cx="8229600" cy="561975"/>
          </a:xfrm>
        </p:spPr>
        <p:txBody>
          <a:bodyPr>
            <a:normAutofit fontScale="90000"/>
          </a:bodyPr>
          <a:lstStyle/>
          <a:p>
            <a:r>
              <a:rPr lang="zh-CN" altLang="en-US" sz="3600" dirty="0">
                <a:solidFill>
                  <a:srgbClr val="C00000"/>
                </a:solidFill>
              </a:rPr>
              <a:t>过程调用的机器级表示</a:t>
            </a:r>
          </a:p>
        </p:txBody>
      </p:sp>
      <p:sp>
        <p:nvSpPr>
          <p:cNvPr id="771076" name="Rectangle 4"/>
          <p:cNvSpPr>
            <a:spLocks noGrp="1" noChangeArrowheads="1"/>
          </p:cNvSpPr>
          <p:nvPr>
            <p:ph type="body" idx="1"/>
          </p:nvPr>
        </p:nvSpPr>
        <p:spPr>
          <a:xfrm>
            <a:off x="468313" y="773113"/>
            <a:ext cx="8229600" cy="1601787"/>
          </a:xfrm>
        </p:spPr>
        <p:txBody>
          <a:bodyPr/>
          <a:lstStyle/>
          <a:p>
            <a:pPr marL="0" indent="0">
              <a:lnSpc>
                <a:spcPct val="100000"/>
              </a:lnSpc>
              <a:buFontTx/>
              <a:buNone/>
            </a:pPr>
            <a:r>
              <a:rPr lang="zh-CN" altLang="en-US" sz="2200">
                <a:ea typeface="微软雅黑" panose="020B0503020204020204" pitchFamily="34" charset="-122"/>
              </a:rPr>
              <a:t>以下过程（函数）调用对应的机器级代码是什么？</a:t>
            </a:r>
          </a:p>
          <a:p>
            <a:pPr marL="0" indent="0">
              <a:lnSpc>
                <a:spcPct val="100000"/>
              </a:lnSpc>
              <a:buFontTx/>
              <a:buNone/>
            </a:pPr>
            <a:r>
              <a:rPr lang="zh-CN" altLang="en-US" sz="2200">
                <a:ea typeface="微软雅黑" panose="020B0503020204020204" pitchFamily="34" charset="-122"/>
              </a:rPr>
              <a:t>如何将</a:t>
            </a:r>
            <a:r>
              <a:rPr lang="en-US" altLang="zh-CN" sz="2200">
                <a:ea typeface="微软雅黑" panose="020B0503020204020204" pitchFamily="34" charset="-122"/>
              </a:rPr>
              <a:t>t1(125)</a:t>
            </a:r>
            <a:r>
              <a:rPr lang="zh-CN" altLang="en-US" sz="2200">
                <a:ea typeface="微软雅黑" panose="020B0503020204020204" pitchFamily="34" charset="-122"/>
              </a:rPr>
              <a:t>、</a:t>
            </a:r>
            <a:r>
              <a:rPr lang="en-US" altLang="zh-CN" sz="2200">
                <a:ea typeface="微软雅黑" panose="020B0503020204020204" pitchFamily="34" charset="-122"/>
              </a:rPr>
              <a:t>t2(80)</a:t>
            </a:r>
            <a:r>
              <a:rPr lang="zh-CN" altLang="en-US" sz="2200">
                <a:ea typeface="微软雅黑" panose="020B0503020204020204" pitchFamily="34" charset="-122"/>
              </a:rPr>
              <a:t>分别传递给</a:t>
            </a:r>
            <a:r>
              <a:rPr lang="en-US" altLang="zh-CN" sz="2200">
                <a:ea typeface="微软雅黑" panose="020B0503020204020204" pitchFamily="34" charset="-122"/>
              </a:rPr>
              <a:t>add</a:t>
            </a:r>
            <a:r>
              <a:rPr lang="zh-CN" altLang="en-US" sz="2200">
                <a:ea typeface="微软雅黑" panose="020B0503020204020204" pitchFamily="34" charset="-122"/>
              </a:rPr>
              <a:t>中的形式参数</a:t>
            </a:r>
            <a:r>
              <a:rPr lang="en-US" altLang="zh-CN" sz="2200">
                <a:ea typeface="微软雅黑" panose="020B0503020204020204" pitchFamily="34" charset="-122"/>
              </a:rPr>
              <a:t>x</a:t>
            </a:r>
            <a:r>
              <a:rPr lang="zh-CN" altLang="en-US" sz="2200">
                <a:ea typeface="微软雅黑" panose="020B0503020204020204" pitchFamily="34" charset="-122"/>
              </a:rPr>
              <a:t>、</a:t>
            </a:r>
            <a:r>
              <a:rPr lang="en-US" altLang="zh-CN" sz="2200">
                <a:ea typeface="微软雅黑" panose="020B0503020204020204" pitchFamily="34" charset="-122"/>
              </a:rPr>
              <a:t>y</a:t>
            </a:r>
          </a:p>
          <a:p>
            <a:pPr marL="0" indent="0">
              <a:lnSpc>
                <a:spcPct val="100000"/>
              </a:lnSpc>
              <a:buFontTx/>
              <a:buNone/>
            </a:pPr>
            <a:r>
              <a:rPr lang="en-US" altLang="zh-CN" sz="2200">
                <a:ea typeface="微软雅黑" panose="020B0503020204020204" pitchFamily="34" charset="-122"/>
              </a:rPr>
              <a:t>add</a:t>
            </a:r>
            <a:r>
              <a:rPr lang="zh-CN" altLang="en-US" sz="2200">
                <a:ea typeface="微软雅黑" panose="020B0503020204020204" pitchFamily="34" charset="-122"/>
              </a:rPr>
              <a:t>函数执行的结果如何返回给</a:t>
            </a:r>
            <a:r>
              <a:rPr lang="en-US" altLang="zh-CN" sz="2200">
                <a:ea typeface="微软雅黑" panose="020B0503020204020204" pitchFamily="34" charset="-122"/>
              </a:rPr>
              <a:t>caller?</a:t>
            </a:r>
          </a:p>
        </p:txBody>
      </p:sp>
      <p:grpSp>
        <p:nvGrpSpPr>
          <p:cNvPr id="771077" name="Group 5"/>
          <p:cNvGrpSpPr>
            <a:grpSpLocks/>
          </p:cNvGrpSpPr>
          <p:nvPr/>
        </p:nvGrpSpPr>
        <p:grpSpPr bwMode="auto">
          <a:xfrm>
            <a:off x="2841894" y="2724944"/>
            <a:ext cx="1081087" cy="1371600"/>
            <a:chOff x="3050" y="1820"/>
            <a:chExt cx="681" cy="864"/>
          </a:xfrm>
        </p:grpSpPr>
        <p:sp>
          <p:nvSpPr>
            <p:cNvPr id="75791" name="Text Box 6"/>
            <p:cNvSpPr txBox="1">
              <a:spLocks noChangeArrowheads="1"/>
            </p:cNvSpPr>
            <p:nvPr/>
          </p:nvSpPr>
          <p:spPr bwMode="auto">
            <a:xfrm>
              <a:off x="3050" y="1820"/>
              <a:ext cx="681" cy="864"/>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2500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2400" b="1"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add</a:t>
              </a:r>
            </a:p>
            <a:p>
              <a:pPr marL="342900" marR="0" lvl="0" indent="-342900" algn="l" defTabSz="914400" rtl="0" eaLnBrk="1" fontAlgn="auto" latinLnBrk="0" hangingPunct="1">
                <a:lnSpc>
                  <a:spcPct val="100000"/>
                </a:lnSpc>
                <a:spcBef>
                  <a:spcPct val="25000"/>
                </a:spcBef>
                <a:spcAft>
                  <a:spcPts val="0"/>
                </a:spcAft>
                <a:buClrTx/>
                <a:buSzTx/>
                <a:buFontTx/>
                <a:buNone/>
                <a:tabLst/>
                <a:defRPr/>
              </a:pPr>
              <a:endParaRPr kumimoji="0" lang="en-US" altLang="zh-CN" sz="2400" b="1"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5000"/>
                </a:spcBef>
                <a:spcAft>
                  <a:spcPts val="0"/>
                </a:spcAft>
                <a:buClrTx/>
                <a:buSzTx/>
                <a:buFontTx/>
                <a:buNone/>
                <a:tabLst/>
                <a:defRPr/>
              </a:pPr>
              <a:r>
                <a:rPr kumimoji="0" lang="en-US" altLang="zh-CN" sz="2400" b="1"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 main</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5792" name="Line 7"/>
            <p:cNvSpPr>
              <a:spLocks noChangeShapeType="1"/>
            </p:cNvSpPr>
            <p:nvPr/>
          </p:nvSpPr>
          <p:spPr bwMode="auto">
            <a:xfrm flipV="1">
              <a:off x="3390" y="2103"/>
              <a:ext cx="0" cy="283"/>
            </a:xfrm>
            <a:prstGeom prst="line">
              <a:avLst/>
            </a:prstGeom>
            <a:noFill/>
            <a:ln w="38100">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grpSp>
      <p:grpSp>
        <p:nvGrpSpPr>
          <p:cNvPr id="771089" name="Group 17"/>
          <p:cNvGrpSpPr>
            <a:grpSpLocks/>
          </p:cNvGrpSpPr>
          <p:nvPr/>
        </p:nvGrpSpPr>
        <p:grpSpPr bwMode="auto">
          <a:xfrm>
            <a:off x="4384675" y="2071688"/>
            <a:ext cx="4456113" cy="3570288"/>
            <a:chOff x="2762" y="1486"/>
            <a:chExt cx="2807" cy="2249"/>
          </a:xfrm>
        </p:grpSpPr>
        <p:sp>
          <p:nvSpPr>
            <p:cNvPr id="75784" name="Text Box 9"/>
            <p:cNvSpPr txBox="1">
              <a:spLocks noChangeArrowheads="1"/>
            </p:cNvSpPr>
            <p:nvPr/>
          </p:nvSpPr>
          <p:spPr bwMode="auto">
            <a:xfrm>
              <a:off x="2762" y="1486"/>
              <a:ext cx="2807" cy="224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4000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2200" b="1" i="0" u="none" strike="noStrike" kern="1200" cap="none" spc="0" normalizeH="0" baseline="0" noProof="0" dirty="0">
                  <a:ln>
                    <a:noFill/>
                  </a:ln>
                  <a:solidFill>
                    <a:srgbClr val="0033CC"/>
                  </a:solidFill>
                  <a:effectLst/>
                  <a:uLnTx/>
                  <a:uFillTx/>
                  <a:latin typeface="微软雅黑" panose="020B0503020204020204" pitchFamily="34" charset="-122"/>
                  <a:ea typeface="微软雅黑" panose="020B0503020204020204" pitchFamily="34" charset="-122"/>
                  <a:cs typeface="+mn-cs"/>
                </a:rPr>
                <a:t>main</a:t>
              </a:r>
              <a:r>
                <a:rPr kumimoji="0" lang="zh-CN" altLang="en-US" sz="2200" b="1" i="0" u="none" strike="noStrike" kern="1200" cap="none" spc="0" normalizeH="0" baseline="0" noProof="0" dirty="0">
                  <a:ln>
                    <a:noFill/>
                  </a:ln>
                  <a:solidFill>
                    <a:srgbClr val="0033CC"/>
                  </a:solidFill>
                  <a:effectLst/>
                  <a:uLnTx/>
                  <a:uFillTx/>
                  <a:latin typeface="微软雅黑" panose="020B0503020204020204" pitchFamily="34" charset="-122"/>
                  <a:ea typeface="微软雅黑" panose="020B0503020204020204" pitchFamily="34" charset="-122"/>
                  <a:cs typeface="+mn-cs"/>
                </a:rPr>
                <a:t>：</a:t>
              </a:r>
              <a:r>
                <a:rPr kumimoji="0" lang="zh-CN" altLang="en-US" sz="2200" b="1" i="0" u="none" strike="noStrike" kern="1200" cap="none" spc="0" normalizeH="0" baseline="0" noProof="0" dirty="0">
                  <a:ln>
                    <a:noFill/>
                  </a:ln>
                  <a:solidFill>
                    <a:srgbClr val="B0CCB0"/>
                  </a:solidFill>
                  <a:effectLst/>
                  <a:uLnTx/>
                  <a:uFillTx/>
                  <a:latin typeface="微软雅黑" panose="020B0503020204020204" pitchFamily="34" charset="-122"/>
                  <a:ea typeface="微软雅黑" panose="020B0503020204020204" pitchFamily="34" charset="-122"/>
                  <a:cs typeface="+mn-cs"/>
                </a:rPr>
                <a:t>		</a:t>
              </a:r>
              <a:r>
                <a:rPr kumimoji="0" lang="en-US" altLang="zh-CN" sz="2200" b="1" i="0" u="none" strike="noStrike" kern="1200" cap="none" spc="0" normalizeH="0" baseline="0" noProof="0" dirty="0">
                  <a:ln>
                    <a:noFill/>
                  </a:ln>
                  <a:solidFill>
                    <a:srgbClr val="0033CC"/>
                  </a:solidFill>
                  <a:effectLst/>
                  <a:uLnTx/>
                  <a:uFillTx/>
                  <a:latin typeface="微软雅黑" panose="020B0503020204020204" pitchFamily="34" charset="-122"/>
                  <a:ea typeface="微软雅黑" panose="020B0503020204020204" pitchFamily="34" charset="-122"/>
                  <a:cs typeface="+mn-cs"/>
                </a:rPr>
                <a:t>add</a:t>
              </a:r>
              <a:r>
                <a:rPr kumimoji="0" lang="zh-CN" altLang="en-US" sz="2200" b="1" i="0" u="none" strike="noStrike" kern="1200" cap="none" spc="0" normalizeH="0" baseline="0" noProof="0" dirty="0">
                  <a:ln>
                    <a:noFill/>
                  </a:ln>
                  <a:solidFill>
                    <a:srgbClr val="0033CC"/>
                  </a:solidFill>
                  <a:effectLst/>
                  <a:uLnTx/>
                  <a:uFillTx/>
                  <a:latin typeface="微软雅黑" panose="020B0503020204020204" pitchFamily="34" charset="-122"/>
                  <a:ea typeface="微软雅黑" panose="020B0503020204020204" pitchFamily="34" charset="-122"/>
                  <a:cs typeface="+mn-cs"/>
                </a:rPr>
                <a:t>：</a:t>
              </a:r>
            </a:p>
            <a:p>
              <a:pPr marL="342900" marR="0" lvl="0" indent="-342900" algn="l" defTabSz="914400" rtl="0" eaLnBrk="1" fontAlgn="auto" latinLnBrk="0" hangingPunct="1">
                <a:lnSpc>
                  <a:spcPct val="100000"/>
                </a:lnSpc>
                <a:spcBef>
                  <a:spcPct val="40000"/>
                </a:spcBef>
                <a:spcAft>
                  <a:spcPts val="0"/>
                </a:spcAft>
                <a:buClrTx/>
                <a:buSzTx/>
                <a:buFontTx/>
                <a:buNone/>
                <a:tabLst/>
                <a:defRPr/>
              </a:pPr>
              <a:endParaRPr kumimoji="0" lang="zh-CN" altLang="en-US" sz="2200" b="1" i="0" u="none" strike="noStrike" kern="1200" cap="none" spc="0" normalizeH="0" baseline="0" noProof="0" dirty="0">
                <a:ln>
                  <a:noFill/>
                </a:ln>
                <a:solidFill>
                  <a:srgbClr val="B0CCB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40000"/>
                </a:spcBef>
                <a:spcAft>
                  <a:spcPts val="0"/>
                </a:spcAft>
                <a:buClrTx/>
                <a:buSzTx/>
                <a:buFontTx/>
                <a:buNone/>
                <a:tabLst/>
                <a:defRPr/>
              </a:pPr>
              <a:r>
                <a:rPr kumimoji="0" lang="zh-CN" altLang="en-US"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存放参数	         取出参数</a:t>
              </a:r>
              <a:endPar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40000"/>
                </a:spcBef>
                <a:spcAft>
                  <a:spcPts val="0"/>
                </a:spcAft>
                <a:buClrTx/>
                <a:buSzTx/>
                <a:buFontTx/>
                <a:buNone/>
                <a:tabLst/>
                <a:defRPr/>
              </a:pPr>
              <a:r>
                <a:rPr kumimoji="0" lang="zh-CN" altLang="en-US"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调出</a:t>
              </a:r>
              <a:r>
                <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add</a:t>
              </a:r>
              <a:r>
                <a:rPr kumimoji="0" lang="zh-CN" altLang="en-US"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执行	            执行</a:t>
              </a:r>
            </a:p>
            <a:p>
              <a:pPr marL="342900" marR="0" lvl="0" indent="-342900" algn="l" defTabSz="914400" rtl="0" eaLnBrk="1" fontAlgn="auto" latinLnBrk="0" hangingPunct="1">
                <a:lnSpc>
                  <a:spcPct val="100000"/>
                </a:lnSpc>
                <a:spcBef>
                  <a:spcPct val="40000"/>
                </a:spcBef>
                <a:spcAft>
                  <a:spcPts val="0"/>
                </a:spcAft>
                <a:buClrTx/>
                <a:buSzTx/>
                <a:buFontTx/>
                <a:buNone/>
                <a:tabLst/>
                <a:defRPr/>
              </a:pPr>
              <a:r>
                <a:rPr kumimoji="0" lang="zh-CN" altLang="en-US"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存返回结果</a:t>
              </a:r>
            </a:p>
            <a:p>
              <a:pPr marL="342900" marR="0" lvl="0" indent="-342900" algn="l" defTabSz="914400" rtl="0" eaLnBrk="1" fontAlgn="auto" latinLnBrk="0" hangingPunct="1">
                <a:lnSpc>
                  <a:spcPct val="100000"/>
                </a:lnSpc>
                <a:spcBef>
                  <a:spcPct val="40000"/>
                </a:spcBef>
                <a:spcAft>
                  <a:spcPts val="0"/>
                </a:spcAft>
                <a:buClrTx/>
                <a:buSzTx/>
                <a:buFontTx/>
                <a:buNone/>
                <a:tabLst/>
                <a:defRPr/>
              </a:pPr>
              <a:r>
                <a:rPr kumimoji="0" lang="zh-CN" altLang="en-US"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p>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返回</a:t>
              </a:r>
              <a:r>
                <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main</a:t>
              </a:r>
            </a:p>
            <a:p>
              <a:pPr marL="342900" marR="0" lvl="0" indent="-342900" algn="l" defTabSz="914400" rtl="0" eaLnBrk="1" fontAlgn="auto" latinLnBrk="0" hangingPunct="1">
                <a:lnSpc>
                  <a:spcPct val="100000"/>
                </a:lnSpc>
                <a:spcBef>
                  <a:spcPct val="4000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endPar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5785" name="Line 10"/>
            <p:cNvSpPr>
              <a:spLocks noChangeShapeType="1"/>
            </p:cNvSpPr>
            <p:nvPr/>
          </p:nvSpPr>
          <p:spPr bwMode="auto">
            <a:xfrm flipV="1">
              <a:off x="3859" y="1848"/>
              <a:ext cx="835" cy="681"/>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75786" name="Line 11"/>
            <p:cNvSpPr>
              <a:spLocks noChangeShapeType="1"/>
            </p:cNvSpPr>
            <p:nvPr/>
          </p:nvSpPr>
          <p:spPr bwMode="auto">
            <a:xfrm flipH="1" flipV="1">
              <a:off x="3444" y="2755"/>
              <a:ext cx="1053" cy="567"/>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75787" name="Line 12"/>
            <p:cNvSpPr>
              <a:spLocks noChangeShapeType="1"/>
            </p:cNvSpPr>
            <p:nvPr/>
          </p:nvSpPr>
          <p:spPr bwMode="auto">
            <a:xfrm>
              <a:off x="3252" y="1877"/>
              <a:ext cx="0" cy="198"/>
            </a:xfrm>
            <a:prstGeom prst="line">
              <a:avLst/>
            </a:prstGeom>
            <a:noFill/>
            <a:ln w="571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75788" name="Line 13"/>
            <p:cNvSpPr>
              <a:spLocks noChangeShapeType="1"/>
            </p:cNvSpPr>
            <p:nvPr/>
          </p:nvSpPr>
          <p:spPr bwMode="auto">
            <a:xfrm>
              <a:off x="4751" y="1876"/>
              <a:ext cx="0" cy="198"/>
            </a:xfrm>
            <a:prstGeom prst="line">
              <a:avLst/>
            </a:prstGeom>
            <a:noFill/>
            <a:ln w="571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75789" name="Line 14"/>
            <p:cNvSpPr>
              <a:spLocks noChangeShapeType="1"/>
            </p:cNvSpPr>
            <p:nvPr/>
          </p:nvSpPr>
          <p:spPr bwMode="auto">
            <a:xfrm>
              <a:off x="3285" y="2727"/>
              <a:ext cx="0" cy="198"/>
            </a:xfrm>
            <a:prstGeom prst="line">
              <a:avLst/>
            </a:prstGeom>
            <a:noFill/>
            <a:ln w="571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75790" name="Line 15"/>
            <p:cNvSpPr>
              <a:spLocks noChangeShapeType="1"/>
            </p:cNvSpPr>
            <p:nvPr/>
          </p:nvSpPr>
          <p:spPr bwMode="auto">
            <a:xfrm>
              <a:off x="4779" y="2982"/>
              <a:ext cx="0" cy="198"/>
            </a:xfrm>
            <a:prstGeom prst="line">
              <a:avLst/>
            </a:prstGeom>
            <a:noFill/>
            <a:ln w="571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grpSp>
      <p:sp>
        <p:nvSpPr>
          <p:cNvPr id="2" name="矩形 1">
            <a:extLst>
              <a:ext uri="{FF2B5EF4-FFF2-40B4-BE49-F238E27FC236}">
                <a16:creationId xmlns:a16="http://schemas.microsoft.com/office/drawing/2014/main" id="{5442AE40-720E-49AB-9F0C-46FC67855509}"/>
              </a:ext>
            </a:extLst>
          </p:cNvPr>
          <p:cNvSpPr/>
          <p:nvPr/>
        </p:nvSpPr>
        <p:spPr>
          <a:xfrm>
            <a:off x="269875" y="5364163"/>
            <a:ext cx="8229600" cy="1446212"/>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2200" b="0"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为了统一，模块代码之间必须遵循调用接口约定，称为调用约定</a:t>
            </a:r>
            <a:r>
              <a:rPr kumimoji="0" lang="en-US" altLang="zh-CN" sz="2200" b="0"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(calling convention)</a:t>
            </a:r>
            <a:r>
              <a:rPr kumimoji="0" lang="zh-CN" altLang="zh-CN" sz="2200" b="0"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，具体由</a:t>
            </a:r>
            <a:r>
              <a:rPr kumimoji="0" lang="en-US" altLang="zh-CN" sz="2200" b="0"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ABI</a:t>
            </a:r>
            <a:r>
              <a:rPr kumimoji="0" lang="zh-CN" altLang="zh-CN" sz="2200" b="0"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rPr>
              <a:t>规范定义，编译器强制执行，汇编语言程序员也必须强制按照这些约定执行，包括寄存器的使用、栈帧的建立和参数传递等。</a:t>
            </a:r>
            <a:endParaRPr kumimoji="0" lang="zh-CN" altLang="en-US" sz="2200" b="0" i="0" u="none" strike="noStrike" kern="1200" cap="none" spc="0" normalizeH="0" baseline="0" noProof="0" dirty="0">
              <a:ln>
                <a:noFill/>
              </a:ln>
              <a:solidFill>
                <a:srgbClr val="FF0000"/>
              </a:solidFill>
              <a:effectLst/>
              <a:uLnTx/>
              <a:uFillTx/>
              <a:latin typeface="Century Gothic"/>
              <a:ea typeface="幼圆" panose="02010509060101010101" pitchFamily="49" charset="-122"/>
              <a:cs typeface="+mn-cs"/>
            </a:endParaRPr>
          </a:p>
        </p:txBody>
      </p:sp>
    </p:spTree>
    <p:extLst>
      <p:ext uri="{BB962C8B-B14F-4D97-AF65-F5344CB8AC3E}">
        <p14:creationId xmlns:p14="http://schemas.microsoft.com/office/powerpoint/2010/main" val="7235661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71074"/>
                                        </p:tgtEl>
                                        <p:attrNameLst>
                                          <p:attrName>style.visibility</p:attrName>
                                        </p:attrNameLst>
                                      </p:cBhvr>
                                      <p:to>
                                        <p:strVal val="visible"/>
                                      </p:to>
                                    </p:set>
                                    <p:animEffect transition="in" filter="blinds(horizontal)">
                                      <p:cBhvr>
                                        <p:cTn id="7" dur="500"/>
                                        <p:tgtEl>
                                          <p:spTgt spid="7710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71076">
                                            <p:txEl>
                                              <p:pRg st="0" end="0"/>
                                            </p:txEl>
                                          </p:spTgt>
                                        </p:tgtEl>
                                        <p:attrNameLst>
                                          <p:attrName>style.visibility</p:attrName>
                                        </p:attrNameLst>
                                      </p:cBhvr>
                                      <p:to>
                                        <p:strVal val="visible"/>
                                      </p:to>
                                    </p:set>
                                    <p:animEffect transition="in" filter="blinds(horizontal)">
                                      <p:cBhvr>
                                        <p:cTn id="12" dur="500"/>
                                        <p:tgtEl>
                                          <p:spTgt spid="77107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71076">
                                            <p:txEl>
                                              <p:pRg st="1" end="1"/>
                                            </p:txEl>
                                          </p:spTgt>
                                        </p:tgtEl>
                                        <p:attrNameLst>
                                          <p:attrName>style.visibility</p:attrName>
                                        </p:attrNameLst>
                                      </p:cBhvr>
                                      <p:to>
                                        <p:strVal val="visible"/>
                                      </p:to>
                                    </p:set>
                                    <p:animEffect transition="in" filter="blinds(horizontal)">
                                      <p:cBhvr>
                                        <p:cTn id="17" dur="500"/>
                                        <p:tgtEl>
                                          <p:spTgt spid="77107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71076">
                                            <p:txEl>
                                              <p:pRg st="2" end="2"/>
                                            </p:txEl>
                                          </p:spTgt>
                                        </p:tgtEl>
                                        <p:attrNameLst>
                                          <p:attrName>style.visibility</p:attrName>
                                        </p:attrNameLst>
                                      </p:cBhvr>
                                      <p:to>
                                        <p:strVal val="visible"/>
                                      </p:to>
                                    </p:set>
                                    <p:animEffect transition="in" filter="blinds(horizontal)">
                                      <p:cBhvr>
                                        <p:cTn id="22" dur="500"/>
                                        <p:tgtEl>
                                          <p:spTgt spid="771076">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71077"/>
                                        </p:tgtEl>
                                        <p:attrNameLst>
                                          <p:attrName>style.visibility</p:attrName>
                                        </p:attrNameLst>
                                      </p:cBhvr>
                                      <p:to>
                                        <p:strVal val="visible"/>
                                      </p:to>
                                    </p:set>
                                    <p:animEffect transition="in" filter="blinds(horizontal)">
                                      <p:cBhvr>
                                        <p:cTn id="27" dur="500"/>
                                        <p:tgtEl>
                                          <p:spTgt spid="77107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71089"/>
                                        </p:tgtEl>
                                        <p:attrNameLst>
                                          <p:attrName>style.visibility</p:attrName>
                                        </p:attrNameLst>
                                      </p:cBhvr>
                                      <p:to>
                                        <p:strVal val="visible"/>
                                      </p:to>
                                    </p:set>
                                    <p:animEffect transition="in" filter="blinds(horizontal)">
                                      <p:cBhvr>
                                        <p:cTn id="32" dur="500"/>
                                        <p:tgtEl>
                                          <p:spTgt spid="7710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1074"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ChangeArrowheads="1"/>
          </p:cNvSpPr>
          <p:nvPr/>
        </p:nvSpPr>
        <p:spPr bwMode="auto">
          <a:xfrm>
            <a:off x="5002213" y="1889125"/>
            <a:ext cx="2832100" cy="7254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6803" name="Rectangle 1"/>
          <p:cNvSpPr>
            <a:spLocks noGrp="1" noChangeArrowheads="1"/>
          </p:cNvSpPr>
          <p:nvPr>
            <p:ph type="title" idx="4294967295"/>
          </p:nvPr>
        </p:nvSpPr>
        <p:spPr>
          <a:xfrm>
            <a:off x="54293" y="56515"/>
            <a:ext cx="5821362" cy="617538"/>
          </a:xfrm>
        </p:spPr>
        <p:txBody>
          <a:bodyPr>
            <a:normAutofit fontScale="90000"/>
          </a:bodyPr>
          <a:lstStyle/>
          <a:p>
            <a:pPr marL="119063" indent="-119063">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dirty="0">
                <a:solidFill>
                  <a:srgbClr val="C00000"/>
                </a:solidFill>
              </a:rPr>
              <a:t>可执行文件的存储器映像</a:t>
            </a:r>
          </a:p>
        </p:txBody>
      </p:sp>
      <p:sp>
        <p:nvSpPr>
          <p:cNvPr id="76804" name="Text Box 12"/>
          <p:cNvSpPr txBox="1">
            <a:spLocks noChangeArrowheads="1"/>
          </p:cNvSpPr>
          <p:nvPr/>
        </p:nvSpPr>
        <p:spPr bwMode="auto">
          <a:xfrm>
            <a:off x="3181350" y="1576388"/>
            <a:ext cx="322263" cy="365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98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0</a:t>
            </a:r>
          </a:p>
        </p:txBody>
      </p:sp>
      <p:grpSp>
        <p:nvGrpSpPr>
          <p:cNvPr id="772101" name="Group 5"/>
          <p:cNvGrpSpPr>
            <a:grpSpLocks/>
          </p:cNvGrpSpPr>
          <p:nvPr/>
        </p:nvGrpSpPr>
        <p:grpSpPr bwMode="auto">
          <a:xfrm>
            <a:off x="7858125" y="1735138"/>
            <a:ext cx="1138238" cy="620712"/>
            <a:chOff x="4950" y="1093"/>
            <a:chExt cx="717" cy="391"/>
          </a:xfrm>
        </p:grpSpPr>
        <p:sp>
          <p:nvSpPr>
            <p:cNvPr id="76846" name="Text Box 25"/>
            <p:cNvSpPr txBox="1">
              <a:spLocks noChangeArrowheads="1"/>
            </p:cNvSpPr>
            <p:nvPr/>
          </p:nvSpPr>
          <p:spPr bwMode="auto">
            <a:xfrm>
              <a:off x="5206" y="1093"/>
              <a:ext cx="461"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46800" rIns="0" bIns="46800">
              <a:spAutoFit/>
            </a:bodyPr>
            <a:lstStyle>
              <a:lvl1pPr>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94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sgothic"/>
                </a:rPr>
                <a:t>ESP </a:t>
              </a:r>
            </a:p>
            <a:p>
              <a:pPr marL="0" marR="0" lvl="0" indent="0" algn="ctr" defTabSz="914400" rtl="0" eaLnBrk="1" fontAlgn="auto" latinLnBrk="0" hangingPunct="1">
                <a:lnSpc>
                  <a:spcPct val="98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sgothic"/>
                </a:rPr>
                <a:t>(</a:t>
              </a:r>
              <a:r>
                <a:rPr kumimoji="0" lang="zh-CN" altLang="en-GB"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sgothic"/>
                </a:rPr>
                <a:t>栈顶</a:t>
              </a:r>
              <a:r>
                <a:rPr kumimoji="0" lang="en-GB"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sgothic"/>
                </a:rPr>
                <a:t>)</a:t>
              </a:r>
            </a:p>
          </p:txBody>
        </p:sp>
        <p:sp>
          <p:nvSpPr>
            <p:cNvPr id="76847" name="Line 26"/>
            <p:cNvSpPr>
              <a:spLocks noChangeShapeType="1"/>
            </p:cNvSpPr>
            <p:nvPr/>
          </p:nvSpPr>
          <p:spPr bwMode="auto">
            <a:xfrm flipH="1">
              <a:off x="4950" y="1196"/>
              <a:ext cx="242" cy="1"/>
            </a:xfrm>
            <a:prstGeom prst="line">
              <a:avLst/>
            </a:prstGeom>
            <a:noFill/>
            <a:ln w="38100">
              <a:solidFill>
                <a:srgbClr val="FF3300"/>
              </a:solidFill>
              <a:miter lim="800000"/>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grpSp>
      <p:sp>
        <p:nvSpPr>
          <p:cNvPr id="76806" name="Line 28"/>
          <p:cNvSpPr>
            <a:spLocks noChangeShapeType="1"/>
          </p:cNvSpPr>
          <p:nvPr/>
        </p:nvSpPr>
        <p:spPr bwMode="auto">
          <a:xfrm flipV="1">
            <a:off x="7974013" y="830263"/>
            <a:ext cx="1587" cy="460375"/>
          </a:xfrm>
          <a:prstGeom prst="line">
            <a:avLst/>
          </a:prstGeom>
          <a:noFill/>
          <a:ln w="381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76807" name="Text Box 29"/>
          <p:cNvSpPr txBox="1">
            <a:spLocks noChangeArrowheads="1"/>
          </p:cNvSpPr>
          <p:nvPr/>
        </p:nvSpPr>
        <p:spPr bwMode="auto">
          <a:xfrm>
            <a:off x="8288338" y="3959225"/>
            <a:ext cx="592127"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94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zh-CN" sz="19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brk</a:t>
            </a:r>
          </a:p>
        </p:txBody>
      </p:sp>
      <p:sp>
        <p:nvSpPr>
          <p:cNvPr id="76808" name="Line 30"/>
          <p:cNvSpPr>
            <a:spLocks noChangeShapeType="1"/>
          </p:cNvSpPr>
          <p:nvPr/>
        </p:nvSpPr>
        <p:spPr bwMode="auto">
          <a:xfrm flipH="1">
            <a:off x="7904163" y="4125913"/>
            <a:ext cx="384175" cy="1587"/>
          </a:xfrm>
          <a:prstGeom prst="line">
            <a:avLst/>
          </a:prstGeom>
          <a:noFill/>
          <a:ln w="3240">
            <a:solidFill>
              <a:srgbClr val="000066"/>
            </a:solidFill>
            <a:miter lim="800000"/>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76809" name="Text Box 31"/>
          <p:cNvSpPr txBox="1">
            <a:spLocks noChangeArrowheads="1"/>
          </p:cNvSpPr>
          <p:nvPr/>
        </p:nvSpPr>
        <p:spPr bwMode="auto">
          <a:xfrm>
            <a:off x="3492500" y="1042988"/>
            <a:ext cx="1579576" cy="32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94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zh-CN"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0xC00000000</a:t>
            </a:r>
          </a:p>
        </p:txBody>
      </p:sp>
      <p:sp>
        <p:nvSpPr>
          <p:cNvPr id="76810" name="Text Box 32"/>
          <p:cNvSpPr txBox="1">
            <a:spLocks noChangeArrowheads="1"/>
          </p:cNvSpPr>
          <p:nvPr/>
        </p:nvSpPr>
        <p:spPr bwMode="auto">
          <a:xfrm>
            <a:off x="3649663" y="5916613"/>
            <a:ext cx="1441718" cy="32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94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zh-CN"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0x08048000</a:t>
            </a:r>
          </a:p>
        </p:txBody>
      </p:sp>
      <p:sp>
        <p:nvSpPr>
          <p:cNvPr id="76811" name="Rectangle 14"/>
          <p:cNvSpPr>
            <a:spLocks noChangeArrowheads="1"/>
          </p:cNvSpPr>
          <p:nvPr/>
        </p:nvSpPr>
        <p:spPr bwMode="auto">
          <a:xfrm>
            <a:off x="5003800" y="814388"/>
            <a:ext cx="2830513" cy="517525"/>
          </a:xfrm>
          <a:prstGeom prst="rect">
            <a:avLst/>
          </a:prstGeom>
          <a:solidFill>
            <a:srgbClr val="F1C7C7"/>
          </a:solidFill>
          <a:ln w="3240">
            <a:solidFill>
              <a:schemeClr val="tx1"/>
            </a:solidFill>
            <a:miter lim="800000"/>
            <a:headEnd/>
            <a:tailEnd/>
          </a:ln>
        </p:spPr>
        <p:txBody>
          <a:bodyPr wrap="none" lIns="90000" tIns="46800" rIns="90000" bIns="46800" anchor="ctr"/>
          <a:lstStyle>
            <a:lvl1pPr>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98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zh-CN" altLang="en-GB"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内核虚存区</a:t>
            </a:r>
          </a:p>
        </p:txBody>
      </p:sp>
      <p:sp>
        <p:nvSpPr>
          <p:cNvPr id="76812" name="Rectangle 15"/>
          <p:cNvSpPr>
            <a:spLocks noChangeArrowheads="1"/>
          </p:cNvSpPr>
          <p:nvPr/>
        </p:nvSpPr>
        <p:spPr bwMode="auto">
          <a:xfrm>
            <a:off x="5003800" y="2622550"/>
            <a:ext cx="2830513" cy="711200"/>
          </a:xfrm>
          <a:prstGeom prst="rect">
            <a:avLst/>
          </a:prstGeom>
          <a:solidFill>
            <a:srgbClr val="D5F1CF"/>
          </a:solidFill>
          <a:ln w="3240">
            <a:solidFill>
              <a:schemeClr val="tx1"/>
            </a:solidFill>
            <a:miter lim="800000"/>
            <a:headEnd/>
            <a:tailEnd/>
          </a:ln>
        </p:spPr>
        <p:txBody>
          <a:bodyPr wrap="none" lIns="90000" tIns="46800" rIns="90000" bIns="46800" anchor="ctr"/>
          <a:lstStyle>
            <a:lvl1pPr>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98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zh-CN" altLang="en-GB"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共享库区域</a:t>
            </a:r>
          </a:p>
        </p:txBody>
      </p:sp>
      <p:sp>
        <p:nvSpPr>
          <p:cNvPr id="33808" name="Rectangle 16">
            <a:extLst>
              <a:ext uri="{FF2B5EF4-FFF2-40B4-BE49-F238E27FC236}">
                <a16:creationId xmlns:a16="http://schemas.microsoft.com/office/drawing/2014/main" id="{C94123A3-C58F-43AD-9EA5-EC38DDB8358F}"/>
              </a:ext>
            </a:extLst>
          </p:cNvPr>
          <p:cNvSpPr>
            <a:spLocks noChangeArrowheads="1"/>
          </p:cNvSpPr>
          <p:nvPr/>
        </p:nvSpPr>
        <p:spPr bwMode="auto">
          <a:xfrm>
            <a:off x="5003800" y="3328988"/>
            <a:ext cx="2830513" cy="768350"/>
          </a:xfrm>
          <a:prstGeom prst="rect">
            <a:avLst/>
          </a:prstGeom>
          <a:solidFill>
            <a:schemeClr val="bg1"/>
          </a:solidFill>
          <a:ln w="3302">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Narrow" pitchFamily="34" charset="0"/>
              <a:ea typeface="+mn-ea"/>
              <a:cs typeface="+mn-cs"/>
            </a:endParaRPr>
          </a:p>
        </p:txBody>
      </p:sp>
      <p:sp>
        <p:nvSpPr>
          <p:cNvPr id="76814" name="Rectangle 17"/>
          <p:cNvSpPr>
            <a:spLocks noChangeArrowheads="1"/>
          </p:cNvSpPr>
          <p:nvPr/>
        </p:nvSpPr>
        <p:spPr bwMode="auto">
          <a:xfrm>
            <a:off x="5003800" y="4095750"/>
            <a:ext cx="2830513" cy="711200"/>
          </a:xfrm>
          <a:prstGeom prst="rect">
            <a:avLst/>
          </a:prstGeom>
          <a:solidFill>
            <a:srgbClr val="D5F1CF"/>
          </a:solidFill>
          <a:ln w="3240">
            <a:solidFill>
              <a:schemeClr val="tx1"/>
            </a:solidFill>
            <a:miter lim="800000"/>
            <a:headEnd/>
            <a:tailEnd/>
          </a:ln>
        </p:spPr>
        <p:txBody>
          <a:bodyPr wrap="none" lIns="90000" tIns="46800" rIns="90000" bIns="46800" anchor="ctr"/>
          <a:lstStyle>
            <a:lvl1pPr>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98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zh-CN" altLang="en-GB"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堆（</a:t>
            </a:r>
            <a:r>
              <a:rPr kumimoji="0" lang="en-GB" altLang="zh-CN"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heap</a:t>
            </a:r>
            <a:r>
              <a:rPr kumimoji="0" lang="zh-CN" altLang="en-GB"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a:t>
            </a:r>
          </a:p>
          <a:p>
            <a:pPr marL="0" marR="0" lvl="0" indent="0" algn="ctr" defTabSz="914400" rtl="0" eaLnBrk="1" fontAlgn="auto" latinLnBrk="0" hangingPunct="1">
              <a:lnSpc>
                <a:spcPct val="98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zh-CN"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a:t>
            </a:r>
            <a:r>
              <a:rPr kumimoji="0" lang="zh-CN" altLang="en-GB"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由</a:t>
            </a:r>
            <a:r>
              <a:rPr kumimoji="0" lang="en-GB" altLang="zh-CN"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malloc</a:t>
            </a:r>
            <a:r>
              <a:rPr kumimoji="0" lang="zh-CN" altLang="en-GB"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动态生成</a:t>
            </a:r>
            <a:r>
              <a:rPr kumimoji="0" lang="en-GB" altLang="zh-CN" sz="2000" b="1" i="0" u="none" strike="noStrike" kern="1200" cap="none" spc="0" normalizeH="0" baseline="0" noProof="0">
                <a:ln>
                  <a:noFill/>
                </a:ln>
                <a:solidFill>
                  <a:prstClr val="black"/>
                </a:solidFill>
                <a:effectLst/>
                <a:uLnTx/>
                <a:uFillTx/>
                <a:latin typeface="Calibri" panose="020F0502020204030204" pitchFamily="34" charset="0"/>
                <a:ea typeface="微软雅黑" panose="020B0503020204020204" pitchFamily="34" charset="-122"/>
                <a:cs typeface="msgothic"/>
              </a:rPr>
              <a:t>)</a:t>
            </a:r>
          </a:p>
        </p:txBody>
      </p:sp>
      <p:sp>
        <p:nvSpPr>
          <p:cNvPr id="76815" name="Line 19"/>
          <p:cNvSpPr>
            <a:spLocks noChangeShapeType="1"/>
          </p:cNvSpPr>
          <p:nvPr/>
        </p:nvSpPr>
        <p:spPr bwMode="auto">
          <a:xfrm flipV="1">
            <a:off x="6415088" y="3678238"/>
            <a:ext cx="1587" cy="407987"/>
          </a:xfrm>
          <a:prstGeom prst="line">
            <a:avLst/>
          </a:prstGeom>
          <a:noFill/>
          <a:ln w="3240">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772114" name="Rectangle 20"/>
          <p:cNvSpPr>
            <a:spLocks noChangeArrowheads="1"/>
          </p:cNvSpPr>
          <p:nvPr/>
        </p:nvSpPr>
        <p:spPr bwMode="auto">
          <a:xfrm>
            <a:off x="5003800" y="1300163"/>
            <a:ext cx="2830513" cy="598487"/>
          </a:xfrm>
          <a:prstGeom prst="rect">
            <a:avLst/>
          </a:prstGeom>
          <a:solidFill>
            <a:srgbClr val="D5F1CF"/>
          </a:solidFill>
          <a:ln w="3240">
            <a:solidFill>
              <a:schemeClr val="tx1"/>
            </a:solidFill>
            <a:miter lim="800000"/>
            <a:headEnd/>
            <a:tailEnd/>
          </a:ln>
        </p:spPr>
        <p:txBody>
          <a:bodyPr wrap="none" lIns="90000" tIns="46800" rIns="90000" bIns="46800" anchor="ctr"/>
          <a:lstStyle>
            <a:lvl1pPr>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98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zh-CN" altLang="en-GB"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sgothic"/>
              </a:rPr>
              <a:t>用户栈（</a:t>
            </a:r>
            <a:r>
              <a:rPr kumimoji="0" lang="en-GB"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sgothic"/>
              </a:rPr>
              <a:t>User stack</a:t>
            </a:r>
            <a:r>
              <a:rPr kumimoji="0" lang="zh-CN" altLang="en-GB"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sgothic"/>
              </a:rPr>
              <a:t>）</a:t>
            </a:r>
          </a:p>
          <a:p>
            <a:pPr marL="0" marR="0" lvl="0" indent="0" algn="ctr" defTabSz="914400" rtl="0" eaLnBrk="1" fontAlgn="auto" latinLnBrk="0" hangingPunct="1">
              <a:lnSpc>
                <a:spcPct val="98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zh-CN" altLang="en-GB" sz="2000" b="1" i="0" u="none" strike="noStrike" kern="1200" cap="none" spc="0" normalizeH="0" baseline="0" noProof="0">
                <a:ln>
                  <a:noFill/>
                </a:ln>
                <a:solidFill>
                  <a:srgbClr val="FF3300"/>
                </a:solidFill>
                <a:effectLst/>
                <a:uLnTx/>
                <a:uFillTx/>
                <a:latin typeface="Calibri" panose="020F0502020204030204" pitchFamily="34" charset="0"/>
                <a:ea typeface="微软雅黑" panose="020B0503020204020204" pitchFamily="34" charset="-122"/>
                <a:cs typeface="msgothic"/>
              </a:rPr>
              <a:t>动态生成</a:t>
            </a:r>
          </a:p>
        </p:txBody>
      </p:sp>
      <p:sp>
        <p:nvSpPr>
          <p:cNvPr id="76817" name="Line 21"/>
          <p:cNvSpPr>
            <a:spLocks noChangeShapeType="1"/>
          </p:cNvSpPr>
          <p:nvPr/>
        </p:nvSpPr>
        <p:spPr bwMode="auto">
          <a:xfrm flipV="1">
            <a:off x="6415088" y="2382838"/>
            <a:ext cx="1587" cy="246062"/>
          </a:xfrm>
          <a:prstGeom prst="line">
            <a:avLst/>
          </a:prstGeom>
          <a:noFill/>
          <a:ln w="3240">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76818" name="Line 22"/>
          <p:cNvSpPr>
            <a:spLocks noChangeShapeType="1"/>
          </p:cNvSpPr>
          <p:nvPr/>
        </p:nvSpPr>
        <p:spPr bwMode="auto">
          <a:xfrm>
            <a:off x="6415088" y="1898650"/>
            <a:ext cx="1587" cy="242888"/>
          </a:xfrm>
          <a:prstGeom prst="line">
            <a:avLst/>
          </a:prstGeom>
          <a:noFill/>
          <a:ln w="3240">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33815" name="Rectangle 23">
            <a:extLst>
              <a:ext uri="{FF2B5EF4-FFF2-40B4-BE49-F238E27FC236}">
                <a16:creationId xmlns:a16="http://schemas.microsoft.com/office/drawing/2014/main" id="{8B7F6BAA-BCF7-42A0-9700-1333FCA9779F}"/>
              </a:ext>
            </a:extLst>
          </p:cNvPr>
          <p:cNvSpPr>
            <a:spLocks noChangeArrowheads="1"/>
          </p:cNvSpPr>
          <p:nvPr/>
        </p:nvSpPr>
        <p:spPr bwMode="auto">
          <a:xfrm>
            <a:off x="5003800" y="6180138"/>
            <a:ext cx="2830513" cy="422275"/>
          </a:xfrm>
          <a:prstGeom prst="rect">
            <a:avLst/>
          </a:prstGeom>
          <a:solidFill>
            <a:schemeClr val="bg1">
              <a:lumMod val="75000"/>
            </a:schemeClr>
          </a:solidFill>
          <a:ln w="3240">
            <a:solidFill>
              <a:schemeClr val="tx1"/>
            </a:solidFill>
            <a:miter lim="800000"/>
            <a:headEnd/>
            <a:tailEnd/>
          </a:ln>
          <a:effec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98000"/>
              </a:lnSpc>
              <a:spcBef>
                <a:spcPts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zh-CN" altLang="en-GB"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未使用</a:t>
            </a:r>
          </a:p>
        </p:txBody>
      </p:sp>
      <p:sp>
        <p:nvSpPr>
          <p:cNvPr id="76820" name="Text Box 24"/>
          <p:cNvSpPr txBox="1">
            <a:spLocks noChangeArrowheads="1"/>
          </p:cNvSpPr>
          <p:nvPr/>
        </p:nvSpPr>
        <p:spPr bwMode="auto">
          <a:xfrm>
            <a:off x="4735513" y="6411913"/>
            <a:ext cx="318014" cy="335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98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zh-CN" sz="1600" b="1" i="0" u="none" strike="noStrike" kern="1200" cap="none" spc="0" normalizeH="0" baseline="0" noProof="0">
                <a:ln>
                  <a:noFill/>
                </a:ln>
                <a:solidFill>
                  <a:prstClr val="black"/>
                </a:solidFill>
                <a:effectLst/>
                <a:uLnTx/>
                <a:uFillTx/>
                <a:latin typeface="Arial Black" panose="020B0A04020102020204" pitchFamily="34" charset="0"/>
                <a:ea typeface="msgothic"/>
                <a:cs typeface="msgothic"/>
              </a:rPr>
              <a:t>0</a:t>
            </a:r>
          </a:p>
        </p:txBody>
      </p:sp>
      <p:sp>
        <p:nvSpPr>
          <p:cNvPr id="33826" name="Rectangle 34">
            <a:extLst>
              <a:ext uri="{FF2B5EF4-FFF2-40B4-BE49-F238E27FC236}">
                <a16:creationId xmlns:a16="http://schemas.microsoft.com/office/drawing/2014/main" id="{BB2B7E78-6074-44D4-80AB-BDF1C5CD1AE0}"/>
              </a:ext>
            </a:extLst>
          </p:cNvPr>
          <p:cNvSpPr>
            <a:spLocks noChangeArrowheads="1"/>
          </p:cNvSpPr>
          <p:nvPr/>
        </p:nvSpPr>
        <p:spPr bwMode="auto">
          <a:xfrm>
            <a:off x="5003800" y="4803775"/>
            <a:ext cx="2830513" cy="712788"/>
          </a:xfrm>
          <a:prstGeom prst="rect">
            <a:avLst/>
          </a:prstGeom>
          <a:solidFill>
            <a:schemeClr val="accent2">
              <a:lumMod val="20000"/>
              <a:lumOff val="80000"/>
            </a:schemeClr>
          </a:solidFill>
          <a:ln w="3240">
            <a:solidFill>
              <a:schemeClr val="tx1"/>
            </a:solidFill>
            <a:miter lim="800000"/>
            <a:headEnd/>
            <a:tailEnd/>
          </a:ln>
          <a:effec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98000"/>
              </a:lnSpc>
              <a:spcBef>
                <a:spcPts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zh-CN" altLang="en-GB"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sgothic"/>
              </a:rPr>
              <a:t>读写数据段</a:t>
            </a:r>
          </a:p>
          <a:p>
            <a:pPr marL="0" marR="0" lvl="0" indent="0" algn="ctr" defTabSz="914400" rtl="0" eaLnBrk="1" fontAlgn="auto" latinLnBrk="0" hangingPunct="1">
              <a:lnSpc>
                <a:spcPct val="98000"/>
              </a:lnSpc>
              <a:spcBef>
                <a:spcPts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sgothic"/>
              </a:rPr>
              <a:t>(.data, .</a:t>
            </a:r>
            <a:r>
              <a:rPr kumimoji="0" lang="en-GB" altLang="zh-CN" sz="18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sgothic"/>
              </a:rPr>
              <a:t>bss</a:t>
            </a:r>
            <a:r>
              <a:rPr kumimoji="0" lang="en-GB"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sgothic"/>
              </a:rPr>
              <a:t>)</a:t>
            </a:r>
          </a:p>
        </p:txBody>
      </p:sp>
      <p:sp>
        <p:nvSpPr>
          <p:cNvPr id="76822" name="Rectangle 35"/>
          <p:cNvSpPr>
            <a:spLocks noChangeArrowheads="1"/>
          </p:cNvSpPr>
          <p:nvPr/>
        </p:nvSpPr>
        <p:spPr bwMode="auto">
          <a:xfrm>
            <a:off x="5003800" y="5468938"/>
            <a:ext cx="2830513" cy="711200"/>
          </a:xfrm>
          <a:prstGeom prst="rect">
            <a:avLst/>
          </a:prstGeom>
          <a:solidFill>
            <a:srgbClr val="F6F5BD"/>
          </a:solidFill>
          <a:ln w="3240">
            <a:solidFill>
              <a:schemeClr val="tx1"/>
            </a:solidFill>
            <a:miter lim="800000"/>
            <a:headEnd/>
            <a:tailEnd/>
          </a:ln>
        </p:spPr>
        <p:txBody>
          <a:bodyPr wrap="none" lIns="90000" tIns="46800" rIns="90000" bIns="46800" anchor="ctr"/>
          <a:lstStyle>
            <a:lvl1pPr>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98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zh-CN" altLang="en-GB"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只读代码段</a:t>
            </a:r>
          </a:p>
          <a:p>
            <a:pPr marL="0" marR="0" lvl="0" indent="0" algn="ctr" defTabSz="914400" rtl="0" eaLnBrk="1" fontAlgn="auto" latinLnBrk="0" hangingPunct="1">
              <a:lnSpc>
                <a:spcPct val="98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(.init, .text</a:t>
            </a:r>
            <a:r>
              <a:rPr kumimoji="0" lang="en-GB" altLang="zh-CN" sz="1600" b="1" i="0" u="none" strike="noStrike" kern="1200" cap="none" spc="0" normalizeH="0" baseline="0" noProof="0">
                <a:ln>
                  <a:noFill/>
                </a:ln>
                <a:solidFill>
                  <a:prstClr val="black"/>
                </a:solidFill>
                <a:effectLst/>
                <a:uLnTx/>
                <a:uFillTx/>
                <a:latin typeface="Calibri" panose="020F0502020204030204" pitchFamily="34" charset="0"/>
                <a:ea typeface="微软雅黑" panose="020B0503020204020204" pitchFamily="34" charset="-122"/>
                <a:cs typeface="msgothic"/>
              </a:rPr>
              <a:t>, </a:t>
            </a:r>
            <a:r>
              <a:rPr kumimoji="0" lang="en-GB"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.rodata</a:t>
            </a:r>
            <a:r>
              <a:rPr kumimoji="0" lang="en-GB" altLang="zh-CN" sz="1600" b="1" i="0" u="none" strike="noStrike" kern="1200" cap="none" spc="0" normalizeH="0" baseline="0" noProof="0">
                <a:ln>
                  <a:noFill/>
                </a:ln>
                <a:solidFill>
                  <a:prstClr val="black"/>
                </a:solidFill>
                <a:effectLst/>
                <a:uLnTx/>
                <a:uFillTx/>
                <a:latin typeface="Calibri" panose="020F0502020204030204" pitchFamily="34" charset="0"/>
                <a:ea typeface="微软雅黑" panose="020B0503020204020204" pitchFamily="34" charset="-122"/>
                <a:cs typeface="msgothic"/>
              </a:rPr>
              <a:t>)</a:t>
            </a:r>
          </a:p>
        </p:txBody>
      </p:sp>
      <p:grpSp>
        <p:nvGrpSpPr>
          <p:cNvPr id="76823" name="Group 25"/>
          <p:cNvGrpSpPr>
            <a:grpSpLocks/>
          </p:cNvGrpSpPr>
          <p:nvPr/>
        </p:nvGrpSpPr>
        <p:grpSpPr bwMode="auto">
          <a:xfrm>
            <a:off x="7867650" y="4879975"/>
            <a:ext cx="1071563" cy="1327150"/>
            <a:chOff x="4956" y="3074"/>
            <a:chExt cx="675" cy="836"/>
          </a:xfrm>
        </p:grpSpPr>
        <p:sp>
          <p:nvSpPr>
            <p:cNvPr id="76844" name="AutoShape 36"/>
            <p:cNvSpPr>
              <a:spLocks/>
            </p:cNvSpPr>
            <p:nvPr/>
          </p:nvSpPr>
          <p:spPr bwMode="auto">
            <a:xfrm>
              <a:off x="4956" y="3094"/>
              <a:ext cx="140" cy="816"/>
            </a:xfrm>
            <a:prstGeom prst="rightBrace">
              <a:avLst>
                <a:gd name="adj1" fmla="val 48571"/>
                <a:gd name="adj2" fmla="val 50000"/>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zh-CN" sz="2400" b="1" i="0" u="none" strike="noStrike" kern="1200" cap="none" spc="0" normalizeH="0" baseline="0" noProof="0">
                <a:ln>
                  <a:noFill/>
                </a:ln>
                <a:solidFill>
                  <a:prstClr val="black"/>
                </a:solidFill>
                <a:effectLst/>
                <a:uLnTx/>
                <a:uFillTx/>
                <a:latin typeface="Arial Narrow" panose="020B0606020202030204" pitchFamily="34" charset="0"/>
                <a:ea typeface="宋体" panose="02010600030101010101" pitchFamily="2" charset="-122"/>
                <a:cs typeface="+mn-cs"/>
              </a:endParaRPr>
            </a:p>
          </p:txBody>
        </p:sp>
        <p:sp>
          <p:nvSpPr>
            <p:cNvPr id="76845" name="Text Box 37"/>
            <p:cNvSpPr txBox="1">
              <a:spLocks noChangeArrowheads="1"/>
            </p:cNvSpPr>
            <p:nvPr/>
          </p:nvSpPr>
          <p:spPr bwMode="auto">
            <a:xfrm>
              <a:off x="5161" y="3074"/>
              <a:ext cx="470" cy="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98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zh-CN" altLang="en-GB" sz="1900" b="1" i="0" u="none" strike="noStrike" kern="1200" cap="none" spc="0" normalizeH="0" baseline="0" noProof="0">
                  <a:ln>
                    <a:noFill/>
                  </a:ln>
                  <a:solidFill>
                    <a:srgbClr val="FF0000"/>
                  </a:solidFill>
                  <a:effectLst/>
                  <a:uLnTx/>
                  <a:uFillTx/>
                  <a:latin typeface="Calibri" panose="020F0502020204030204" pitchFamily="34" charset="0"/>
                  <a:ea typeface="微软雅黑" panose="020B0503020204020204" pitchFamily="34" charset="-122"/>
                  <a:cs typeface="msgothic"/>
                </a:rPr>
                <a:t>从可执行文件装入</a:t>
              </a:r>
            </a:p>
          </p:txBody>
        </p:sp>
      </p:grpSp>
      <p:sp>
        <p:nvSpPr>
          <p:cNvPr id="33794" name="Rectangle 2">
            <a:extLst>
              <a:ext uri="{FF2B5EF4-FFF2-40B4-BE49-F238E27FC236}">
                <a16:creationId xmlns:a16="http://schemas.microsoft.com/office/drawing/2014/main" id="{DF2E2A78-2B2D-4D4D-95F2-09D79A68BD81}"/>
              </a:ext>
            </a:extLst>
          </p:cNvPr>
          <p:cNvSpPr>
            <a:spLocks noChangeArrowheads="1"/>
          </p:cNvSpPr>
          <p:nvPr/>
        </p:nvSpPr>
        <p:spPr bwMode="auto">
          <a:xfrm>
            <a:off x="247650" y="1554163"/>
            <a:ext cx="2971800" cy="434975"/>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98000"/>
              </a:lnSpc>
              <a:spcBef>
                <a:spcPts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zh-CN"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ELF </a:t>
            </a:r>
            <a:r>
              <a:rPr kumimoji="0" lang="zh-CN" altLang="en-GB"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头</a:t>
            </a:r>
          </a:p>
        </p:txBody>
      </p:sp>
      <p:sp>
        <p:nvSpPr>
          <p:cNvPr id="76825" name="Rectangle 3"/>
          <p:cNvSpPr>
            <a:spLocks noChangeArrowheads="1"/>
          </p:cNvSpPr>
          <p:nvPr/>
        </p:nvSpPr>
        <p:spPr bwMode="auto">
          <a:xfrm>
            <a:off x="247650" y="1989138"/>
            <a:ext cx="2971800" cy="695325"/>
          </a:xfrm>
          <a:prstGeom prst="rect">
            <a:avLst/>
          </a:prstGeom>
          <a:solidFill>
            <a:srgbClr val="993366">
              <a:alpha val="9019"/>
            </a:srgbClr>
          </a:solidFill>
          <a:ln w="25527">
            <a:solidFill>
              <a:schemeClr val="tx1"/>
            </a:solidFill>
            <a:miter lim="800000"/>
            <a:headEnd/>
            <a:tailEnd/>
          </a:ln>
        </p:spPr>
        <p:txBody>
          <a:bodyPr wrap="none" lIns="90000" tIns="46800" rIns="90000" bIns="46800" anchor="ctr"/>
          <a:lstStyle>
            <a:lvl1pPr>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98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zh-CN" altLang="en-GB" sz="20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sgothic"/>
              </a:rPr>
              <a:t>程序（段）头表</a:t>
            </a:r>
          </a:p>
        </p:txBody>
      </p:sp>
      <p:sp>
        <p:nvSpPr>
          <p:cNvPr id="76826" name="Rectangle 4"/>
          <p:cNvSpPr>
            <a:spLocks noChangeArrowheads="1"/>
          </p:cNvSpPr>
          <p:nvPr/>
        </p:nvSpPr>
        <p:spPr bwMode="auto">
          <a:xfrm>
            <a:off x="247650" y="3119438"/>
            <a:ext cx="2971800" cy="434975"/>
          </a:xfrm>
          <a:prstGeom prst="rect">
            <a:avLst/>
          </a:prstGeom>
          <a:solidFill>
            <a:srgbClr val="F6F5BD"/>
          </a:solidFill>
          <a:ln w="25560">
            <a:solidFill>
              <a:schemeClr val="tx1"/>
            </a:solidFill>
            <a:miter lim="800000"/>
            <a:headEnd/>
            <a:tailEnd/>
          </a:ln>
        </p:spPr>
        <p:txBody>
          <a:bodyPr wrap="none" lIns="90000" tIns="46800" rIns="90000" bIns="46800" anchor="ctr"/>
          <a:lstStyle>
            <a:lvl1pPr>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98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.text </a:t>
            </a:r>
            <a:r>
              <a:rPr kumimoji="0" lang="zh-CN" altLang="en-GB"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节</a:t>
            </a:r>
          </a:p>
        </p:txBody>
      </p:sp>
      <p:sp>
        <p:nvSpPr>
          <p:cNvPr id="33797" name="Rectangle 5">
            <a:extLst>
              <a:ext uri="{FF2B5EF4-FFF2-40B4-BE49-F238E27FC236}">
                <a16:creationId xmlns:a16="http://schemas.microsoft.com/office/drawing/2014/main" id="{C7C34BA0-C879-47EC-AE64-9917CE71BAAF}"/>
              </a:ext>
            </a:extLst>
          </p:cNvPr>
          <p:cNvSpPr>
            <a:spLocks noChangeArrowheads="1"/>
          </p:cNvSpPr>
          <p:nvPr/>
        </p:nvSpPr>
        <p:spPr bwMode="auto">
          <a:xfrm>
            <a:off x="247650" y="3989388"/>
            <a:ext cx="2971800" cy="434975"/>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98000"/>
              </a:lnSpc>
              <a:spcBef>
                <a:spcPts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zh-CN"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.data </a:t>
            </a:r>
            <a:r>
              <a:rPr kumimoji="0" lang="zh-CN" altLang="en-GB"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节</a:t>
            </a:r>
          </a:p>
        </p:txBody>
      </p:sp>
      <p:sp>
        <p:nvSpPr>
          <p:cNvPr id="33798" name="Rectangle 6">
            <a:extLst>
              <a:ext uri="{FF2B5EF4-FFF2-40B4-BE49-F238E27FC236}">
                <a16:creationId xmlns:a16="http://schemas.microsoft.com/office/drawing/2014/main" id="{7B911684-A8D6-47AD-B5C4-2829D0646EBB}"/>
              </a:ext>
            </a:extLst>
          </p:cNvPr>
          <p:cNvSpPr>
            <a:spLocks noChangeArrowheads="1"/>
          </p:cNvSpPr>
          <p:nvPr/>
        </p:nvSpPr>
        <p:spPr bwMode="auto">
          <a:xfrm>
            <a:off x="247650" y="4424363"/>
            <a:ext cx="2971800" cy="433387"/>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98000"/>
              </a:lnSpc>
              <a:spcBef>
                <a:spcPts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zh-CN"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.bss </a:t>
            </a:r>
            <a:r>
              <a:rPr kumimoji="0" lang="zh-CN" altLang="en-GB"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节</a:t>
            </a:r>
          </a:p>
        </p:txBody>
      </p:sp>
      <p:sp>
        <p:nvSpPr>
          <p:cNvPr id="33799" name="Rectangle 7">
            <a:extLst>
              <a:ext uri="{FF2B5EF4-FFF2-40B4-BE49-F238E27FC236}">
                <a16:creationId xmlns:a16="http://schemas.microsoft.com/office/drawing/2014/main" id="{1301144D-53EF-4388-8395-2D4B860F97E0}"/>
              </a:ext>
            </a:extLst>
          </p:cNvPr>
          <p:cNvSpPr>
            <a:spLocks noChangeArrowheads="1"/>
          </p:cNvSpPr>
          <p:nvPr/>
        </p:nvSpPr>
        <p:spPr bwMode="auto">
          <a:xfrm>
            <a:off x="247650" y="4857750"/>
            <a:ext cx="2971800" cy="434975"/>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98000"/>
              </a:lnSpc>
              <a:spcBef>
                <a:spcPts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zh-CN"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.symtab </a:t>
            </a:r>
            <a:r>
              <a:rPr kumimoji="0" lang="zh-CN" altLang="en-GB"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节</a:t>
            </a:r>
          </a:p>
        </p:txBody>
      </p:sp>
      <p:sp>
        <p:nvSpPr>
          <p:cNvPr id="33802" name="Rectangle 10">
            <a:extLst>
              <a:ext uri="{FF2B5EF4-FFF2-40B4-BE49-F238E27FC236}">
                <a16:creationId xmlns:a16="http://schemas.microsoft.com/office/drawing/2014/main" id="{8EE881BF-21A5-42A5-BEB1-5C718C7A6547}"/>
              </a:ext>
            </a:extLst>
          </p:cNvPr>
          <p:cNvSpPr>
            <a:spLocks noChangeArrowheads="1"/>
          </p:cNvSpPr>
          <p:nvPr/>
        </p:nvSpPr>
        <p:spPr bwMode="auto">
          <a:xfrm>
            <a:off x="247650" y="5292725"/>
            <a:ext cx="2971800" cy="434975"/>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98000"/>
              </a:lnSpc>
              <a:spcBef>
                <a:spcPts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zh-CN"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.debug </a:t>
            </a:r>
            <a:r>
              <a:rPr kumimoji="0" lang="zh-CN" altLang="en-GB"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节</a:t>
            </a:r>
          </a:p>
        </p:txBody>
      </p:sp>
      <p:sp>
        <p:nvSpPr>
          <p:cNvPr id="76831" name="Rectangle 5"/>
          <p:cNvSpPr>
            <a:spLocks noChangeArrowheads="1"/>
          </p:cNvSpPr>
          <p:nvPr/>
        </p:nvSpPr>
        <p:spPr bwMode="auto">
          <a:xfrm>
            <a:off x="247650" y="3554413"/>
            <a:ext cx="2971800" cy="434975"/>
          </a:xfrm>
          <a:prstGeom prst="rect">
            <a:avLst/>
          </a:prstGeom>
          <a:solidFill>
            <a:srgbClr val="F6F5BD"/>
          </a:solidFill>
          <a:ln w="25560">
            <a:solidFill>
              <a:schemeClr val="tx1"/>
            </a:solidFill>
            <a:miter lim="800000"/>
            <a:headEnd/>
            <a:tailEnd/>
          </a:ln>
        </p:spPr>
        <p:txBody>
          <a:bodyPr wrap="none" lIns="90000" tIns="46800" rIns="90000" bIns="46800" anchor="ctr"/>
          <a:lstStyle>
            <a:lvl1pPr>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98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.rodata </a:t>
            </a:r>
            <a:r>
              <a:rPr kumimoji="0" lang="zh-CN" altLang="en-GB"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节</a:t>
            </a:r>
          </a:p>
        </p:txBody>
      </p:sp>
      <p:sp>
        <p:nvSpPr>
          <p:cNvPr id="40" name="Rectangle 10">
            <a:extLst>
              <a:ext uri="{FF2B5EF4-FFF2-40B4-BE49-F238E27FC236}">
                <a16:creationId xmlns:a16="http://schemas.microsoft.com/office/drawing/2014/main" id="{AA0BB7E3-6598-4F59-8E98-281DEBAD9DE2}"/>
              </a:ext>
            </a:extLst>
          </p:cNvPr>
          <p:cNvSpPr>
            <a:spLocks noChangeArrowheads="1"/>
          </p:cNvSpPr>
          <p:nvPr/>
        </p:nvSpPr>
        <p:spPr bwMode="auto">
          <a:xfrm>
            <a:off x="247650" y="5727700"/>
            <a:ext cx="2971800" cy="434975"/>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98000"/>
              </a:lnSpc>
              <a:spcBef>
                <a:spcPts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zh-CN"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.line </a:t>
            </a:r>
            <a:r>
              <a:rPr kumimoji="0" lang="zh-CN" altLang="en-GB"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节</a:t>
            </a:r>
          </a:p>
        </p:txBody>
      </p:sp>
      <p:sp>
        <p:nvSpPr>
          <p:cNvPr id="76833" name="Rectangle 4"/>
          <p:cNvSpPr>
            <a:spLocks noChangeArrowheads="1"/>
          </p:cNvSpPr>
          <p:nvPr/>
        </p:nvSpPr>
        <p:spPr bwMode="auto">
          <a:xfrm>
            <a:off x="247650" y="2684463"/>
            <a:ext cx="2971800" cy="434975"/>
          </a:xfrm>
          <a:prstGeom prst="rect">
            <a:avLst/>
          </a:prstGeom>
          <a:solidFill>
            <a:srgbClr val="F6F5BD"/>
          </a:solidFill>
          <a:ln w="25560">
            <a:solidFill>
              <a:schemeClr val="tx1"/>
            </a:solidFill>
            <a:miter lim="800000"/>
            <a:headEnd/>
            <a:tailEnd/>
          </a:ln>
        </p:spPr>
        <p:txBody>
          <a:bodyPr wrap="none" lIns="90000" tIns="46800" rIns="90000" bIns="46800" anchor="ctr"/>
          <a:lstStyle>
            <a:lvl1pPr>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500" b="1">
                <a:solidFill>
                  <a:srgbClr val="996600"/>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98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.init </a:t>
            </a:r>
            <a:r>
              <a:rPr kumimoji="0" lang="zh-CN" altLang="en-GB"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节</a:t>
            </a:r>
          </a:p>
        </p:txBody>
      </p:sp>
      <p:sp>
        <p:nvSpPr>
          <p:cNvPr id="42" name="Rectangle 10">
            <a:extLst>
              <a:ext uri="{FF2B5EF4-FFF2-40B4-BE49-F238E27FC236}">
                <a16:creationId xmlns:a16="http://schemas.microsoft.com/office/drawing/2014/main" id="{E7086539-4D09-48FC-844E-7F1431170403}"/>
              </a:ext>
            </a:extLst>
          </p:cNvPr>
          <p:cNvSpPr>
            <a:spLocks noChangeArrowheads="1"/>
          </p:cNvSpPr>
          <p:nvPr/>
        </p:nvSpPr>
        <p:spPr bwMode="auto">
          <a:xfrm>
            <a:off x="247650" y="6162675"/>
            <a:ext cx="2971800" cy="434975"/>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98000"/>
              </a:lnSpc>
              <a:spcBef>
                <a:spcPts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zh-CN"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.strtab </a:t>
            </a:r>
            <a:r>
              <a:rPr kumimoji="0" lang="zh-CN" altLang="en-GB"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sgothic"/>
              </a:rPr>
              <a:t>节</a:t>
            </a:r>
          </a:p>
        </p:txBody>
      </p:sp>
      <p:grpSp>
        <p:nvGrpSpPr>
          <p:cNvPr id="76835" name="Group 40"/>
          <p:cNvGrpSpPr>
            <a:grpSpLocks/>
          </p:cNvGrpSpPr>
          <p:nvPr/>
        </p:nvGrpSpPr>
        <p:grpSpPr bwMode="auto">
          <a:xfrm>
            <a:off x="3322638" y="3990975"/>
            <a:ext cx="1652587" cy="1214438"/>
            <a:chOff x="2039" y="2533"/>
            <a:chExt cx="1114" cy="746"/>
          </a:xfrm>
        </p:grpSpPr>
        <p:sp>
          <p:nvSpPr>
            <p:cNvPr id="76842" name="Line 41"/>
            <p:cNvSpPr>
              <a:spLocks noChangeShapeType="1"/>
            </p:cNvSpPr>
            <p:nvPr/>
          </p:nvSpPr>
          <p:spPr bwMode="auto">
            <a:xfrm>
              <a:off x="2257" y="2823"/>
              <a:ext cx="896" cy="456"/>
            </a:xfrm>
            <a:prstGeom prst="line">
              <a:avLst/>
            </a:prstGeom>
            <a:noFill/>
            <a:ln w="38100">
              <a:solidFill>
                <a:srgbClr val="0066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76843" name="AutoShape 42"/>
            <p:cNvSpPr>
              <a:spLocks/>
            </p:cNvSpPr>
            <p:nvPr/>
          </p:nvSpPr>
          <p:spPr bwMode="auto">
            <a:xfrm>
              <a:off x="2039" y="2533"/>
              <a:ext cx="192" cy="539"/>
            </a:xfrm>
            <a:prstGeom prst="rightBrace">
              <a:avLst>
                <a:gd name="adj1" fmla="val 23394"/>
                <a:gd name="adj2" fmla="val 50000"/>
              </a:avLst>
            </a:prstGeom>
            <a:noFill/>
            <a:ln w="38100">
              <a:solidFill>
                <a:srgbClr val="0066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76836" name="Group 43"/>
          <p:cNvGrpSpPr>
            <a:grpSpLocks/>
          </p:cNvGrpSpPr>
          <p:nvPr/>
        </p:nvGrpSpPr>
        <p:grpSpPr bwMode="auto">
          <a:xfrm>
            <a:off x="3402013" y="1719263"/>
            <a:ext cx="1581150" cy="4122737"/>
            <a:chOff x="2157" y="1070"/>
            <a:chExt cx="996" cy="2597"/>
          </a:xfrm>
        </p:grpSpPr>
        <p:sp>
          <p:nvSpPr>
            <p:cNvPr id="76840" name="Line 44"/>
            <p:cNvSpPr>
              <a:spLocks noChangeShapeType="1"/>
            </p:cNvSpPr>
            <p:nvPr/>
          </p:nvSpPr>
          <p:spPr bwMode="auto">
            <a:xfrm>
              <a:off x="2313" y="1790"/>
              <a:ext cx="840" cy="1877"/>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76841" name="AutoShape 45"/>
            <p:cNvSpPr>
              <a:spLocks/>
            </p:cNvSpPr>
            <p:nvPr/>
          </p:nvSpPr>
          <p:spPr bwMode="auto">
            <a:xfrm>
              <a:off x="2157" y="1070"/>
              <a:ext cx="129" cy="1417"/>
            </a:xfrm>
            <a:prstGeom prst="rightBrace">
              <a:avLst>
                <a:gd name="adj1" fmla="val 91537"/>
                <a:gd name="adj2" fmla="val 50000"/>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76837" name="Text Box 46"/>
          <p:cNvSpPr txBox="1">
            <a:spLocks noChangeArrowheads="1"/>
          </p:cNvSpPr>
          <p:nvPr/>
        </p:nvSpPr>
        <p:spPr bwMode="auto">
          <a:xfrm>
            <a:off x="8026400" y="898525"/>
            <a:ext cx="841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1GB</a:t>
            </a:r>
          </a:p>
        </p:txBody>
      </p:sp>
      <p:sp>
        <p:nvSpPr>
          <p:cNvPr id="772143" name="Text Box 47"/>
          <p:cNvSpPr txBox="1">
            <a:spLocks noChangeArrowheads="1"/>
          </p:cNvSpPr>
          <p:nvPr/>
        </p:nvSpPr>
        <p:spPr bwMode="auto">
          <a:xfrm>
            <a:off x="3581400" y="1808163"/>
            <a:ext cx="1349375" cy="13112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20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从高地址向低地址增长！</a:t>
            </a:r>
          </a:p>
        </p:txBody>
      </p:sp>
      <p:sp>
        <p:nvSpPr>
          <p:cNvPr id="48" name="Text Box 16"/>
          <p:cNvSpPr txBox="1">
            <a:spLocks noChangeArrowheads="1"/>
          </p:cNvSpPr>
          <p:nvPr/>
        </p:nvSpPr>
        <p:spPr bwMode="auto">
          <a:xfrm>
            <a:off x="0" y="687388"/>
            <a:ext cx="4500563" cy="7699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en-US" altLang="zh-CN" sz="22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IA-32</a:t>
            </a:r>
            <a:r>
              <a:rPr kumimoji="0" lang="zh-CN" altLang="en-US" sz="22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中参数通过</a:t>
            </a:r>
            <a:r>
              <a:rPr kumimoji="0" lang="zh-CN" altLang="en-US" sz="22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栈</a:t>
            </a:r>
            <a:r>
              <a:rPr kumimoji="0" lang="zh-CN" altLang="en-US" sz="22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来传递</a:t>
            </a:r>
          </a:p>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zh-CN" altLang="en-US" sz="22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栈（</a:t>
            </a:r>
            <a:r>
              <a:rPr kumimoji="0" lang="en-US" altLang="zh-CN" sz="22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stack</a:t>
            </a:r>
            <a:r>
              <a:rPr kumimoji="0" lang="zh-CN" altLang="en-US" sz="22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a:t>
            </a:r>
            <a:r>
              <a:rPr kumimoji="0" lang="zh-CN" altLang="en-US" sz="22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在哪里？</a:t>
            </a:r>
          </a:p>
        </p:txBody>
      </p:sp>
    </p:spTree>
    <p:extLst>
      <p:ext uri="{BB962C8B-B14F-4D97-AF65-F5344CB8AC3E}">
        <p14:creationId xmlns:p14="http://schemas.microsoft.com/office/powerpoint/2010/main" val="2638078682"/>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blinds(horizontal)">
                                      <p:cBhvr>
                                        <p:cTn id="7" dur="500"/>
                                        <p:tgtEl>
                                          <p:spTgt spid="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72114">
                                            <p:txEl>
                                              <p:pRg st="0" end="0"/>
                                            </p:txEl>
                                          </p:spTgt>
                                        </p:tgtEl>
                                        <p:attrNameLst>
                                          <p:attrName>style.visibility</p:attrName>
                                        </p:attrNameLst>
                                      </p:cBhvr>
                                      <p:to>
                                        <p:strVal val="visible"/>
                                      </p:to>
                                    </p:set>
                                    <p:animEffect transition="in" filter="blinds(horizontal)">
                                      <p:cBhvr>
                                        <p:cTn id="12" dur="500"/>
                                        <p:tgtEl>
                                          <p:spTgt spid="772114">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772114">
                                            <p:txEl>
                                              <p:pRg st="1" end="1"/>
                                            </p:txEl>
                                          </p:spTgt>
                                        </p:tgtEl>
                                        <p:attrNameLst>
                                          <p:attrName>style.visibility</p:attrName>
                                        </p:attrNameLst>
                                      </p:cBhvr>
                                      <p:to>
                                        <p:strVal val="visible"/>
                                      </p:to>
                                    </p:set>
                                    <p:animEffect transition="in" filter="blinds(horizontal)">
                                      <p:cBhvr>
                                        <p:cTn id="15" dur="500"/>
                                        <p:tgtEl>
                                          <p:spTgt spid="772114">
                                            <p:txEl>
                                              <p:pRg st="1" end="1"/>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772143"/>
                                        </p:tgtEl>
                                        <p:attrNameLst>
                                          <p:attrName>style.visibility</p:attrName>
                                        </p:attrNameLst>
                                      </p:cBhvr>
                                      <p:to>
                                        <p:strVal val="visible"/>
                                      </p:to>
                                    </p:set>
                                    <p:animEffect transition="in" filter="blinds(horizontal)">
                                      <p:cBhvr>
                                        <p:cTn id="20" dur="500"/>
                                        <p:tgtEl>
                                          <p:spTgt spid="77214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772101"/>
                                        </p:tgtEl>
                                        <p:attrNameLst>
                                          <p:attrName>style.visibility</p:attrName>
                                        </p:attrNameLst>
                                      </p:cBhvr>
                                      <p:to>
                                        <p:strVal val="visible"/>
                                      </p:to>
                                    </p:set>
                                    <p:animEffect transition="in" filter="blinds(horizontal)">
                                      <p:cBhvr>
                                        <p:cTn id="25" dur="500"/>
                                        <p:tgtEl>
                                          <p:spTgt spid="772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2143" grpId="0"/>
      <p:bldP spid="4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p:cNvSpPr>
            <a:spLocks noGrp="1" noChangeArrowheads="1"/>
          </p:cNvSpPr>
          <p:nvPr>
            <p:ph type="title" idx="4294967295"/>
          </p:nvPr>
        </p:nvSpPr>
        <p:spPr>
          <a:xfrm>
            <a:off x="0" y="98425"/>
            <a:ext cx="8229600" cy="561975"/>
          </a:xfrm>
        </p:spPr>
        <p:txBody>
          <a:bodyPr lIns="38100" tIns="38100" rIns="38100" bIns="38100">
            <a:normAutofit fontScale="90000"/>
          </a:bodyPr>
          <a:lstStyle/>
          <a:p>
            <a:pPr marL="119063" indent="-119063" algn="l" eaLnBrk="1" hangingPunct="1"/>
            <a:r>
              <a:rPr lang="zh-CN" altLang="en-US" sz="3600"/>
              <a:t>过程调用的机器级表示</a:t>
            </a:r>
          </a:p>
        </p:txBody>
      </p:sp>
      <p:sp>
        <p:nvSpPr>
          <p:cNvPr id="774147" name="Rectangle 4"/>
          <p:cNvSpPr>
            <a:spLocks noGrp="1" noChangeArrowheads="1"/>
          </p:cNvSpPr>
          <p:nvPr>
            <p:ph type="body" idx="4294967295"/>
          </p:nvPr>
        </p:nvSpPr>
        <p:spPr>
          <a:xfrm>
            <a:off x="0" y="3654425"/>
            <a:ext cx="8686800" cy="3014663"/>
          </a:xfrm>
        </p:spPr>
        <p:txBody>
          <a:bodyPr lIns="38100" tIns="38100" rIns="38100" bIns="38100">
            <a:normAutofit fontScale="85000" lnSpcReduction="20000"/>
          </a:bodyPr>
          <a:lstStyle/>
          <a:p>
            <a:pPr marL="254000" indent="-254000" algn="just" eaLnBrk="1" hangingPunct="1">
              <a:lnSpc>
                <a:spcPct val="100000"/>
              </a:lnSpc>
              <a:spcBef>
                <a:spcPct val="40000"/>
              </a:spcBef>
              <a:buFontTx/>
              <a:buNone/>
            </a:pPr>
            <a:r>
              <a:rPr lang="zh-CN" altLang="en-US" sz="2200">
                <a:solidFill>
                  <a:srgbClr val="CC3300"/>
                </a:solidFill>
              </a:rPr>
              <a:t> </a:t>
            </a:r>
            <a:r>
              <a:rPr lang="zh-CN" altLang="en-US" sz="2000">
                <a:solidFill>
                  <a:srgbClr val="CC3300"/>
                </a:solidFill>
                <a:latin typeface="微软雅黑" panose="020B0503020204020204" pitchFamily="34" charset="-122"/>
                <a:ea typeface="微软雅黑" panose="020B0503020204020204" pitchFamily="34" charset="-122"/>
              </a:rPr>
              <a:t>过程调用的执行步骤</a:t>
            </a:r>
            <a:r>
              <a:rPr lang="en-US" altLang="zh-CN" sz="2000">
                <a:solidFill>
                  <a:srgbClr val="CC3300"/>
                </a:solidFill>
                <a:latin typeface="微软雅黑" panose="020B0503020204020204" pitchFamily="34" charset="-122"/>
                <a:ea typeface="微软雅黑" panose="020B0503020204020204" pitchFamily="34" charset="-122"/>
              </a:rPr>
              <a:t>(P</a:t>
            </a:r>
            <a:r>
              <a:rPr lang="zh-CN" altLang="en-US" sz="2000">
                <a:solidFill>
                  <a:srgbClr val="CC3300"/>
                </a:solidFill>
                <a:latin typeface="微软雅黑" panose="020B0503020204020204" pitchFamily="34" charset="-122"/>
                <a:ea typeface="微软雅黑" panose="020B0503020204020204" pitchFamily="34" charset="-122"/>
              </a:rPr>
              <a:t>为调用者，</a:t>
            </a:r>
            <a:r>
              <a:rPr lang="en-US" altLang="zh-CN" sz="2000">
                <a:solidFill>
                  <a:srgbClr val="CC3300"/>
                </a:solidFill>
                <a:latin typeface="微软雅黑" panose="020B0503020204020204" pitchFamily="34" charset="-122"/>
                <a:ea typeface="微软雅黑" panose="020B0503020204020204" pitchFamily="34" charset="-122"/>
              </a:rPr>
              <a:t>Q</a:t>
            </a:r>
            <a:r>
              <a:rPr lang="zh-CN" altLang="en-US" sz="2000">
                <a:solidFill>
                  <a:srgbClr val="CC3300"/>
                </a:solidFill>
                <a:latin typeface="微软雅黑" panose="020B0503020204020204" pitchFamily="34" charset="-122"/>
                <a:ea typeface="微软雅黑" panose="020B0503020204020204" pitchFamily="34" charset="-122"/>
              </a:rPr>
              <a:t>为被调用者</a:t>
            </a:r>
            <a:r>
              <a:rPr lang="en-US" altLang="zh-CN" sz="2000">
                <a:solidFill>
                  <a:srgbClr val="CC3300"/>
                </a:solidFill>
                <a:latin typeface="微软雅黑" panose="020B0503020204020204" pitchFamily="34" charset="-122"/>
                <a:ea typeface="微软雅黑" panose="020B0503020204020204" pitchFamily="34" charset="-122"/>
              </a:rPr>
              <a:t>)</a:t>
            </a:r>
          </a:p>
          <a:p>
            <a:pPr marL="552450" lvl="1" indent="-234950">
              <a:lnSpc>
                <a:spcPct val="100000"/>
              </a:lnSpc>
              <a:spcBef>
                <a:spcPct val="40000"/>
              </a:spcBef>
              <a:buFontTx/>
              <a:buNone/>
            </a:pP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P</a:t>
            </a:r>
            <a:r>
              <a:rPr lang="zh-CN" altLang="en-US">
                <a:latin typeface="微软雅黑" panose="020B0503020204020204" pitchFamily="34" charset="-122"/>
                <a:ea typeface="微软雅黑" panose="020B0503020204020204" pitchFamily="34" charset="-122"/>
              </a:rPr>
              <a:t>将入口参数（实参）放到</a:t>
            </a:r>
            <a:r>
              <a:rPr lang="en-US" altLang="zh-CN">
                <a:latin typeface="微软雅黑" panose="020B0503020204020204" pitchFamily="34" charset="-122"/>
                <a:ea typeface="微软雅黑" panose="020B0503020204020204" pitchFamily="34" charset="-122"/>
              </a:rPr>
              <a:t>Q</a:t>
            </a:r>
            <a:r>
              <a:rPr lang="zh-CN" altLang="en-US">
                <a:latin typeface="微软雅黑" panose="020B0503020204020204" pitchFamily="34" charset="-122"/>
                <a:ea typeface="微软雅黑" panose="020B0503020204020204" pitchFamily="34" charset="-122"/>
              </a:rPr>
              <a:t>能访问到的地方；</a:t>
            </a:r>
            <a:endParaRPr lang="en-US" altLang="zh-CN">
              <a:solidFill>
                <a:srgbClr val="996600"/>
              </a:solidFill>
              <a:latin typeface="微软雅黑" panose="020B0503020204020204" pitchFamily="34" charset="-122"/>
              <a:ea typeface="微软雅黑" panose="020B0503020204020204" pitchFamily="34" charset="-122"/>
            </a:endParaRPr>
          </a:p>
          <a:p>
            <a:pPr marL="552450" lvl="1" indent="-234950">
              <a:lnSpc>
                <a:spcPct val="100000"/>
              </a:lnSpc>
              <a:spcBef>
                <a:spcPct val="40000"/>
              </a:spcBef>
              <a:buFontTx/>
              <a:buNone/>
            </a:pP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2</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P</a:t>
            </a:r>
            <a:r>
              <a:rPr lang="zh-CN" altLang="en-US">
                <a:latin typeface="微软雅黑" panose="020B0503020204020204" pitchFamily="34" charset="-122"/>
                <a:ea typeface="微软雅黑" panose="020B0503020204020204" pitchFamily="34" charset="-122"/>
              </a:rPr>
              <a:t>保存返回地址，然后将控制转移到</a:t>
            </a:r>
            <a:r>
              <a:rPr lang="en-US" altLang="zh-CN">
                <a:latin typeface="微软雅黑" panose="020B0503020204020204" pitchFamily="34" charset="-122"/>
                <a:ea typeface="微软雅黑" panose="020B0503020204020204" pitchFamily="34" charset="-122"/>
              </a:rPr>
              <a:t>Q</a:t>
            </a:r>
            <a:r>
              <a:rPr lang="zh-CN" altLang="en-US">
                <a:latin typeface="微软雅黑" panose="020B0503020204020204" pitchFamily="34" charset="-122"/>
                <a:ea typeface="微软雅黑" panose="020B0503020204020204" pitchFamily="34" charset="-122"/>
              </a:rPr>
              <a:t>；</a:t>
            </a:r>
            <a:endParaRPr lang="en-US" altLang="zh-CN">
              <a:solidFill>
                <a:srgbClr val="996600"/>
              </a:solidFill>
              <a:latin typeface="微软雅黑" panose="020B0503020204020204" pitchFamily="34" charset="-122"/>
              <a:ea typeface="微软雅黑" panose="020B0503020204020204" pitchFamily="34" charset="-122"/>
            </a:endParaRPr>
          </a:p>
          <a:p>
            <a:pPr marL="552450" lvl="1" indent="-234950">
              <a:lnSpc>
                <a:spcPct val="100000"/>
              </a:lnSpc>
              <a:spcBef>
                <a:spcPct val="40000"/>
              </a:spcBef>
              <a:buFontTx/>
              <a:buNone/>
            </a:pPr>
            <a:r>
              <a:rPr lang="zh-CN" altLang="en-US">
                <a:solidFill>
                  <a:srgbClr val="007635"/>
                </a:solidFill>
                <a:latin typeface="微软雅黑" panose="020B0503020204020204" pitchFamily="34" charset="-122"/>
                <a:ea typeface="微软雅黑" panose="020B0503020204020204" pitchFamily="34" charset="-122"/>
              </a:rPr>
              <a:t>（</a:t>
            </a:r>
            <a:r>
              <a:rPr lang="en-US" altLang="zh-CN">
                <a:solidFill>
                  <a:srgbClr val="007635"/>
                </a:solidFill>
                <a:latin typeface="微软雅黑" panose="020B0503020204020204" pitchFamily="34" charset="-122"/>
                <a:ea typeface="微软雅黑" panose="020B0503020204020204" pitchFamily="34" charset="-122"/>
              </a:rPr>
              <a:t>3</a:t>
            </a:r>
            <a:r>
              <a:rPr lang="zh-CN" altLang="en-US">
                <a:solidFill>
                  <a:srgbClr val="007635"/>
                </a:solidFill>
                <a:latin typeface="微软雅黑" panose="020B0503020204020204" pitchFamily="34" charset="-122"/>
                <a:ea typeface="微软雅黑" panose="020B0503020204020204" pitchFamily="34" charset="-122"/>
              </a:rPr>
              <a:t>）</a:t>
            </a:r>
            <a:r>
              <a:rPr lang="en-US" altLang="zh-CN">
                <a:solidFill>
                  <a:srgbClr val="007635"/>
                </a:solidFill>
                <a:latin typeface="微软雅黑" panose="020B0503020204020204" pitchFamily="34" charset="-122"/>
                <a:ea typeface="微软雅黑" panose="020B0503020204020204" pitchFamily="34" charset="-122"/>
              </a:rPr>
              <a:t>Q</a:t>
            </a:r>
            <a:r>
              <a:rPr lang="zh-CN" altLang="en-US">
                <a:solidFill>
                  <a:srgbClr val="007635"/>
                </a:solidFill>
                <a:latin typeface="微软雅黑" panose="020B0503020204020204" pitchFamily="34" charset="-122"/>
                <a:ea typeface="微软雅黑" panose="020B0503020204020204" pitchFamily="34" charset="-122"/>
              </a:rPr>
              <a:t>保存</a:t>
            </a:r>
            <a:r>
              <a:rPr lang="en-US" altLang="zh-CN">
                <a:solidFill>
                  <a:srgbClr val="CC6600"/>
                </a:solidFill>
                <a:latin typeface="微软雅黑" panose="020B0503020204020204" pitchFamily="34" charset="-122"/>
                <a:ea typeface="微软雅黑" panose="020B0503020204020204" pitchFamily="34" charset="-122"/>
              </a:rPr>
              <a:t>P</a:t>
            </a:r>
            <a:r>
              <a:rPr lang="zh-CN" altLang="en-US">
                <a:solidFill>
                  <a:srgbClr val="CC6600"/>
                </a:solidFill>
                <a:latin typeface="微软雅黑" panose="020B0503020204020204" pitchFamily="34" charset="-122"/>
                <a:ea typeface="微软雅黑" panose="020B0503020204020204" pitchFamily="34" charset="-122"/>
              </a:rPr>
              <a:t>的现场</a:t>
            </a:r>
            <a:r>
              <a:rPr lang="zh-CN" altLang="en-US">
                <a:solidFill>
                  <a:srgbClr val="007635"/>
                </a:solidFill>
                <a:latin typeface="微软雅黑" panose="020B0503020204020204" pitchFamily="34" charset="-122"/>
                <a:ea typeface="微软雅黑" panose="020B0503020204020204" pitchFamily="34" charset="-122"/>
              </a:rPr>
              <a:t>，并为自己的</a:t>
            </a:r>
            <a:r>
              <a:rPr lang="zh-CN" altLang="en-US">
                <a:solidFill>
                  <a:srgbClr val="FF0000"/>
                </a:solidFill>
                <a:latin typeface="微软雅黑" panose="020B0503020204020204" pitchFamily="34" charset="-122"/>
                <a:ea typeface="微软雅黑" panose="020B0503020204020204" pitchFamily="34" charset="-122"/>
              </a:rPr>
              <a:t>非静态局部变量</a:t>
            </a:r>
            <a:r>
              <a:rPr lang="zh-CN" altLang="en-US">
                <a:solidFill>
                  <a:srgbClr val="007635"/>
                </a:solidFill>
                <a:latin typeface="微软雅黑" panose="020B0503020204020204" pitchFamily="34" charset="-122"/>
                <a:ea typeface="微软雅黑" panose="020B0503020204020204" pitchFamily="34" charset="-122"/>
              </a:rPr>
              <a:t>分配空间；</a:t>
            </a:r>
          </a:p>
          <a:p>
            <a:pPr marL="552450" lvl="1" indent="-234950">
              <a:lnSpc>
                <a:spcPct val="100000"/>
              </a:lnSpc>
              <a:spcBef>
                <a:spcPct val="40000"/>
              </a:spcBef>
              <a:buFontTx/>
              <a:buNone/>
            </a:pPr>
            <a:r>
              <a:rPr lang="zh-CN" altLang="en-US">
                <a:solidFill>
                  <a:srgbClr val="FF3300"/>
                </a:solidFill>
                <a:latin typeface="微软雅黑" panose="020B0503020204020204" pitchFamily="34" charset="-122"/>
                <a:ea typeface="微软雅黑" panose="020B0503020204020204" pitchFamily="34" charset="-122"/>
              </a:rPr>
              <a:t>（</a:t>
            </a:r>
            <a:r>
              <a:rPr lang="en-US" altLang="zh-CN">
                <a:solidFill>
                  <a:srgbClr val="FF3300"/>
                </a:solidFill>
                <a:latin typeface="微软雅黑" panose="020B0503020204020204" pitchFamily="34" charset="-122"/>
                <a:ea typeface="微软雅黑" panose="020B0503020204020204" pitchFamily="34" charset="-122"/>
              </a:rPr>
              <a:t>4</a:t>
            </a:r>
            <a:r>
              <a:rPr lang="zh-CN" altLang="en-US">
                <a:solidFill>
                  <a:srgbClr val="FF3300"/>
                </a:solidFill>
                <a:latin typeface="微软雅黑" panose="020B0503020204020204" pitchFamily="34" charset="-122"/>
                <a:ea typeface="微软雅黑" panose="020B0503020204020204" pitchFamily="34" charset="-122"/>
              </a:rPr>
              <a:t>）执行</a:t>
            </a:r>
            <a:r>
              <a:rPr lang="en-US" altLang="zh-CN">
                <a:solidFill>
                  <a:srgbClr val="FF3300"/>
                </a:solidFill>
                <a:latin typeface="微软雅黑" panose="020B0503020204020204" pitchFamily="34" charset="-122"/>
                <a:ea typeface="微软雅黑" panose="020B0503020204020204" pitchFamily="34" charset="-122"/>
              </a:rPr>
              <a:t>Q</a:t>
            </a:r>
            <a:r>
              <a:rPr lang="zh-CN" altLang="en-US">
                <a:solidFill>
                  <a:srgbClr val="FF3300"/>
                </a:solidFill>
                <a:latin typeface="微软雅黑" panose="020B0503020204020204" pitchFamily="34" charset="-122"/>
                <a:ea typeface="微软雅黑" panose="020B0503020204020204" pitchFamily="34" charset="-122"/>
              </a:rPr>
              <a:t>的过程体（函数体）；</a:t>
            </a:r>
          </a:p>
          <a:p>
            <a:pPr marL="552450" lvl="1" indent="-234950">
              <a:lnSpc>
                <a:spcPct val="100000"/>
              </a:lnSpc>
              <a:spcBef>
                <a:spcPct val="40000"/>
              </a:spcBef>
              <a:buFontTx/>
              <a:buNone/>
            </a:pPr>
            <a:r>
              <a:rPr lang="zh-CN" altLang="en-US">
                <a:solidFill>
                  <a:srgbClr val="007635"/>
                </a:solidFill>
                <a:latin typeface="微软雅黑" panose="020B0503020204020204" pitchFamily="34" charset="-122"/>
                <a:ea typeface="微软雅黑" panose="020B0503020204020204" pitchFamily="34" charset="-122"/>
              </a:rPr>
              <a:t>（</a:t>
            </a:r>
            <a:r>
              <a:rPr lang="en-US" altLang="zh-CN">
                <a:solidFill>
                  <a:srgbClr val="007635"/>
                </a:solidFill>
                <a:latin typeface="微软雅黑" panose="020B0503020204020204" pitchFamily="34" charset="-122"/>
                <a:ea typeface="微软雅黑" panose="020B0503020204020204" pitchFamily="34" charset="-122"/>
              </a:rPr>
              <a:t>5</a:t>
            </a:r>
            <a:r>
              <a:rPr lang="zh-CN" altLang="en-US">
                <a:solidFill>
                  <a:srgbClr val="007635"/>
                </a:solidFill>
                <a:latin typeface="微软雅黑" panose="020B0503020204020204" pitchFamily="34" charset="-122"/>
                <a:ea typeface="微软雅黑" panose="020B0503020204020204" pitchFamily="34" charset="-122"/>
              </a:rPr>
              <a:t>）</a:t>
            </a:r>
            <a:r>
              <a:rPr lang="en-US" altLang="zh-CN">
                <a:solidFill>
                  <a:srgbClr val="007635"/>
                </a:solidFill>
                <a:latin typeface="微软雅黑" panose="020B0503020204020204" pitchFamily="34" charset="-122"/>
                <a:ea typeface="微软雅黑" panose="020B0503020204020204" pitchFamily="34" charset="-122"/>
              </a:rPr>
              <a:t>Q</a:t>
            </a:r>
            <a:r>
              <a:rPr lang="zh-CN" altLang="en-US">
                <a:solidFill>
                  <a:srgbClr val="007635"/>
                </a:solidFill>
                <a:latin typeface="微软雅黑" panose="020B0503020204020204" pitchFamily="34" charset="-122"/>
                <a:ea typeface="微软雅黑" panose="020B0503020204020204" pitchFamily="34" charset="-122"/>
              </a:rPr>
              <a:t>恢复</a:t>
            </a:r>
            <a:r>
              <a:rPr lang="en-US" altLang="zh-CN">
                <a:solidFill>
                  <a:srgbClr val="CC6600"/>
                </a:solidFill>
                <a:latin typeface="微软雅黑" panose="020B0503020204020204" pitchFamily="34" charset="-122"/>
                <a:ea typeface="微软雅黑" panose="020B0503020204020204" pitchFamily="34" charset="-122"/>
              </a:rPr>
              <a:t>P</a:t>
            </a:r>
            <a:r>
              <a:rPr lang="zh-CN" altLang="en-US">
                <a:solidFill>
                  <a:srgbClr val="CC6600"/>
                </a:solidFill>
                <a:latin typeface="微软雅黑" panose="020B0503020204020204" pitchFamily="34" charset="-122"/>
                <a:ea typeface="微软雅黑" panose="020B0503020204020204" pitchFamily="34" charset="-122"/>
              </a:rPr>
              <a:t>的现场</a:t>
            </a:r>
            <a:r>
              <a:rPr lang="zh-CN" altLang="en-US">
                <a:solidFill>
                  <a:srgbClr val="007635"/>
                </a:solidFill>
                <a:latin typeface="微软雅黑" panose="020B0503020204020204" pitchFamily="34" charset="-122"/>
                <a:ea typeface="微软雅黑" panose="020B0503020204020204" pitchFamily="34" charset="-122"/>
              </a:rPr>
              <a:t>，释放局部变量空间；</a:t>
            </a:r>
          </a:p>
          <a:p>
            <a:pPr marL="552450" lvl="1" indent="-234950">
              <a:lnSpc>
                <a:spcPct val="100000"/>
              </a:lnSpc>
              <a:spcBef>
                <a:spcPct val="40000"/>
              </a:spcBef>
              <a:buFontTx/>
              <a:buNone/>
            </a:pPr>
            <a:r>
              <a:rPr lang="zh-CN" altLang="en-US">
                <a:solidFill>
                  <a:srgbClr val="007635"/>
                </a:solidFill>
                <a:latin typeface="微软雅黑" panose="020B0503020204020204" pitchFamily="34" charset="-122"/>
                <a:ea typeface="微软雅黑" panose="020B0503020204020204" pitchFamily="34" charset="-122"/>
              </a:rPr>
              <a:t>（</a:t>
            </a:r>
            <a:r>
              <a:rPr lang="en-US" altLang="zh-CN">
                <a:solidFill>
                  <a:srgbClr val="007635"/>
                </a:solidFill>
                <a:latin typeface="微软雅黑" panose="020B0503020204020204" pitchFamily="34" charset="-122"/>
                <a:ea typeface="微软雅黑" panose="020B0503020204020204" pitchFamily="34" charset="-122"/>
              </a:rPr>
              <a:t>6</a:t>
            </a:r>
            <a:r>
              <a:rPr lang="zh-CN" altLang="en-US">
                <a:solidFill>
                  <a:srgbClr val="007635"/>
                </a:solidFill>
                <a:latin typeface="微软雅黑" panose="020B0503020204020204" pitchFamily="34" charset="-122"/>
                <a:ea typeface="微软雅黑" panose="020B0503020204020204" pitchFamily="34" charset="-122"/>
              </a:rPr>
              <a:t>）</a:t>
            </a:r>
            <a:r>
              <a:rPr lang="en-US" altLang="zh-CN">
                <a:solidFill>
                  <a:srgbClr val="007635"/>
                </a:solidFill>
                <a:latin typeface="微软雅黑" panose="020B0503020204020204" pitchFamily="34" charset="-122"/>
                <a:ea typeface="微软雅黑" panose="020B0503020204020204" pitchFamily="34" charset="-122"/>
              </a:rPr>
              <a:t>Q</a:t>
            </a:r>
            <a:r>
              <a:rPr lang="zh-CN" altLang="en-US">
                <a:solidFill>
                  <a:srgbClr val="007635"/>
                </a:solidFill>
                <a:latin typeface="微软雅黑" panose="020B0503020204020204" pitchFamily="34" charset="-122"/>
                <a:ea typeface="微软雅黑" panose="020B0503020204020204" pitchFamily="34" charset="-122"/>
              </a:rPr>
              <a:t>取出返回地址，将控制转移到</a:t>
            </a:r>
            <a:r>
              <a:rPr lang="en-US" altLang="zh-CN">
                <a:solidFill>
                  <a:srgbClr val="007635"/>
                </a:solidFill>
                <a:latin typeface="微软雅黑" panose="020B0503020204020204" pitchFamily="34" charset="-122"/>
                <a:ea typeface="微软雅黑" panose="020B0503020204020204" pitchFamily="34" charset="-122"/>
              </a:rPr>
              <a:t>P</a:t>
            </a:r>
            <a:r>
              <a:rPr lang="zh-CN" altLang="en-US">
                <a:solidFill>
                  <a:srgbClr val="007635"/>
                </a:solidFill>
                <a:latin typeface="微软雅黑" panose="020B0503020204020204" pitchFamily="34" charset="-122"/>
                <a:ea typeface="微软雅黑" panose="020B0503020204020204" pitchFamily="34" charset="-122"/>
              </a:rPr>
              <a:t>。</a:t>
            </a:r>
            <a:endParaRPr lang="en-US" altLang="zh-CN">
              <a:solidFill>
                <a:srgbClr val="007635"/>
              </a:solidFill>
              <a:latin typeface="微软雅黑" panose="020B0503020204020204" pitchFamily="34" charset="-122"/>
              <a:ea typeface="微软雅黑" panose="020B0503020204020204" pitchFamily="34" charset="-122"/>
            </a:endParaRPr>
          </a:p>
        </p:txBody>
      </p:sp>
      <p:grpSp>
        <p:nvGrpSpPr>
          <p:cNvPr id="774148" name="Group 4"/>
          <p:cNvGrpSpPr>
            <a:grpSpLocks/>
          </p:cNvGrpSpPr>
          <p:nvPr/>
        </p:nvGrpSpPr>
        <p:grpSpPr bwMode="auto">
          <a:xfrm>
            <a:off x="6057900" y="5861050"/>
            <a:ext cx="1574800" cy="630238"/>
            <a:chOff x="3816" y="2358"/>
            <a:chExt cx="992" cy="397"/>
          </a:xfrm>
        </p:grpSpPr>
        <p:sp>
          <p:nvSpPr>
            <p:cNvPr id="78874" name="AutoShape 5"/>
            <p:cNvSpPr>
              <a:spLocks/>
            </p:cNvSpPr>
            <p:nvPr/>
          </p:nvSpPr>
          <p:spPr bwMode="auto">
            <a:xfrm>
              <a:off x="3816" y="2358"/>
              <a:ext cx="84" cy="397"/>
            </a:xfrm>
            <a:prstGeom prst="rightBracket">
              <a:avLst>
                <a:gd name="adj" fmla="val 39385"/>
              </a:avLst>
            </a:prstGeom>
            <a:noFill/>
            <a:ln w="38100">
              <a:solidFill>
                <a:srgbClr val="CC33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8875" name="Text Box 6"/>
            <p:cNvSpPr txBox="1">
              <a:spLocks noChangeArrowheads="1"/>
            </p:cNvSpPr>
            <p:nvPr/>
          </p:nvSpPr>
          <p:spPr bwMode="auto">
            <a:xfrm>
              <a:off x="3901" y="2415"/>
              <a:ext cx="907"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tabLst/>
                <a:defRPr/>
              </a:pPr>
              <a:r>
                <a:rPr kumimoji="0" lang="zh-CN" altLang="en-US" sz="2000" b="1" i="0" u="none" strike="noStrike" kern="1200" cap="none" spc="0" normalizeH="0" baseline="0" noProof="0">
                  <a:ln>
                    <a:noFill/>
                  </a:ln>
                  <a:solidFill>
                    <a:srgbClr val="CC3300"/>
                  </a:solidFill>
                  <a:effectLst/>
                  <a:uLnTx/>
                  <a:uFillTx/>
                  <a:latin typeface="微软雅黑" panose="020B0503020204020204" pitchFamily="34" charset="-122"/>
                  <a:ea typeface="微软雅黑" panose="020B0503020204020204" pitchFamily="34" charset="-122"/>
                  <a:cs typeface="+mn-cs"/>
                </a:rPr>
                <a:t>结束阶段</a:t>
              </a:r>
            </a:p>
          </p:txBody>
        </p:sp>
      </p:grpSp>
      <p:sp>
        <p:nvSpPr>
          <p:cNvPr id="774151" name="Text Box 7"/>
          <p:cNvSpPr txBox="1">
            <a:spLocks noChangeArrowheads="1"/>
          </p:cNvSpPr>
          <p:nvPr/>
        </p:nvSpPr>
        <p:spPr bwMode="auto">
          <a:xfrm>
            <a:off x="7632700" y="4960938"/>
            <a:ext cx="1214438"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tabLst/>
              <a:defRPr/>
            </a:pPr>
            <a:r>
              <a:rPr kumimoji="0" lang="zh-CN" altLang="en-US" sz="2000" b="1" i="0" u="none" strike="noStrike" kern="1200" cap="none" spc="0" normalizeH="0" baseline="0" noProof="0">
                <a:ln>
                  <a:noFill/>
                </a:ln>
                <a:solidFill>
                  <a:srgbClr val="CC3300"/>
                </a:solidFill>
                <a:effectLst/>
                <a:uLnTx/>
                <a:uFillTx/>
                <a:latin typeface="微软雅黑" panose="020B0503020204020204" pitchFamily="34" charset="-122"/>
                <a:ea typeface="微软雅黑" panose="020B0503020204020204" pitchFamily="34" charset="-122"/>
                <a:cs typeface="+mn-cs"/>
              </a:rPr>
              <a:t>准备阶段</a:t>
            </a:r>
          </a:p>
        </p:txBody>
      </p:sp>
      <p:grpSp>
        <p:nvGrpSpPr>
          <p:cNvPr id="774152" name="Group 8"/>
          <p:cNvGrpSpPr>
            <a:grpSpLocks/>
          </p:cNvGrpSpPr>
          <p:nvPr/>
        </p:nvGrpSpPr>
        <p:grpSpPr bwMode="auto">
          <a:xfrm>
            <a:off x="7407275" y="5140325"/>
            <a:ext cx="1349375" cy="1574800"/>
            <a:chOff x="4666" y="1753"/>
            <a:chExt cx="850" cy="992"/>
          </a:xfrm>
        </p:grpSpPr>
        <p:sp>
          <p:nvSpPr>
            <p:cNvPr id="78872" name="AutoShape 9"/>
            <p:cNvSpPr>
              <a:spLocks/>
            </p:cNvSpPr>
            <p:nvPr/>
          </p:nvSpPr>
          <p:spPr bwMode="auto">
            <a:xfrm>
              <a:off x="4666" y="1753"/>
              <a:ext cx="227" cy="992"/>
            </a:xfrm>
            <a:prstGeom prst="rightBrace">
              <a:avLst>
                <a:gd name="adj1" fmla="val 36417"/>
                <a:gd name="adj2" fmla="val 50000"/>
              </a:avLst>
            </a:prstGeom>
            <a:noFill/>
            <a:ln w="38100">
              <a:solidFill>
                <a:srgbClr val="FF33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8873" name="Text Box 10"/>
            <p:cNvSpPr txBox="1">
              <a:spLocks noChangeArrowheads="1"/>
            </p:cNvSpPr>
            <p:nvPr/>
          </p:nvSpPr>
          <p:spPr bwMode="auto">
            <a:xfrm>
              <a:off x="4893" y="2132"/>
              <a:ext cx="623"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tabLst/>
                <a:defRPr/>
              </a:pPr>
              <a:r>
                <a:rPr kumimoji="0" lang="en-US" altLang="zh-CN" sz="20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Q</a:t>
              </a:r>
              <a:r>
                <a:rPr kumimoji="0" lang="zh-CN" altLang="en-US" sz="20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过程</a:t>
              </a:r>
            </a:p>
          </p:txBody>
        </p:sp>
      </p:grpSp>
      <p:grpSp>
        <p:nvGrpSpPr>
          <p:cNvPr id="774155" name="Group 11"/>
          <p:cNvGrpSpPr>
            <a:grpSpLocks/>
          </p:cNvGrpSpPr>
          <p:nvPr/>
        </p:nvGrpSpPr>
        <p:grpSpPr bwMode="auto">
          <a:xfrm>
            <a:off x="7046913" y="4105275"/>
            <a:ext cx="1304925" cy="765175"/>
            <a:chOff x="4439" y="1026"/>
            <a:chExt cx="822" cy="482"/>
          </a:xfrm>
        </p:grpSpPr>
        <p:sp>
          <p:nvSpPr>
            <p:cNvPr id="78870" name="AutoShape 12"/>
            <p:cNvSpPr>
              <a:spLocks/>
            </p:cNvSpPr>
            <p:nvPr/>
          </p:nvSpPr>
          <p:spPr bwMode="auto">
            <a:xfrm>
              <a:off x="4439" y="1026"/>
              <a:ext cx="170" cy="482"/>
            </a:xfrm>
            <a:prstGeom prst="rightBrace">
              <a:avLst>
                <a:gd name="adj1" fmla="val 23627"/>
                <a:gd name="adj2" fmla="val 50000"/>
              </a:avLst>
            </a:prstGeom>
            <a:noFill/>
            <a:ln w="38100">
              <a:solidFill>
                <a:srgbClr val="FF33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8871" name="Text Box 13"/>
            <p:cNvSpPr txBox="1">
              <a:spLocks noChangeArrowheads="1"/>
            </p:cNvSpPr>
            <p:nvPr/>
          </p:nvSpPr>
          <p:spPr bwMode="auto">
            <a:xfrm>
              <a:off x="4638" y="1139"/>
              <a:ext cx="623"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tabLst/>
                <a:defRPr/>
              </a:pPr>
              <a:r>
                <a:rPr kumimoji="0" lang="en-US" altLang="zh-CN" sz="20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P</a:t>
              </a:r>
              <a:r>
                <a:rPr kumimoji="0" lang="zh-CN" altLang="en-US" sz="20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过程</a:t>
              </a:r>
            </a:p>
          </p:txBody>
        </p:sp>
      </p:grpSp>
      <p:sp>
        <p:nvSpPr>
          <p:cNvPr id="774158" name="Text Box 14"/>
          <p:cNvSpPr txBox="1">
            <a:spLocks noChangeArrowheads="1"/>
          </p:cNvSpPr>
          <p:nvPr/>
        </p:nvSpPr>
        <p:spPr bwMode="auto">
          <a:xfrm>
            <a:off x="4527550" y="5410200"/>
            <a:ext cx="1439863"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tabLst/>
              <a:defRPr/>
            </a:pPr>
            <a:r>
              <a:rPr kumimoji="0" lang="zh-CN" altLang="en-US" sz="2000" b="1" i="0" u="none" strike="noStrike" kern="1200" cap="none" spc="0" normalizeH="0" baseline="0" noProof="0">
                <a:ln>
                  <a:noFill/>
                </a:ln>
                <a:solidFill>
                  <a:srgbClr val="CC3300"/>
                </a:solidFill>
                <a:effectLst/>
                <a:uLnTx/>
                <a:uFillTx/>
                <a:latin typeface="微软雅黑" panose="020B0503020204020204" pitchFamily="34" charset="-122"/>
                <a:ea typeface="微软雅黑" panose="020B0503020204020204" pitchFamily="34" charset="-122"/>
                <a:cs typeface="+mn-cs"/>
              </a:rPr>
              <a:t>处理阶段</a:t>
            </a:r>
          </a:p>
        </p:txBody>
      </p:sp>
      <p:sp>
        <p:nvSpPr>
          <p:cNvPr id="774159" name="Text Box 15"/>
          <p:cNvSpPr txBox="1">
            <a:spLocks noChangeArrowheads="1"/>
          </p:cNvSpPr>
          <p:nvPr/>
        </p:nvSpPr>
        <p:spPr bwMode="auto">
          <a:xfrm>
            <a:off x="5562600" y="4554538"/>
            <a:ext cx="1439863"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tabLst/>
              <a:defRPr/>
            </a:pPr>
            <a:r>
              <a:rPr kumimoji="0" lang="en-US" altLang="zh-CN" sz="2000" b="1" i="0" u="none" strike="noStrike" kern="1200" cap="none" spc="0" normalizeH="0" baseline="0" noProof="0">
                <a:ln>
                  <a:noFill/>
                </a:ln>
                <a:solidFill>
                  <a:srgbClr val="CC3300"/>
                </a:solidFill>
                <a:effectLst/>
                <a:uLnTx/>
                <a:uFillTx/>
                <a:latin typeface="微软雅黑" panose="020B0503020204020204" pitchFamily="34" charset="-122"/>
                <a:ea typeface="微软雅黑" panose="020B0503020204020204" pitchFamily="34" charset="-122"/>
                <a:cs typeface="+mn-cs"/>
              </a:rPr>
              <a:t>CALL</a:t>
            </a:r>
            <a:r>
              <a:rPr kumimoji="0" lang="zh-CN" altLang="en-US" sz="2000" b="1" i="0" u="none" strike="noStrike" kern="1200" cap="none" spc="0" normalizeH="0" baseline="0" noProof="0">
                <a:ln>
                  <a:noFill/>
                </a:ln>
                <a:solidFill>
                  <a:srgbClr val="CC3300"/>
                </a:solidFill>
                <a:effectLst/>
                <a:uLnTx/>
                <a:uFillTx/>
                <a:latin typeface="微软雅黑" panose="020B0503020204020204" pitchFamily="34" charset="-122"/>
                <a:ea typeface="微软雅黑" panose="020B0503020204020204" pitchFamily="34" charset="-122"/>
                <a:cs typeface="+mn-cs"/>
              </a:rPr>
              <a:t>指令</a:t>
            </a:r>
          </a:p>
        </p:txBody>
      </p:sp>
      <p:sp>
        <p:nvSpPr>
          <p:cNvPr id="774160" name="Text Box 16"/>
          <p:cNvSpPr txBox="1">
            <a:spLocks noChangeArrowheads="1"/>
          </p:cNvSpPr>
          <p:nvPr/>
        </p:nvSpPr>
        <p:spPr bwMode="auto">
          <a:xfrm>
            <a:off x="4932363" y="6176963"/>
            <a:ext cx="1439862"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tabLst/>
              <a:defRPr/>
            </a:pPr>
            <a:r>
              <a:rPr kumimoji="0" lang="en-US" altLang="zh-CN" sz="2000" b="1" i="0" u="none" strike="noStrike" kern="1200" cap="none" spc="0" normalizeH="0" baseline="0" noProof="0">
                <a:ln>
                  <a:noFill/>
                </a:ln>
                <a:solidFill>
                  <a:srgbClr val="CC3300"/>
                </a:solidFill>
                <a:effectLst/>
                <a:uLnTx/>
                <a:uFillTx/>
                <a:latin typeface="微软雅黑" panose="020B0503020204020204" pitchFamily="34" charset="-122"/>
                <a:ea typeface="微软雅黑" panose="020B0503020204020204" pitchFamily="34" charset="-122"/>
                <a:cs typeface="+mn-cs"/>
              </a:rPr>
              <a:t>RET</a:t>
            </a:r>
            <a:r>
              <a:rPr kumimoji="0" lang="zh-CN" altLang="en-US" sz="2000" b="1" i="0" u="none" strike="noStrike" kern="1200" cap="none" spc="0" normalizeH="0" baseline="0" noProof="0">
                <a:ln>
                  <a:noFill/>
                </a:ln>
                <a:solidFill>
                  <a:srgbClr val="CC3300"/>
                </a:solidFill>
                <a:effectLst/>
                <a:uLnTx/>
                <a:uFillTx/>
                <a:latin typeface="微软雅黑" panose="020B0503020204020204" pitchFamily="34" charset="-122"/>
                <a:ea typeface="微软雅黑" panose="020B0503020204020204" pitchFamily="34" charset="-122"/>
                <a:cs typeface="+mn-cs"/>
              </a:rPr>
              <a:t>指令</a:t>
            </a:r>
          </a:p>
        </p:txBody>
      </p:sp>
      <p:grpSp>
        <p:nvGrpSpPr>
          <p:cNvPr id="78859" name="Group 17"/>
          <p:cNvGrpSpPr>
            <a:grpSpLocks/>
          </p:cNvGrpSpPr>
          <p:nvPr/>
        </p:nvGrpSpPr>
        <p:grpSpPr bwMode="auto">
          <a:xfrm>
            <a:off x="341313" y="684213"/>
            <a:ext cx="3960812" cy="3386137"/>
            <a:chOff x="2823" y="1763"/>
            <a:chExt cx="2495" cy="2133"/>
          </a:xfrm>
        </p:grpSpPr>
        <p:sp>
          <p:nvSpPr>
            <p:cNvPr id="78863" name="Text Box 18"/>
            <p:cNvSpPr txBox="1">
              <a:spLocks noChangeArrowheads="1"/>
            </p:cNvSpPr>
            <p:nvPr/>
          </p:nvSpPr>
          <p:spPr bwMode="auto">
            <a:xfrm>
              <a:off x="2823" y="1763"/>
              <a:ext cx="2495" cy="21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40000"/>
                </a:spcBef>
                <a:spcAft>
                  <a:spcPct val="0"/>
                </a:spcAft>
                <a:buClrTx/>
                <a:buSzTx/>
                <a:buFontTx/>
                <a:buNone/>
                <a:tabLst/>
                <a:defRPr/>
              </a:pPr>
              <a:r>
                <a:rPr kumimoji="0" lang="en-US" altLang="zh-CN" sz="20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2000" b="1" i="0" u="none" strike="noStrike" kern="1200" cap="none" spc="0" normalizeH="0" baseline="0" noProof="0">
                  <a:ln>
                    <a:noFill/>
                  </a:ln>
                  <a:solidFill>
                    <a:srgbClr val="333399"/>
                  </a:solidFill>
                  <a:effectLst/>
                  <a:uLnTx/>
                  <a:uFillTx/>
                  <a:latin typeface="微软雅黑" panose="020B0503020204020204" pitchFamily="34" charset="-122"/>
                  <a:ea typeface="微软雅黑" panose="020B0503020204020204" pitchFamily="34" charset="-122"/>
                  <a:cs typeface="+mn-cs"/>
                </a:rPr>
                <a:t>main</a:t>
              </a:r>
              <a:r>
                <a:rPr kumimoji="0" lang="zh-CN" altLang="en-US" sz="2000" b="1" i="0" u="none" strike="noStrike" kern="1200" cap="none" spc="0" normalizeH="0" baseline="0" noProof="0">
                  <a:ln>
                    <a:noFill/>
                  </a:ln>
                  <a:solidFill>
                    <a:srgbClr val="333399"/>
                  </a:solidFill>
                  <a:effectLst/>
                  <a:uLnTx/>
                  <a:uFillTx/>
                  <a:latin typeface="微软雅黑" panose="020B0503020204020204" pitchFamily="34" charset="-122"/>
                  <a:ea typeface="微软雅黑" panose="020B0503020204020204" pitchFamily="34" charset="-122"/>
                  <a:cs typeface="+mn-cs"/>
                </a:rPr>
                <a:t>：		</a:t>
              </a:r>
              <a:r>
                <a:rPr kumimoji="0" lang="en-US" altLang="zh-CN" sz="2000" b="1" i="0" u="none" strike="noStrike" kern="1200" cap="none" spc="0" normalizeH="0" baseline="0" noProof="0">
                  <a:ln>
                    <a:noFill/>
                  </a:ln>
                  <a:solidFill>
                    <a:srgbClr val="333399"/>
                  </a:solidFill>
                  <a:effectLst/>
                  <a:uLnTx/>
                  <a:uFillTx/>
                  <a:latin typeface="微软雅黑" panose="020B0503020204020204" pitchFamily="34" charset="-122"/>
                  <a:ea typeface="微软雅黑" panose="020B0503020204020204" pitchFamily="34" charset="-122"/>
                  <a:cs typeface="+mn-cs"/>
                </a:rPr>
                <a:t>add</a:t>
              </a:r>
              <a:r>
                <a:rPr kumimoji="0" lang="zh-CN" altLang="en-US" sz="2000" b="1" i="0" u="none" strike="noStrike" kern="1200" cap="none" spc="0" normalizeH="0" baseline="0" noProof="0">
                  <a:ln>
                    <a:noFill/>
                  </a:ln>
                  <a:solidFill>
                    <a:srgbClr val="333399"/>
                  </a:solidFill>
                  <a:effectLst/>
                  <a:uLnTx/>
                  <a:uFillTx/>
                  <a:latin typeface="微软雅黑" panose="020B0503020204020204" pitchFamily="34" charset="-122"/>
                  <a:ea typeface="微软雅黑" panose="020B0503020204020204" pitchFamily="34" charset="-122"/>
                  <a:cs typeface="+mn-cs"/>
                </a:rPr>
                <a:t>：</a:t>
              </a:r>
            </a:p>
            <a:p>
              <a:pPr marL="342900" marR="0" lvl="0" indent="-342900" algn="l" defTabSz="914400" rtl="0" eaLnBrk="0" fontAlgn="base" latinLnBrk="0" hangingPunct="0">
                <a:lnSpc>
                  <a:spcPct val="100000"/>
                </a:lnSpc>
                <a:spcBef>
                  <a:spcPct val="40000"/>
                </a:spcBef>
                <a:spcAft>
                  <a:spcPct val="0"/>
                </a:spcAft>
                <a:buClrTx/>
                <a:buSzTx/>
                <a:buFontTx/>
                <a:buNone/>
                <a:tabLst/>
                <a:defRPr/>
              </a:pPr>
              <a:endParaRPr kumimoji="0" lang="zh-CN" altLang="en-US" sz="2000" b="1" i="0" u="none" strike="noStrike" kern="1200" cap="none" spc="0" normalizeH="0" baseline="0" noProof="0">
                <a:ln>
                  <a:noFill/>
                </a:ln>
                <a:solidFill>
                  <a:srgbClr val="333399"/>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00000"/>
                </a:lnSpc>
                <a:spcBef>
                  <a:spcPct val="40000"/>
                </a:spcBef>
                <a:spcAft>
                  <a:spcPct val="0"/>
                </a:spcAft>
                <a:buClrTx/>
                <a:buSzTx/>
                <a:buFontTx/>
                <a:buNone/>
                <a:tabLst/>
                <a:defRPr/>
              </a:pPr>
              <a:r>
                <a:rPr kumimoji="0" lang="zh-CN" altLang="en-US" sz="20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  存放参数	         </a:t>
              </a:r>
              <a:r>
                <a:rPr kumimoji="0" lang="zh-CN" altLang="en-US" sz="20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取出参数</a:t>
              </a:r>
              <a:endParaRPr kumimoji="0" lang="en-US" altLang="zh-CN" sz="20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00000"/>
                </a:lnSpc>
                <a:spcBef>
                  <a:spcPct val="40000"/>
                </a:spcBef>
                <a:spcAft>
                  <a:spcPct val="0"/>
                </a:spcAft>
                <a:buClrTx/>
                <a:buSzTx/>
                <a:buFontTx/>
                <a:buNone/>
                <a:tabLst/>
                <a:defRPr/>
              </a:pPr>
              <a:r>
                <a:rPr kumimoji="0" lang="zh-CN" altLang="en-US" sz="20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调出</a:t>
              </a:r>
              <a:r>
                <a:rPr kumimoji="0" lang="en-US" altLang="zh-CN" sz="20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add</a:t>
              </a:r>
              <a:r>
                <a:rPr kumimoji="0" lang="zh-CN" altLang="en-US" sz="20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执行	            </a:t>
              </a:r>
              <a:r>
                <a:rPr kumimoji="0" lang="zh-CN" altLang="en-US" sz="20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执行</a:t>
              </a:r>
            </a:p>
            <a:p>
              <a:pPr marL="342900" marR="0" lvl="0" indent="-342900" algn="l" defTabSz="914400" rtl="0" eaLnBrk="0" fontAlgn="base" latinLnBrk="0" hangingPunct="0">
                <a:lnSpc>
                  <a:spcPct val="100000"/>
                </a:lnSpc>
                <a:spcBef>
                  <a:spcPct val="40000"/>
                </a:spcBef>
                <a:spcAft>
                  <a:spcPct val="0"/>
                </a:spcAft>
                <a:buClrTx/>
                <a:buSzTx/>
                <a:buFontTx/>
                <a:buNone/>
                <a:tabLst/>
                <a:defRPr/>
              </a:pPr>
              <a:r>
                <a:rPr kumimoji="0" lang="zh-CN" altLang="en-US" sz="20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0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存返回结果</a:t>
              </a:r>
            </a:p>
            <a:p>
              <a:pPr marL="342900" marR="0" lvl="0" indent="-342900" algn="l" defTabSz="914400" rtl="0" eaLnBrk="0" fontAlgn="base" latinLnBrk="0" hangingPunct="0">
                <a:lnSpc>
                  <a:spcPct val="100000"/>
                </a:lnSpc>
                <a:spcBef>
                  <a:spcPct val="40000"/>
                </a:spcBef>
                <a:spcAft>
                  <a:spcPct val="0"/>
                </a:spcAft>
                <a:buClrTx/>
                <a:buSzTx/>
                <a:buFontTx/>
                <a:buNone/>
                <a:tabLst/>
                <a:defRPr/>
              </a:pPr>
              <a:r>
                <a:rPr kumimoji="0" lang="zh-CN" altLang="en-US" sz="20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                             </a:t>
              </a:r>
            </a:p>
            <a:p>
              <a:pPr marL="342900" marR="0" lvl="0" indent="-342900" algn="l" defTabSz="914400" rtl="0" eaLnBrk="0" fontAlgn="base" latinLnBrk="0" hangingPunct="0">
                <a:lnSpc>
                  <a:spcPct val="100000"/>
                </a:lnSpc>
                <a:spcBef>
                  <a:spcPct val="40000"/>
                </a:spcBef>
                <a:spcAft>
                  <a:spcPct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0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返回</a:t>
              </a:r>
              <a:r>
                <a:rPr kumimoji="0" lang="en-US" altLang="zh-CN" sz="20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main</a:t>
              </a:r>
            </a:p>
            <a:p>
              <a:pPr marL="342900" marR="0" lvl="0" indent="-342900" algn="l" defTabSz="914400" rtl="0" eaLnBrk="0" fontAlgn="base" latinLnBrk="0" hangingPunct="0">
                <a:lnSpc>
                  <a:spcPct val="100000"/>
                </a:lnSpc>
                <a:spcBef>
                  <a:spcPct val="40000"/>
                </a:spcBef>
                <a:spcAft>
                  <a:spcPct val="0"/>
                </a:spcAft>
                <a:buClrTx/>
                <a:buSzTx/>
                <a:buFontTx/>
                <a:buNone/>
                <a:tabLst/>
                <a:defRPr/>
              </a:pPr>
              <a:r>
                <a:rPr kumimoji="0" lang="en-US" altLang="zh-CN" sz="20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				</a:t>
              </a:r>
              <a:endParaRPr kumimoji="0" lang="zh-CN" altLang="en-US" sz="20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8864" name="Line 19"/>
            <p:cNvSpPr>
              <a:spLocks noChangeShapeType="1"/>
            </p:cNvSpPr>
            <p:nvPr/>
          </p:nvSpPr>
          <p:spPr bwMode="auto">
            <a:xfrm flipV="1">
              <a:off x="3844" y="2047"/>
              <a:ext cx="794" cy="652"/>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8865" name="Line 20"/>
            <p:cNvSpPr>
              <a:spLocks noChangeShapeType="1"/>
            </p:cNvSpPr>
            <p:nvPr/>
          </p:nvSpPr>
          <p:spPr bwMode="auto">
            <a:xfrm flipH="1" flipV="1">
              <a:off x="3475" y="2925"/>
              <a:ext cx="936" cy="567"/>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8866" name="Line 21"/>
            <p:cNvSpPr>
              <a:spLocks noChangeShapeType="1"/>
            </p:cNvSpPr>
            <p:nvPr/>
          </p:nvSpPr>
          <p:spPr bwMode="auto">
            <a:xfrm>
              <a:off x="3305" y="2047"/>
              <a:ext cx="0" cy="198"/>
            </a:xfrm>
            <a:prstGeom prst="line">
              <a:avLst/>
            </a:prstGeom>
            <a:noFill/>
            <a:ln w="571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8867" name="Line 22"/>
            <p:cNvSpPr>
              <a:spLocks noChangeShapeType="1"/>
            </p:cNvSpPr>
            <p:nvPr/>
          </p:nvSpPr>
          <p:spPr bwMode="auto">
            <a:xfrm>
              <a:off x="4779" y="2047"/>
              <a:ext cx="0" cy="198"/>
            </a:xfrm>
            <a:prstGeom prst="line">
              <a:avLst/>
            </a:prstGeom>
            <a:noFill/>
            <a:ln w="571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8868" name="Line 23"/>
            <p:cNvSpPr>
              <a:spLocks noChangeShapeType="1"/>
            </p:cNvSpPr>
            <p:nvPr/>
          </p:nvSpPr>
          <p:spPr bwMode="auto">
            <a:xfrm>
              <a:off x="3334" y="2897"/>
              <a:ext cx="0" cy="198"/>
            </a:xfrm>
            <a:prstGeom prst="line">
              <a:avLst/>
            </a:prstGeom>
            <a:noFill/>
            <a:ln w="571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8869" name="Line 24"/>
            <p:cNvSpPr>
              <a:spLocks noChangeShapeType="1"/>
            </p:cNvSpPr>
            <p:nvPr/>
          </p:nvSpPr>
          <p:spPr bwMode="auto">
            <a:xfrm>
              <a:off x="4808" y="3153"/>
              <a:ext cx="0" cy="198"/>
            </a:xfrm>
            <a:prstGeom prst="line">
              <a:avLst/>
            </a:prstGeom>
            <a:noFill/>
            <a:ln w="571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sp>
        <p:nvSpPr>
          <p:cNvPr id="774169" name="Text Box 25"/>
          <p:cNvSpPr txBox="1">
            <a:spLocks noChangeArrowheads="1"/>
          </p:cNvSpPr>
          <p:nvPr/>
        </p:nvSpPr>
        <p:spPr bwMode="auto">
          <a:xfrm>
            <a:off x="4797425" y="863600"/>
            <a:ext cx="4095750" cy="17851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tabLst/>
              <a:defRPr/>
            </a:pPr>
            <a:r>
              <a:rPr kumimoji="0" lang="zh-CN" altLang="en-US" sz="2000" b="1" i="0" u="none" strike="noStrike" kern="1200" cap="none" spc="0" normalizeH="0" baseline="0" noProof="0">
                <a:ln>
                  <a:noFill/>
                </a:ln>
                <a:solidFill>
                  <a:srgbClr val="CC6600"/>
                </a:solidFill>
                <a:effectLst/>
                <a:uLnTx/>
                <a:uFillTx/>
                <a:latin typeface="微软雅黑" panose="020B0503020204020204" pitchFamily="34" charset="-122"/>
                <a:ea typeface="微软雅黑" panose="020B0503020204020204" pitchFamily="34" charset="-122"/>
                <a:cs typeface="+mn-cs"/>
              </a:rPr>
              <a:t>何为现场？</a:t>
            </a:r>
          </a:p>
          <a:p>
            <a:pPr marL="342900" marR="0" lvl="0" indent="-342900" algn="l" defTabSz="914400" rtl="0" eaLnBrk="0" fontAlgn="base" latinLnBrk="0" hangingPunct="0">
              <a:lnSpc>
                <a:spcPct val="100000"/>
              </a:lnSpc>
              <a:spcBef>
                <a:spcPct val="50000"/>
              </a:spcBef>
              <a:spcAft>
                <a:spcPct val="0"/>
              </a:spcAft>
              <a:buClrTx/>
              <a:buSzTx/>
              <a:buFontTx/>
              <a:buNone/>
              <a:tabLst/>
              <a:defRPr/>
            </a:pPr>
            <a:r>
              <a:rPr kumimoji="0" lang="zh-CN" altLang="en-US" sz="2000" b="1" i="0" u="none" strike="noStrike" kern="1200" cap="none" spc="0" normalizeH="0" baseline="0" noProof="0">
                <a:ln>
                  <a:noFill/>
                </a:ln>
                <a:solidFill>
                  <a:srgbClr val="008000"/>
                </a:solidFill>
                <a:effectLst/>
                <a:uLnTx/>
                <a:uFillTx/>
                <a:latin typeface="微软雅黑" panose="020B0503020204020204" pitchFamily="34" charset="-122"/>
                <a:ea typeface="微软雅黑" panose="020B0503020204020204" pitchFamily="34" charset="-122"/>
                <a:cs typeface="+mn-cs"/>
              </a:rPr>
              <a:t>通用寄存器的内容！</a:t>
            </a:r>
          </a:p>
          <a:p>
            <a:pPr marL="342900" marR="0" lvl="0" indent="-342900" algn="l" defTabSz="914400" rtl="0" eaLnBrk="0" fontAlgn="base" latinLnBrk="0" hangingPunct="0">
              <a:lnSpc>
                <a:spcPct val="100000"/>
              </a:lnSpc>
              <a:spcBef>
                <a:spcPct val="50000"/>
              </a:spcBef>
              <a:spcAft>
                <a:spcPct val="0"/>
              </a:spcAft>
              <a:buClrTx/>
              <a:buSzTx/>
              <a:buFontTx/>
              <a:buNone/>
              <a:tabLst/>
              <a:defRPr/>
            </a:pPr>
            <a:r>
              <a:rPr kumimoji="0" lang="zh-CN" altLang="en-US" sz="2000" b="1" i="0" u="none" strike="noStrike" kern="1200" cap="none" spc="0" normalizeH="0" baseline="0" noProof="0">
                <a:ln>
                  <a:noFill/>
                </a:ln>
                <a:solidFill>
                  <a:srgbClr val="CC6600"/>
                </a:solidFill>
                <a:effectLst/>
                <a:uLnTx/>
                <a:uFillTx/>
                <a:latin typeface="微软雅黑" panose="020B0503020204020204" pitchFamily="34" charset="-122"/>
                <a:ea typeface="微软雅黑" panose="020B0503020204020204" pitchFamily="34" charset="-122"/>
                <a:cs typeface="+mn-cs"/>
              </a:rPr>
              <a:t>为何要保存现场？</a:t>
            </a:r>
          </a:p>
          <a:p>
            <a:pPr marL="342900" marR="0" lvl="0" indent="-342900" algn="l" defTabSz="914400" rtl="0" eaLnBrk="0" fontAlgn="base" latinLnBrk="0" hangingPunct="0">
              <a:lnSpc>
                <a:spcPct val="100000"/>
              </a:lnSpc>
              <a:spcBef>
                <a:spcPct val="50000"/>
              </a:spcBef>
              <a:spcAft>
                <a:spcPct val="0"/>
              </a:spcAft>
              <a:buClrTx/>
              <a:buSzTx/>
              <a:buFontTx/>
              <a:buNone/>
              <a:tabLst/>
              <a:defRPr/>
            </a:pPr>
            <a:r>
              <a:rPr kumimoji="0" lang="zh-CN" altLang="en-US" sz="2000" b="1" i="0" u="none" strike="noStrike" kern="1200" cap="none" spc="0" normalizeH="0" baseline="0" noProof="0">
                <a:ln>
                  <a:noFill/>
                </a:ln>
                <a:solidFill>
                  <a:srgbClr val="008000"/>
                </a:solidFill>
                <a:effectLst/>
                <a:uLnTx/>
                <a:uFillTx/>
                <a:latin typeface="微软雅黑" panose="020B0503020204020204" pitchFamily="34" charset="-122"/>
                <a:ea typeface="微软雅黑" panose="020B0503020204020204" pitchFamily="34" charset="-122"/>
                <a:cs typeface="+mn-cs"/>
              </a:rPr>
              <a:t>因为所有过程共享一套通用寄存器</a:t>
            </a:r>
          </a:p>
        </p:txBody>
      </p:sp>
      <p:sp>
        <p:nvSpPr>
          <p:cNvPr id="78862" name="Text Box 27"/>
          <p:cNvSpPr txBox="1">
            <a:spLocks noChangeArrowheads="1"/>
          </p:cNvSpPr>
          <p:nvPr/>
        </p:nvSpPr>
        <p:spPr bwMode="auto">
          <a:xfrm>
            <a:off x="1557338" y="1089025"/>
            <a:ext cx="1800225"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tabLst/>
              <a:defRPr/>
            </a:pPr>
            <a:r>
              <a:rPr kumimoji="0" lang="en-US" altLang="zh-CN" sz="2000" b="1" i="0" u="none" strike="noStrike" kern="1200" cap="none" spc="0" normalizeH="0" baseline="0" noProof="0">
                <a:ln>
                  <a:noFill/>
                </a:ln>
                <a:solidFill>
                  <a:srgbClr val="008000"/>
                </a:solidFill>
                <a:effectLst/>
                <a:uLnTx/>
                <a:uFillTx/>
                <a:latin typeface="微软雅黑" panose="020B0503020204020204" pitchFamily="34" charset="-122"/>
                <a:ea typeface="微软雅黑" panose="020B0503020204020204" pitchFamily="34" charset="-122"/>
                <a:cs typeface="+mn-cs"/>
              </a:rPr>
              <a:t>add(t1,t2)</a:t>
            </a:r>
          </a:p>
        </p:txBody>
      </p:sp>
    </p:spTree>
    <p:extLst>
      <p:ext uri="{BB962C8B-B14F-4D97-AF65-F5344CB8AC3E}">
        <p14:creationId xmlns:p14="http://schemas.microsoft.com/office/powerpoint/2010/main" val="304781151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74147">
                                            <p:txEl>
                                              <p:pRg st="0" end="0"/>
                                            </p:txEl>
                                          </p:spTgt>
                                        </p:tgtEl>
                                        <p:attrNameLst>
                                          <p:attrName>style.visibility</p:attrName>
                                        </p:attrNameLst>
                                      </p:cBhvr>
                                      <p:to>
                                        <p:strVal val="visible"/>
                                      </p:to>
                                    </p:set>
                                    <p:animEffect transition="in" filter="blinds(horizontal)">
                                      <p:cBhvr>
                                        <p:cTn id="7" dur="500"/>
                                        <p:tgtEl>
                                          <p:spTgt spid="7741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74147">
                                            <p:txEl>
                                              <p:pRg st="1" end="1"/>
                                            </p:txEl>
                                          </p:spTgt>
                                        </p:tgtEl>
                                        <p:attrNameLst>
                                          <p:attrName>style.visibility</p:attrName>
                                        </p:attrNameLst>
                                      </p:cBhvr>
                                      <p:to>
                                        <p:strVal val="visible"/>
                                      </p:to>
                                    </p:set>
                                    <p:animEffect transition="in" filter="blinds(horizontal)">
                                      <p:cBhvr>
                                        <p:cTn id="12" dur="500"/>
                                        <p:tgtEl>
                                          <p:spTgt spid="774147">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774147">
                                            <p:txEl>
                                              <p:pRg st="2" end="2"/>
                                            </p:txEl>
                                          </p:spTgt>
                                        </p:tgtEl>
                                        <p:attrNameLst>
                                          <p:attrName>style.visibility</p:attrName>
                                        </p:attrNameLst>
                                      </p:cBhvr>
                                      <p:to>
                                        <p:strVal val="visible"/>
                                      </p:to>
                                    </p:set>
                                    <p:animEffect transition="in" filter="blinds(horizontal)">
                                      <p:cBhvr>
                                        <p:cTn id="15" dur="500"/>
                                        <p:tgtEl>
                                          <p:spTgt spid="774147">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774147">
                                            <p:txEl>
                                              <p:pRg st="3" end="3"/>
                                            </p:txEl>
                                          </p:spTgt>
                                        </p:tgtEl>
                                        <p:attrNameLst>
                                          <p:attrName>style.visibility</p:attrName>
                                        </p:attrNameLst>
                                      </p:cBhvr>
                                      <p:to>
                                        <p:strVal val="visible"/>
                                      </p:to>
                                    </p:set>
                                    <p:animEffect transition="in" filter="blinds(horizontal)">
                                      <p:cBhvr>
                                        <p:cTn id="20" dur="500"/>
                                        <p:tgtEl>
                                          <p:spTgt spid="774147">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774147">
                                            <p:txEl>
                                              <p:pRg st="4" end="4"/>
                                            </p:txEl>
                                          </p:spTgt>
                                        </p:tgtEl>
                                        <p:attrNameLst>
                                          <p:attrName>style.visibility</p:attrName>
                                        </p:attrNameLst>
                                      </p:cBhvr>
                                      <p:to>
                                        <p:strVal val="visible"/>
                                      </p:to>
                                    </p:set>
                                    <p:animEffect transition="in" filter="blinds(horizontal)">
                                      <p:cBhvr>
                                        <p:cTn id="25" dur="500"/>
                                        <p:tgtEl>
                                          <p:spTgt spid="774147">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774147">
                                            <p:txEl>
                                              <p:pRg st="5" end="5"/>
                                            </p:txEl>
                                          </p:spTgt>
                                        </p:tgtEl>
                                        <p:attrNameLst>
                                          <p:attrName>style.visibility</p:attrName>
                                        </p:attrNameLst>
                                      </p:cBhvr>
                                      <p:to>
                                        <p:strVal val="visible"/>
                                      </p:to>
                                    </p:set>
                                    <p:animEffect transition="in" filter="blinds(horizontal)">
                                      <p:cBhvr>
                                        <p:cTn id="30" dur="500"/>
                                        <p:tgtEl>
                                          <p:spTgt spid="774147">
                                            <p:txEl>
                                              <p:pRg st="5" end="5"/>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774147">
                                            <p:txEl>
                                              <p:pRg st="6" end="6"/>
                                            </p:txEl>
                                          </p:spTgt>
                                        </p:tgtEl>
                                        <p:attrNameLst>
                                          <p:attrName>style.visibility</p:attrName>
                                        </p:attrNameLst>
                                      </p:cBhvr>
                                      <p:to>
                                        <p:strVal val="visible"/>
                                      </p:to>
                                    </p:set>
                                    <p:animEffect transition="in" filter="blinds(horizontal)">
                                      <p:cBhvr>
                                        <p:cTn id="33" dur="500"/>
                                        <p:tgtEl>
                                          <p:spTgt spid="774147">
                                            <p:txEl>
                                              <p:pRg st="6" end="6"/>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774155"/>
                                        </p:tgtEl>
                                        <p:attrNameLst>
                                          <p:attrName>style.visibility</p:attrName>
                                        </p:attrNameLst>
                                      </p:cBhvr>
                                      <p:to>
                                        <p:strVal val="visible"/>
                                      </p:to>
                                    </p:set>
                                    <p:animEffect transition="in" filter="blinds(horizontal)">
                                      <p:cBhvr>
                                        <p:cTn id="38" dur="500"/>
                                        <p:tgtEl>
                                          <p:spTgt spid="774155"/>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774159"/>
                                        </p:tgtEl>
                                        <p:attrNameLst>
                                          <p:attrName>style.visibility</p:attrName>
                                        </p:attrNameLst>
                                      </p:cBhvr>
                                      <p:to>
                                        <p:strVal val="visible"/>
                                      </p:to>
                                    </p:set>
                                    <p:animEffect transition="in" filter="blinds(horizontal)">
                                      <p:cBhvr>
                                        <p:cTn id="43" dur="500"/>
                                        <p:tgtEl>
                                          <p:spTgt spid="77415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774152"/>
                                        </p:tgtEl>
                                        <p:attrNameLst>
                                          <p:attrName>style.visibility</p:attrName>
                                        </p:attrNameLst>
                                      </p:cBhvr>
                                      <p:to>
                                        <p:strVal val="visible"/>
                                      </p:to>
                                    </p:set>
                                    <p:animEffect transition="in" filter="blinds(horizontal)">
                                      <p:cBhvr>
                                        <p:cTn id="48" dur="500"/>
                                        <p:tgtEl>
                                          <p:spTgt spid="77415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774151"/>
                                        </p:tgtEl>
                                        <p:attrNameLst>
                                          <p:attrName>style.visibility</p:attrName>
                                        </p:attrNameLst>
                                      </p:cBhvr>
                                      <p:to>
                                        <p:strVal val="visible"/>
                                      </p:to>
                                    </p:set>
                                    <p:animEffect transition="in" filter="blinds(horizontal)">
                                      <p:cBhvr>
                                        <p:cTn id="53" dur="500"/>
                                        <p:tgtEl>
                                          <p:spTgt spid="77415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774158"/>
                                        </p:tgtEl>
                                        <p:attrNameLst>
                                          <p:attrName>style.visibility</p:attrName>
                                        </p:attrNameLst>
                                      </p:cBhvr>
                                      <p:to>
                                        <p:strVal val="visible"/>
                                      </p:to>
                                    </p:set>
                                    <p:animEffect transition="in" filter="blinds(horizontal)">
                                      <p:cBhvr>
                                        <p:cTn id="58" dur="500"/>
                                        <p:tgtEl>
                                          <p:spTgt spid="774158"/>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nodeType="clickEffect">
                                  <p:stCondLst>
                                    <p:cond delay="0"/>
                                  </p:stCondLst>
                                  <p:childTnLst>
                                    <p:set>
                                      <p:cBhvr>
                                        <p:cTn id="62" dur="1" fill="hold">
                                          <p:stCondLst>
                                            <p:cond delay="0"/>
                                          </p:stCondLst>
                                        </p:cTn>
                                        <p:tgtEl>
                                          <p:spTgt spid="774148"/>
                                        </p:tgtEl>
                                        <p:attrNameLst>
                                          <p:attrName>style.visibility</p:attrName>
                                        </p:attrNameLst>
                                      </p:cBhvr>
                                      <p:to>
                                        <p:strVal val="visible"/>
                                      </p:to>
                                    </p:set>
                                    <p:animEffect transition="in" filter="blinds(horizontal)">
                                      <p:cBhvr>
                                        <p:cTn id="63" dur="500"/>
                                        <p:tgtEl>
                                          <p:spTgt spid="774148"/>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774160"/>
                                        </p:tgtEl>
                                        <p:attrNameLst>
                                          <p:attrName>style.visibility</p:attrName>
                                        </p:attrNameLst>
                                      </p:cBhvr>
                                      <p:to>
                                        <p:strVal val="visible"/>
                                      </p:to>
                                    </p:set>
                                    <p:animEffect transition="in" filter="blinds(horizontal)">
                                      <p:cBhvr>
                                        <p:cTn id="68" dur="500"/>
                                        <p:tgtEl>
                                          <p:spTgt spid="774160"/>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3" presetClass="entr" presetSubtype="10" fill="hold" nodeType="clickEffect">
                                  <p:stCondLst>
                                    <p:cond delay="0"/>
                                  </p:stCondLst>
                                  <p:childTnLst>
                                    <p:set>
                                      <p:cBhvr>
                                        <p:cTn id="72" dur="1" fill="hold">
                                          <p:stCondLst>
                                            <p:cond delay="0"/>
                                          </p:stCondLst>
                                        </p:cTn>
                                        <p:tgtEl>
                                          <p:spTgt spid="774169">
                                            <p:txEl>
                                              <p:pRg st="0" end="0"/>
                                            </p:txEl>
                                          </p:spTgt>
                                        </p:tgtEl>
                                        <p:attrNameLst>
                                          <p:attrName>style.visibility</p:attrName>
                                        </p:attrNameLst>
                                      </p:cBhvr>
                                      <p:to>
                                        <p:strVal val="visible"/>
                                      </p:to>
                                    </p:set>
                                    <p:animEffect transition="in" filter="blinds(horizontal)">
                                      <p:cBhvr>
                                        <p:cTn id="73" dur="500"/>
                                        <p:tgtEl>
                                          <p:spTgt spid="774169">
                                            <p:txEl>
                                              <p:pRg st="0" end="0"/>
                                            </p:txEl>
                                          </p:spTgt>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3" presetClass="entr" presetSubtype="10" fill="hold" nodeType="clickEffect">
                                  <p:stCondLst>
                                    <p:cond delay="0"/>
                                  </p:stCondLst>
                                  <p:childTnLst>
                                    <p:set>
                                      <p:cBhvr>
                                        <p:cTn id="77" dur="1" fill="hold">
                                          <p:stCondLst>
                                            <p:cond delay="0"/>
                                          </p:stCondLst>
                                        </p:cTn>
                                        <p:tgtEl>
                                          <p:spTgt spid="774169">
                                            <p:txEl>
                                              <p:pRg st="1" end="1"/>
                                            </p:txEl>
                                          </p:spTgt>
                                        </p:tgtEl>
                                        <p:attrNameLst>
                                          <p:attrName>style.visibility</p:attrName>
                                        </p:attrNameLst>
                                      </p:cBhvr>
                                      <p:to>
                                        <p:strVal val="visible"/>
                                      </p:to>
                                    </p:set>
                                    <p:animEffect transition="in" filter="blinds(horizontal)">
                                      <p:cBhvr>
                                        <p:cTn id="78" dur="500"/>
                                        <p:tgtEl>
                                          <p:spTgt spid="774169">
                                            <p:txEl>
                                              <p:pRg st="1" end="1"/>
                                            </p:txEl>
                                          </p:spTgt>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3" presetClass="entr" presetSubtype="10" fill="hold" nodeType="clickEffect">
                                  <p:stCondLst>
                                    <p:cond delay="0"/>
                                  </p:stCondLst>
                                  <p:childTnLst>
                                    <p:set>
                                      <p:cBhvr>
                                        <p:cTn id="82" dur="1" fill="hold">
                                          <p:stCondLst>
                                            <p:cond delay="0"/>
                                          </p:stCondLst>
                                        </p:cTn>
                                        <p:tgtEl>
                                          <p:spTgt spid="774169">
                                            <p:txEl>
                                              <p:pRg st="2" end="2"/>
                                            </p:txEl>
                                          </p:spTgt>
                                        </p:tgtEl>
                                        <p:attrNameLst>
                                          <p:attrName>style.visibility</p:attrName>
                                        </p:attrNameLst>
                                      </p:cBhvr>
                                      <p:to>
                                        <p:strVal val="visible"/>
                                      </p:to>
                                    </p:set>
                                    <p:animEffect transition="in" filter="blinds(horizontal)">
                                      <p:cBhvr>
                                        <p:cTn id="83" dur="500"/>
                                        <p:tgtEl>
                                          <p:spTgt spid="774169">
                                            <p:txEl>
                                              <p:pRg st="2" end="2"/>
                                            </p:txEl>
                                          </p:spTgt>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3" presetClass="entr" presetSubtype="10" fill="hold" nodeType="clickEffect">
                                  <p:stCondLst>
                                    <p:cond delay="0"/>
                                  </p:stCondLst>
                                  <p:childTnLst>
                                    <p:set>
                                      <p:cBhvr>
                                        <p:cTn id="87" dur="1" fill="hold">
                                          <p:stCondLst>
                                            <p:cond delay="0"/>
                                          </p:stCondLst>
                                        </p:cTn>
                                        <p:tgtEl>
                                          <p:spTgt spid="774169">
                                            <p:txEl>
                                              <p:pRg st="3" end="3"/>
                                            </p:txEl>
                                          </p:spTgt>
                                        </p:tgtEl>
                                        <p:attrNameLst>
                                          <p:attrName>style.visibility</p:attrName>
                                        </p:attrNameLst>
                                      </p:cBhvr>
                                      <p:to>
                                        <p:strVal val="visible"/>
                                      </p:to>
                                    </p:set>
                                    <p:animEffect transition="in" filter="blinds(horizontal)">
                                      <p:cBhvr>
                                        <p:cTn id="88" dur="500"/>
                                        <p:tgtEl>
                                          <p:spTgt spid="77416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4151" grpId="0"/>
      <p:bldP spid="774158" grpId="0"/>
      <p:bldP spid="774159" grpId="0"/>
      <p:bldP spid="77416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假设</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P</a:t>
            </a: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为调用过程，</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Q</a:t>
            </a: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为被调用过程，程序在</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IA-32</a:t>
            </a: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处理器上执行，以下有关过程调用的叙述中，错误的是（ ）。</a:t>
            </a:r>
          </a:p>
        </p:txBody>
      </p:sp>
      <p:sp>
        <p:nvSpPr>
          <p:cNvPr id="6" name="文本框 5"/>
          <p:cNvSpPr txBox="1"/>
          <p:nvPr>
            <p:custDataLst>
              <p:tags r:id="rId3"/>
            </p:custDataLst>
          </p:nvPr>
        </p:nvSpPr>
        <p:spPr>
          <a:xfrm>
            <a:off x="1828800" y="278606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语言程序中的函数调用就是过程调用</a:t>
            </a:r>
          </a:p>
        </p:txBody>
      </p:sp>
      <p:sp>
        <p:nvSpPr>
          <p:cNvPr id="7" name="文本框 6"/>
          <p:cNvSpPr txBox="1"/>
          <p:nvPr>
            <p:custDataLst>
              <p:tags r:id="rId4"/>
            </p:custDataLst>
          </p:nvPr>
        </p:nvSpPr>
        <p:spPr>
          <a:xfrm>
            <a:off x="1828800" y="364331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从</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P</a:t>
            </a: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传到</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Q</a:t>
            </a: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的实参无需重新分配空间存放</a:t>
            </a:r>
          </a:p>
        </p:txBody>
      </p:sp>
      <p:sp>
        <p:nvSpPr>
          <p:cNvPr id="8" name="文本框 7"/>
          <p:cNvSpPr txBox="1"/>
          <p:nvPr>
            <p:custDataLst>
              <p:tags r:id="rId5"/>
            </p:custDataLst>
          </p:nvPr>
        </p:nvSpPr>
        <p:spPr>
          <a:xfrm>
            <a:off x="1828800" y="450056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从</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P</a:t>
            </a: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跳转到</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Q</a:t>
            </a: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执行应使用</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CALL</a:t>
            </a: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指令</a:t>
            </a:r>
          </a:p>
        </p:txBody>
      </p:sp>
      <p:sp>
        <p:nvSpPr>
          <p:cNvPr id="9" name="文本框 8"/>
          <p:cNvSpPr txBox="1"/>
          <p:nvPr>
            <p:custDataLst>
              <p:tags r:id="rId6"/>
            </p:custDataLst>
          </p:nvPr>
        </p:nvSpPr>
        <p:spPr>
          <a:xfrm>
            <a:off x="1828800" y="535781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从</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Q</a:t>
            </a: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跳回到</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P</a:t>
            </a: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执行应使用</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RET</a:t>
            </a: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指令</a:t>
            </a:r>
          </a:p>
        </p:txBody>
      </p:sp>
      <p:sp>
        <p:nvSpPr>
          <p:cNvPr id="10" name="椭圆 9"/>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1" name="椭圆 10"/>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3" name="椭圆 12"/>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4" name="圆角矩形 13"/>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p>
        </p:txBody>
      </p:sp>
      <p:grpSp>
        <p:nvGrpSpPr>
          <p:cNvPr id="19" name="组合 18"/>
          <p:cNvGrpSpPr/>
          <p:nvPr>
            <p:custDataLst>
              <p:tags r:id="rId12"/>
            </p:custDataLst>
          </p:nvPr>
        </p:nvGrpSpPr>
        <p:grpSpPr>
          <a:xfrm>
            <a:off x="0" y="0"/>
            <a:ext cx="9144000" cy="635000"/>
            <a:chOff x="0" y="0"/>
            <a:chExt cx="9144000" cy="635000"/>
          </a:xfrm>
        </p:grpSpPr>
        <p:sp>
          <p:nvSpPr>
            <p:cNvPr id="15" name="TitleBackground"/>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entury Gothic"/>
                <a:ea typeface="幼圆" panose="02010509060101010101" pitchFamily="49" charset="-122"/>
                <a:cs typeface="+mn-cs"/>
              </a:endParaRPr>
            </a:p>
          </p:txBody>
        </p:sp>
        <p:sp>
          <p:nvSpPr>
            <p:cNvPr id="16"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entury Gothic"/>
                <a:ea typeface="幼圆" panose="02010509060101010101" pitchFamily="49" charset="-122"/>
                <a:cs typeface="+mn-cs"/>
              </a:endParaRPr>
            </a:p>
          </p:txBody>
        </p:sp>
        <p:sp>
          <p:nvSpPr>
            <p:cNvPr id="17"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单选题</a:t>
              </a:r>
            </a:p>
          </p:txBody>
        </p:sp>
        <p:sp>
          <p:nvSpPr>
            <p:cNvPr id="18"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10</a:t>
              </a:r>
              <a:r>
                <a:rPr kumimoji="0" lang="zh-CN" altLang="en-US"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p>
          </p:txBody>
        </p:sp>
      </p:grpSp>
      <p:pic>
        <p:nvPicPr>
          <p:cNvPr id="4" name="图片 3"/>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4114731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0" nodeType="clickEffect">
                                  <p:stCondLst>
                                    <p:cond delay="0"/>
                                  </p:stCondLst>
                                  <p:childTnLst>
                                    <p:animClr clrSpc="rgb" dir="cw">
                                      <p:cBhvr override="childStyle">
                                        <p:cTn id="6" dur="500" fill="hold"/>
                                        <p:tgtEl>
                                          <p:spTgt spid="11"/>
                                        </p:tgtEl>
                                        <p:attrNameLst>
                                          <p:attrName>style.color</p:attrName>
                                        </p:attrNameLst>
                                      </p:cBhvr>
                                      <p:to>
                                        <a:srgbClr val="FF0000"/>
                                      </p:to>
                                    </p:animClr>
                                    <p:animClr clrSpc="rgb" dir="cw">
                                      <p:cBhvr>
                                        <p:cTn id="7" dur="500" fill="hold"/>
                                        <p:tgtEl>
                                          <p:spTgt spid="11"/>
                                        </p:tgtEl>
                                        <p:attrNameLst>
                                          <p:attrName>fillcolor</p:attrName>
                                        </p:attrNameLst>
                                      </p:cBhvr>
                                      <p:to>
                                        <a:srgbClr val="FF0000"/>
                                      </p:to>
                                    </p:animClr>
                                    <p:set>
                                      <p:cBhvr>
                                        <p:cTn id="8" dur="500" fill="hold"/>
                                        <p:tgtEl>
                                          <p:spTgt spid="11"/>
                                        </p:tgtEl>
                                        <p:attrNameLst>
                                          <p:attrName>fill.type</p:attrName>
                                        </p:attrNameLst>
                                      </p:cBhvr>
                                      <p:to>
                                        <p:strVal val="solid"/>
                                      </p:to>
                                    </p:set>
                                    <p:set>
                                      <p:cBhvr>
                                        <p:cTn id="9" dur="500" fill="hold"/>
                                        <p:tgtEl>
                                          <p:spTgt spid="11"/>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827584" y="1343660"/>
            <a:ext cx="7315200" cy="2143125"/>
          </a:xfrm>
          <a:prstGeom prst="rect">
            <a:avLst/>
          </a:prstGeom>
          <a:noFill/>
        </p:spPr>
        <p:txBody>
          <a:bodyPr vert="horz" wrap="square" rtlCol="0" anchor="ctr" anchorCtr="0">
            <a:noAutofit/>
          </a:bodyPr>
          <a:lstStyle/>
          <a:p>
            <a:pPr marL="457200" marR="0" lvl="0" indent="-457200" algn="l" defTabSz="914400" rtl="0" eaLnBrk="1" fontAlgn="auto" latinLnBrk="0" hangingPunct="1">
              <a:lnSpc>
                <a:spcPct val="12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假设</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为调用过程，</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Q</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为被调用过程，程序在</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IA-32</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处理器上执行，以下是</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语言程序中过程调用所涉及的操作：</a:t>
            </a:r>
          </a:p>
          <a:p>
            <a:pPr marL="457200" marR="0" lvl="0" indent="-457200" algn="l" defTabSz="914400" rtl="0" eaLnBrk="1" fontAlgn="auto" latinLnBrk="0" hangingPunct="1">
              <a:lnSpc>
                <a:spcPct val="12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① 过程</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Q</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保存</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的现场，并为非静态局部变量分配空间</a:t>
            </a:r>
          </a:p>
          <a:p>
            <a:pPr marL="457200" marR="0" lvl="0" indent="-457200" algn="l" defTabSz="914400" rtl="0" eaLnBrk="1" fontAlgn="auto" latinLnBrk="0" hangingPunct="1">
              <a:lnSpc>
                <a:spcPct val="12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2000" b="0" i="0" u="none" strike="noStrike" kern="120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cs typeface="+mn-cs"/>
              </a:rPr>
              <a:t>② 过程</a:t>
            </a:r>
            <a:r>
              <a:rPr kumimoji="0" lang="en-US" altLang="zh-CN" sz="2000" b="0" i="0" u="none" strike="noStrike" kern="120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cs typeface="+mn-cs"/>
              </a:rPr>
              <a:t>P</a:t>
            </a:r>
            <a:r>
              <a:rPr kumimoji="0" lang="zh-CN" altLang="en-US" sz="2000" b="0" i="0" u="none" strike="noStrike" kern="120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cs typeface="+mn-cs"/>
              </a:rPr>
              <a:t>将实参存放到</a:t>
            </a:r>
            <a:r>
              <a:rPr kumimoji="0" lang="en-US" altLang="zh-CN" sz="2000" b="0" i="0" u="none" strike="noStrike" kern="120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cs typeface="+mn-cs"/>
              </a:rPr>
              <a:t>Q</a:t>
            </a:r>
            <a:r>
              <a:rPr kumimoji="0" lang="zh-CN" altLang="en-US" sz="2000" b="0" i="0" u="none" strike="noStrike" kern="120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cs typeface="+mn-cs"/>
              </a:rPr>
              <a:t>能访问到的地方</a:t>
            </a:r>
          </a:p>
          <a:p>
            <a:pPr marL="457200" marR="0" lvl="0" indent="-457200" algn="l" defTabSz="914400" rtl="0" eaLnBrk="1" fontAlgn="auto" latinLnBrk="0" hangingPunct="1">
              <a:lnSpc>
                <a:spcPct val="12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cs typeface="+mn-cs"/>
              </a:rPr>
              <a:t>	③ 过程</a:t>
            </a:r>
            <a:r>
              <a:rPr kumimoji="0" lang="en-US" altLang="zh-CN" sz="2000" b="0" i="0" u="none" strike="noStrike" kern="120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cs typeface="+mn-cs"/>
              </a:rPr>
              <a:t>P</a:t>
            </a:r>
            <a:r>
              <a:rPr kumimoji="0" lang="zh-CN" altLang="en-US" sz="2000" b="0" i="0" u="none" strike="noStrike" kern="120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cs typeface="+mn-cs"/>
              </a:rPr>
              <a:t>将返回地址存放到特定处，并跳转到</a:t>
            </a:r>
            <a:r>
              <a:rPr kumimoji="0" lang="en-US" altLang="zh-CN" sz="2000" b="0" i="0" u="none" strike="noStrike" kern="120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cs typeface="+mn-cs"/>
              </a:rPr>
              <a:t>Q</a:t>
            </a:r>
            <a:r>
              <a:rPr kumimoji="0" lang="zh-CN" altLang="en-US" sz="2000" b="0" i="0" u="none" strike="noStrike" kern="120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cs typeface="+mn-cs"/>
              </a:rPr>
              <a:t>执行</a:t>
            </a:r>
            <a:r>
              <a:rPr kumimoji="0" lang="en-US" altLang="zh-CN" sz="2000" b="0" i="0" u="none" strike="noStrike" kern="120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cs typeface="+mn-cs"/>
              </a:rPr>
              <a:t>/call</a:t>
            </a:r>
            <a:endParaRPr kumimoji="0" lang="zh-CN" altLang="en-US" sz="2000" b="0" i="0" u="none" strike="noStrike" kern="120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1" fontAlgn="auto" latinLnBrk="0" hangingPunct="1">
              <a:lnSpc>
                <a:spcPct val="12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④ 过程</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Q</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取出返回地址，并跳转回到过程</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执行</a:t>
            </a:r>
          </a:p>
          <a:p>
            <a:pPr marL="457200" marR="0" lvl="0" indent="-457200" algn="l" defTabSz="914400" rtl="0" eaLnBrk="1" fontAlgn="auto" latinLnBrk="0" hangingPunct="1">
              <a:lnSpc>
                <a:spcPct val="12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⑤ 过程</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Q</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恢复</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的现场，并释放局部变量所占空间</a:t>
            </a:r>
          </a:p>
          <a:p>
            <a:pPr marL="457200" marR="0" lvl="0" indent="-457200" algn="l" defTabSz="914400" rtl="0" eaLnBrk="1" fontAlgn="auto" latinLnBrk="0" hangingPunct="1">
              <a:lnSpc>
                <a:spcPct val="12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⑥ 执行过程</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Q</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的函数体</a:t>
            </a:r>
          </a:p>
        </p:txBody>
      </p:sp>
      <p:sp>
        <p:nvSpPr>
          <p:cNvPr id="4" name="文本框 3"/>
          <p:cNvSpPr txBox="1"/>
          <p:nvPr>
            <p:custDataLst>
              <p:tags r:id="rId3"/>
            </p:custDataLst>
          </p:nvPr>
        </p:nvSpPr>
        <p:spPr>
          <a:xfrm>
            <a:off x="1828800" y="4221088"/>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cs typeface="+mn-cs"/>
              </a:rPr>
              <a:t>②→③→</a:t>
            </a:r>
            <a:r>
              <a:rPr kumimoji="0" lang="en-US" altLang="zh-CN"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④→①→⑤→⑥</a:t>
            </a:r>
            <a:endPar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5" name="文本框 4"/>
          <p:cNvSpPr txBox="1"/>
          <p:nvPr>
            <p:custDataLst>
              <p:tags r:id="rId4"/>
            </p:custDataLst>
          </p:nvPr>
        </p:nvSpPr>
        <p:spPr>
          <a:xfrm>
            <a:off x="1828800" y="4869160"/>
            <a:ext cx="6400800" cy="642938"/>
          </a:xfrm>
          <a:prstGeom prst="rect">
            <a:avLst/>
          </a:prstGeom>
          <a:noFill/>
        </p:spPr>
        <p:txBody>
          <a:bodyPr vert="horz" rtlCol="0" anchor="ctr" anchorCtr="0">
            <a:noAutofit/>
          </a:bodyPr>
          <a:lstStyle/>
          <a:p>
            <a:pPr marL="457200" marR="0" lvl="0" indent="-457200" algn="l" defTabSz="914400" rtl="0" eaLnBrk="1" fontAlgn="auto" latinLnBrk="0" hangingPunct="1">
              <a:lnSpc>
                <a:spcPct val="12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cs typeface="+mn-cs"/>
              </a:rPr>
              <a:t>②→③→</a:t>
            </a:r>
            <a:r>
              <a:rPr kumimoji="0" lang="en-US" altLang="zh-CN"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①→④→⑥→⑤</a:t>
            </a:r>
          </a:p>
        </p:txBody>
      </p:sp>
      <p:sp>
        <p:nvSpPr>
          <p:cNvPr id="6" name="文本框 5"/>
          <p:cNvSpPr txBox="1"/>
          <p:nvPr>
            <p:custDataLst>
              <p:tags r:id="rId5"/>
            </p:custDataLst>
          </p:nvPr>
        </p:nvSpPr>
        <p:spPr>
          <a:xfrm>
            <a:off x="1828800" y="5517232"/>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cs typeface="+mn-cs"/>
              </a:rPr>
              <a:t>②→③→</a:t>
            </a:r>
            <a:r>
              <a:rPr kumimoji="0" lang="en-US" altLang="zh-CN"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①→⑥→⑤→④</a:t>
            </a:r>
            <a:endPar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7" name="文本框 6"/>
          <p:cNvSpPr txBox="1"/>
          <p:nvPr>
            <p:custDataLst>
              <p:tags r:id="rId6"/>
            </p:custDataLst>
          </p:nvPr>
        </p:nvSpPr>
        <p:spPr>
          <a:xfrm>
            <a:off x="1828800" y="6144766"/>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cs typeface="+mn-cs"/>
              </a:rPr>
              <a:t>②→③→</a:t>
            </a:r>
            <a:r>
              <a:rPr kumimoji="0" lang="en-US" altLang="zh-CN"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①→⑤→⑥→④</a:t>
            </a:r>
            <a:endPar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8" name="椭圆 7"/>
          <p:cNvSpPr>
            <a:spLocks noChangeAspect="1"/>
          </p:cNvSpPr>
          <p:nvPr>
            <p:custDataLst>
              <p:tags r:id="rId7"/>
            </p:custDataLst>
          </p:nvPr>
        </p:nvSpPr>
        <p:spPr>
          <a:xfrm>
            <a:off x="1114425" y="4282802"/>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12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9" name="椭圆 8"/>
          <p:cNvSpPr>
            <a:spLocks noChangeAspect="1"/>
          </p:cNvSpPr>
          <p:nvPr>
            <p:custDataLst>
              <p:tags r:id="rId8"/>
            </p:custDataLst>
          </p:nvPr>
        </p:nvSpPr>
        <p:spPr>
          <a:xfrm>
            <a:off x="1114425" y="4930874"/>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12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0" name="椭圆 9"/>
          <p:cNvSpPr>
            <a:spLocks noChangeAspect="1"/>
          </p:cNvSpPr>
          <p:nvPr>
            <p:custDataLst>
              <p:tags r:id="rId9"/>
            </p:custDataLst>
          </p:nvPr>
        </p:nvSpPr>
        <p:spPr>
          <a:xfrm>
            <a:off x="1114425" y="557894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2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2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1114425" y="6209059"/>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0" lang="zh-CN" altLang="en-US" sz="12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圆角矩形 11"/>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p>
        </p:txBody>
      </p:sp>
      <p:grpSp>
        <p:nvGrpSpPr>
          <p:cNvPr id="17" name="组合 16"/>
          <p:cNvGrpSpPr/>
          <p:nvPr>
            <p:custDataLst>
              <p:tags r:id="rId12"/>
            </p:custDataLst>
          </p:nvPr>
        </p:nvGrpSpPr>
        <p:grpSpPr>
          <a:xfrm>
            <a:off x="0" y="0"/>
            <a:ext cx="9144000" cy="635000"/>
            <a:chOff x="0" y="0"/>
            <a:chExt cx="9144000" cy="635000"/>
          </a:xfrm>
        </p:grpSpPr>
        <p:sp>
          <p:nvSpPr>
            <p:cNvPr id="13" name="TitleBackground"/>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entury Gothic"/>
                <a:ea typeface="幼圆" panose="02010509060101010101" pitchFamily="49" charset="-122"/>
                <a:cs typeface="+mn-cs"/>
              </a:endParaRPr>
            </a:p>
          </p:txBody>
        </p:sp>
        <p:sp>
          <p:nvSpPr>
            <p:cNvPr id="14"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entury Gothic"/>
                <a:ea typeface="幼圆" panose="02010509060101010101" pitchFamily="49" charset="-122"/>
                <a:cs typeface="+mn-cs"/>
              </a:endParaRPr>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10</a:t>
              </a:r>
              <a:r>
                <a:rPr kumimoji="0" lang="zh-CN" altLang="en-US"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702502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0" nodeType="clickEffect">
                                  <p:stCondLst>
                                    <p:cond delay="0"/>
                                  </p:stCondLst>
                                  <p:childTnLst>
                                    <p:animClr clrSpc="rgb" dir="cw">
                                      <p:cBhvr override="childStyle">
                                        <p:cTn id="6" dur="500" fill="hold"/>
                                        <p:tgtEl>
                                          <p:spTgt spid="10"/>
                                        </p:tgtEl>
                                        <p:attrNameLst>
                                          <p:attrName>style.color</p:attrName>
                                        </p:attrNameLst>
                                      </p:cBhvr>
                                      <p:to>
                                        <a:srgbClr val="FF0000"/>
                                      </p:to>
                                    </p:animClr>
                                    <p:animClr clrSpc="rgb" dir="cw">
                                      <p:cBhvr>
                                        <p:cTn id="7" dur="500" fill="hold"/>
                                        <p:tgtEl>
                                          <p:spTgt spid="10"/>
                                        </p:tgtEl>
                                        <p:attrNameLst>
                                          <p:attrName>fillcolor</p:attrName>
                                        </p:attrNameLst>
                                      </p:cBhvr>
                                      <p:to>
                                        <a:srgbClr val="FF0000"/>
                                      </p:to>
                                    </p:animClr>
                                    <p:set>
                                      <p:cBhvr>
                                        <p:cTn id="8" dur="500" fill="hold"/>
                                        <p:tgtEl>
                                          <p:spTgt spid="10"/>
                                        </p:tgtEl>
                                        <p:attrNameLst>
                                          <p:attrName>fill.type</p:attrName>
                                        </p:attrNameLst>
                                      </p:cBhvr>
                                      <p:to>
                                        <p:strVal val="solid"/>
                                      </p:to>
                                    </p:set>
                                    <p:set>
                                      <p:cBhvr>
                                        <p:cTn id="9" dur="500" fill="hold"/>
                                        <p:tgtEl>
                                          <p:spTgt spid="10"/>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chemeClr val="accent6">
                    <a:lumMod val="50000"/>
                  </a:schemeClr>
                </a:solidFill>
              </a:rPr>
              <a:t>提纲</a:t>
            </a:r>
          </a:p>
        </p:txBody>
      </p:sp>
      <p:sp>
        <p:nvSpPr>
          <p:cNvPr id="3" name="内容占位符 2"/>
          <p:cNvSpPr>
            <a:spLocks noGrp="1"/>
          </p:cNvSpPr>
          <p:nvPr>
            <p:ph idx="1"/>
          </p:nvPr>
        </p:nvSpPr>
        <p:spPr>
          <a:xfrm>
            <a:off x="457200" y="1844824"/>
            <a:ext cx="8229600" cy="3816424"/>
          </a:xfrm>
        </p:spPr>
        <p:txBody>
          <a:bodyPr>
            <a:normAutofit/>
          </a:bodyPr>
          <a:lstStyle/>
          <a:p>
            <a:pPr indent="-540000">
              <a:lnSpc>
                <a:spcPct val="150000"/>
              </a:lnSpc>
              <a:buFont typeface="Wingdings" panose="05000000000000000000" pitchFamily="2" charset="2"/>
              <a:buChar char="Ø"/>
            </a:pPr>
            <a:r>
              <a:rPr lang="zh-CN" altLang="en-US" dirty="0"/>
              <a:t>过程调用的机器级表示</a:t>
            </a:r>
            <a:endParaRPr lang="en-US" altLang="zh-CN" dirty="0"/>
          </a:p>
          <a:p>
            <a:pPr lvl="1" indent="-540000">
              <a:lnSpc>
                <a:spcPct val="150000"/>
              </a:lnSpc>
              <a:buFont typeface="Arial" panose="020B0604020202020204" pitchFamily="34" charset="0"/>
              <a:buChar char="•"/>
            </a:pPr>
            <a:r>
              <a:rPr lang="zh-CN" altLang="en-US" dirty="0"/>
              <a:t>过程调用概述</a:t>
            </a:r>
            <a:endParaRPr lang="en-US" altLang="zh-CN" dirty="0"/>
          </a:p>
          <a:p>
            <a:pPr lvl="1" indent="-540000">
              <a:lnSpc>
                <a:spcPct val="150000"/>
              </a:lnSpc>
              <a:buFont typeface="Arial" panose="020B0604020202020204" pitchFamily="34" charset="0"/>
              <a:buChar char="•"/>
            </a:pPr>
            <a:r>
              <a:rPr lang="zh-CN" altLang="en-US" dirty="0">
                <a:solidFill>
                  <a:srgbClr val="FF0000"/>
                </a:solidFill>
              </a:rPr>
              <a:t>过程调用的栈和栈桢</a:t>
            </a:r>
            <a:endParaRPr lang="en-US" altLang="zh-CN" dirty="0">
              <a:solidFill>
                <a:srgbClr val="FF0000"/>
              </a:solidFill>
            </a:endParaRPr>
          </a:p>
          <a:p>
            <a:pPr lvl="1" indent="-540000">
              <a:lnSpc>
                <a:spcPct val="150000"/>
              </a:lnSpc>
              <a:buFont typeface="Arial" panose="020B0604020202020204" pitchFamily="34" charset="0"/>
              <a:buChar char="•"/>
            </a:pPr>
            <a:r>
              <a:rPr lang="zh-CN" altLang="en-US" dirty="0"/>
              <a:t>过程调用的参数传递</a:t>
            </a:r>
            <a:endParaRPr lang="en-US" altLang="zh-CN" dirty="0"/>
          </a:p>
        </p:txBody>
      </p:sp>
    </p:spTree>
    <p:extLst>
      <p:ext uri="{BB962C8B-B14F-4D97-AF65-F5344CB8AC3E}">
        <p14:creationId xmlns:p14="http://schemas.microsoft.com/office/powerpoint/2010/main" val="3223449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457200" y="98425"/>
            <a:ext cx="8229600" cy="561975"/>
          </a:xfrm>
        </p:spPr>
        <p:txBody>
          <a:bodyPr>
            <a:normAutofit fontScale="90000"/>
          </a:bodyPr>
          <a:lstStyle/>
          <a:p>
            <a:r>
              <a:rPr lang="en-US" altLang="zh-CN" sz="3600" dirty="0"/>
              <a:t>i386 System V ABI</a:t>
            </a:r>
            <a:r>
              <a:rPr lang="zh-CN" altLang="en-US" sz="3600" dirty="0"/>
              <a:t>规范约定 </a:t>
            </a:r>
          </a:p>
        </p:txBody>
      </p:sp>
      <p:sp>
        <p:nvSpPr>
          <p:cNvPr id="775171" name="Rectangle 3"/>
          <p:cNvSpPr>
            <a:spLocks noGrp="1" noChangeArrowheads="1"/>
          </p:cNvSpPr>
          <p:nvPr>
            <p:ph idx="1"/>
          </p:nvPr>
        </p:nvSpPr>
        <p:spPr>
          <a:xfrm>
            <a:off x="250825" y="836613"/>
            <a:ext cx="8447088" cy="5218112"/>
          </a:xfrm>
        </p:spPr>
        <p:txBody>
          <a:bodyPr/>
          <a:lstStyle/>
          <a:p>
            <a:pPr lvl="1" algn="just" eaLnBrk="1" hangingPunct="1">
              <a:lnSpc>
                <a:spcPct val="120000"/>
              </a:lnSpc>
              <a:spcBef>
                <a:spcPct val="25000"/>
              </a:spcBef>
            </a:pPr>
            <a:r>
              <a:rPr lang="zh-CN" altLang="en-US" sz="2200" dirty="0">
                <a:latin typeface="微软雅黑" panose="020B0503020204020204" pitchFamily="34" charset="-122"/>
                <a:ea typeface="微软雅黑" panose="020B0503020204020204" pitchFamily="34" charset="-122"/>
              </a:rPr>
              <a:t>调用者保存寄存器：</a:t>
            </a:r>
            <a:r>
              <a:rPr lang="en-US" altLang="zh-CN" sz="2200" dirty="0">
                <a:latin typeface="微软雅黑" panose="020B0503020204020204" pitchFamily="34" charset="-122"/>
                <a:ea typeface="微软雅黑" panose="020B0503020204020204" pitchFamily="34" charset="-122"/>
              </a:rPr>
              <a:t>EAX</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EDX</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ECX</a:t>
            </a:r>
          </a:p>
          <a:p>
            <a:pPr lvl="1" algn="just" eaLnBrk="1" hangingPunct="1">
              <a:lnSpc>
                <a:spcPct val="120000"/>
              </a:lnSpc>
              <a:spcBef>
                <a:spcPct val="25000"/>
              </a:spcBef>
              <a:buFontTx/>
              <a:buNone/>
            </a:pPr>
            <a:r>
              <a:rPr lang="zh-CN" altLang="en-US" sz="2200" dirty="0">
                <a:latin typeface="微软雅黑" panose="020B0503020204020204" pitchFamily="34" charset="-122"/>
                <a:ea typeface="微软雅黑" panose="020B0503020204020204" pitchFamily="34" charset="-122"/>
              </a:rPr>
              <a:t>   </a:t>
            </a:r>
            <a:r>
              <a:rPr lang="zh-CN" altLang="en-US" sz="2200" dirty="0">
                <a:solidFill>
                  <a:srgbClr val="CC3300"/>
                </a:solidFill>
                <a:latin typeface="微软雅黑" panose="020B0503020204020204" pitchFamily="34" charset="-122"/>
                <a:ea typeface="微软雅黑" panose="020B0503020204020204" pitchFamily="34" charset="-122"/>
              </a:rPr>
              <a:t>当过程</a:t>
            </a:r>
            <a:r>
              <a:rPr lang="en-US" altLang="zh-CN" sz="2200" dirty="0">
                <a:solidFill>
                  <a:srgbClr val="CC3300"/>
                </a:solidFill>
                <a:latin typeface="微软雅黑" panose="020B0503020204020204" pitchFamily="34" charset="-122"/>
                <a:ea typeface="微软雅黑" panose="020B0503020204020204" pitchFamily="34" charset="-122"/>
              </a:rPr>
              <a:t>P</a:t>
            </a:r>
            <a:r>
              <a:rPr lang="zh-CN" altLang="en-US" sz="2200" dirty="0">
                <a:solidFill>
                  <a:srgbClr val="CC3300"/>
                </a:solidFill>
                <a:latin typeface="微软雅黑" panose="020B0503020204020204" pitchFamily="34" charset="-122"/>
                <a:ea typeface="微软雅黑" panose="020B0503020204020204" pitchFamily="34" charset="-122"/>
              </a:rPr>
              <a:t>调用过程</a:t>
            </a:r>
            <a:r>
              <a:rPr lang="en-US" altLang="zh-CN" sz="2200" dirty="0">
                <a:solidFill>
                  <a:srgbClr val="CC3300"/>
                </a:solidFill>
                <a:latin typeface="微软雅黑" panose="020B0503020204020204" pitchFamily="34" charset="-122"/>
                <a:ea typeface="微软雅黑" panose="020B0503020204020204" pitchFamily="34" charset="-122"/>
              </a:rPr>
              <a:t>Q</a:t>
            </a:r>
            <a:r>
              <a:rPr lang="zh-CN" altLang="en-US" sz="2200" dirty="0">
                <a:solidFill>
                  <a:srgbClr val="CC3300"/>
                </a:solidFill>
                <a:latin typeface="微软雅黑" panose="020B0503020204020204" pitchFamily="34" charset="-122"/>
                <a:ea typeface="微软雅黑" panose="020B0503020204020204" pitchFamily="34" charset="-122"/>
              </a:rPr>
              <a:t>时，</a:t>
            </a:r>
            <a:r>
              <a:rPr lang="en-US" altLang="zh-CN" sz="2200" dirty="0">
                <a:solidFill>
                  <a:srgbClr val="CC3300"/>
                </a:solidFill>
                <a:latin typeface="微软雅黑" panose="020B0503020204020204" pitchFamily="34" charset="-122"/>
                <a:ea typeface="微软雅黑" panose="020B0503020204020204" pitchFamily="34" charset="-122"/>
              </a:rPr>
              <a:t>Q</a:t>
            </a:r>
            <a:r>
              <a:rPr lang="zh-CN" altLang="en-US" sz="2200" dirty="0">
                <a:solidFill>
                  <a:srgbClr val="CC3300"/>
                </a:solidFill>
                <a:latin typeface="微软雅黑" panose="020B0503020204020204" pitchFamily="34" charset="-122"/>
                <a:ea typeface="微软雅黑" panose="020B0503020204020204" pitchFamily="34" charset="-122"/>
              </a:rPr>
              <a:t>可以直接使用这三个寄存器，不用将它们的值保存到</a:t>
            </a:r>
            <a:r>
              <a:rPr lang="zh-CN" altLang="en-US" sz="2200" dirty="0">
                <a:solidFill>
                  <a:srgbClr val="FF3300"/>
                </a:solidFill>
                <a:latin typeface="微软雅黑" panose="020B0503020204020204" pitchFamily="34" charset="-122"/>
                <a:ea typeface="微软雅黑" panose="020B0503020204020204" pitchFamily="34" charset="-122"/>
              </a:rPr>
              <a:t>栈</a:t>
            </a:r>
            <a:r>
              <a:rPr lang="zh-CN" altLang="en-US" sz="2200" dirty="0">
                <a:solidFill>
                  <a:srgbClr val="CC3300"/>
                </a:solidFill>
                <a:latin typeface="微软雅黑" panose="020B0503020204020204" pitchFamily="34" charset="-122"/>
                <a:ea typeface="微软雅黑" panose="020B0503020204020204" pitchFamily="34" charset="-122"/>
              </a:rPr>
              <a:t>中。如果</a:t>
            </a:r>
            <a:r>
              <a:rPr lang="en-US" altLang="zh-CN" sz="2200" dirty="0">
                <a:solidFill>
                  <a:srgbClr val="CC3300"/>
                </a:solidFill>
                <a:latin typeface="微软雅黑" panose="020B0503020204020204" pitchFamily="34" charset="-122"/>
                <a:ea typeface="微软雅黑" panose="020B0503020204020204" pitchFamily="34" charset="-122"/>
              </a:rPr>
              <a:t>P</a:t>
            </a:r>
            <a:r>
              <a:rPr lang="zh-CN" altLang="en-US" sz="2200" dirty="0">
                <a:solidFill>
                  <a:srgbClr val="CC3300"/>
                </a:solidFill>
                <a:latin typeface="微软雅黑" panose="020B0503020204020204" pitchFamily="34" charset="-122"/>
                <a:ea typeface="微软雅黑" panose="020B0503020204020204" pitchFamily="34" charset="-122"/>
              </a:rPr>
              <a:t>在从</a:t>
            </a:r>
            <a:r>
              <a:rPr lang="en-US" altLang="zh-CN" sz="2200" dirty="0">
                <a:solidFill>
                  <a:srgbClr val="CC3300"/>
                </a:solidFill>
                <a:latin typeface="微软雅黑" panose="020B0503020204020204" pitchFamily="34" charset="-122"/>
                <a:ea typeface="微软雅黑" panose="020B0503020204020204" pitchFamily="34" charset="-122"/>
              </a:rPr>
              <a:t>Q</a:t>
            </a:r>
            <a:r>
              <a:rPr lang="zh-CN" altLang="en-US" sz="2200" dirty="0">
                <a:solidFill>
                  <a:srgbClr val="CC3300"/>
                </a:solidFill>
                <a:latin typeface="微软雅黑" panose="020B0503020204020204" pitchFamily="34" charset="-122"/>
                <a:ea typeface="微软雅黑" panose="020B0503020204020204" pitchFamily="34" charset="-122"/>
              </a:rPr>
              <a:t>返回后还要用这三个寄存器的话，</a:t>
            </a:r>
            <a:r>
              <a:rPr lang="en-US" altLang="zh-CN" sz="2200" dirty="0">
                <a:solidFill>
                  <a:srgbClr val="CC3300"/>
                </a:solidFill>
                <a:latin typeface="微软雅黑" panose="020B0503020204020204" pitchFamily="34" charset="-122"/>
                <a:ea typeface="微软雅黑" panose="020B0503020204020204" pitchFamily="34" charset="-122"/>
              </a:rPr>
              <a:t>P</a:t>
            </a:r>
            <a:r>
              <a:rPr lang="zh-CN" altLang="en-US" sz="2200" dirty="0">
                <a:solidFill>
                  <a:srgbClr val="CC3300"/>
                </a:solidFill>
                <a:latin typeface="微软雅黑" panose="020B0503020204020204" pitchFamily="34" charset="-122"/>
                <a:ea typeface="微软雅黑" panose="020B0503020204020204" pitchFamily="34" charset="-122"/>
              </a:rPr>
              <a:t>应在转到</a:t>
            </a:r>
            <a:r>
              <a:rPr lang="en-US" altLang="zh-CN" sz="2200" dirty="0">
                <a:solidFill>
                  <a:srgbClr val="CC3300"/>
                </a:solidFill>
                <a:latin typeface="微软雅黑" panose="020B0503020204020204" pitchFamily="34" charset="-122"/>
                <a:ea typeface="微软雅黑" panose="020B0503020204020204" pitchFamily="34" charset="-122"/>
              </a:rPr>
              <a:t>Q</a:t>
            </a:r>
            <a:r>
              <a:rPr lang="zh-CN" altLang="en-US" sz="2200" dirty="0">
                <a:solidFill>
                  <a:srgbClr val="CC3300"/>
                </a:solidFill>
                <a:latin typeface="微软雅黑" panose="020B0503020204020204" pitchFamily="34" charset="-122"/>
                <a:ea typeface="微软雅黑" panose="020B0503020204020204" pitchFamily="34" charset="-122"/>
              </a:rPr>
              <a:t>之前先保存，并在从</a:t>
            </a:r>
            <a:r>
              <a:rPr lang="en-US" altLang="zh-CN" sz="2200" dirty="0">
                <a:solidFill>
                  <a:srgbClr val="CC3300"/>
                </a:solidFill>
                <a:latin typeface="微软雅黑" panose="020B0503020204020204" pitchFamily="34" charset="-122"/>
                <a:ea typeface="微软雅黑" panose="020B0503020204020204" pitchFamily="34" charset="-122"/>
              </a:rPr>
              <a:t>Q</a:t>
            </a:r>
            <a:r>
              <a:rPr lang="zh-CN" altLang="en-US" sz="2200" dirty="0">
                <a:solidFill>
                  <a:srgbClr val="CC3300"/>
                </a:solidFill>
                <a:latin typeface="微软雅黑" panose="020B0503020204020204" pitchFamily="34" charset="-122"/>
                <a:ea typeface="微软雅黑" panose="020B0503020204020204" pitchFamily="34" charset="-122"/>
              </a:rPr>
              <a:t>返回后先恢复它们的值再使用。</a:t>
            </a:r>
          </a:p>
          <a:p>
            <a:pPr lvl="1" algn="just" eaLnBrk="1" hangingPunct="1">
              <a:lnSpc>
                <a:spcPct val="120000"/>
              </a:lnSpc>
              <a:spcBef>
                <a:spcPct val="25000"/>
              </a:spcBef>
            </a:pPr>
            <a:r>
              <a:rPr lang="zh-CN" altLang="en-US" sz="2200" dirty="0">
                <a:latin typeface="微软雅黑" panose="020B0503020204020204" pitchFamily="34" charset="-122"/>
                <a:ea typeface="微软雅黑" panose="020B0503020204020204" pitchFamily="34" charset="-122"/>
              </a:rPr>
              <a:t>被调用者保存寄存器：</a:t>
            </a:r>
            <a:r>
              <a:rPr lang="en-US" altLang="zh-CN" sz="2200" dirty="0">
                <a:latin typeface="微软雅黑" panose="020B0503020204020204" pitchFamily="34" charset="-122"/>
                <a:ea typeface="微软雅黑" panose="020B0503020204020204" pitchFamily="34" charset="-122"/>
              </a:rPr>
              <a:t>EBX</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ESI</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EDI</a:t>
            </a:r>
          </a:p>
          <a:p>
            <a:pPr lvl="1" algn="just" eaLnBrk="1" hangingPunct="1">
              <a:lnSpc>
                <a:spcPct val="120000"/>
              </a:lnSpc>
              <a:spcBef>
                <a:spcPct val="25000"/>
              </a:spcBef>
              <a:buFontTx/>
              <a:buNone/>
            </a:pPr>
            <a:r>
              <a:rPr lang="en-US" altLang="zh-CN" sz="2200" dirty="0">
                <a:latin typeface="微软雅黑" panose="020B0503020204020204" pitchFamily="34" charset="-122"/>
                <a:ea typeface="微软雅黑" panose="020B0503020204020204" pitchFamily="34" charset="-122"/>
              </a:rPr>
              <a:t>   </a:t>
            </a:r>
            <a:r>
              <a:rPr lang="en-US" altLang="zh-CN" sz="2200" dirty="0">
                <a:solidFill>
                  <a:srgbClr val="CC3300"/>
                </a:solidFill>
                <a:latin typeface="微软雅黑" panose="020B0503020204020204" pitchFamily="34" charset="-122"/>
                <a:ea typeface="微软雅黑" panose="020B0503020204020204" pitchFamily="34" charset="-122"/>
              </a:rPr>
              <a:t>Q</a:t>
            </a:r>
            <a:r>
              <a:rPr lang="zh-CN" altLang="en-US" sz="2200" dirty="0">
                <a:solidFill>
                  <a:srgbClr val="CC3300"/>
                </a:solidFill>
                <a:latin typeface="微软雅黑" panose="020B0503020204020204" pitchFamily="34" charset="-122"/>
                <a:ea typeface="微软雅黑" panose="020B0503020204020204" pitchFamily="34" charset="-122"/>
              </a:rPr>
              <a:t>必须先将它们的值保存到</a:t>
            </a:r>
            <a:r>
              <a:rPr lang="zh-CN" altLang="en-US" sz="2200" dirty="0">
                <a:solidFill>
                  <a:srgbClr val="FF3300"/>
                </a:solidFill>
                <a:latin typeface="微软雅黑" panose="020B0503020204020204" pitchFamily="34" charset="-122"/>
                <a:ea typeface="微软雅黑" panose="020B0503020204020204" pitchFamily="34" charset="-122"/>
              </a:rPr>
              <a:t>栈</a:t>
            </a:r>
            <a:r>
              <a:rPr lang="zh-CN" altLang="en-US" sz="2200" dirty="0">
                <a:solidFill>
                  <a:srgbClr val="CC3300"/>
                </a:solidFill>
                <a:latin typeface="微软雅黑" panose="020B0503020204020204" pitchFamily="34" charset="-122"/>
                <a:ea typeface="微软雅黑" panose="020B0503020204020204" pitchFamily="34" charset="-122"/>
              </a:rPr>
              <a:t>中再使用它们，并在返回</a:t>
            </a:r>
            <a:r>
              <a:rPr lang="en-US" altLang="zh-CN" sz="2200" dirty="0">
                <a:solidFill>
                  <a:srgbClr val="CC3300"/>
                </a:solidFill>
                <a:latin typeface="微软雅黑" panose="020B0503020204020204" pitchFamily="34" charset="-122"/>
                <a:ea typeface="微软雅黑" panose="020B0503020204020204" pitchFamily="34" charset="-122"/>
              </a:rPr>
              <a:t>P</a:t>
            </a:r>
            <a:r>
              <a:rPr lang="zh-CN" altLang="en-US" sz="2200" dirty="0">
                <a:solidFill>
                  <a:srgbClr val="CC3300"/>
                </a:solidFill>
                <a:latin typeface="微软雅黑" panose="020B0503020204020204" pitchFamily="34" charset="-122"/>
                <a:ea typeface="微软雅黑" panose="020B0503020204020204" pitchFamily="34" charset="-122"/>
              </a:rPr>
              <a:t>之前恢复它们的值。</a:t>
            </a:r>
          </a:p>
          <a:p>
            <a:pPr lvl="1" algn="just" eaLnBrk="1" hangingPunct="1">
              <a:lnSpc>
                <a:spcPct val="120000"/>
              </a:lnSpc>
              <a:spcBef>
                <a:spcPct val="25000"/>
              </a:spcBef>
            </a:pPr>
            <a:r>
              <a:rPr lang="en-US" altLang="zh-CN" sz="2200" dirty="0">
                <a:latin typeface="微软雅黑" panose="020B0503020204020204" pitchFamily="34" charset="-122"/>
                <a:ea typeface="微软雅黑" panose="020B0503020204020204" pitchFamily="34" charset="-122"/>
              </a:rPr>
              <a:t>EBP</a:t>
            </a:r>
            <a:r>
              <a:rPr lang="zh-CN" altLang="en-US" sz="2200" dirty="0">
                <a:latin typeface="微软雅黑" panose="020B0503020204020204" pitchFamily="34" charset="-122"/>
                <a:ea typeface="微软雅黑" panose="020B0503020204020204" pitchFamily="34" charset="-122"/>
              </a:rPr>
              <a:t>和</a:t>
            </a:r>
            <a:r>
              <a:rPr lang="en-US" altLang="zh-CN" sz="2200" dirty="0">
                <a:latin typeface="微软雅黑" panose="020B0503020204020204" pitchFamily="34" charset="-122"/>
                <a:ea typeface="微软雅黑" panose="020B0503020204020204" pitchFamily="34" charset="-122"/>
              </a:rPr>
              <a:t>ESP</a:t>
            </a:r>
            <a:r>
              <a:rPr lang="zh-CN" altLang="en-US" sz="2200" dirty="0">
                <a:latin typeface="微软雅黑" panose="020B0503020204020204" pitchFamily="34" charset="-122"/>
                <a:ea typeface="微软雅黑" panose="020B0503020204020204" pitchFamily="34" charset="-122"/>
              </a:rPr>
              <a:t>分别是</a:t>
            </a:r>
            <a:r>
              <a:rPr lang="zh-CN" altLang="en-US" sz="2200" dirty="0">
                <a:solidFill>
                  <a:srgbClr val="FF3300"/>
                </a:solidFill>
                <a:latin typeface="微软雅黑" panose="020B0503020204020204" pitchFamily="34" charset="-122"/>
                <a:ea typeface="微软雅黑" panose="020B0503020204020204" pitchFamily="34" charset="-122"/>
              </a:rPr>
              <a:t>帧指针寄存器</a:t>
            </a:r>
            <a:r>
              <a:rPr lang="zh-CN" altLang="en-US" sz="2200" dirty="0">
                <a:latin typeface="微软雅黑" panose="020B0503020204020204" pitchFamily="34" charset="-122"/>
                <a:ea typeface="微软雅黑" panose="020B0503020204020204" pitchFamily="34" charset="-122"/>
              </a:rPr>
              <a:t>和</a:t>
            </a:r>
            <a:r>
              <a:rPr lang="zh-CN" altLang="en-US" sz="2200" dirty="0">
                <a:solidFill>
                  <a:srgbClr val="FF3300"/>
                </a:solidFill>
                <a:latin typeface="微软雅黑" panose="020B0503020204020204" pitchFamily="34" charset="-122"/>
                <a:ea typeface="微软雅黑" panose="020B0503020204020204" pitchFamily="34" charset="-122"/>
              </a:rPr>
              <a:t>栈指针寄存器</a:t>
            </a:r>
            <a:r>
              <a:rPr lang="zh-CN" altLang="en-US" sz="2200" dirty="0">
                <a:latin typeface="微软雅黑" panose="020B0503020204020204" pitchFamily="34" charset="-122"/>
                <a:ea typeface="微软雅黑" panose="020B0503020204020204" pitchFamily="34" charset="-122"/>
              </a:rPr>
              <a:t>，分别用来指向</a:t>
            </a:r>
            <a:r>
              <a:rPr lang="zh-CN" altLang="en-US" sz="2200" dirty="0">
                <a:solidFill>
                  <a:srgbClr val="FF3300"/>
                </a:solidFill>
                <a:latin typeface="微软雅黑" panose="020B0503020204020204" pitchFamily="34" charset="-122"/>
                <a:ea typeface="微软雅黑" panose="020B0503020204020204" pitchFamily="34" charset="-122"/>
              </a:rPr>
              <a:t>当前栈帧</a:t>
            </a:r>
            <a:r>
              <a:rPr lang="zh-CN" altLang="en-US" sz="2200" dirty="0">
                <a:latin typeface="微软雅黑" panose="020B0503020204020204" pitchFamily="34" charset="-122"/>
                <a:ea typeface="微软雅黑" panose="020B0503020204020204" pitchFamily="34" charset="-122"/>
              </a:rPr>
              <a:t>的底部和顶部。 </a:t>
            </a:r>
            <a:endParaRPr lang="en-US" altLang="zh-CN" sz="2200" dirty="0">
              <a:latin typeface="微软雅黑" panose="020B0503020204020204" pitchFamily="34" charset="-122"/>
              <a:ea typeface="微软雅黑" panose="020B0503020204020204" pitchFamily="34" charset="-122"/>
            </a:endParaRPr>
          </a:p>
          <a:p>
            <a:pPr lvl="1" algn="just" eaLnBrk="1" hangingPunct="1">
              <a:lnSpc>
                <a:spcPct val="120000"/>
              </a:lnSpc>
              <a:spcBef>
                <a:spcPct val="25000"/>
              </a:spcBef>
            </a:pPr>
            <a:r>
              <a:rPr lang="zh-CN" altLang="en-US" dirty="0">
                <a:latin typeface="微软雅黑" panose="020B0503020204020204" pitchFamily="34" charset="-122"/>
                <a:ea typeface="微软雅黑" panose="020B0503020204020204" pitchFamily="34" charset="-122"/>
              </a:rPr>
              <a:t>函数返回值</a:t>
            </a:r>
            <a:r>
              <a:rPr lang="en-US" altLang="zh-CN" dirty="0">
                <a:latin typeface="微软雅黑" panose="020B0503020204020204" pitchFamily="34" charset="-122"/>
                <a:ea typeface="微软雅黑" panose="020B0503020204020204" pitchFamily="34" charset="-122"/>
              </a:rPr>
              <a:t>32</a:t>
            </a:r>
            <a:r>
              <a:rPr lang="zh-CN" altLang="en-US" dirty="0">
                <a:latin typeface="微软雅黑" panose="020B0503020204020204" pitchFamily="34" charset="-122"/>
                <a:ea typeface="微软雅黑" panose="020B0503020204020204" pitchFamily="34" charset="-122"/>
              </a:rPr>
              <a:t>位放</a:t>
            </a:r>
            <a:r>
              <a:rPr lang="en-US" altLang="zh-CN" dirty="0">
                <a:latin typeface="微软雅黑" panose="020B0503020204020204" pitchFamily="34" charset="-122"/>
                <a:ea typeface="微软雅黑" panose="020B0503020204020204" pitchFamily="34" charset="-122"/>
              </a:rPr>
              <a:t>EAX</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64</a:t>
            </a:r>
            <a:r>
              <a:rPr lang="zh-CN" altLang="en-US" dirty="0">
                <a:latin typeface="微软雅黑" panose="020B0503020204020204" pitchFamily="34" charset="-122"/>
                <a:ea typeface="微软雅黑" panose="020B0503020204020204" pitchFamily="34" charset="-122"/>
              </a:rPr>
              <a:t>位放</a:t>
            </a:r>
            <a:r>
              <a:rPr lang="en-US" altLang="zh-CN" dirty="0">
                <a:latin typeface="微软雅黑" panose="020B0503020204020204" pitchFamily="34" charset="-122"/>
                <a:ea typeface="微软雅黑" panose="020B0503020204020204" pitchFamily="34" charset="-122"/>
              </a:rPr>
              <a:t>EDX-EAX</a:t>
            </a:r>
            <a:endParaRPr lang="zh-CN" altLang="en-US" dirty="0">
              <a:latin typeface="微软雅黑" panose="020B0503020204020204" pitchFamily="34" charset="-122"/>
              <a:ea typeface="微软雅黑" panose="020B0503020204020204" pitchFamily="34" charset="-122"/>
            </a:endParaRPr>
          </a:p>
        </p:txBody>
      </p:sp>
      <p:sp>
        <p:nvSpPr>
          <p:cNvPr id="775172" name="Text Box 4"/>
          <p:cNvSpPr txBox="1">
            <a:spLocks noChangeArrowheads="1"/>
          </p:cNvSpPr>
          <p:nvPr/>
        </p:nvSpPr>
        <p:spPr bwMode="auto">
          <a:xfrm>
            <a:off x="341313" y="5859463"/>
            <a:ext cx="8370887"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zh-CN" altLang="en-US" sz="2000" b="1"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问题：为减少准备和结束阶段的开销，每个过程应先使用哪些寄存器？</a:t>
            </a:r>
          </a:p>
        </p:txBody>
      </p:sp>
      <p:sp>
        <p:nvSpPr>
          <p:cNvPr id="775173" name="Text Box 5"/>
          <p:cNvSpPr txBox="1">
            <a:spLocks noChangeArrowheads="1"/>
          </p:cNvSpPr>
          <p:nvPr/>
        </p:nvSpPr>
        <p:spPr bwMode="auto">
          <a:xfrm>
            <a:off x="792163" y="6308725"/>
            <a:ext cx="2970212"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2000" b="1" i="0" u="none" strike="noStrike" kern="1200" cap="none" spc="0" normalizeH="0" baseline="0" noProof="0">
                <a:ln>
                  <a:noFill/>
                </a:ln>
                <a:solidFill>
                  <a:srgbClr val="B0CCB0"/>
                </a:solidFill>
                <a:effectLst/>
                <a:uLnTx/>
                <a:uFillTx/>
                <a:latin typeface="微软雅黑" panose="020B0503020204020204" pitchFamily="34" charset="-122"/>
                <a:ea typeface="微软雅黑" panose="020B0503020204020204" pitchFamily="34" charset="-122"/>
                <a:cs typeface="+mn-cs"/>
              </a:rPr>
              <a:t>EAX</a:t>
            </a:r>
            <a:r>
              <a:rPr kumimoji="0" lang="zh-CN" altLang="en-US" sz="2000" b="1" i="0" u="none" strike="noStrike" kern="1200" cap="none" spc="0" normalizeH="0" baseline="0" noProof="0">
                <a:ln>
                  <a:noFill/>
                </a:ln>
                <a:solidFill>
                  <a:srgbClr val="B0CCB0"/>
                </a:solidFill>
                <a:effectLst/>
                <a:uLnTx/>
                <a:uFillTx/>
                <a:latin typeface="微软雅黑" panose="020B0503020204020204" pitchFamily="34" charset="-122"/>
                <a:ea typeface="微软雅黑" panose="020B0503020204020204" pitchFamily="34" charset="-122"/>
                <a:cs typeface="+mn-cs"/>
              </a:rPr>
              <a:t>、</a:t>
            </a:r>
            <a:r>
              <a:rPr kumimoji="0" lang="en-US" altLang="zh-CN" sz="2000" b="1" i="0" u="none" strike="noStrike" kern="1200" cap="none" spc="0" normalizeH="0" baseline="0" noProof="0">
                <a:ln>
                  <a:noFill/>
                </a:ln>
                <a:solidFill>
                  <a:srgbClr val="B0CCB0"/>
                </a:solidFill>
                <a:effectLst/>
                <a:uLnTx/>
                <a:uFillTx/>
                <a:latin typeface="微软雅黑" panose="020B0503020204020204" pitchFamily="34" charset="-122"/>
                <a:ea typeface="微软雅黑" panose="020B0503020204020204" pitchFamily="34" charset="-122"/>
                <a:cs typeface="+mn-cs"/>
              </a:rPr>
              <a:t>ECX</a:t>
            </a:r>
            <a:r>
              <a:rPr kumimoji="0" lang="zh-CN" altLang="en-US" sz="2000" b="1" i="0" u="none" strike="noStrike" kern="1200" cap="none" spc="0" normalizeH="0" baseline="0" noProof="0">
                <a:ln>
                  <a:noFill/>
                </a:ln>
                <a:solidFill>
                  <a:srgbClr val="B0CCB0"/>
                </a:solidFill>
                <a:effectLst/>
                <a:uLnTx/>
                <a:uFillTx/>
                <a:latin typeface="微软雅黑" panose="020B0503020204020204" pitchFamily="34" charset="-122"/>
                <a:ea typeface="微软雅黑" panose="020B0503020204020204" pitchFamily="34" charset="-122"/>
                <a:cs typeface="+mn-cs"/>
              </a:rPr>
              <a:t>、</a:t>
            </a:r>
            <a:r>
              <a:rPr kumimoji="0" lang="en-US" altLang="zh-CN" sz="2000" b="1" i="0" u="none" strike="noStrike" kern="1200" cap="none" spc="0" normalizeH="0" baseline="0" noProof="0">
                <a:ln>
                  <a:noFill/>
                </a:ln>
                <a:solidFill>
                  <a:srgbClr val="B0CCB0"/>
                </a:solidFill>
                <a:effectLst/>
                <a:uLnTx/>
                <a:uFillTx/>
                <a:latin typeface="微软雅黑" panose="020B0503020204020204" pitchFamily="34" charset="-122"/>
                <a:ea typeface="微软雅黑" panose="020B0503020204020204" pitchFamily="34" charset="-122"/>
                <a:cs typeface="+mn-cs"/>
              </a:rPr>
              <a:t>EDX</a:t>
            </a:r>
            <a:r>
              <a:rPr kumimoji="0" lang="zh-CN" altLang="en-US" sz="2000" b="1" i="0" u="none" strike="noStrike" kern="1200" cap="none" spc="0" normalizeH="0" baseline="0" noProof="0">
                <a:ln>
                  <a:noFill/>
                </a:ln>
                <a:solidFill>
                  <a:srgbClr val="B0CCB0"/>
                </a:solidFill>
                <a:effectLst/>
                <a:uLnTx/>
                <a:uFillTx/>
                <a:latin typeface="微软雅黑" panose="020B0503020204020204" pitchFamily="34" charset="-122"/>
                <a:ea typeface="微软雅黑" panose="020B0503020204020204" pitchFamily="34" charset="-122"/>
                <a:cs typeface="+mn-cs"/>
              </a:rPr>
              <a:t>！</a:t>
            </a:r>
          </a:p>
        </p:txBody>
      </p:sp>
    </p:spTree>
    <p:extLst>
      <p:ext uri="{BB962C8B-B14F-4D97-AF65-F5344CB8AC3E}">
        <p14:creationId xmlns:p14="http://schemas.microsoft.com/office/powerpoint/2010/main" val="3021032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75171">
                                            <p:txEl>
                                              <p:pRg st="0" end="0"/>
                                            </p:txEl>
                                          </p:spTgt>
                                        </p:tgtEl>
                                        <p:attrNameLst>
                                          <p:attrName>style.visibility</p:attrName>
                                        </p:attrNameLst>
                                      </p:cBhvr>
                                      <p:to>
                                        <p:strVal val="visible"/>
                                      </p:to>
                                    </p:set>
                                    <p:animEffect transition="in" filter="blinds(horizontal)">
                                      <p:cBhvr>
                                        <p:cTn id="7" dur="500"/>
                                        <p:tgtEl>
                                          <p:spTgt spid="7751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75171">
                                            <p:txEl>
                                              <p:pRg st="1" end="1"/>
                                            </p:txEl>
                                          </p:spTgt>
                                        </p:tgtEl>
                                        <p:attrNameLst>
                                          <p:attrName>style.visibility</p:attrName>
                                        </p:attrNameLst>
                                      </p:cBhvr>
                                      <p:to>
                                        <p:strVal val="visible"/>
                                      </p:to>
                                    </p:set>
                                    <p:animEffect transition="in" filter="blinds(horizontal)">
                                      <p:cBhvr>
                                        <p:cTn id="12" dur="500"/>
                                        <p:tgtEl>
                                          <p:spTgt spid="7751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75171">
                                            <p:txEl>
                                              <p:pRg st="2" end="2"/>
                                            </p:txEl>
                                          </p:spTgt>
                                        </p:tgtEl>
                                        <p:attrNameLst>
                                          <p:attrName>style.visibility</p:attrName>
                                        </p:attrNameLst>
                                      </p:cBhvr>
                                      <p:to>
                                        <p:strVal val="visible"/>
                                      </p:to>
                                    </p:set>
                                    <p:animEffect transition="in" filter="blinds(horizontal)">
                                      <p:cBhvr>
                                        <p:cTn id="17" dur="500"/>
                                        <p:tgtEl>
                                          <p:spTgt spid="77517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75171">
                                            <p:txEl>
                                              <p:pRg st="3" end="3"/>
                                            </p:txEl>
                                          </p:spTgt>
                                        </p:tgtEl>
                                        <p:attrNameLst>
                                          <p:attrName>style.visibility</p:attrName>
                                        </p:attrNameLst>
                                      </p:cBhvr>
                                      <p:to>
                                        <p:strVal val="visible"/>
                                      </p:to>
                                    </p:set>
                                    <p:animEffect transition="in" filter="blinds(horizontal)">
                                      <p:cBhvr>
                                        <p:cTn id="22" dur="500"/>
                                        <p:tgtEl>
                                          <p:spTgt spid="77517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75171">
                                            <p:txEl>
                                              <p:pRg st="4" end="4"/>
                                            </p:txEl>
                                          </p:spTgt>
                                        </p:tgtEl>
                                        <p:attrNameLst>
                                          <p:attrName>style.visibility</p:attrName>
                                        </p:attrNameLst>
                                      </p:cBhvr>
                                      <p:to>
                                        <p:strVal val="visible"/>
                                      </p:to>
                                    </p:set>
                                    <p:animEffect transition="in" filter="blinds(horizontal)">
                                      <p:cBhvr>
                                        <p:cTn id="27" dur="500"/>
                                        <p:tgtEl>
                                          <p:spTgt spid="77517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75171">
                                            <p:txEl>
                                              <p:pRg st="5" end="5"/>
                                            </p:txEl>
                                          </p:spTgt>
                                        </p:tgtEl>
                                        <p:attrNameLst>
                                          <p:attrName>style.visibility</p:attrName>
                                        </p:attrNameLst>
                                      </p:cBhvr>
                                      <p:to>
                                        <p:strVal val="visible"/>
                                      </p:to>
                                    </p:set>
                                    <p:animEffect transition="in" filter="blinds(horizontal)">
                                      <p:cBhvr>
                                        <p:cTn id="32" dur="500"/>
                                        <p:tgtEl>
                                          <p:spTgt spid="77517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75172"/>
                                        </p:tgtEl>
                                        <p:attrNameLst>
                                          <p:attrName>style.visibility</p:attrName>
                                        </p:attrNameLst>
                                      </p:cBhvr>
                                      <p:to>
                                        <p:strVal val="visible"/>
                                      </p:to>
                                    </p:set>
                                    <p:animEffect transition="in" filter="blinds(horizontal)">
                                      <p:cBhvr>
                                        <p:cTn id="37" dur="500"/>
                                        <p:tgtEl>
                                          <p:spTgt spid="77517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75173"/>
                                        </p:tgtEl>
                                        <p:attrNameLst>
                                          <p:attrName>style.visibility</p:attrName>
                                        </p:attrNameLst>
                                      </p:cBhvr>
                                      <p:to>
                                        <p:strVal val="visible"/>
                                      </p:to>
                                    </p:set>
                                    <p:animEffect transition="in" filter="blinds(horizontal)">
                                      <p:cBhvr>
                                        <p:cTn id="42" dur="500"/>
                                        <p:tgtEl>
                                          <p:spTgt spid="775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5172" grpId="0"/>
      <p:bldP spid="77517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chemeClr val="accent6">
                    <a:lumMod val="50000"/>
                  </a:schemeClr>
                </a:solidFill>
              </a:rPr>
              <a:t>栈和栈帧</a:t>
            </a:r>
          </a:p>
        </p:txBody>
      </p:sp>
      <p:sp>
        <p:nvSpPr>
          <p:cNvPr id="3" name="内容占位符 2"/>
          <p:cNvSpPr>
            <a:spLocks noGrp="1"/>
          </p:cNvSpPr>
          <p:nvPr>
            <p:ph idx="1"/>
          </p:nvPr>
        </p:nvSpPr>
        <p:spPr>
          <a:xfrm>
            <a:off x="481684" y="1268760"/>
            <a:ext cx="8229600" cy="5440362"/>
          </a:xfrm>
        </p:spPr>
        <p:txBody>
          <a:bodyPr>
            <a:normAutofit fontScale="77500" lnSpcReduction="20000"/>
          </a:bodyPr>
          <a:lstStyle/>
          <a:p>
            <a:pPr indent="-540000">
              <a:lnSpc>
                <a:spcPct val="150000"/>
              </a:lnSpc>
              <a:spcAft>
                <a:spcPts val="1200"/>
              </a:spcAft>
              <a:buFont typeface="Wingdings" panose="05000000000000000000" pitchFamily="2" charset="2"/>
              <a:buChar char="Ø"/>
            </a:pPr>
            <a:r>
              <a:rPr lang="en-US" altLang="zh-CN" dirty="0"/>
              <a:t>IA-32</a:t>
            </a:r>
            <a:r>
              <a:rPr lang="zh-CN" altLang="en-US" dirty="0"/>
              <a:t>使用栈来支持过程的嵌套调用，过程的</a:t>
            </a:r>
            <a:r>
              <a:rPr lang="zh-CN" altLang="en-US" dirty="0">
                <a:solidFill>
                  <a:srgbClr val="0033CC"/>
                </a:solidFill>
              </a:rPr>
              <a:t>入口参数、返回地址、被保存寄存器的值、被调用过程中的非静态局部变量</a:t>
            </a:r>
            <a:r>
              <a:rPr lang="zh-CN" altLang="en-US" dirty="0"/>
              <a:t>都会被压入栈中</a:t>
            </a:r>
            <a:endParaRPr lang="en-US" altLang="zh-CN" dirty="0"/>
          </a:p>
          <a:p>
            <a:pPr indent="-540000">
              <a:lnSpc>
                <a:spcPct val="150000"/>
              </a:lnSpc>
              <a:spcAft>
                <a:spcPts val="1200"/>
              </a:spcAft>
              <a:buFont typeface="Wingdings" panose="05000000000000000000" pitchFamily="2" charset="2"/>
              <a:buChar char="Ø"/>
            </a:pPr>
            <a:r>
              <a:rPr lang="zh-CN" altLang="en-US" dirty="0"/>
              <a:t>栈</a:t>
            </a:r>
            <a:r>
              <a:rPr lang="zh-CN" altLang="en-US" dirty="0">
                <a:solidFill>
                  <a:srgbClr val="0033CC"/>
                </a:solidFill>
              </a:rPr>
              <a:t>从高地址向低地址增长</a:t>
            </a:r>
            <a:r>
              <a:rPr lang="zh-CN" altLang="en-US" dirty="0"/>
              <a:t>，栈顶用</a:t>
            </a:r>
            <a:r>
              <a:rPr lang="en-US" altLang="zh-CN" dirty="0">
                <a:solidFill>
                  <a:srgbClr val="FF0000"/>
                </a:solidFill>
              </a:rPr>
              <a:t>ESP</a:t>
            </a:r>
            <a:r>
              <a:rPr lang="zh-CN" altLang="en-US" dirty="0"/>
              <a:t>寄存器指示</a:t>
            </a:r>
            <a:endParaRPr lang="en-US" altLang="zh-CN" dirty="0"/>
          </a:p>
          <a:p>
            <a:pPr indent="-540000">
              <a:lnSpc>
                <a:spcPct val="150000"/>
              </a:lnSpc>
              <a:spcAft>
                <a:spcPts val="1200"/>
              </a:spcAft>
              <a:buFont typeface="Wingdings" panose="05000000000000000000" pitchFamily="2" charset="2"/>
              <a:buChar char="Ø"/>
            </a:pPr>
            <a:r>
              <a:rPr lang="zh-CN" altLang="en-US" dirty="0"/>
              <a:t>每个</a:t>
            </a:r>
            <a:r>
              <a:rPr lang="zh-CN" altLang="en-US" dirty="0">
                <a:solidFill>
                  <a:srgbClr val="0033CC"/>
                </a:solidFill>
              </a:rPr>
              <a:t>过程</a:t>
            </a:r>
            <a:r>
              <a:rPr lang="zh-CN" altLang="en-US" dirty="0"/>
              <a:t>都有自己的</a:t>
            </a:r>
            <a:r>
              <a:rPr lang="zh-CN" altLang="en-US" dirty="0">
                <a:solidFill>
                  <a:srgbClr val="0033CC"/>
                </a:solidFill>
              </a:rPr>
              <a:t>栈区</a:t>
            </a:r>
            <a:r>
              <a:rPr lang="zh-CN" altLang="en-US" dirty="0"/>
              <a:t>，称为栈帧，一个栈由若干栈帧组成</a:t>
            </a:r>
            <a:endParaRPr lang="en-US" altLang="zh-CN" dirty="0"/>
          </a:p>
          <a:p>
            <a:pPr indent="-540000">
              <a:lnSpc>
                <a:spcPct val="150000"/>
              </a:lnSpc>
              <a:spcAft>
                <a:spcPts val="1200"/>
              </a:spcAft>
              <a:buFont typeface="Wingdings" panose="05000000000000000000" pitchFamily="2" charset="2"/>
              <a:buChar char="Ø"/>
            </a:pPr>
            <a:r>
              <a:rPr lang="zh-CN" altLang="en-US" dirty="0"/>
              <a:t>每个栈帧用帧指针寄存器</a:t>
            </a:r>
            <a:r>
              <a:rPr lang="en-US" altLang="zh-CN" dirty="0">
                <a:solidFill>
                  <a:srgbClr val="FF0000"/>
                </a:solidFill>
              </a:rPr>
              <a:t>EBP</a:t>
            </a:r>
            <a:r>
              <a:rPr lang="zh-CN" altLang="en-US" dirty="0"/>
              <a:t>指定起始位置，当前栈帧的范围在</a:t>
            </a:r>
            <a:r>
              <a:rPr lang="en-US" altLang="zh-CN" dirty="0">
                <a:solidFill>
                  <a:srgbClr val="FF0000"/>
                </a:solidFill>
              </a:rPr>
              <a:t>EBP</a:t>
            </a:r>
            <a:r>
              <a:rPr lang="zh-CN" altLang="en-US" dirty="0">
                <a:solidFill>
                  <a:srgbClr val="FF0000"/>
                </a:solidFill>
              </a:rPr>
              <a:t>（固定不变）</a:t>
            </a:r>
            <a:r>
              <a:rPr lang="zh-CN" altLang="en-US" dirty="0"/>
              <a:t>和</a:t>
            </a:r>
            <a:r>
              <a:rPr lang="en-US" altLang="zh-CN" dirty="0">
                <a:solidFill>
                  <a:srgbClr val="FF0000"/>
                </a:solidFill>
              </a:rPr>
              <a:t>ESP</a:t>
            </a:r>
            <a:r>
              <a:rPr lang="zh-CN" altLang="en-US" dirty="0">
                <a:solidFill>
                  <a:srgbClr val="FF0000"/>
                </a:solidFill>
              </a:rPr>
              <a:t>（随着数据入栈动态移动）</a:t>
            </a:r>
            <a:r>
              <a:rPr lang="zh-CN" altLang="en-US" dirty="0"/>
              <a:t>之间</a:t>
            </a:r>
            <a:endParaRPr lang="en-US" altLang="zh-CN" dirty="0"/>
          </a:p>
        </p:txBody>
      </p:sp>
    </p:spTree>
    <p:extLst>
      <p:ext uri="{BB962C8B-B14F-4D97-AF65-F5344CB8AC3E}">
        <p14:creationId xmlns:p14="http://schemas.microsoft.com/office/powerpoint/2010/main" val="248673453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6207"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6675" y="1025178"/>
            <a:ext cx="2727325" cy="504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6206"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1038" y="980728"/>
            <a:ext cx="3195637" cy="512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6205"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980728"/>
            <a:ext cx="3267075" cy="517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1" name="Rectangle 2"/>
          <p:cNvSpPr>
            <a:spLocks noGrp="1" noChangeArrowheads="1"/>
          </p:cNvSpPr>
          <p:nvPr>
            <p:ph type="title"/>
          </p:nvPr>
        </p:nvSpPr>
        <p:spPr>
          <a:xfrm>
            <a:off x="457200" y="98425"/>
            <a:ext cx="8229600" cy="561975"/>
          </a:xfrm>
        </p:spPr>
        <p:txBody>
          <a:bodyPr>
            <a:normAutofit fontScale="90000"/>
          </a:bodyPr>
          <a:lstStyle/>
          <a:p>
            <a:r>
              <a:rPr lang="zh-CN" altLang="en-US" sz="3600" dirty="0">
                <a:solidFill>
                  <a:srgbClr val="C00000"/>
                </a:solidFill>
                <a:latin typeface="微软雅黑" panose="020B0503020204020204" pitchFamily="34" charset="-122"/>
                <a:ea typeface="微软雅黑" panose="020B0503020204020204" pitchFamily="34" charset="-122"/>
              </a:rPr>
              <a:t>过程调用过程中栈和栈帧的变化</a:t>
            </a:r>
            <a:endParaRPr lang="en-US" altLang="zh-CN" sz="3600" dirty="0">
              <a:solidFill>
                <a:srgbClr val="C00000"/>
              </a:solidFill>
              <a:latin typeface="微软雅黑" panose="020B0503020204020204" pitchFamily="34" charset="-122"/>
              <a:ea typeface="微软雅黑" panose="020B0503020204020204" pitchFamily="34" charset="-122"/>
            </a:endParaRPr>
          </a:p>
        </p:txBody>
      </p:sp>
      <p:sp>
        <p:nvSpPr>
          <p:cNvPr id="776197" name="Text Box 5"/>
          <p:cNvSpPr txBox="1">
            <a:spLocks noChangeArrowheads="1"/>
          </p:cNvSpPr>
          <p:nvPr/>
        </p:nvSpPr>
        <p:spPr bwMode="auto">
          <a:xfrm>
            <a:off x="341313" y="2465041"/>
            <a:ext cx="9001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a:ln>
                  <a:noFill/>
                </a:ln>
                <a:solidFill>
                  <a:srgbClr val="FF0000"/>
                </a:solidFill>
                <a:effectLst/>
                <a:uLnTx/>
                <a:uFillTx/>
                <a:latin typeface="Arial" panose="020B0604020202020204" pitchFamily="34" charset="0"/>
                <a:ea typeface="黑体" panose="02010609060101010101" pitchFamily="49" charset="-122"/>
                <a:cs typeface="+mn-cs"/>
              </a:rPr>
              <a:t>①</a:t>
            </a:r>
          </a:p>
        </p:txBody>
      </p:sp>
      <p:sp>
        <p:nvSpPr>
          <p:cNvPr id="776198" name="Text Box 6"/>
          <p:cNvSpPr txBox="1">
            <a:spLocks noChangeArrowheads="1"/>
          </p:cNvSpPr>
          <p:nvPr/>
        </p:nvSpPr>
        <p:spPr bwMode="auto">
          <a:xfrm>
            <a:off x="2322513" y="3042891"/>
            <a:ext cx="9001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a:ln>
                  <a:noFill/>
                </a:ln>
                <a:solidFill>
                  <a:srgbClr val="FF0000"/>
                </a:solidFill>
                <a:effectLst/>
                <a:uLnTx/>
                <a:uFillTx/>
                <a:latin typeface="Arial" panose="020B0604020202020204" pitchFamily="34" charset="0"/>
                <a:ea typeface="黑体" panose="02010609060101010101" pitchFamily="49" charset="-122"/>
                <a:cs typeface="+mn-cs"/>
              </a:rPr>
              <a:t>②</a:t>
            </a:r>
          </a:p>
        </p:txBody>
      </p:sp>
      <p:sp>
        <p:nvSpPr>
          <p:cNvPr id="776199" name="Text Box 7"/>
          <p:cNvSpPr txBox="1">
            <a:spLocks noChangeArrowheads="1"/>
          </p:cNvSpPr>
          <p:nvPr/>
        </p:nvSpPr>
        <p:spPr bwMode="auto">
          <a:xfrm>
            <a:off x="3536950" y="4039841"/>
            <a:ext cx="9001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a:ln>
                  <a:noFill/>
                </a:ln>
                <a:solidFill>
                  <a:srgbClr val="FF0000"/>
                </a:solidFill>
                <a:effectLst/>
                <a:uLnTx/>
                <a:uFillTx/>
                <a:latin typeface="Arial" panose="020B0604020202020204" pitchFamily="34" charset="0"/>
                <a:ea typeface="黑体" panose="02010609060101010101" pitchFamily="49" charset="-122"/>
                <a:cs typeface="+mn-cs"/>
              </a:rPr>
              <a:t>③</a:t>
            </a:r>
          </a:p>
        </p:txBody>
      </p:sp>
      <p:sp>
        <p:nvSpPr>
          <p:cNvPr id="776200" name="Text Box 8"/>
          <p:cNvSpPr txBox="1">
            <a:spLocks noChangeArrowheads="1"/>
          </p:cNvSpPr>
          <p:nvPr/>
        </p:nvSpPr>
        <p:spPr bwMode="auto">
          <a:xfrm>
            <a:off x="8351838" y="3004791"/>
            <a:ext cx="558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a:ln>
                  <a:noFill/>
                </a:ln>
                <a:solidFill>
                  <a:srgbClr val="FF0000"/>
                </a:solidFill>
                <a:effectLst/>
                <a:uLnTx/>
                <a:uFillTx/>
                <a:latin typeface="黑体" panose="02010609060101010101" pitchFamily="49" charset="-122"/>
                <a:ea typeface="黑体" panose="02010609060101010101" pitchFamily="49" charset="-122"/>
                <a:cs typeface="+mn-cs"/>
              </a:rPr>
              <a:t>④</a:t>
            </a:r>
          </a:p>
        </p:txBody>
      </p:sp>
      <p:sp>
        <p:nvSpPr>
          <p:cNvPr id="80907" name="Text Box 9"/>
          <p:cNvSpPr txBox="1">
            <a:spLocks noChangeArrowheads="1"/>
          </p:cNvSpPr>
          <p:nvPr/>
        </p:nvSpPr>
        <p:spPr bwMode="auto">
          <a:xfrm>
            <a:off x="385763" y="4670078"/>
            <a:ext cx="2925762" cy="36671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Q(</a:t>
            </a:r>
            <a:r>
              <a:rPr kumimoji="0" lang="zh-CN" altLang="en-US"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参数</a:t>
            </a:r>
            <a:r>
              <a:rPr kumimoji="0" lang="en-US" altLang="zh-CN"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1</a:t>
            </a:r>
            <a:r>
              <a:rPr kumimoji="0" lang="zh-CN" altLang="en-US"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a:t>
            </a:r>
            <a:r>
              <a:rPr kumimoji="0" lang="en-US" altLang="zh-CN"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，参数</a:t>
            </a:r>
            <a:r>
              <a:rPr kumimoji="0" lang="en-US" altLang="zh-CN"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n);</a:t>
            </a:r>
            <a:endParaRPr kumimoji="0" lang="zh-CN" altLang="en-US"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endParaRPr>
          </a:p>
        </p:txBody>
      </p:sp>
      <p:sp>
        <p:nvSpPr>
          <p:cNvPr id="776202" name="Rectangle 10"/>
          <p:cNvSpPr>
            <a:spLocks noChangeArrowheads="1"/>
          </p:cNvSpPr>
          <p:nvPr/>
        </p:nvSpPr>
        <p:spPr bwMode="auto">
          <a:xfrm>
            <a:off x="3986213" y="3409603"/>
            <a:ext cx="1574800" cy="1081088"/>
          </a:xfrm>
          <a:prstGeom prst="rect">
            <a:avLst/>
          </a:prstGeom>
          <a:solidFill>
            <a:srgbClr val="FF0000">
              <a:alpha val="25882"/>
            </a:srgb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76203" name="Rectangle 11"/>
          <p:cNvSpPr>
            <a:spLocks noChangeArrowheads="1"/>
          </p:cNvSpPr>
          <p:nvPr/>
        </p:nvSpPr>
        <p:spPr bwMode="auto">
          <a:xfrm>
            <a:off x="3986213" y="4490691"/>
            <a:ext cx="1574800" cy="944562"/>
          </a:xfrm>
          <a:prstGeom prst="rect">
            <a:avLst/>
          </a:prstGeom>
          <a:solidFill>
            <a:srgbClr val="0000FF">
              <a:alpha val="25882"/>
            </a:srgb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776214" name="Group 22"/>
          <p:cNvGrpSpPr>
            <a:grpSpLocks/>
          </p:cNvGrpSpPr>
          <p:nvPr/>
        </p:nvGrpSpPr>
        <p:grpSpPr bwMode="auto">
          <a:xfrm>
            <a:off x="276225" y="6065491"/>
            <a:ext cx="2090738" cy="414337"/>
            <a:chOff x="174" y="4031"/>
            <a:chExt cx="1317" cy="261"/>
          </a:xfrm>
        </p:grpSpPr>
        <p:pic>
          <p:nvPicPr>
            <p:cNvPr id="80917"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4" y="4031"/>
              <a:ext cx="1289" cy="233"/>
            </a:xfrm>
            <a:prstGeom prst="rect">
              <a:avLst/>
            </a:prstGeom>
            <a:solidFill>
              <a:schemeClr val="accent2">
                <a:alpha val="32156"/>
              </a:schemeClr>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80918" name="Rectangle 19"/>
            <p:cNvSpPr>
              <a:spLocks noChangeArrowheads="1"/>
            </p:cNvSpPr>
            <p:nvPr/>
          </p:nvSpPr>
          <p:spPr bwMode="auto">
            <a:xfrm>
              <a:off x="186" y="4031"/>
              <a:ext cx="1305" cy="261"/>
            </a:xfrm>
            <a:prstGeom prst="rect">
              <a:avLst/>
            </a:prstGeom>
            <a:solidFill>
              <a:schemeClr val="accent2">
                <a:alpha val="27843"/>
              </a:scheme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776215" name="Group 23"/>
          <p:cNvGrpSpPr>
            <a:grpSpLocks/>
          </p:cNvGrpSpPr>
          <p:nvPr/>
        </p:nvGrpSpPr>
        <p:grpSpPr bwMode="auto">
          <a:xfrm>
            <a:off x="3492500" y="6065491"/>
            <a:ext cx="2071688" cy="414337"/>
            <a:chOff x="2200" y="4031"/>
            <a:chExt cx="1305" cy="261"/>
          </a:xfrm>
        </p:grpSpPr>
        <p:pic>
          <p:nvPicPr>
            <p:cNvPr id="80915"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0" y="4054"/>
              <a:ext cx="1106"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16" name="Rectangle 20"/>
            <p:cNvSpPr>
              <a:spLocks noChangeArrowheads="1"/>
            </p:cNvSpPr>
            <p:nvPr/>
          </p:nvSpPr>
          <p:spPr bwMode="auto">
            <a:xfrm>
              <a:off x="2200" y="4031"/>
              <a:ext cx="1305" cy="261"/>
            </a:xfrm>
            <a:prstGeom prst="rect">
              <a:avLst/>
            </a:prstGeom>
            <a:solidFill>
              <a:schemeClr val="accent2">
                <a:alpha val="27843"/>
              </a:scheme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776218" name="Group 26"/>
          <p:cNvGrpSpPr>
            <a:grpSpLocks/>
          </p:cNvGrpSpPr>
          <p:nvPr/>
        </p:nvGrpSpPr>
        <p:grpSpPr bwMode="auto">
          <a:xfrm>
            <a:off x="6462713" y="6065491"/>
            <a:ext cx="2071687" cy="414337"/>
            <a:chOff x="4071" y="4031"/>
            <a:chExt cx="1305" cy="261"/>
          </a:xfrm>
        </p:grpSpPr>
        <p:pic>
          <p:nvPicPr>
            <p:cNvPr id="80913" name="Picture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27" y="4059"/>
              <a:ext cx="1190"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14" name="Rectangle 21"/>
            <p:cNvSpPr>
              <a:spLocks noChangeArrowheads="1"/>
            </p:cNvSpPr>
            <p:nvPr/>
          </p:nvSpPr>
          <p:spPr bwMode="auto">
            <a:xfrm>
              <a:off x="4071" y="4031"/>
              <a:ext cx="1305" cy="261"/>
            </a:xfrm>
            <a:prstGeom prst="rect">
              <a:avLst/>
            </a:prstGeom>
            <a:solidFill>
              <a:schemeClr val="accent2">
                <a:alpha val="27843"/>
              </a:scheme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23" name="Text Box 9"/>
          <p:cNvSpPr txBox="1">
            <a:spLocks noChangeArrowheads="1"/>
          </p:cNvSpPr>
          <p:nvPr/>
        </p:nvSpPr>
        <p:spPr bwMode="auto">
          <a:xfrm>
            <a:off x="3497141" y="5052665"/>
            <a:ext cx="2925762" cy="366713"/>
          </a:xfrm>
          <a:prstGeom prst="rect">
            <a:avLst/>
          </a:prstGeom>
          <a:noFill/>
          <a:ln>
            <a:noFill/>
          </a:ln>
          <a:effec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Auto</a:t>
            </a:r>
            <a:r>
              <a:rPr kumimoji="0" lang="zh-CN" altLang="en-US"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型变量只在这有效</a:t>
            </a:r>
          </a:p>
        </p:txBody>
      </p:sp>
      <p:sp>
        <p:nvSpPr>
          <p:cNvPr id="24" name="Text Box 9"/>
          <p:cNvSpPr txBox="1">
            <a:spLocks noChangeArrowheads="1"/>
          </p:cNvSpPr>
          <p:nvPr/>
        </p:nvSpPr>
        <p:spPr bwMode="auto">
          <a:xfrm>
            <a:off x="6762943" y="3556439"/>
            <a:ext cx="1947670" cy="646331"/>
          </a:xfrm>
          <a:prstGeom prst="rect">
            <a:avLst/>
          </a:prstGeom>
          <a:noFill/>
          <a:ln>
            <a:noFill/>
          </a:ln>
          <a:effectLst/>
        </p:spPr>
        <p:txBody>
          <a:bodyPr wrap="square">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Q</a:t>
            </a:r>
            <a:r>
              <a:rPr kumimoji="0" lang="zh-CN" altLang="en-US"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的栈帧被释放</a:t>
            </a:r>
            <a:endParaRPr kumimoji="0" lang="en-US" altLang="zh-CN"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Auto</a:t>
            </a:r>
            <a:r>
              <a:rPr kumimoji="0" lang="zh-CN" altLang="en-US"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型变量失效</a:t>
            </a:r>
          </a:p>
        </p:txBody>
      </p:sp>
      <p:sp>
        <p:nvSpPr>
          <p:cNvPr id="25" name="Text Box 9"/>
          <p:cNvSpPr txBox="1">
            <a:spLocks noChangeArrowheads="1"/>
          </p:cNvSpPr>
          <p:nvPr/>
        </p:nvSpPr>
        <p:spPr bwMode="auto">
          <a:xfrm>
            <a:off x="6416675" y="4221088"/>
            <a:ext cx="2925762" cy="923330"/>
          </a:xfrm>
          <a:prstGeom prst="rect">
            <a:avLst/>
          </a:prstGeom>
          <a:noFill/>
          <a:ln>
            <a:noFill/>
          </a:ln>
          <a:effec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函数的局部变量只在自己的栈帧中有效，可以与其他函数的局部变量同名</a:t>
            </a:r>
          </a:p>
        </p:txBody>
      </p:sp>
      <p:sp>
        <p:nvSpPr>
          <p:cNvPr id="28" name="Text Box 9"/>
          <p:cNvSpPr txBox="1">
            <a:spLocks noChangeArrowheads="1"/>
          </p:cNvSpPr>
          <p:nvPr/>
        </p:nvSpPr>
        <p:spPr bwMode="auto">
          <a:xfrm>
            <a:off x="6398766" y="5229200"/>
            <a:ext cx="2925762" cy="923330"/>
          </a:xfrm>
          <a:prstGeom prst="rect">
            <a:avLst/>
          </a:prstGeom>
          <a:noFill/>
          <a:ln>
            <a:noFill/>
          </a:ln>
          <a:effec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外部参照型变量和静态变量被分配在静态数据区，具有全局生存性</a:t>
            </a:r>
          </a:p>
        </p:txBody>
      </p:sp>
    </p:spTree>
    <p:extLst>
      <p:ext uri="{BB962C8B-B14F-4D97-AF65-F5344CB8AC3E}">
        <p14:creationId xmlns:p14="http://schemas.microsoft.com/office/powerpoint/2010/main" val="4761474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776214"/>
                                        </p:tgtEl>
                                        <p:attrNameLst>
                                          <p:attrName>style.visibility</p:attrName>
                                        </p:attrNameLst>
                                      </p:cBhvr>
                                      <p:to>
                                        <p:strVal val="visible"/>
                                      </p:to>
                                    </p:set>
                                    <p:animEffect transition="in" filter="blinds(horizontal)">
                                      <p:cBhvr>
                                        <p:cTn id="7" dur="500"/>
                                        <p:tgtEl>
                                          <p:spTgt spid="776214"/>
                                        </p:tgtEl>
                                      </p:cBhvr>
                                    </p:animEffect>
                                  </p:childTnLst>
                                </p:cTn>
                              </p:par>
                              <p:par>
                                <p:cTn id="8" presetID="3" presetClass="entr" presetSubtype="10" fill="hold" nodeType="withEffect">
                                  <p:stCondLst>
                                    <p:cond delay="0"/>
                                  </p:stCondLst>
                                  <p:childTnLst>
                                    <p:set>
                                      <p:cBhvr>
                                        <p:cTn id="9" dur="1" fill="hold">
                                          <p:stCondLst>
                                            <p:cond delay="0"/>
                                          </p:stCondLst>
                                        </p:cTn>
                                        <p:tgtEl>
                                          <p:spTgt spid="776205"/>
                                        </p:tgtEl>
                                        <p:attrNameLst>
                                          <p:attrName>style.visibility</p:attrName>
                                        </p:attrNameLst>
                                      </p:cBhvr>
                                      <p:to>
                                        <p:strVal val="visible"/>
                                      </p:to>
                                    </p:set>
                                    <p:animEffect transition="in" filter="blinds(horizontal)">
                                      <p:cBhvr>
                                        <p:cTn id="10" dur="500"/>
                                        <p:tgtEl>
                                          <p:spTgt spid="77620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776197"/>
                                        </p:tgtEl>
                                        <p:attrNameLst>
                                          <p:attrName>style.visibility</p:attrName>
                                        </p:attrNameLst>
                                      </p:cBhvr>
                                      <p:to>
                                        <p:strVal val="visible"/>
                                      </p:to>
                                    </p:set>
                                    <p:animEffect transition="in" filter="blinds(horizontal)">
                                      <p:cBhvr>
                                        <p:cTn id="15" dur="500"/>
                                        <p:tgtEl>
                                          <p:spTgt spid="77619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776198"/>
                                        </p:tgtEl>
                                        <p:attrNameLst>
                                          <p:attrName>style.visibility</p:attrName>
                                        </p:attrNameLst>
                                      </p:cBhvr>
                                      <p:to>
                                        <p:strVal val="visible"/>
                                      </p:to>
                                    </p:set>
                                    <p:animEffect transition="in" filter="blinds(horizontal)">
                                      <p:cBhvr>
                                        <p:cTn id="20" dur="500"/>
                                        <p:tgtEl>
                                          <p:spTgt spid="776198"/>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0907"/>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776215"/>
                                        </p:tgtEl>
                                        <p:attrNameLst>
                                          <p:attrName>style.visibility</p:attrName>
                                        </p:attrNameLst>
                                      </p:cBhvr>
                                      <p:to>
                                        <p:strVal val="visible"/>
                                      </p:to>
                                    </p:set>
                                    <p:animEffect transition="in" filter="blinds(horizontal)">
                                      <p:cBhvr>
                                        <p:cTn id="29" dur="500"/>
                                        <p:tgtEl>
                                          <p:spTgt spid="77621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776206"/>
                                        </p:tgtEl>
                                        <p:attrNameLst>
                                          <p:attrName>style.visibility</p:attrName>
                                        </p:attrNameLst>
                                      </p:cBhvr>
                                      <p:to>
                                        <p:strVal val="visible"/>
                                      </p:to>
                                    </p:set>
                                    <p:animEffect transition="in" filter="blinds(horizontal)">
                                      <p:cBhvr>
                                        <p:cTn id="34" dur="500"/>
                                        <p:tgtEl>
                                          <p:spTgt spid="77620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776199"/>
                                        </p:tgtEl>
                                        <p:attrNameLst>
                                          <p:attrName>style.visibility</p:attrName>
                                        </p:attrNameLst>
                                      </p:cBhvr>
                                      <p:to>
                                        <p:strVal val="visible"/>
                                      </p:to>
                                    </p:set>
                                    <p:animEffect transition="in" filter="blinds(horizontal)">
                                      <p:cBhvr>
                                        <p:cTn id="39" dur="500"/>
                                        <p:tgtEl>
                                          <p:spTgt spid="77619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776202"/>
                                        </p:tgtEl>
                                        <p:attrNameLst>
                                          <p:attrName>style.visibility</p:attrName>
                                        </p:attrNameLst>
                                      </p:cBhvr>
                                      <p:to>
                                        <p:strVal val="visible"/>
                                      </p:to>
                                    </p:set>
                                    <p:animEffect transition="in" filter="blinds(horizontal)">
                                      <p:cBhvr>
                                        <p:cTn id="44" dur="500"/>
                                        <p:tgtEl>
                                          <p:spTgt spid="776202"/>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776203"/>
                                        </p:tgtEl>
                                        <p:attrNameLst>
                                          <p:attrName>style.visibility</p:attrName>
                                        </p:attrNameLst>
                                      </p:cBhvr>
                                      <p:to>
                                        <p:strVal val="visible"/>
                                      </p:to>
                                    </p:set>
                                    <p:animEffect transition="in" filter="blinds(horizontal)">
                                      <p:cBhvr>
                                        <p:cTn id="47" dur="500"/>
                                        <p:tgtEl>
                                          <p:spTgt spid="77620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776218"/>
                                        </p:tgtEl>
                                        <p:attrNameLst>
                                          <p:attrName>style.visibility</p:attrName>
                                        </p:attrNameLst>
                                      </p:cBhvr>
                                      <p:to>
                                        <p:strVal val="visible"/>
                                      </p:to>
                                    </p:set>
                                    <p:animEffect transition="in" filter="blinds(horizontal)">
                                      <p:cBhvr>
                                        <p:cTn id="52" dur="500"/>
                                        <p:tgtEl>
                                          <p:spTgt spid="77621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776207"/>
                                        </p:tgtEl>
                                        <p:attrNameLst>
                                          <p:attrName>style.visibility</p:attrName>
                                        </p:attrNameLst>
                                      </p:cBhvr>
                                      <p:to>
                                        <p:strVal val="visible"/>
                                      </p:to>
                                    </p:set>
                                    <p:animEffect transition="in" filter="blinds(horizontal)">
                                      <p:cBhvr>
                                        <p:cTn id="57" dur="500"/>
                                        <p:tgtEl>
                                          <p:spTgt spid="77620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776200"/>
                                        </p:tgtEl>
                                        <p:attrNameLst>
                                          <p:attrName>style.visibility</p:attrName>
                                        </p:attrNameLst>
                                      </p:cBhvr>
                                      <p:to>
                                        <p:strVal val="visible"/>
                                      </p:to>
                                    </p:set>
                                    <p:animEffect transition="in" filter="blinds(horizontal)">
                                      <p:cBhvr>
                                        <p:cTn id="62" dur="500"/>
                                        <p:tgtEl>
                                          <p:spTgt spid="776200"/>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6197" grpId="0"/>
      <p:bldP spid="776198" grpId="0"/>
      <p:bldP spid="776199" grpId="0"/>
      <p:bldP spid="776200" grpId="0"/>
      <p:bldP spid="80907" grpId="0" animBg="1"/>
      <p:bldP spid="776202" grpId="0" animBg="1"/>
      <p:bldP spid="776203" grpId="0" animBg="1"/>
      <p:bldP spid="23" grpId="0"/>
      <p:bldP spid="24" grpId="0"/>
      <p:bldP spid="25" grpId="0"/>
      <p:bldP spid="2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457200" y="98425"/>
            <a:ext cx="8229600" cy="561975"/>
          </a:xfrm>
        </p:spPr>
        <p:txBody>
          <a:bodyPr>
            <a:normAutofit fontScale="90000"/>
          </a:bodyPr>
          <a:lstStyle/>
          <a:p>
            <a:r>
              <a:rPr lang="zh-CN" altLang="en-US" sz="3600"/>
              <a:t>一个简单的过程调用例子</a:t>
            </a:r>
          </a:p>
        </p:txBody>
      </p:sp>
      <p:pic>
        <p:nvPicPr>
          <p:cNvPr id="779311" name="Picture 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88913"/>
            <a:ext cx="4321175" cy="545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9267" name="Rectangle 3"/>
          <p:cNvSpPr>
            <a:spLocks noChangeArrowheads="1"/>
          </p:cNvSpPr>
          <p:nvPr/>
        </p:nvSpPr>
        <p:spPr bwMode="auto">
          <a:xfrm>
            <a:off x="0" y="2738438"/>
            <a:ext cx="2970213" cy="411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caller</a:t>
            </a:r>
            <a:r>
              <a:rPr kumimoji="0" lang="zh-CN" altLang="en-US" sz="1800" b="1"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pushl</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ebp</a:t>
            </a:r>
            <a:endPar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movl</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esp</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ebp</a:t>
            </a:r>
            <a:endPar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subl</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$24, %</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esp</a:t>
            </a:r>
            <a:endPar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movl</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$125, -12(%</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ebp</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movl</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$80, -8(%</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ebp</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movl</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-8(%</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ebp</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eax</a:t>
            </a:r>
            <a:endPar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movl</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eax</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4(%</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esp</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movl</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-12(%</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ebp</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eax</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movl</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eax</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esp</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call	add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movl</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eax</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-4(%</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ebp</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movl</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-4(%</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ebp</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eax</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leave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ret</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grpSp>
        <p:nvGrpSpPr>
          <p:cNvPr id="779268" name="Group 4"/>
          <p:cNvGrpSpPr>
            <a:grpSpLocks/>
          </p:cNvGrpSpPr>
          <p:nvPr/>
        </p:nvGrpSpPr>
        <p:grpSpPr bwMode="auto">
          <a:xfrm>
            <a:off x="2322513" y="3114675"/>
            <a:ext cx="1035050" cy="687388"/>
            <a:chOff x="1746" y="1848"/>
            <a:chExt cx="652" cy="433"/>
          </a:xfrm>
        </p:grpSpPr>
        <p:sp>
          <p:nvSpPr>
            <p:cNvPr id="84012" name="AutoShape 5"/>
            <p:cNvSpPr>
              <a:spLocks/>
            </p:cNvSpPr>
            <p:nvPr/>
          </p:nvSpPr>
          <p:spPr bwMode="auto">
            <a:xfrm>
              <a:off x="1746" y="1848"/>
              <a:ext cx="170" cy="425"/>
            </a:xfrm>
            <a:prstGeom prst="rightBrace">
              <a:avLst>
                <a:gd name="adj1" fmla="val 20833"/>
                <a:gd name="adj2" fmla="val 50000"/>
              </a:avLst>
            </a:prstGeom>
            <a:noFill/>
            <a:ln w="2857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3300"/>
                </a:solidFill>
                <a:effectLst/>
                <a:uLnTx/>
                <a:uFillTx/>
                <a:latin typeface="Arial" panose="020B0604020202020204" pitchFamily="34" charset="0"/>
                <a:ea typeface="宋体" panose="02010600030101010101" pitchFamily="2" charset="-122"/>
                <a:cs typeface="+mn-cs"/>
              </a:endParaRPr>
            </a:p>
          </p:txBody>
        </p:sp>
        <p:sp>
          <p:nvSpPr>
            <p:cNvPr id="84013" name="Text Box 6"/>
            <p:cNvSpPr txBox="1">
              <a:spLocks noChangeArrowheads="1"/>
            </p:cNvSpPr>
            <p:nvPr/>
          </p:nvSpPr>
          <p:spPr bwMode="auto">
            <a:xfrm>
              <a:off x="1916" y="1877"/>
              <a:ext cx="48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1800" b="1" i="0" u="none" strike="noStrike" kern="1200" cap="none" spc="0" normalizeH="0" baseline="0" noProof="0">
                  <a:ln>
                    <a:noFill/>
                  </a:ln>
                  <a:solidFill>
                    <a:srgbClr val="FF3300"/>
                  </a:solidFill>
                  <a:effectLst/>
                  <a:uLnTx/>
                  <a:uFillTx/>
                  <a:latin typeface="Arial" panose="020B0604020202020204" pitchFamily="34" charset="0"/>
                  <a:ea typeface="微软雅黑" panose="020B0503020204020204" pitchFamily="34" charset="-122"/>
                  <a:cs typeface="+mn-cs"/>
                </a:rPr>
                <a:t>准备阶段</a:t>
              </a:r>
            </a:p>
          </p:txBody>
        </p:sp>
      </p:grpSp>
      <p:grpSp>
        <p:nvGrpSpPr>
          <p:cNvPr id="779271" name="Group 7"/>
          <p:cNvGrpSpPr>
            <a:grpSpLocks/>
          </p:cNvGrpSpPr>
          <p:nvPr/>
        </p:nvGrpSpPr>
        <p:grpSpPr bwMode="auto">
          <a:xfrm>
            <a:off x="881063" y="6264275"/>
            <a:ext cx="989012" cy="587375"/>
            <a:chOff x="584" y="3916"/>
            <a:chExt cx="623" cy="370"/>
          </a:xfrm>
        </p:grpSpPr>
        <p:sp>
          <p:nvSpPr>
            <p:cNvPr id="84010" name="AutoShape 8"/>
            <p:cNvSpPr>
              <a:spLocks/>
            </p:cNvSpPr>
            <p:nvPr/>
          </p:nvSpPr>
          <p:spPr bwMode="auto">
            <a:xfrm>
              <a:off x="584" y="3973"/>
              <a:ext cx="170" cy="308"/>
            </a:xfrm>
            <a:prstGeom prst="rightBrace">
              <a:avLst>
                <a:gd name="adj1" fmla="val 15098"/>
                <a:gd name="adj2" fmla="val 50000"/>
              </a:avLst>
            </a:prstGeom>
            <a:noFill/>
            <a:ln w="2857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3300"/>
                </a:solidFill>
                <a:effectLst/>
                <a:uLnTx/>
                <a:uFillTx/>
                <a:latin typeface="Arial" panose="020B0604020202020204" pitchFamily="34" charset="0"/>
                <a:ea typeface="宋体" panose="02010600030101010101" pitchFamily="2" charset="-122"/>
                <a:cs typeface="+mn-cs"/>
              </a:endParaRPr>
            </a:p>
          </p:txBody>
        </p:sp>
        <p:sp>
          <p:nvSpPr>
            <p:cNvPr id="84011" name="Text Box 9"/>
            <p:cNvSpPr txBox="1">
              <a:spLocks noChangeArrowheads="1"/>
            </p:cNvSpPr>
            <p:nvPr/>
          </p:nvSpPr>
          <p:spPr bwMode="auto">
            <a:xfrm>
              <a:off x="725" y="3916"/>
              <a:ext cx="482" cy="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10000"/>
                </a:spcBef>
                <a:spcAft>
                  <a:spcPct val="0"/>
                </a:spcAft>
                <a:buClrTx/>
                <a:buSzTx/>
                <a:buFontTx/>
                <a:buNone/>
                <a:tabLst/>
                <a:defRPr/>
              </a:pPr>
              <a:r>
                <a:rPr kumimoji="0" lang="zh-CN" altLang="en-US" sz="1800" b="1" i="0" u="none" strike="noStrike" kern="1200" cap="none" spc="0" normalizeH="0" baseline="0" noProof="0" dirty="0">
                  <a:ln>
                    <a:noFill/>
                  </a:ln>
                  <a:solidFill>
                    <a:srgbClr val="FF3300"/>
                  </a:solidFill>
                  <a:effectLst/>
                  <a:uLnTx/>
                  <a:uFillTx/>
                  <a:latin typeface="Arial" panose="020B0604020202020204" pitchFamily="34" charset="0"/>
                  <a:ea typeface="微软雅黑" panose="020B0503020204020204" pitchFamily="34" charset="-122"/>
                  <a:cs typeface="+mn-cs"/>
                </a:rPr>
                <a:t>结束阶段</a:t>
              </a:r>
            </a:p>
          </p:txBody>
        </p:sp>
      </p:grpSp>
      <p:sp>
        <p:nvSpPr>
          <p:cNvPr id="779275" name="Text Box 11"/>
          <p:cNvSpPr txBox="1">
            <a:spLocks noChangeArrowheads="1"/>
          </p:cNvSpPr>
          <p:nvPr/>
        </p:nvSpPr>
        <p:spPr bwMode="auto">
          <a:xfrm>
            <a:off x="7902575" y="98425"/>
            <a:ext cx="9445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caller</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帧底</a:t>
            </a:r>
          </a:p>
        </p:txBody>
      </p:sp>
      <p:sp>
        <p:nvSpPr>
          <p:cNvPr id="779276" name="Text Box 12"/>
          <p:cNvSpPr txBox="1">
            <a:spLocks noChangeArrowheads="1"/>
          </p:cNvSpPr>
          <p:nvPr/>
        </p:nvSpPr>
        <p:spPr bwMode="auto">
          <a:xfrm>
            <a:off x="115888" y="46038"/>
            <a:ext cx="3286125" cy="2573337"/>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int add ( int x, int y ) {</a:t>
            </a:r>
          </a:p>
          <a:p>
            <a:pPr marL="342900" marR="0" lvl="0" indent="-342900" algn="l"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	 return x+y;</a:t>
            </a:r>
          </a:p>
          <a:p>
            <a:pPr marL="342900" marR="0" lvl="0" indent="-342900" algn="l"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a:t>
            </a:r>
          </a:p>
          <a:p>
            <a:pPr marL="342900" marR="0" lvl="0" indent="-342900" algn="l"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int	 caller ( ) {	</a:t>
            </a:r>
          </a:p>
          <a:p>
            <a:pPr marL="342900" marR="0" lvl="0" indent="-342900" algn="l"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	 int	t1 = 125;</a:t>
            </a:r>
          </a:p>
          <a:p>
            <a:pPr marL="342900" marR="0" lvl="0" indent="-342900" algn="l"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      int 	t2 = 80;</a:t>
            </a:r>
          </a:p>
          <a:p>
            <a:pPr marL="342900" marR="0" lvl="0" indent="-342900" algn="l"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	 int	sum = </a:t>
            </a: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add (t1, t2)</a:t>
            </a:r>
            <a:r>
              <a:rPr kumimoji="0" lang="en-US" altLang="zh-CN"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a:t>
            </a:r>
          </a:p>
          <a:p>
            <a:pPr marL="342900" marR="0" lvl="0" indent="-342900" algn="l"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	 return sum;</a:t>
            </a:r>
            <a:endParaRPr kumimoji="0" lang="zh-CN" altLang="en-US"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CN" altLang="en-US"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79277" name="Text Box 13"/>
          <p:cNvSpPr txBox="1">
            <a:spLocks noChangeArrowheads="1"/>
          </p:cNvSpPr>
          <p:nvPr/>
        </p:nvSpPr>
        <p:spPr bwMode="auto">
          <a:xfrm>
            <a:off x="7858125" y="3024188"/>
            <a:ext cx="10795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tabLst/>
              <a:defRPr/>
            </a:pPr>
            <a:r>
              <a:rPr kumimoji="0" lang="en-US" altLang="zh-CN" sz="20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ESP+4</a:t>
            </a:r>
          </a:p>
        </p:txBody>
      </p:sp>
      <p:grpSp>
        <p:nvGrpSpPr>
          <p:cNvPr id="779278" name="Group 14"/>
          <p:cNvGrpSpPr>
            <a:grpSpLocks/>
          </p:cNvGrpSpPr>
          <p:nvPr/>
        </p:nvGrpSpPr>
        <p:grpSpPr bwMode="auto">
          <a:xfrm>
            <a:off x="2771775" y="3789363"/>
            <a:ext cx="1125538" cy="641350"/>
            <a:chOff x="1746" y="2387"/>
            <a:chExt cx="709" cy="404"/>
          </a:xfrm>
        </p:grpSpPr>
        <p:sp>
          <p:nvSpPr>
            <p:cNvPr id="84008" name="AutoShape 15"/>
            <p:cNvSpPr>
              <a:spLocks/>
            </p:cNvSpPr>
            <p:nvPr/>
          </p:nvSpPr>
          <p:spPr bwMode="auto">
            <a:xfrm>
              <a:off x="1746" y="2443"/>
              <a:ext cx="170" cy="306"/>
            </a:xfrm>
            <a:prstGeom prst="rightBrace">
              <a:avLst>
                <a:gd name="adj1" fmla="val 15000"/>
                <a:gd name="adj2" fmla="val 50000"/>
              </a:avLst>
            </a:prstGeom>
            <a:noFill/>
            <a:ln w="2857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3300"/>
                </a:solidFill>
                <a:effectLst/>
                <a:uLnTx/>
                <a:uFillTx/>
                <a:latin typeface="Arial" panose="020B0604020202020204" pitchFamily="34" charset="0"/>
                <a:ea typeface="宋体" panose="02010600030101010101" pitchFamily="2" charset="-122"/>
                <a:cs typeface="+mn-cs"/>
              </a:endParaRPr>
            </a:p>
          </p:txBody>
        </p:sp>
        <p:sp>
          <p:nvSpPr>
            <p:cNvPr id="84009" name="Text Box 16"/>
            <p:cNvSpPr txBox="1">
              <a:spLocks noChangeArrowheads="1"/>
            </p:cNvSpPr>
            <p:nvPr/>
          </p:nvSpPr>
          <p:spPr bwMode="auto">
            <a:xfrm>
              <a:off x="1888" y="2387"/>
              <a:ext cx="56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1800" b="1" i="0" u="none" strike="noStrike" kern="1200" cap="none" spc="0" normalizeH="0" baseline="0" noProof="0">
                  <a:ln>
                    <a:noFill/>
                  </a:ln>
                  <a:solidFill>
                    <a:srgbClr val="FF3300"/>
                  </a:solidFill>
                  <a:effectLst/>
                  <a:uLnTx/>
                  <a:uFillTx/>
                  <a:latin typeface="Arial" panose="020B0604020202020204" pitchFamily="34" charset="0"/>
                  <a:ea typeface="微软雅黑" panose="020B0503020204020204" pitchFamily="34" charset="-122"/>
                  <a:cs typeface="+mn-cs"/>
                </a:rPr>
                <a:t>分配局部变量</a:t>
              </a:r>
            </a:p>
          </p:txBody>
        </p:sp>
      </p:grpSp>
      <p:grpSp>
        <p:nvGrpSpPr>
          <p:cNvPr id="779281" name="Group 17"/>
          <p:cNvGrpSpPr>
            <a:grpSpLocks/>
          </p:cNvGrpSpPr>
          <p:nvPr/>
        </p:nvGrpSpPr>
        <p:grpSpPr bwMode="auto">
          <a:xfrm>
            <a:off x="2771775" y="4464050"/>
            <a:ext cx="1125538" cy="927100"/>
            <a:chOff x="1746" y="2812"/>
            <a:chExt cx="709" cy="584"/>
          </a:xfrm>
        </p:grpSpPr>
        <p:sp>
          <p:nvSpPr>
            <p:cNvPr id="84006" name="AutoShape 18"/>
            <p:cNvSpPr>
              <a:spLocks/>
            </p:cNvSpPr>
            <p:nvPr/>
          </p:nvSpPr>
          <p:spPr bwMode="auto">
            <a:xfrm>
              <a:off x="1746" y="2812"/>
              <a:ext cx="170" cy="584"/>
            </a:xfrm>
            <a:prstGeom prst="rightBrace">
              <a:avLst>
                <a:gd name="adj1" fmla="val 28627"/>
                <a:gd name="adj2" fmla="val 50000"/>
              </a:avLst>
            </a:prstGeom>
            <a:noFill/>
            <a:ln w="2857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3300"/>
                </a:solidFill>
                <a:effectLst/>
                <a:uLnTx/>
                <a:uFillTx/>
                <a:latin typeface="Arial" panose="020B0604020202020204" pitchFamily="34" charset="0"/>
                <a:ea typeface="宋体" panose="02010600030101010101" pitchFamily="2" charset="-122"/>
                <a:cs typeface="+mn-cs"/>
              </a:endParaRPr>
            </a:p>
          </p:txBody>
        </p:sp>
        <p:sp>
          <p:nvSpPr>
            <p:cNvPr id="84007" name="Text Box 19"/>
            <p:cNvSpPr txBox="1">
              <a:spLocks noChangeArrowheads="1"/>
            </p:cNvSpPr>
            <p:nvPr/>
          </p:nvSpPr>
          <p:spPr bwMode="auto">
            <a:xfrm>
              <a:off x="1888" y="2897"/>
              <a:ext cx="56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1800" b="1" i="0" u="none" strike="noStrike" kern="1200" cap="none" spc="0" normalizeH="0" baseline="0" noProof="0">
                  <a:ln>
                    <a:noFill/>
                  </a:ln>
                  <a:solidFill>
                    <a:srgbClr val="FF3300"/>
                  </a:solidFill>
                  <a:effectLst/>
                  <a:uLnTx/>
                  <a:uFillTx/>
                  <a:latin typeface="Arial" panose="020B0604020202020204" pitchFamily="34" charset="0"/>
                  <a:ea typeface="微软雅黑" panose="020B0503020204020204" pitchFamily="34" charset="-122"/>
                  <a:cs typeface="+mn-cs"/>
                </a:rPr>
                <a:t>准备入口参数</a:t>
              </a:r>
            </a:p>
          </p:txBody>
        </p:sp>
      </p:grpSp>
      <p:grpSp>
        <p:nvGrpSpPr>
          <p:cNvPr id="779284" name="Group 20"/>
          <p:cNvGrpSpPr>
            <a:grpSpLocks/>
          </p:cNvGrpSpPr>
          <p:nvPr/>
        </p:nvGrpSpPr>
        <p:grpSpPr bwMode="auto">
          <a:xfrm>
            <a:off x="4706938" y="765175"/>
            <a:ext cx="809625" cy="2746375"/>
            <a:chOff x="2965" y="482"/>
            <a:chExt cx="510" cy="1730"/>
          </a:xfrm>
        </p:grpSpPr>
        <p:sp>
          <p:nvSpPr>
            <p:cNvPr id="84001" name="Text Box 21"/>
            <p:cNvSpPr txBox="1">
              <a:spLocks noChangeArrowheads="1"/>
            </p:cNvSpPr>
            <p:nvPr/>
          </p:nvSpPr>
          <p:spPr bwMode="auto">
            <a:xfrm>
              <a:off x="3050" y="482"/>
              <a:ext cx="397"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tabLst/>
                <a:defRPr/>
              </a:pPr>
              <a:r>
                <a:rPr kumimoji="0" lang="en-US" altLang="zh-CN" sz="20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-4</a:t>
              </a:r>
            </a:p>
          </p:txBody>
        </p:sp>
        <p:sp>
          <p:nvSpPr>
            <p:cNvPr id="84002" name="Text Box 22"/>
            <p:cNvSpPr txBox="1">
              <a:spLocks noChangeArrowheads="1"/>
            </p:cNvSpPr>
            <p:nvPr/>
          </p:nvSpPr>
          <p:spPr bwMode="auto">
            <a:xfrm>
              <a:off x="3050" y="794"/>
              <a:ext cx="397"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tabLst/>
                <a:defRPr/>
              </a:pPr>
              <a:r>
                <a:rPr kumimoji="0" lang="en-US" altLang="zh-CN" sz="20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-8</a:t>
              </a:r>
            </a:p>
          </p:txBody>
        </p:sp>
        <p:sp>
          <p:nvSpPr>
            <p:cNvPr id="84003" name="Text Box 23"/>
            <p:cNvSpPr txBox="1">
              <a:spLocks noChangeArrowheads="1"/>
            </p:cNvSpPr>
            <p:nvPr/>
          </p:nvSpPr>
          <p:spPr bwMode="auto">
            <a:xfrm>
              <a:off x="2965" y="1219"/>
              <a:ext cx="482"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tabLst/>
                <a:defRPr/>
              </a:pPr>
              <a:r>
                <a:rPr kumimoji="0" lang="en-US" altLang="zh-CN" sz="20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-12</a:t>
              </a:r>
            </a:p>
          </p:txBody>
        </p:sp>
        <p:sp>
          <p:nvSpPr>
            <p:cNvPr id="84004" name="Text Box 24"/>
            <p:cNvSpPr txBox="1">
              <a:spLocks noChangeArrowheads="1"/>
            </p:cNvSpPr>
            <p:nvPr/>
          </p:nvSpPr>
          <p:spPr bwMode="auto">
            <a:xfrm>
              <a:off x="2965" y="1565"/>
              <a:ext cx="482"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tabLst/>
                <a:defRPr/>
              </a:pPr>
              <a:r>
                <a:rPr kumimoji="0" lang="en-US" altLang="zh-CN" sz="20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-16</a:t>
              </a:r>
            </a:p>
          </p:txBody>
        </p:sp>
        <p:sp>
          <p:nvSpPr>
            <p:cNvPr id="84005" name="Text Box 25"/>
            <p:cNvSpPr txBox="1">
              <a:spLocks noChangeArrowheads="1"/>
            </p:cNvSpPr>
            <p:nvPr/>
          </p:nvSpPr>
          <p:spPr bwMode="auto">
            <a:xfrm>
              <a:off x="2993" y="1962"/>
              <a:ext cx="482"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tabLst/>
                <a:defRPr/>
              </a:pPr>
              <a:r>
                <a:rPr kumimoji="0" lang="en-US" altLang="zh-CN" sz="20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-20</a:t>
              </a:r>
            </a:p>
          </p:txBody>
        </p:sp>
      </p:grpSp>
      <p:grpSp>
        <p:nvGrpSpPr>
          <p:cNvPr id="779290" name="Group 26"/>
          <p:cNvGrpSpPr>
            <a:grpSpLocks/>
          </p:cNvGrpSpPr>
          <p:nvPr/>
        </p:nvGrpSpPr>
        <p:grpSpPr bwMode="auto">
          <a:xfrm>
            <a:off x="1781175" y="5454650"/>
            <a:ext cx="3060700" cy="366713"/>
            <a:chOff x="1122" y="3436"/>
            <a:chExt cx="1928" cy="231"/>
          </a:xfrm>
        </p:grpSpPr>
        <p:sp>
          <p:nvSpPr>
            <p:cNvPr id="83999" name="Text Box 27"/>
            <p:cNvSpPr txBox="1">
              <a:spLocks noChangeArrowheads="1"/>
            </p:cNvSpPr>
            <p:nvPr/>
          </p:nvSpPr>
          <p:spPr bwMode="auto">
            <a:xfrm>
              <a:off x="1377" y="3436"/>
              <a:ext cx="1673"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tabLst/>
                <a:defRPr/>
              </a:pP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返回参数总在</a:t>
              </a: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EAX</a:t>
              </a: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中</a:t>
              </a:r>
            </a:p>
          </p:txBody>
        </p:sp>
        <p:sp>
          <p:nvSpPr>
            <p:cNvPr id="84000" name="Line 28"/>
            <p:cNvSpPr>
              <a:spLocks noChangeShapeType="1"/>
            </p:cNvSpPr>
            <p:nvPr/>
          </p:nvSpPr>
          <p:spPr bwMode="auto">
            <a:xfrm flipH="1">
              <a:off x="1122" y="3549"/>
              <a:ext cx="284" cy="0"/>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grpSp>
        <p:nvGrpSpPr>
          <p:cNvPr id="779293" name="Group 29"/>
          <p:cNvGrpSpPr>
            <a:grpSpLocks/>
          </p:cNvGrpSpPr>
          <p:nvPr/>
        </p:nvGrpSpPr>
        <p:grpSpPr bwMode="auto">
          <a:xfrm>
            <a:off x="2771775" y="5768975"/>
            <a:ext cx="1125538" cy="641350"/>
            <a:chOff x="1746" y="3634"/>
            <a:chExt cx="709" cy="404"/>
          </a:xfrm>
        </p:grpSpPr>
        <p:sp>
          <p:nvSpPr>
            <p:cNvPr id="83997" name="AutoShape 30"/>
            <p:cNvSpPr>
              <a:spLocks/>
            </p:cNvSpPr>
            <p:nvPr/>
          </p:nvSpPr>
          <p:spPr bwMode="auto">
            <a:xfrm>
              <a:off x="1746" y="3677"/>
              <a:ext cx="142" cy="269"/>
            </a:xfrm>
            <a:prstGeom prst="rightBrace">
              <a:avLst>
                <a:gd name="adj1" fmla="val 15786"/>
                <a:gd name="adj2" fmla="val 50000"/>
              </a:avLst>
            </a:prstGeom>
            <a:noFill/>
            <a:ln w="2857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3300"/>
                </a:solidFill>
                <a:effectLst/>
                <a:uLnTx/>
                <a:uFillTx/>
                <a:latin typeface="Arial" panose="020B0604020202020204" pitchFamily="34" charset="0"/>
                <a:ea typeface="宋体" panose="02010600030101010101" pitchFamily="2" charset="-122"/>
                <a:cs typeface="+mn-cs"/>
              </a:endParaRPr>
            </a:p>
          </p:txBody>
        </p:sp>
        <p:sp>
          <p:nvSpPr>
            <p:cNvPr id="83998" name="Text Box 31"/>
            <p:cNvSpPr txBox="1">
              <a:spLocks noChangeArrowheads="1"/>
            </p:cNvSpPr>
            <p:nvPr/>
          </p:nvSpPr>
          <p:spPr bwMode="auto">
            <a:xfrm>
              <a:off x="1888" y="3634"/>
              <a:ext cx="56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1800" b="1" i="0" u="none" strike="noStrike" kern="1200" cap="none" spc="0" normalizeH="0" baseline="0" noProof="0">
                  <a:ln>
                    <a:noFill/>
                  </a:ln>
                  <a:solidFill>
                    <a:srgbClr val="FF3300"/>
                  </a:solidFill>
                  <a:effectLst/>
                  <a:uLnTx/>
                  <a:uFillTx/>
                  <a:latin typeface="Arial" panose="020B0604020202020204" pitchFamily="34" charset="0"/>
                  <a:ea typeface="微软雅黑" panose="020B0503020204020204" pitchFamily="34" charset="-122"/>
                  <a:cs typeface="+mn-cs"/>
                </a:rPr>
                <a:t>准备返回参数</a:t>
              </a:r>
            </a:p>
          </p:txBody>
        </p:sp>
      </p:grpSp>
      <p:sp>
        <p:nvSpPr>
          <p:cNvPr id="779301" name="Line 37"/>
          <p:cNvSpPr>
            <a:spLocks noChangeShapeType="1"/>
          </p:cNvSpPr>
          <p:nvPr/>
        </p:nvSpPr>
        <p:spPr bwMode="auto">
          <a:xfrm>
            <a:off x="2185988" y="3698875"/>
            <a:ext cx="2341562" cy="90488"/>
          </a:xfrm>
          <a:prstGeom prst="line">
            <a:avLst/>
          </a:prstGeom>
          <a:noFill/>
          <a:ln w="952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79302" name="Line 38"/>
          <p:cNvSpPr>
            <a:spLocks noChangeShapeType="1"/>
          </p:cNvSpPr>
          <p:nvPr/>
        </p:nvSpPr>
        <p:spPr bwMode="auto">
          <a:xfrm flipV="1">
            <a:off x="2727325" y="2214563"/>
            <a:ext cx="2565400" cy="1663700"/>
          </a:xfrm>
          <a:prstGeom prst="line">
            <a:avLst/>
          </a:prstGeom>
          <a:noFill/>
          <a:ln w="952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79303" name="Line 39"/>
          <p:cNvSpPr>
            <a:spLocks noChangeShapeType="1"/>
          </p:cNvSpPr>
          <p:nvPr/>
        </p:nvSpPr>
        <p:spPr bwMode="auto">
          <a:xfrm flipV="1">
            <a:off x="2501900" y="1538288"/>
            <a:ext cx="2835275" cy="2746375"/>
          </a:xfrm>
          <a:prstGeom prst="line">
            <a:avLst/>
          </a:prstGeom>
          <a:noFill/>
          <a:ln w="952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79304" name="Line 40"/>
          <p:cNvSpPr>
            <a:spLocks noChangeShapeType="1"/>
          </p:cNvSpPr>
          <p:nvPr/>
        </p:nvSpPr>
        <p:spPr bwMode="auto">
          <a:xfrm flipV="1">
            <a:off x="2592388" y="3294063"/>
            <a:ext cx="2789237" cy="1484312"/>
          </a:xfrm>
          <a:prstGeom prst="line">
            <a:avLst/>
          </a:prstGeom>
          <a:noFill/>
          <a:ln w="952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79305" name="Line 41"/>
          <p:cNvSpPr>
            <a:spLocks noChangeShapeType="1"/>
          </p:cNvSpPr>
          <p:nvPr/>
        </p:nvSpPr>
        <p:spPr bwMode="auto">
          <a:xfrm flipV="1">
            <a:off x="2501900" y="3924300"/>
            <a:ext cx="2835275" cy="1439863"/>
          </a:xfrm>
          <a:prstGeom prst="line">
            <a:avLst/>
          </a:prstGeom>
          <a:noFill/>
          <a:ln w="952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79307" name="Line 43"/>
          <p:cNvSpPr>
            <a:spLocks noChangeShapeType="1"/>
          </p:cNvSpPr>
          <p:nvPr/>
        </p:nvSpPr>
        <p:spPr bwMode="auto">
          <a:xfrm>
            <a:off x="746125" y="6489700"/>
            <a:ext cx="2925763" cy="44450"/>
          </a:xfrm>
          <a:prstGeom prst="line">
            <a:avLst/>
          </a:prstGeom>
          <a:noFill/>
          <a:ln w="952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779309" name="Group 45"/>
          <p:cNvGrpSpPr>
            <a:grpSpLocks/>
          </p:cNvGrpSpPr>
          <p:nvPr/>
        </p:nvGrpSpPr>
        <p:grpSpPr bwMode="auto">
          <a:xfrm>
            <a:off x="3446463" y="188913"/>
            <a:ext cx="1125537" cy="1738312"/>
            <a:chOff x="2171" y="119"/>
            <a:chExt cx="681" cy="1095"/>
          </a:xfrm>
        </p:grpSpPr>
        <p:sp>
          <p:nvSpPr>
            <p:cNvPr id="83994" name="Text Box 35"/>
            <p:cNvSpPr txBox="1">
              <a:spLocks noChangeArrowheads="1"/>
            </p:cNvSpPr>
            <p:nvPr/>
          </p:nvSpPr>
          <p:spPr bwMode="auto">
            <a:xfrm>
              <a:off x="2171" y="119"/>
              <a:ext cx="681" cy="1095"/>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25000"/>
                </a:spcBef>
                <a:spcAft>
                  <a:spcPct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add</a:t>
              </a:r>
            </a:p>
            <a:p>
              <a:pPr marL="342900" marR="0" lvl="0" indent="-342900" algn="l" defTabSz="914400" rtl="0" eaLnBrk="0" fontAlgn="base" latinLnBrk="0" hangingPunct="0">
                <a:lnSpc>
                  <a:spcPct val="100000"/>
                </a:lnSpc>
                <a:spcBef>
                  <a:spcPct val="25000"/>
                </a:spcBef>
                <a:spcAft>
                  <a:spcPct val="0"/>
                </a:spcAft>
                <a:buClrTx/>
                <a:buSzTx/>
                <a:buFontTx/>
                <a:buNone/>
                <a:tabLst/>
                <a:defRPr/>
              </a:pPr>
              <a:endPar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00000"/>
                </a:lnSpc>
                <a:spcBef>
                  <a:spcPct val="25000"/>
                </a:spcBef>
                <a:spcAft>
                  <a:spcPct val="0"/>
                </a:spcAft>
                <a:buClrTx/>
                <a:buSzTx/>
                <a:buFontTx/>
                <a:buNone/>
                <a:tabLst/>
                <a:defRPr/>
              </a:pP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caller</a:t>
              </a:r>
            </a:p>
            <a:p>
              <a:pPr marL="342900" marR="0" lvl="0" indent="-342900" algn="l" defTabSz="914400" rtl="0" eaLnBrk="0" fontAlgn="base" latinLnBrk="0" hangingPunct="0">
                <a:lnSpc>
                  <a:spcPct val="100000"/>
                </a:lnSpc>
                <a:spcBef>
                  <a:spcPct val="25000"/>
                </a:spcBef>
                <a:spcAft>
                  <a:spcPct val="0"/>
                </a:spcAft>
                <a:buClrTx/>
                <a:buSzTx/>
                <a:buFontTx/>
                <a:buNone/>
                <a:tabLst/>
                <a:defRPr/>
              </a:pPr>
              <a:endPar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00000"/>
                </a:lnSpc>
                <a:spcBef>
                  <a:spcPct val="25000"/>
                </a:spcBef>
                <a:spcAft>
                  <a:spcPct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P</a:t>
              </a:r>
            </a:p>
          </p:txBody>
        </p:sp>
        <p:sp>
          <p:nvSpPr>
            <p:cNvPr id="83995" name="Line 36"/>
            <p:cNvSpPr>
              <a:spLocks noChangeShapeType="1"/>
            </p:cNvSpPr>
            <p:nvPr/>
          </p:nvSpPr>
          <p:spPr bwMode="auto">
            <a:xfrm flipV="1">
              <a:off x="2398" y="289"/>
              <a:ext cx="0" cy="283"/>
            </a:xfrm>
            <a:prstGeom prst="line">
              <a:avLst/>
            </a:prstGeom>
            <a:noFill/>
            <a:ln w="38100">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3996" name="Line 44"/>
            <p:cNvSpPr>
              <a:spLocks noChangeShapeType="1"/>
            </p:cNvSpPr>
            <p:nvPr/>
          </p:nvSpPr>
          <p:spPr bwMode="auto">
            <a:xfrm flipV="1">
              <a:off x="2398" y="714"/>
              <a:ext cx="0" cy="283"/>
            </a:xfrm>
            <a:prstGeom prst="line">
              <a:avLst/>
            </a:prstGeom>
            <a:noFill/>
            <a:ln w="38100">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sp>
        <p:nvSpPr>
          <p:cNvPr id="779310" name="Line 46"/>
          <p:cNvSpPr>
            <a:spLocks noChangeShapeType="1"/>
          </p:cNvSpPr>
          <p:nvPr/>
        </p:nvSpPr>
        <p:spPr bwMode="auto">
          <a:xfrm flipV="1">
            <a:off x="1646238" y="549275"/>
            <a:ext cx="3600450" cy="2519363"/>
          </a:xfrm>
          <a:prstGeom prst="line">
            <a:avLst/>
          </a:prstGeom>
          <a:noFill/>
          <a:ln w="952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2" name="图片 1"/>
          <p:cNvPicPr>
            <a:picLocks noChangeAspect="1"/>
          </p:cNvPicPr>
          <p:nvPr/>
        </p:nvPicPr>
        <p:blipFill>
          <a:blip r:embed="rId3"/>
          <a:stretch>
            <a:fillRect/>
          </a:stretch>
        </p:blipFill>
        <p:spPr>
          <a:xfrm>
            <a:off x="5592233" y="5030374"/>
            <a:ext cx="3443934" cy="1648087"/>
          </a:xfrm>
          <a:prstGeom prst="rect">
            <a:avLst/>
          </a:prstGeom>
        </p:spPr>
      </p:pic>
      <p:sp>
        <p:nvSpPr>
          <p:cNvPr id="779306" name="Rectangle 42"/>
          <p:cNvSpPr>
            <a:spLocks noChangeArrowheads="1"/>
          </p:cNvSpPr>
          <p:nvPr/>
        </p:nvSpPr>
        <p:spPr bwMode="auto">
          <a:xfrm>
            <a:off x="3402013" y="6345238"/>
            <a:ext cx="2493962" cy="4667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tIns="0" bIns="0" anchor="ctr">
            <a:spAutoFit/>
          </a:bodyPr>
          <a:lstStyle>
            <a:lvl1pPr indent="269875">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269875" algn="l" defTabSz="914400" rtl="0" eaLnBrk="0" fontAlgn="base" latinLnBrk="0" hangingPunct="0">
              <a:lnSpc>
                <a:spcPct val="85000"/>
              </a:lnSpc>
              <a:spcBef>
                <a:spcPct val="0"/>
              </a:spcBef>
              <a:spcAft>
                <a:spcPct val="0"/>
              </a:spcAft>
              <a:buClrTx/>
              <a:buSzTx/>
              <a:buFontTx/>
              <a:buNone/>
              <a:tabLst/>
              <a:defRPr/>
            </a:pPr>
            <a:r>
              <a:rPr kumimoji="0" lang="en-US" altLang="zh-CN" sz="1800" b="1" i="0" u="none" strike="noStrike" kern="1200" cap="none" spc="0" normalizeH="0" baseline="0" noProof="0" dirty="0" err="1">
                <a:ln>
                  <a:noFill/>
                </a:ln>
                <a:solidFill>
                  <a:srgbClr val="3333CC"/>
                </a:solidFill>
                <a:effectLst/>
                <a:uLnTx/>
                <a:uFillTx/>
                <a:latin typeface="微软雅黑" panose="020B0503020204020204" pitchFamily="34" charset="-122"/>
                <a:ea typeface="微软雅黑" panose="020B0503020204020204" pitchFamily="34" charset="-122"/>
                <a:cs typeface="+mn-cs"/>
              </a:rPr>
              <a:t>movl</a:t>
            </a:r>
            <a:r>
              <a:rPr kumimoji="0" lang="en-US" altLang="zh-CN" sz="1800" b="1"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 	%</a:t>
            </a:r>
            <a:r>
              <a:rPr kumimoji="0" lang="en-US" altLang="zh-CN" sz="1800" b="1" i="0" u="none" strike="noStrike" kern="1200" cap="none" spc="0" normalizeH="0" baseline="0" noProof="0" dirty="0" err="1">
                <a:ln>
                  <a:noFill/>
                </a:ln>
                <a:solidFill>
                  <a:srgbClr val="3333CC"/>
                </a:solidFill>
                <a:effectLst/>
                <a:uLnTx/>
                <a:uFillTx/>
                <a:latin typeface="微软雅黑" panose="020B0503020204020204" pitchFamily="34" charset="-122"/>
                <a:ea typeface="微软雅黑" panose="020B0503020204020204" pitchFamily="34" charset="-122"/>
                <a:cs typeface="+mn-cs"/>
              </a:rPr>
              <a:t>ebp</a:t>
            </a:r>
            <a:r>
              <a:rPr kumimoji="0" lang="en-US" altLang="zh-CN" sz="1800" b="1"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 %</a:t>
            </a:r>
            <a:r>
              <a:rPr kumimoji="0" lang="en-US" altLang="zh-CN" sz="1800" b="1" i="0" u="none" strike="noStrike" kern="1200" cap="none" spc="0" normalizeH="0" baseline="0" noProof="0" dirty="0" err="1">
                <a:ln>
                  <a:noFill/>
                </a:ln>
                <a:solidFill>
                  <a:srgbClr val="3333CC"/>
                </a:solidFill>
                <a:effectLst/>
                <a:uLnTx/>
                <a:uFillTx/>
                <a:latin typeface="微软雅黑" panose="020B0503020204020204" pitchFamily="34" charset="-122"/>
                <a:ea typeface="微软雅黑" panose="020B0503020204020204" pitchFamily="34" charset="-122"/>
                <a:cs typeface="+mn-cs"/>
              </a:rPr>
              <a:t>esp</a:t>
            </a:r>
            <a:endParaRPr kumimoji="0" lang="en-US" altLang="zh-CN" sz="1800" b="1"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endParaRPr>
          </a:p>
          <a:p>
            <a:pPr marL="0" marR="0" lvl="0" indent="269875" algn="l" defTabSz="914400" rtl="0" eaLnBrk="0" fontAlgn="base" latinLnBrk="0" hangingPunct="0">
              <a:lnSpc>
                <a:spcPct val="85000"/>
              </a:lnSpc>
              <a:spcBef>
                <a:spcPct val="0"/>
              </a:spcBef>
              <a:spcAft>
                <a:spcPct val="0"/>
              </a:spcAft>
              <a:buClrTx/>
              <a:buSzTx/>
              <a:buFontTx/>
              <a:buNone/>
              <a:tabLst/>
              <a:defRPr/>
            </a:pPr>
            <a:r>
              <a:rPr kumimoji="0" lang="en-US" altLang="zh-CN" sz="1800" b="1" i="0" u="none" strike="noStrike" kern="1200" cap="none" spc="0" normalizeH="0" baseline="0" noProof="0" dirty="0" err="1">
                <a:ln>
                  <a:noFill/>
                </a:ln>
                <a:solidFill>
                  <a:srgbClr val="3333CC"/>
                </a:solidFill>
                <a:effectLst/>
                <a:uLnTx/>
                <a:uFillTx/>
                <a:latin typeface="微软雅黑" panose="020B0503020204020204" pitchFamily="34" charset="-122"/>
                <a:ea typeface="微软雅黑" panose="020B0503020204020204" pitchFamily="34" charset="-122"/>
                <a:cs typeface="+mn-cs"/>
              </a:rPr>
              <a:t>popl</a:t>
            </a:r>
            <a:r>
              <a:rPr kumimoji="0" lang="en-US" altLang="zh-CN" sz="1800" b="1"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	%</a:t>
            </a:r>
            <a:r>
              <a:rPr kumimoji="0" lang="en-US" altLang="zh-CN" sz="1800" b="1" i="0" u="none" strike="noStrike" kern="1200" cap="none" spc="0" normalizeH="0" baseline="0" noProof="0" dirty="0" err="1">
                <a:ln>
                  <a:noFill/>
                </a:ln>
                <a:solidFill>
                  <a:srgbClr val="3333CC"/>
                </a:solidFill>
                <a:effectLst/>
                <a:uLnTx/>
                <a:uFillTx/>
                <a:latin typeface="微软雅黑" panose="020B0503020204020204" pitchFamily="34" charset="-122"/>
                <a:ea typeface="微软雅黑" panose="020B0503020204020204" pitchFamily="34" charset="-122"/>
                <a:cs typeface="+mn-cs"/>
              </a:rPr>
              <a:t>ebp</a:t>
            </a:r>
            <a:endParaRPr kumimoji="0" lang="en-US" altLang="zh-CN" sz="1800" b="1"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endParaRPr>
          </a:p>
        </p:txBody>
      </p:sp>
      <p:sp>
        <p:nvSpPr>
          <p:cNvPr id="47" name="Text Box 9"/>
          <p:cNvSpPr txBox="1">
            <a:spLocks noChangeArrowheads="1"/>
          </p:cNvSpPr>
          <p:nvPr/>
        </p:nvSpPr>
        <p:spPr bwMode="auto">
          <a:xfrm>
            <a:off x="5359275" y="1860649"/>
            <a:ext cx="2363788" cy="923330"/>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每个非叶子函数栈帧的大小必须是</a:t>
            </a:r>
            <a:r>
              <a:rPr kumimoji="0" lang="en-US" altLang="zh-CN"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16</a:t>
            </a:r>
            <a:r>
              <a:rPr kumimoji="0" lang="zh-CN" altLang="en-US"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字节的倍数</a:t>
            </a:r>
          </a:p>
        </p:txBody>
      </p:sp>
      <p:sp>
        <p:nvSpPr>
          <p:cNvPr id="48" name="Text Box 9"/>
          <p:cNvSpPr txBox="1">
            <a:spLocks noChangeArrowheads="1"/>
          </p:cNvSpPr>
          <p:nvPr/>
        </p:nvSpPr>
        <p:spPr bwMode="auto">
          <a:xfrm>
            <a:off x="5359399" y="3014663"/>
            <a:ext cx="2479676" cy="1338828"/>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栈中参数按</a:t>
            </a:r>
            <a:r>
              <a:rPr kumimoji="0" lang="en-US" altLang="zh-CN"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4</a:t>
            </a:r>
            <a:r>
              <a:rPr kumimoji="0" lang="zh-CN" altLang="en-US"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字节对齐，</a:t>
            </a:r>
            <a:r>
              <a:rPr kumimoji="0" lang="en-US" altLang="zh-CN"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(unsigned) char</a:t>
            </a:r>
            <a:r>
              <a:rPr kumimoji="0" lang="zh-CN" altLang="en-US"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a:t>
            </a:r>
            <a:r>
              <a:rPr kumimoji="0" lang="en-US" altLang="zh-CN"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(unsigned) short</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也都分配</a:t>
            </a:r>
            <a:r>
              <a:rPr kumimoji="0" lang="en-US" altLang="zh-CN"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4</a:t>
            </a:r>
            <a:r>
              <a:rPr kumimoji="0" lang="zh-CN" altLang="en-US"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个字节</a:t>
            </a:r>
          </a:p>
        </p:txBody>
      </p:sp>
    </p:spTree>
    <p:extLst>
      <p:ext uri="{BB962C8B-B14F-4D97-AF65-F5344CB8AC3E}">
        <p14:creationId xmlns:p14="http://schemas.microsoft.com/office/powerpoint/2010/main" val="27359647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79276"/>
                                        </p:tgtEl>
                                        <p:attrNameLst>
                                          <p:attrName>style.visibility</p:attrName>
                                        </p:attrNameLst>
                                      </p:cBhvr>
                                      <p:to>
                                        <p:strVal val="visible"/>
                                      </p:to>
                                    </p:set>
                                    <p:animEffect transition="in" filter="blinds(horizontal)">
                                      <p:cBhvr>
                                        <p:cTn id="7" dur="500"/>
                                        <p:tgtEl>
                                          <p:spTgt spid="7792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79309"/>
                                        </p:tgtEl>
                                        <p:attrNameLst>
                                          <p:attrName>style.visibility</p:attrName>
                                        </p:attrNameLst>
                                      </p:cBhvr>
                                      <p:to>
                                        <p:strVal val="visible"/>
                                      </p:to>
                                    </p:set>
                                    <p:animEffect transition="in" filter="blinds(horizontal)">
                                      <p:cBhvr>
                                        <p:cTn id="12" dur="500"/>
                                        <p:tgtEl>
                                          <p:spTgt spid="77930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79267"/>
                                        </p:tgtEl>
                                        <p:attrNameLst>
                                          <p:attrName>style.visibility</p:attrName>
                                        </p:attrNameLst>
                                      </p:cBhvr>
                                      <p:to>
                                        <p:strVal val="visible"/>
                                      </p:to>
                                    </p:set>
                                    <p:animEffect transition="in" filter="blinds(horizontal)">
                                      <p:cBhvr>
                                        <p:cTn id="17" dur="500"/>
                                        <p:tgtEl>
                                          <p:spTgt spid="77926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79268"/>
                                        </p:tgtEl>
                                        <p:attrNameLst>
                                          <p:attrName>style.visibility</p:attrName>
                                        </p:attrNameLst>
                                      </p:cBhvr>
                                      <p:to>
                                        <p:strVal val="visible"/>
                                      </p:to>
                                    </p:set>
                                    <p:animEffect transition="in" filter="blinds(horizontal)">
                                      <p:cBhvr>
                                        <p:cTn id="22" dur="500"/>
                                        <p:tgtEl>
                                          <p:spTgt spid="77926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79271"/>
                                        </p:tgtEl>
                                        <p:attrNameLst>
                                          <p:attrName>style.visibility</p:attrName>
                                        </p:attrNameLst>
                                      </p:cBhvr>
                                      <p:to>
                                        <p:strVal val="visible"/>
                                      </p:to>
                                    </p:set>
                                    <p:animEffect transition="in" filter="blinds(horizontal)">
                                      <p:cBhvr>
                                        <p:cTn id="27" dur="500"/>
                                        <p:tgtEl>
                                          <p:spTgt spid="77927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79311"/>
                                        </p:tgtEl>
                                        <p:attrNameLst>
                                          <p:attrName>style.visibility</p:attrName>
                                        </p:attrNameLst>
                                      </p:cBhvr>
                                      <p:to>
                                        <p:strVal val="visible"/>
                                      </p:to>
                                    </p:set>
                                    <p:animEffect transition="in" filter="blinds(horizontal)">
                                      <p:cBhvr>
                                        <p:cTn id="32" dur="500"/>
                                        <p:tgtEl>
                                          <p:spTgt spid="77931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779310"/>
                                        </p:tgtEl>
                                        <p:attrNameLst>
                                          <p:attrName>style.visibility</p:attrName>
                                        </p:attrNameLst>
                                      </p:cBhvr>
                                      <p:to>
                                        <p:strVal val="visible"/>
                                      </p:to>
                                    </p:set>
                                    <p:animEffect transition="in" filter="blinds(horizontal)">
                                      <p:cBhvr>
                                        <p:cTn id="37" dur="500"/>
                                        <p:tgtEl>
                                          <p:spTgt spid="7793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779301"/>
                                        </p:tgtEl>
                                        <p:attrNameLst>
                                          <p:attrName>style.visibility</p:attrName>
                                        </p:attrNameLst>
                                      </p:cBhvr>
                                      <p:to>
                                        <p:strVal val="visible"/>
                                      </p:to>
                                    </p:set>
                                    <p:animEffect transition="in" filter="blinds(horizontal)">
                                      <p:cBhvr>
                                        <p:cTn id="42" dur="500"/>
                                        <p:tgtEl>
                                          <p:spTgt spid="77930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779275"/>
                                        </p:tgtEl>
                                        <p:attrNameLst>
                                          <p:attrName>style.visibility</p:attrName>
                                        </p:attrNameLst>
                                      </p:cBhvr>
                                      <p:to>
                                        <p:strVal val="visible"/>
                                      </p:to>
                                    </p:set>
                                    <p:animEffect transition="in" filter="blinds(horizontal)">
                                      <p:cBhvr>
                                        <p:cTn id="47" dur="500"/>
                                        <p:tgtEl>
                                          <p:spTgt spid="77927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779284"/>
                                        </p:tgtEl>
                                        <p:attrNameLst>
                                          <p:attrName>style.visibility</p:attrName>
                                        </p:attrNameLst>
                                      </p:cBhvr>
                                      <p:to>
                                        <p:strVal val="visible"/>
                                      </p:to>
                                    </p:set>
                                    <p:animEffect transition="in" filter="blinds(horizontal)">
                                      <p:cBhvr>
                                        <p:cTn id="52" dur="500"/>
                                        <p:tgtEl>
                                          <p:spTgt spid="77928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779277"/>
                                        </p:tgtEl>
                                        <p:attrNameLst>
                                          <p:attrName>style.visibility</p:attrName>
                                        </p:attrNameLst>
                                      </p:cBhvr>
                                      <p:to>
                                        <p:strVal val="visible"/>
                                      </p:to>
                                    </p:set>
                                    <p:animEffect transition="in" filter="blinds(horizontal)">
                                      <p:cBhvr>
                                        <p:cTn id="57" dur="500"/>
                                        <p:tgtEl>
                                          <p:spTgt spid="77927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779278"/>
                                        </p:tgtEl>
                                        <p:attrNameLst>
                                          <p:attrName>style.visibility</p:attrName>
                                        </p:attrNameLst>
                                      </p:cBhvr>
                                      <p:to>
                                        <p:strVal val="visible"/>
                                      </p:to>
                                    </p:set>
                                    <p:animEffect transition="in" filter="blinds(horizontal)">
                                      <p:cBhvr>
                                        <p:cTn id="62" dur="500"/>
                                        <p:tgtEl>
                                          <p:spTgt spid="77927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779302"/>
                                        </p:tgtEl>
                                        <p:attrNameLst>
                                          <p:attrName>style.visibility</p:attrName>
                                        </p:attrNameLst>
                                      </p:cBhvr>
                                      <p:to>
                                        <p:strVal val="visible"/>
                                      </p:to>
                                    </p:set>
                                    <p:animEffect transition="in" filter="blinds(horizontal)">
                                      <p:cBhvr>
                                        <p:cTn id="67" dur="500"/>
                                        <p:tgtEl>
                                          <p:spTgt spid="779302"/>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nodeType="clickEffect">
                                  <p:stCondLst>
                                    <p:cond delay="0"/>
                                  </p:stCondLst>
                                  <p:childTnLst>
                                    <p:set>
                                      <p:cBhvr>
                                        <p:cTn id="71" dur="1" fill="hold">
                                          <p:stCondLst>
                                            <p:cond delay="0"/>
                                          </p:stCondLst>
                                        </p:cTn>
                                        <p:tgtEl>
                                          <p:spTgt spid="779303"/>
                                        </p:tgtEl>
                                        <p:attrNameLst>
                                          <p:attrName>style.visibility</p:attrName>
                                        </p:attrNameLst>
                                      </p:cBhvr>
                                      <p:to>
                                        <p:strVal val="visible"/>
                                      </p:to>
                                    </p:set>
                                    <p:animEffect transition="in" filter="blinds(horizontal)">
                                      <p:cBhvr>
                                        <p:cTn id="72" dur="500"/>
                                        <p:tgtEl>
                                          <p:spTgt spid="779303"/>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nodeType="clickEffect">
                                  <p:stCondLst>
                                    <p:cond delay="0"/>
                                  </p:stCondLst>
                                  <p:childTnLst>
                                    <p:set>
                                      <p:cBhvr>
                                        <p:cTn id="76" dur="1" fill="hold">
                                          <p:stCondLst>
                                            <p:cond delay="0"/>
                                          </p:stCondLst>
                                        </p:cTn>
                                        <p:tgtEl>
                                          <p:spTgt spid="779281"/>
                                        </p:tgtEl>
                                        <p:attrNameLst>
                                          <p:attrName>style.visibility</p:attrName>
                                        </p:attrNameLst>
                                      </p:cBhvr>
                                      <p:to>
                                        <p:strVal val="visible"/>
                                      </p:to>
                                    </p:set>
                                    <p:animEffect transition="in" filter="blinds(horizontal)">
                                      <p:cBhvr>
                                        <p:cTn id="77" dur="500"/>
                                        <p:tgtEl>
                                          <p:spTgt spid="779281"/>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nodeType="clickEffect">
                                  <p:stCondLst>
                                    <p:cond delay="0"/>
                                  </p:stCondLst>
                                  <p:childTnLst>
                                    <p:set>
                                      <p:cBhvr>
                                        <p:cTn id="81" dur="1" fill="hold">
                                          <p:stCondLst>
                                            <p:cond delay="0"/>
                                          </p:stCondLst>
                                        </p:cTn>
                                        <p:tgtEl>
                                          <p:spTgt spid="779304"/>
                                        </p:tgtEl>
                                        <p:attrNameLst>
                                          <p:attrName>style.visibility</p:attrName>
                                        </p:attrNameLst>
                                      </p:cBhvr>
                                      <p:to>
                                        <p:strVal val="visible"/>
                                      </p:to>
                                    </p:set>
                                    <p:animEffect transition="in" filter="blinds(horizontal)">
                                      <p:cBhvr>
                                        <p:cTn id="82" dur="500"/>
                                        <p:tgtEl>
                                          <p:spTgt spid="779304"/>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nodeType="clickEffect">
                                  <p:stCondLst>
                                    <p:cond delay="0"/>
                                  </p:stCondLst>
                                  <p:childTnLst>
                                    <p:set>
                                      <p:cBhvr>
                                        <p:cTn id="86" dur="1" fill="hold">
                                          <p:stCondLst>
                                            <p:cond delay="0"/>
                                          </p:stCondLst>
                                        </p:cTn>
                                        <p:tgtEl>
                                          <p:spTgt spid="779305"/>
                                        </p:tgtEl>
                                        <p:attrNameLst>
                                          <p:attrName>style.visibility</p:attrName>
                                        </p:attrNameLst>
                                      </p:cBhvr>
                                      <p:to>
                                        <p:strVal val="visible"/>
                                      </p:to>
                                    </p:set>
                                    <p:animEffect transition="in" filter="blinds(horizontal)">
                                      <p:cBhvr>
                                        <p:cTn id="87" dur="500"/>
                                        <p:tgtEl>
                                          <p:spTgt spid="779305"/>
                                        </p:tgtEl>
                                      </p:cBhvr>
                                    </p:animEffect>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nodeType="clickEffect">
                                  <p:stCondLst>
                                    <p:cond delay="0"/>
                                  </p:stCondLst>
                                  <p:childTnLst>
                                    <p:set>
                                      <p:cBhvr>
                                        <p:cTn id="91" dur="1" fill="hold">
                                          <p:stCondLst>
                                            <p:cond delay="0"/>
                                          </p:stCondLst>
                                        </p:cTn>
                                        <p:tgtEl>
                                          <p:spTgt spid="2"/>
                                        </p:tgtEl>
                                        <p:attrNameLst>
                                          <p:attrName>style.visibility</p:attrName>
                                        </p:attrNameLst>
                                      </p:cBhvr>
                                      <p:to>
                                        <p:strVal val="visible"/>
                                      </p:to>
                                    </p:set>
                                    <p:anim calcmode="lin" valueType="num">
                                      <p:cBhvr additive="base">
                                        <p:cTn id="92" dur="500" fill="hold"/>
                                        <p:tgtEl>
                                          <p:spTgt spid="2"/>
                                        </p:tgtEl>
                                        <p:attrNameLst>
                                          <p:attrName>ppt_x</p:attrName>
                                        </p:attrNameLst>
                                      </p:cBhvr>
                                      <p:tavLst>
                                        <p:tav tm="0">
                                          <p:val>
                                            <p:strVal val="#ppt_x"/>
                                          </p:val>
                                        </p:tav>
                                        <p:tav tm="100000">
                                          <p:val>
                                            <p:strVal val="#ppt_x"/>
                                          </p:val>
                                        </p:tav>
                                      </p:tavLst>
                                    </p:anim>
                                    <p:anim calcmode="lin" valueType="num">
                                      <p:cBhvr additive="base">
                                        <p:cTn id="9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4" fill="hold" nodeType="clickPar">
                      <p:stCondLst>
                        <p:cond delay="indefinite"/>
                      </p:stCondLst>
                      <p:childTnLst>
                        <p:par>
                          <p:cTn id="95" fill="hold" nodeType="withGroup">
                            <p:stCondLst>
                              <p:cond delay="0"/>
                            </p:stCondLst>
                            <p:childTnLst>
                              <p:par>
                                <p:cTn id="96" presetID="3" presetClass="entr" presetSubtype="10" fill="hold" nodeType="clickEffect">
                                  <p:stCondLst>
                                    <p:cond delay="0"/>
                                  </p:stCondLst>
                                  <p:childTnLst>
                                    <p:set>
                                      <p:cBhvr>
                                        <p:cTn id="97" dur="1" fill="hold">
                                          <p:stCondLst>
                                            <p:cond delay="0"/>
                                          </p:stCondLst>
                                        </p:cTn>
                                        <p:tgtEl>
                                          <p:spTgt spid="779290"/>
                                        </p:tgtEl>
                                        <p:attrNameLst>
                                          <p:attrName>style.visibility</p:attrName>
                                        </p:attrNameLst>
                                      </p:cBhvr>
                                      <p:to>
                                        <p:strVal val="visible"/>
                                      </p:to>
                                    </p:set>
                                    <p:animEffect transition="in" filter="blinds(horizontal)">
                                      <p:cBhvr>
                                        <p:cTn id="98" dur="500"/>
                                        <p:tgtEl>
                                          <p:spTgt spid="779290"/>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3" presetClass="entr" presetSubtype="10" fill="hold" nodeType="clickEffect">
                                  <p:stCondLst>
                                    <p:cond delay="0"/>
                                  </p:stCondLst>
                                  <p:childTnLst>
                                    <p:set>
                                      <p:cBhvr>
                                        <p:cTn id="102" dur="1" fill="hold">
                                          <p:stCondLst>
                                            <p:cond delay="0"/>
                                          </p:stCondLst>
                                        </p:cTn>
                                        <p:tgtEl>
                                          <p:spTgt spid="779293"/>
                                        </p:tgtEl>
                                        <p:attrNameLst>
                                          <p:attrName>style.visibility</p:attrName>
                                        </p:attrNameLst>
                                      </p:cBhvr>
                                      <p:to>
                                        <p:strVal val="visible"/>
                                      </p:to>
                                    </p:set>
                                    <p:animEffect transition="in" filter="blinds(horizontal)">
                                      <p:cBhvr>
                                        <p:cTn id="103" dur="500"/>
                                        <p:tgtEl>
                                          <p:spTgt spid="779293"/>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3" presetClass="entr" presetSubtype="10" fill="hold" nodeType="clickEffect">
                                  <p:stCondLst>
                                    <p:cond delay="0"/>
                                  </p:stCondLst>
                                  <p:childTnLst>
                                    <p:set>
                                      <p:cBhvr>
                                        <p:cTn id="107" dur="1" fill="hold">
                                          <p:stCondLst>
                                            <p:cond delay="0"/>
                                          </p:stCondLst>
                                        </p:cTn>
                                        <p:tgtEl>
                                          <p:spTgt spid="779307"/>
                                        </p:tgtEl>
                                        <p:attrNameLst>
                                          <p:attrName>style.visibility</p:attrName>
                                        </p:attrNameLst>
                                      </p:cBhvr>
                                      <p:to>
                                        <p:strVal val="visible"/>
                                      </p:to>
                                    </p:set>
                                    <p:animEffect transition="in" filter="blinds(horizontal)">
                                      <p:cBhvr>
                                        <p:cTn id="108" dur="500"/>
                                        <p:tgtEl>
                                          <p:spTgt spid="779307"/>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3" presetClass="entr" presetSubtype="10" fill="hold" grpId="0" nodeType="clickEffect">
                                  <p:stCondLst>
                                    <p:cond delay="0"/>
                                  </p:stCondLst>
                                  <p:childTnLst>
                                    <p:set>
                                      <p:cBhvr>
                                        <p:cTn id="112" dur="1" fill="hold">
                                          <p:stCondLst>
                                            <p:cond delay="0"/>
                                          </p:stCondLst>
                                        </p:cTn>
                                        <p:tgtEl>
                                          <p:spTgt spid="779306"/>
                                        </p:tgtEl>
                                        <p:attrNameLst>
                                          <p:attrName>style.visibility</p:attrName>
                                        </p:attrNameLst>
                                      </p:cBhvr>
                                      <p:to>
                                        <p:strVal val="visible"/>
                                      </p:to>
                                    </p:set>
                                    <p:animEffect transition="in" filter="blinds(horizontal)">
                                      <p:cBhvr>
                                        <p:cTn id="113" dur="500"/>
                                        <p:tgtEl>
                                          <p:spTgt spid="779306"/>
                                        </p:tgtEl>
                                      </p:cBhvr>
                                    </p:animEffec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grpId="0" nodeType="clickEffect">
                                  <p:stCondLst>
                                    <p:cond delay="0"/>
                                  </p:stCondLst>
                                  <p:childTnLst>
                                    <p:set>
                                      <p:cBhvr>
                                        <p:cTn id="117" dur="1" fill="hold">
                                          <p:stCondLst>
                                            <p:cond delay="0"/>
                                          </p:stCondLst>
                                        </p:cTn>
                                        <p:tgtEl>
                                          <p:spTgt spid="47"/>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grpId="0" nodeType="clickEffect">
                                  <p:stCondLst>
                                    <p:cond delay="0"/>
                                  </p:stCondLst>
                                  <p:childTnLst>
                                    <p:set>
                                      <p:cBhvr>
                                        <p:cTn id="121"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9267" grpId="0"/>
      <p:bldP spid="779275" grpId="0"/>
      <p:bldP spid="779276" grpId="0" animBg="1"/>
      <p:bldP spid="779277" grpId="0"/>
      <p:bldP spid="779306" grpId="0"/>
      <p:bldP spid="47" grpId="0" animBg="1"/>
      <p:bldP spid="48"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以下是有关</a:t>
            </a:r>
            <a:r>
              <a:rPr kumimoji="0" lang="en-US" altLang="zh-CN"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IA-32/Linux</a:t>
            </a: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GCC</a:t>
            </a: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）的过程调用的叙述，错误的是（ ）。</a:t>
            </a:r>
          </a:p>
        </p:txBody>
      </p:sp>
      <p:sp>
        <p:nvSpPr>
          <p:cNvPr id="4" name="文本框 3"/>
          <p:cNvSpPr txBox="1"/>
          <p:nvPr>
            <p:custDataLst>
              <p:tags r:id="rId3"/>
            </p:custDataLst>
          </p:nvPr>
        </p:nvSpPr>
        <p:spPr>
          <a:xfrm>
            <a:off x="1828800" y="278606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在过程中通常先使用被调用者保存寄存器</a:t>
            </a:r>
            <a:endPar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5" name="文本框 4"/>
          <p:cNvSpPr txBox="1"/>
          <p:nvPr>
            <p:custDataLst>
              <p:tags r:id="rId4"/>
            </p:custDataLst>
          </p:nvPr>
        </p:nvSpPr>
        <p:spPr>
          <a:xfrm>
            <a:off x="1828800" y="364331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每个非叶子过程都有一个栈帧，其大小为</a:t>
            </a:r>
            <a:r>
              <a:rPr kumimoji="0" lang="en-US" altLang="zh-CN"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16B</a:t>
            </a:r>
            <a:r>
              <a:rPr kumimoji="0" lang="zh-CN" altLang="en-US"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的倍数</a:t>
            </a:r>
            <a:endPar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6" name="文本框 5"/>
          <p:cNvSpPr txBox="1"/>
          <p:nvPr>
            <p:custDataLst>
              <p:tags r:id="rId5"/>
            </p:custDataLst>
          </p:nvPr>
        </p:nvSpPr>
        <p:spPr>
          <a:xfrm>
            <a:off x="1828800" y="4500563"/>
            <a:ext cx="6631632"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EBP</a:t>
            </a:r>
            <a:r>
              <a:rPr kumimoji="0" lang="zh-CN" altLang="en-US"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寄存器中的内容指向对应栈帧（</a:t>
            </a:r>
            <a:r>
              <a:rPr kumimoji="0" lang="en-US" altLang="zh-CN"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stack frame</a:t>
            </a:r>
            <a:r>
              <a:rPr kumimoji="0" lang="zh-CN" altLang="en-US"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）的底部</a:t>
            </a:r>
            <a:endPar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7" name="文本框 6"/>
          <p:cNvSpPr txBox="1"/>
          <p:nvPr>
            <p:custDataLst>
              <p:tags r:id="rId6"/>
            </p:custDataLst>
          </p:nvPr>
        </p:nvSpPr>
        <p:spPr>
          <a:xfrm>
            <a:off x="1828800" y="5357813"/>
            <a:ext cx="6400800" cy="642938"/>
          </a:xfrm>
          <a:prstGeom prst="rect">
            <a:avLst/>
          </a:prstGeom>
          <a:noFill/>
        </p:spPr>
        <p:txBody>
          <a:bodyPr vert="horz" rtlCol="0" anchor="ctr" anchorCtr="0">
            <a:noAutofit/>
          </a:bodyPr>
          <a:lstStyle/>
          <a:p>
            <a:pPr marL="457200" marR="0" lvl="0" indent="-45720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每个栈帧底部单元中存放其调用过程的</a:t>
            </a:r>
            <a:r>
              <a:rPr kumimoji="0" lang="en-US" altLang="zh-CN"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EBP</a:t>
            </a:r>
            <a:r>
              <a:rPr kumimoji="0" lang="zh-CN" altLang="en-US"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内容</a:t>
            </a:r>
          </a:p>
        </p:txBody>
      </p:sp>
      <p:sp>
        <p:nvSpPr>
          <p:cNvPr id="8" name="椭圆 7"/>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0" name="椭圆 9"/>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1" name="椭圆 10"/>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圆角矩形 11"/>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p>
        </p:txBody>
      </p:sp>
      <p:grpSp>
        <p:nvGrpSpPr>
          <p:cNvPr id="17" name="组合 16"/>
          <p:cNvGrpSpPr/>
          <p:nvPr>
            <p:custDataLst>
              <p:tags r:id="rId12"/>
            </p:custDataLst>
          </p:nvPr>
        </p:nvGrpSpPr>
        <p:grpSpPr>
          <a:xfrm>
            <a:off x="0" y="0"/>
            <a:ext cx="9144000" cy="635000"/>
            <a:chOff x="0" y="0"/>
            <a:chExt cx="9144000" cy="635000"/>
          </a:xfrm>
        </p:grpSpPr>
        <p:sp>
          <p:nvSpPr>
            <p:cNvPr id="13" name="TitleBackground"/>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entury Gothic"/>
                <a:ea typeface="幼圆" panose="02010509060101010101" pitchFamily="49" charset="-122"/>
                <a:cs typeface="+mn-cs"/>
              </a:endParaRPr>
            </a:p>
          </p:txBody>
        </p:sp>
        <p:sp>
          <p:nvSpPr>
            <p:cNvPr id="14"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entury Gothic"/>
                <a:ea typeface="幼圆" panose="02010509060101010101" pitchFamily="49" charset="-122"/>
                <a:cs typeface="+mn-cs"/>
              </a:endParaRPr>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10</a:t>
              </a:r>
              <a:r>
                <a:rPr kumimoji="0" lang="zh-CN" altLang="en-US"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99911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0" nodeType="clickEffect">
                                  <p:stCondLst>
                                    <p:cond delay="0"/>
                                  </p:stCondLst>
                                  <p:childTnLst>
                                    <p:animClr clrSpc="rgb" dir="cw">
                                      <p:cBhvr override="childStyle">
                                        <p:cTn id="6" dur="500" fill="hold"/>
                                        <p:tgtEl>
                                          <p:spTgt spid="8"/>
                                        </p:tgtEl>
                                        <p:attrNameLst>
                                          <p:attrName>style.color</p:attrName>
                                        </p:attrNameLst>
                                      </p:cBhvr>
                                      <p:to>
                                        <a:srgbClr val="FF0000"/>
                                      </p:to>
                                    </p:animClr>
                                    <p:animClr clrSpc="rgb" dir="cw">
                                      <p:cBhvr>
                                        <p:cTn id="7" dur="500" fill="hold"/>
                                        <p:tgtEl>
                                          <p:spTgt spid="8"/>
                                        </p:tgtEl>
                                        <p:attrNameLst>
                                          <p:attrName>fillcolor</p:attrName>
                                        </p:attrNameLst>
                                      </p:cBhvr>
                                      <p:to>
                                        <a:srgbClr val="FF0000"/>
                                      </p:to>
                                    </p:animClr>
                                    <p:set>
                                      <p:cBhvr>
                                        <p:cTn id="8" dur="500" fill="hold"/>
                                        <p:tgtEl>
                                          <p:spTgt spid="8"/>
                                        </p:tgtEl>
                                        <p:attrNameLst>
                                          <p:attrName>fill.type</p:attrName>
                                        </p:attrNameLst>
                                      </p:cBhvr>
                                      <p:to>
                                        <p:strVal val="solid"/>
                                      </p:to>
                                    </p:set>
                                    <p:set>
                                      <p:cBhvr>
                                        <p:cTn id="9" dur="500" fill="hold"/>
                                        <p:tgtEl>
                                          <p:spTgt spid="8"/>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457200" y="98425"/>
            <a:ext cx="8229600" cy="561975"/>
          </a:xfrm>
        </p:spPr>
        <p:txBody>
          <a:bodyPr>
            <a:normAutofit fontScale="90000"/>
          </a:bodyPr>
          <a:lstStyle/>
          <a:p>
            <a:r>
              <a:rPr lang="zh-CN" altLang="en-US" sz="3600" dirty="0"/>
              <a:t>过程（函数）的结构</a:t>
            </a:r>
          </a:p>
        </p:txBody>
      </p:sp>
      <p:sp>
        <p:nvSpPr>
          <p:cNvPr id="780291" name="Rectangle 3"/>
          <p:cNvSpPr>
            <a:spLocks noGrp="1" noChangeArrowheads="1"/>
          </p:cNvSpPr>
          <p:nvPr>
            <p:ph idx="1"/>
          </p:nvPr>
        </p:nvSpPr>
        <p:spPr>
          <a:xfrm>
            <a:off x="250825" y="836613"/>
            <a:ext cx="8447088" cy="5832475"/>
          </a:xfrm>
        </p:spPr>
        <p:txBody>
          <a:bodyPr/>
          <a:lstStyle/>
          <a:p>
            <a:r>
              <a:rPr lang="zh-CN" altLang="en-US" sz="2000">
                <a:latin typeface="微软雅黑" panose="020B0503020204020204" pitchFamily="34" charset="-122"/>
                <a:ea typeface="微软雅黑" panose="020B0503020204020204" pitchFamily="34" charset="-122"/>
              </a:rPr>
              <a:t>一个</a:t>
            </a:r>
            <a:r>
              <a:rPr lang="en-US" altLang="zh-CN" sz="2000">
                <a:latin typeface="微软雅黑" panose="020B0503020204020204" pitchFamily="34" charset="-122"/>
                <a:ea typeface="微软雅黑" panose="020B0503020204020204" pitchFamily="34" charset="-122"/>
              </a:rPr>
              <a:t>C</a:t>
            </a:r>
            <a:r>
              <a:rPr lang="zh-CN" altLang="en-US" sz="2000">
                <a:latin typeface="微软雅黑" panose="020B0503020204020204" pitchFamily="34" charset="-122"/>
                <a:ea typeface="微软雅黑" panose="020B0503020204020204" pitchFamily="34" charset="-122"/>
              </a:rPr>
              <a:t>过程的大致结构如下：</a:t>
            </a:r>
          </a:p>
          <a:p>
            <a:pPr lvl="1"/>
            <a:r>
              <a:rPr lang="zh-CN" altLang="en-US">
                <a:latin typeface="微软雅黑" panose="020B0503020204020204" pitchFamily="34" charset="-122"/>
                <a:ea typeface="微软雅黑" panose="020B0503020204020204" pitchFamily="34" charset="-122"/>
              </a:rPr>
              <a:t>准备阶段</a:t>
            </a:r>
          </a:p>
          <a:p>
            <a:pPr lvl="2"/>
            <a:r>
              <a:rPr lang="zh-CN" altLang="en-US" sz="2000">
                <a:latin typeface="微软雅黑" panose="020B0503020204020204" pitchFamily="34" charset="-122"/>
                <a:ea typeface="微软雅黑" panose="020B0503020204020204" pitchFamily="34" charset="-122"/>
              </a:rPr>
              <a:t>形成帧底：</a:t>
            </a:r>
            <a:r>
              <a:rPr lang="en-US" altLang="zh-CN" sz="2000">
                <a:latin typeface="微软雅黑" panose="020B0503020204020204" pitchFamily="34" charset="-122"/>
                <a:ea typeface="微软雅黑" panose="020B0503020204020204" pitchFamily="34" charset="-122"/>
              </a:rPr>
              <a:t>push</a:t>
            </a:r>
            <a:r>
              <a:rPr lang="zh-CN" altLang="en-US" sz="2000">
                <a:latin typeface="微软雅黑" panose="020B0503020204020204" pitchFamily="34" charset="-122"/>
                <a:ea typeface="微软雅黑" panose="020B0503020204020204" pitchFamily="34" charset="-122"/>
              </a:rPr>
              <a:t>指令 和 </a:t>
            </a:r>
            <a:r>
              <a:rPr lang="en-US" altLang="zh-CN" sz="2000">
                <a:latin typeface="微软雅黑" panose="020B0503020204020204" pitchFamily="34" charset="-122"/>
                <a:ea typeface="微软雅黑" panose="020B0503020204020204" pitchFamily="34" charset="-122"/>
              </a:rPr>
              <a:t>mov</a:t>
            </a:r>
            <a:r>
              <a:rPr lang="zh-CN" altLang="en-US" sz="2000">
                <a:latin typeface="微软雅黑" panose="020B0503020204020204" pitchFamily="34" charset="-122"/>
                <a:ea typeface="微软雅黑" panose="020B0503020204020204" pitchFamily="34" charset="-122"/>
              </a:rPr>
              <a:t>指令</a:t>
            </a:r>
          </a:p>
          <a:p>
            <a:pPr lvl="2"/>
            <a:r>
              <a:rPr lang="zh-CN" altLang="en-US" sz="2000">
                <a:latin typeface="微软雅黑" panose="020B0503020204020204" pitchFamily="34" charset="-122"/>
                <a:ea typeface="微软雅黑" panose="020B0503020204020204" pitchFamily="34" charset="-122"/>
              </a:rPr>
              <a:t>生成栈帧（如果需要的话）：</a:t>
            </a:r>
            <a:r>
              <a:rPr lang="en-US" altLang="zh-CN" sz="2000">
                <a:latin typeface="微软雅黑" panose="020B0503020204020204" pitchFamily="34" charset="-122"/>
                <a:ea typeface="微软雅黑" panose="020B0503020204020204" pitchFamily="34" charset="-122"/>
              </a:rPr>
              <a:t>sub</a:t>
            </a:r>
            <a:r>
              <a:rPr lang="zh-CN" altLang="en-US" sz="2000">
                <a:latin typeface="微软雅黑" panose="020B0503020204020204" pitchFamily="34" charset="-122"/>
                <a:ea typeface="微软雅黑" panose="020B0503020204020204" pitchFamily="34" charset="-122"/>
              </a:rPr>
              <a:t>指令 或 </a:t>
            </a:r>
            <a:r>
              <a:rPr lang="en-US" altLang="zh-CN" sz="2000">
                <a:latin typeface="微软雅黑" panose="020B0503020204020204" pitchFamily="34" charset="-122"/>
                <a:ea typeface="微软雅黑" panose="020B0503020204020204" pitchFamily="34" charset="-122"/>
              </a:rPr>
              <a:t>and</a:t>
            </a:r>
            <a:r>
              <a:rPr lang="zh-CN" altLang="en-US" sz="2000">
                <a:latin typeface="微软雅黑" panose="020B0503020204020204" pitchFamily="34" charset="-122"/>
                <a:ea typeface="微软雅黑" panose="020B0503020204020204" pitchFamily="34" charset="-122"/>
              </a:rPr>
              <a:t>指令</a:t>
            </a:r>
          </a:p>
          <a:p>
            <a:pPr lvl="2"/>
            <a:r>
              <a:rPr lang="zh-CN" altLang="en-US" sz="2000">
                <a:latin typeface="微软雅黑" panose="020B0503020204020204" pitchFamily="34" charset="-122"/>
                <a:ea typeface="微软雅黑" panose="020B0503020204020204" pitchFamily="34" charset="-122"/>
              </a:rPr>
              <a:t>保存现场（如果有被调用者保存寄存器） ：</a:t>
            </a:r>
            <a:r>
              <a:rPr lang="en-US" altLang="zh-CN" sz="2000">
                <a:latin typeface="微软雅黑" panose="020B0503020204020204" pitchFamily="34" charset="-122"/>
                <a:ea typeface="微软雅黑" panose="020B0503020204020204" pitchFamily="34" charset="-122"/>
              </a:rPr>
              <a:t>push</a:t>
            </a:r>
            <a:r>
              <a:rPr lang="zh-CN" altLang="en-US" sz="2000">
                <a:latin typeface="微软雅黑" panose="020B0503020204020204" pitchFamily="34" charset="-122"/>
                <a:ea typeface="微软雅黑" panose="020B0503020204020204" pitchFamily="34" charset="-122"/>
              </a:rPr>
              <a:t>指令</a:t>
            </a:r>
          </a:p>
          <a:p>
            <a:pPr lvl="1"/>
            <a:r>
              <a:rPr lang="zh-CN" altLang="en-US">
                <a:latin typeface="微软雅黑" panose="020B0503020204020204" pitchFamily="34" charset="-122"/>
                <a:ea typeface="微软雅黑" panose="020B0503020204020204" pitchFamily="34" charset="-122"/>
              </a:rPr>
              <a:t>过程（函数）体</a:t>
            </a:r>
          </a:p>
          <a:p>
            <a:pPr lvl="2"/>
            <a:r>
              <a:rPr lang="zh-CN" altLang="en-US" sz="2000">
                <a:latin typeface="微软雅黑" panose="020B0503020204020204" pitchFamily="34" charset="-122"/>
                <a:ea typeface="微软雅黑" panose="020B0503020204020204" pitchFamily="34" charset="-122"/>
              </a:rPr>
              <a:t>分配局部变量空间，并赋值</a:t>
            </a:r>
          </a:p>
          <a:p>
            <a:pPr lvl="2"/>
            <a:r>
              <a:rPr lang="zh-CN" altLang="en-US" sz="2000">
                <a:latin typeface="微软雅黑" panose="020B0503020204020204" pitchFamily="34" charset="-122"/>
                <a:ea typeface="微软雅黑" panose="020B0503020204020204" pitchFamily="34" charset="-122"/>
              </a:rPr>
              <a:t>具体处理逻辑，如果遇到函数调用时</a:t>
            </a:r>
          </a:p>
          <a:p>
            <a:pPr lvl="3"/>
            <a:r>
              <a:rPr lang="zh-CN" altLang="en-US" sz="2000">
                <a:latin typeface="微软雅黑" panose="020B0503020204020204" pitchFamily="34" charset="-122"/>
                <a:ea typeface="微软雅黑" panose="020B0503020204020204" pitchFamily="34" charset="-122"/>
              </a:rPr>
              <a:t>准备参数：将实参送栈帧入口参数处</a:t>
            </a:r>
          </a:p>
          <a:p>
            <a:pPr lvl="3"/>
            <a:r>
              <a:rPr lang="en-US" altLang="zh-CN" sz="2000">
                <a:latin typeface="微软雅黑" panose="020B0503020204020204" pitchFamily="34" charset="-122"/>
                <a:ea typeface="微软雅黑" panose="020B0503020204020204" pitchFamily="34" charset="-122"/>
              </a:rPr>
              <a:t>CALL</a:t>
            </a:r>
            <a:r>
              <a:rPr lang="zh-CN" altLang="en-US" sz="2000">
                <a:latin typeface="微软雅黑" panose="020B0503020204020204" pitchFamily="34" charset="-122"/>
                <a:ea typeface="微软雅黑" panose="020B0503020204020204" pitchFamily="34" charset="-122"/>
              </a:rPr>
              <a:t>指令：保存返回地址并转被调用函数</a:t>
            </a:r>
          </a:p>
          <a:p>
            <a:pPr lvl="2"/>
            <a:r>
              <a:rPr lang="zh-CN" altLang="en-US" sz="2000">
                <a:latin typeface="微软雅黑" panose="020B0503020204020204" pitchFamily="34" charset="-122"/>
                <a:ea typeface="微软雅黑" panose="020B0503020204020204" pitchFamily="34" charset="-122"/>
              </a:rPr>
              <a:t>在</a:t>
            </a:r>
            <a:r>
              <a:rPr lang="en-US" altLang="zh-CN" sz="2000">
                <a:latin typeface="微软雅黑" panose="020B0503020204020204" pitchFamily="34" charset="-122"/>
                <a:ea typeface="微软雅黑" panose="020B0503020204020204" pitchFamily="34" charset="-122"/>
              </a:rPr>
              <a:t>EAX</a:t>
            </a:r>
            <a:r>
              <a:rPr lang="zh-CN" altLang="en-US" sz="2000">
                <a:latin typeface="微软雅黑" panose="020B0503020204020204" pitchFamily="34" charset="-122"/>
                <a:ea typeface="微软雅黑" panose="020B0503020204020204" pitchFamily="34" charset="-122"/>
              </a:rPr>
              <a:t>中准备返回参数</a:t>
            </a:r>
          </a:p>
          <a:p>
            <a:pPr lvl="1"/>
            <a:r>
              <a:rPr lang="zh-CN" altLang="en-US">
                <a:latin typeface="微软雅黑" panose="020B0503020204020204" pitchFamily="34" charset="-122"/>
                <a:ea typeface="微软雅黑" panose="020B0503020204020204" pitchFamily="34" charset="-122"/>
              </a:rPr>
              <a:t>结束阶段</a:t>
            </a:r>
          </a:p>
          <a:p>
            <a:pPr lvl="2"/>
            <a:r>
              <a:rPr lang="zh-CN" altLang="en-US" sz="2000">
                <a:latin typeface="微软雅黑" panose="020B0503020204020204" pitchFamily="34" charset="-122"/>
                <a:ea typeface="微软雅黑" panose="020B0503020204020204" pitchFamily="34" charset="-122"/>
              </a:rPr>
              <a:t>退栈：</a:t>
            </a:r>
            <a:r>
              <a:rPr lang="en-US" altLang="zh-CN" sz="2000">
                <a:latin typeface="微软雅黑" panose="020B0503020204020204" pitchFamily="34" charset="-122"/>
                <a:ea typeface="微软雅黑" panose="020B0503020204020204" pitchFamily="34" charset="-122"/>
              </a:rPr>
              <a:t>leave</a:t>
            </a:r>
            <a:r>
              <a:rPr lang="zh-CN" altLang="en-US" sz="2000">
                <a:latin typeface="微软雅黑" panose="020B0503020204020204" pitchFamily="34" charset="-122"/>
                <a:ea typeface="微软雅黑" panose="020B0503020204020204" pitchFamily="34" charset="-122"/>
              </a:rPr>
              <a:t>指令 或 </a:t>
            </a:r>
            <a:r>
              <a:rPr lang="en-US" altLang="zh-CN" sz="2000">
                <a:latin typeface="微软雅黑" panose="020B0503020204020204" pitchFamily="34" charset="-122"/>
                <a:ea typeface="微软雅黑" panose="020B0503020204020204" pitchFamily="34" charset="-122"/>
              </a:rPr>
              <a:t>pop</a:t>
            </a:r>
            <a:r>
              <a:rPr lang="zh-CN" altLang="en-US" sz="2000">
                <a:latin typeface="微软雅黑" panose="020B0503020204020204" pitchFamily="34" charset="-122"/>
                <a:ea typeface="微软雅黑" panose="020B0503020204020204" pitchFamily="34" charset="-122"/>
              </a:rPr>
              <a:t>指令</a:t>
            </a:r>
          </a:p>
          <a:p>
            <a:pPr lvl="2"/>
            <a:r>
              <a:rPr lang="zh-CN" altLang="en-US" sz="2000">
                <a:latin typeface="微软雅黑" panose="020B0503020204020204" pitchFamily="34" charset="-122"/>
                <a:ea typeface="微软雅黑" panose="020B0503020204020204" pitchFamily="34" charset="-122"/>
              </a:rPr>
              <a:t>取返回地址返回：</a:t>
            </a:r>
            <a:r>
              <a:rPr lang="en-US" altLang="zh-CN" sz="2000">
                <a:latin typeface="微软雅黑" panose="020B0503020204020204" pitchFamily="34" charset="-122"/>
                <a:ea typeface="微软雅黑" panose="020B0503020204020204" pitchFamily="34" charset="-122"/>
              </a:rPr>
              <a:t>ret</a:t>
            </a:r>
            <a:r>
              <a:rPr lang="zh-CN" altLang="en-US" sz="2000">
                <a:latin typeface="微软雅黑" panose="020B0503020204020204" pitchFamily="34" charset="-122"/>
                <a:ea typeface="微软雅黑" panose="020B0503020204020204" pitchFamily="34" charset="-122"/>
              </a:rPr>
              <a:t>指令</a:t>
            </a:r>
          </a:p>
        </p:txBody>
      </p:sp>
    </p:spTree>
    <p:extLst>
      <p:ext uri="{BB962C8B-B14F-4D97-AF65-F5344CB8AC3E}">
        <p14:creationId xmlns:p14="http://schemas.microsoft.com/office/powerpoint/2010/main" val="14358276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80291">
                                            <p:txEl>
                                              <p:pRg st="2" end="2"/>
                                            </p:txEl>
                                          </p:spTgt>
                                        </p:tgtEl>
                                        <p:attrNameLst>
                                          <p:attrName>style.visibility</p:attrName>
                                        </p:attrNameLst>
                                      </p:cBhvr>
                                      <p:to>
                                        <p:strVal val="visible"/>
                                      </p:to>
                                    </p:set>
                                    <p:animEffect transition="in" filter="blinds(horizontal)">
                                      <p:cBhvr>
                                        <p:cTn id="7" dur="500"/>
                                        <p:tgtEl>
                                          <p:spTgt spid="78029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80291">
                                            <p:txEl>
                                              <p:pRg st="3" end="3"/>
                                            </p:txEl>
                                          </p:spTgt>
                                        </p:tgtEl>
                                        <p:attrNameLst>
                                          <p:attrName>style.visibility</p:attrName>
                                        </p:attrNameLst>
                                      </p:cBhvr>
                                      <p:to>
                                        <p:strVal val="visible"/>
                                      </p:to>
                                    </p:set>
                                    <p:animEffect transition="in" filter="blinds(horizontal)">
                                      <p:cBhvr>
                                        <p:cTn id="12" dur="500"/>
                                        <p:tgtEl>
                                          <p:spTgt spid="780291">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80291">
                                            <p:txEl>
                                              <p:pRg st="4" end="4"/>
                                            </p:txEl>
                                          </p:spTgt>
                                        </p:tgtEl>
                                        <p:attrNameLst>
                                          <p:attrName>style.visibility</p:attrName>
                                        </p:attrNameLst>
                                      </p:cBhvr>
                                      <p:to>
                                        <p:strVal val="visible"/>
                                      </p:to>
                                    </p:set>
                                    <p:animEffect transition="in" filter="blinds(horizontal)">
                                      <p:cBhvr>
                                        <p:cTn id="17" dur="500"/>
                                        <p:tgtEl>
                                          <p:spTgt spid="780291">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80291">
                                            <p:txEl>
                                              <p:pRg st="6" end="6"/>
                                            </p:txEl>
                                          </p:spTgt>
                                        </p:tgtEl>
                                        <p:attrNameLst>
                                          <p:attrName>style.visibility</p:attrName>
                                        </p:attrNameLst>
                                      </p:cBhvr>
                                      <p:to>
                                        <p:strVal val="visible"/>
                                      </p:to>
                                    </p:set>
                                    <p:animEffect transition="in" filter="blinds(horizontal)">
                                      <p:cBhvr>
                                        <p:cTn id="22" dur="500"/>
                                        <p:tgtEl>
                                          <p:spTgt spid="780291">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80291">
                                            <p:txEl>
                                              <p:pRg st="7" end="7"/>
                                            </p:txEl>
                                          </p:spTgt>
                                        </p:tgtEl>
                                        <p:attrNameLst>
                                          <p:attrName>style.visibility</p:attrName>
                                        </p:attrNameLst>
                                      </p:cBhvr>
                                      <p:to>
                                        <p:strVal val="visible"/>
                                      </p:to>
                                    </p:set>
                                    <p:animEffect transition="in" filter="blinds(horizontal)">
                                      <p:cBhvr>
                                        <p:cTn id="27" dur="500"/>
                                        <p:tgtEl>
                                          <p:spTgt spid="780291">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80291">
                                            <p:txEl>
                                              <p:pRg st="8" end="8"/>
                                            </p:txEl>
                                          </p:spTgt>
                                        </p:tgtEl>
                                        <p:attrNameLst>
                                          <p:attrName>style.visibility</p:attrName>
                                        </p:attrNameLst>
                                      </p:cBhvr>
                                      <p:to>
                                        <p:strVal val="visible"/>
                                      </p:to>
                                    </p:set>
                                    <p:animEffect transition="in" filter="blinds(horizontal)">
                                      <p:cBhvr>
                                        <p:cTn id="32" dur="500"/>
                                        <p:tgtEl>
                                          <p:spTgt spid="780291">
                                            <p:txEl>
                                              <p:pRg st="8" end="8"/>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780291">
                                            <p:txEl>
                                              <p:pRg st="9" end="9"/>
                                            </p:txEl>
                                          </p:spTgt>
                                        </p:tgtEl>
                                        <p:attrNameLst>
                                          <p:attrName>style.visibility</p:attrName>
                                        </p:attrNameLst>
                                      </p:cBhvr>
                                      <p:to>
                                        <p:strVal val="visible"/>
                                      </p:to>
                                    </p:set>
                                    <p:animEffect transition="in" filter="blinds(horizontal)">
                                      <p:cBhvr>
                                        <p:cTn id="37" dur="500"/>
                                        <p:tgtEl>
                                          <p:spTgt spid="780291">
                                            <p:txEl>
                                              <p:pRg st="9" end="9"/>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780291">
                                            <p:txEl>
                                              <p:pRg st="10" end="10"/>
                                            </p:txEl>
                                          </p:spTgt>
                                        </p:tgtEl>
                                        <p:attrNameLst>
                                          <p:attrName>style.visibility</p:attrName>
                                        </p:attrNameLst>
                                      </p:cBhvr>
                                      <p:to>
                                        <p:strVal val="visible"/>
                                      </p:to>
                                    </p:set>
                                    <p:animEffect transition="in" filter="blinds(horizontal)">
                                      <p:cBhvr>
                                        <p:cTn id="42" dur="500"/>
                                        <p:tgtEl>
                                          <p:spTgt spid="780291">
                                            <p:txEl>
                                              <p:pRg st="10" end="1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780291">
                                            <p:txEl>
                                              <p:pRg st="12" end="12"/>
                                            </p:txEl>
                                          </p:spTgt>
                                        </p:tgtEl>
                                        <p:attrNameLst>
                                          <p:attrName>style.visibility</p:attrName>
                                        </p:attrNameLst>
                                      </p:cBhvr>
                                      <p:to>
                                        <p:strVal val="visible"/>
                                      </p:to>
                                    </p:set>
                                    <p:animEffect transition="in" filter="blinds(horizontal)">
                                      <p:cBhvr>
                                        <p:cTn id="47" dur="500"/>
                                        <p:tgtEl>
                                          <p:spTgt spid="780291">
                                            <p:txEl>
                                              <p:pRg st="12" end="12"/>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780291">
                                            <p:txEl>
                                              <p:pRg st="13" end="13"/>
                                            </p:txEl>
                                          </p:spTgt>
                                        </p:tgtEl>
                                        <p:attrNameLst>
                                          <p:attrName>style.visibility</p:attrName>
                                        </p:attrNameLst>
                                      </p:cBhvr>
                                      <p:to>
                                        <p:strVal val="visible"/>
                                      </p:to>
                                    </p:set>
                                    <p:animEffect transition="in" filter="blinds(horizontal)">
                                      <p:cBhvr>
                                        <p:cTn id="52" dur="500"/>
                                        <p:tgtEl>
                                          <p:spTgt spid="78029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457200" y="98425"/>
            <a:ext cx="8229600" cy="561975"/>
          </a:xfrm>
        </p:spPr>
        <p:txBody>
          <a:bodyPr>
            <a:normAutofit fontScale="90000"/>
          </a:bodyPr>
          <a:lstStyle/>
          <a:p>
            <a:r>
              <a:rPr lang="zh-CN" altLang="en-US" sz="3600"/>
              <a:t>一个简单的过程调用例子</a:t>
            </a:r>
          </a:p>
        </p:txBody>
      </p:sp>
      <p:pic>
        <p:nvPicPr>
          <p:cNvPr id="779311" name="Picture 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88913"/>
            <a:ext cx="4321175" cy="545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9267" name="Rectangle 3"/>
          <p:cNvSpPr>
            <a:spLocks noChangeArrowheads="1"/>
          </p:cNvSpPr>
          <p:nvPr/>
        </p:nvSpPr>
        <p:spPr bwMode="auto">
          <a:xfrm>
            <a:off x="0" y="2738438"/>
            <a:ext cx="2970213" cy="411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caller</a:t>
            </a:r>
            <a:r>
              <a:rPr kumimoji="0" lang="zh-CN" altLang="en-US"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 pushl	%ebp</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 movl 	%esp, %ebp</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 subl	$24, %esp</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 movl	$125, -12(%ebp)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 movl	$80, -8(%ebp)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 movl     -8(%ebp), %eax</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 movl	%eax, 4(%esp)</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 movl	-12(%ebp), %eax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 movl	%eax, (%esp)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 call	add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 movl	%eax, -4(%ebp)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 movl	-4(%ebp), %eax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 leave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 ret</a:t>
            </a:r>
            <a:r>
              <a:rPr kumimoji="0" lang="en-US" altLang="zh-CN"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 </a:t>
            </a: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nvGrpSpPr>
          <p:cNvPr id="779268" name="Group 4"/>
          <p:cNvGrpSpPr>
            <a:grpSpLocks/>
          </p:cNvGrpSpPr>
          <p:nvPr/>
        </p:nvGrpSpPr>
        <p:grpSpPr bwMode="auto">
          <a:xfrm>
            <a:off x="2322513" y="3114675"/>
            <a:ext cx="1035050" cy="687388"/>
            <a:chOff x="1746" y="1848"/>
            <a:chExt cx="652" cy="433"/>
          </a:xfrm>
        </p:grpSpPr>
        <p:sp>
          <p:nvSpPr>
            <p:cNvPr id="84012" name="AutoShape 5"/>
            <p:cNvSpPr>
              <a:spLocks/>
            </p:cNvSpPr>
            <p:nvPr/>
          </p:nvSpPr>
          <p:spPr bwMode="auto">
            <a:xfrm>
              <a:off x="1746" y="1848"/>
              <a:ext cx="170" cy="425"/>
            </a:xfrm>
            <a:prstGeom prst="rightBrace">
              <a:avLst>
                <a:gd name="adj1" fmla="val 20833"/>
                <a:gd name="adj2" fmla="val 50000"/>
              </a:avLst>
            </a:prstGeom>
            <a:noFill/>
            <a:ln w="2857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zh-CN" altLang="en-US" sz="1800" b="0" i="0" u="none" strike="noStrike" kern="1200" cap="none" spc="0" normalizeH="0" baseline="0" noProof="0">
                <a:ln>
                  <a:noFill/>
                </a:ln>
                <a:solidFill>
                  <a:srgbClr val="FF3300"/>
                </a:solidFill>
                <a:effectLst/>
                <a:uLnTx/>
                <a:uFillTx/>
                <a:latin typeface="Arial" panose="020B0604020202020204" pitchFamily="34" charset="0"/>
                <a:ea typeface="宋体" panose="02010600030101010101" pitchFamily="2" charset="-122"/>
                <a:cs typeface="+mn-cs"/>
              </a:endParaRPr>
            </a:p>
          </p:txBody>
        </p:sp>
        <p:sp>
          <p:nvSpPr>
            <p:cNvPr id="84013" name="Text Box 6"/>
            <p:cNvSpPr txBox="1">
              <a:spLocks noChangeArrowheads="1"/>
            </p:cNvSpPr>
            <p:nvPr/>
          </p:nvSpPr>
          <p:spPr bwMode="auto">
            <a:xfrm>
              <a:off x="1916" y="1877"/>
              <a:ext cx="48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a:ln>
                    <a:noFill/>
                  </a:ln>
                  <a:solidFill>
                    <a:srgbClr val="FF3300"/>
                  </a:solidFill>
                  <a:effectLst/>
                  <a:uLnTx/>
                  <a:uFillTx/>
                  <a:latin typeface="Arial" panose="020B0604020202020204" pitchFamily="34" charset="0"/>
                  <a:ea typeface="微软雅黑" panose="020B0503020204020204" pitchFamily="34" charset="-122"/>
                  <a:cs typeface="+mn-cs"/>
                </a:rPr>
                <a:t>准备阶段</a:t>
              </a:r>
            </a:p>
          </p:txBody>
        </p:sp>
      </p:grpSp>
      <p:grpSp>
        <p:nvGrpSpPr>
          <p:cNvPr id="779271" name="Group 7"/>
          <p:cNvGrpSpPr>
            <a:grpSpLocks/>
          </p:cNvGrpSpPr>
          <p:nvPr/>
        </p:nvGrpSpPr>
        <p:grpSpPr bwMode="auto">
          <a:xfrm>
            <a:off x="881063" y="6264275"/>
            <a:ext cx="989012" cy="587375"/>
            <a:chOff x="584" y="3916"/>
            <a:chExt cx="623" cy="370"/>
          </a:xfrm>
        </p:grpSpPr>
        <p:sp>
          <p:nvSpPr>
            <p:cNvPr id="84010" name="AutoShape 8"/>
            <p:cNvSpPr>
              <a:spLocks/>
            </p:cNvSpPr>
            <p:nvPr/>
          </p:nvSpPr>
          <p:spPr bwMode="auto">
            <a:xfrm>
              <a:off x="584" y="3973"/>
              <a:ext cx="170" cy="308"/>
            </a:xfrm>
            <a:prstGeom prst="rightBrace">
              <a:avLst>
                <a:gd name="adj1" fmla="val 15098"/>
                <a:gd name="adj2" fmla="val 50000"/>
              </a:avLst>
            </a:prstGeom>
            <a:noFill/>
            <a:ln w="2857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zh-CN" altLang="en-US" sz="1800" b="0" i="0" u="none" strike="noStrike" kern="1200" cap="none" spc="0" normalizeH="0" baseline="0" noProof="0">
                <a:ln>
                  <a:noFill/>
                </a:ln>
                <a:solidFill>
                  <a:srgbClr val="FF3300"/>
                </a:solidFill>
                <a:effectLst/>
                <a:uLnTx/>
                <a:uFillTx/>
                <a:latin typeface="Arial" panose="020B0604020202020204" pitchFamily="34" charset="0"/>
                <a:ea typeface="宋体" panose="02010600030101010101" pitchFamily="2" charset="-122"/>
                <a:cs typeface="+mn-cs"/>
              </a:endParaRPr>
            </a:p>
          </p:txBody>
        </p:sp>
        <p:sp>
          <p:nvSpPr>
            <p:cNvPr id="84011" name="Text Box 9"/>
            <p:cNvSpPr txBox="1">
              <a:spLocks noChangeArrowheads="1"/>
            </p:cNvSpPr>
            <p:nvPr/>
          </p:nvSpPr>
          <p:spPr bwMode="auto">
            <a:xfrm>
              <a:off x="725" y="3916"/>
              <a:ext cx="482" cy="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90000"/>
                </a:lnSpc>
                <a:spcBef>
                  <a:spcPct val="10000"/>
                </a:spcBef>
                <a:spcAft>
                  <a:spcPts val="0"/>
                </a:spcAft>
                <a:buClrTx/>
                <a:buSzTx/>
                <a:buFontTx/>
                <a:buNone/>
                <a:tabLst/>
                <a:defRPr/>
              </a:pPr>
              <a:r>
                <a:rPr kumimoji="0" lang="zh-CN" altLang="en-US" sz="1800" b="1" i="0" u="none" strike="noStrike" kern="1200" cap="none" spc="0" normalizeH="0" baseline="0" noProof="0">
                  <a:ln>
                    <a:noFill/>
                  </a:ln>
                  <a:solidFill>
                    <a:srgbClr val="FF3300"/>
                  </a:solidFill>
                  <a:effectLst/>
                  <a:uLnTx/>
                  <a:uFillTx/>
                  <a:latin typeface="Arial" panose="020B0604020202020204" pitchFamily="34" charset="0"/>
                  <a:ea typeface="微软雅黑" panose="020B0503020204020204" pitchFamily="34" charset="-122"/>
                  <a:cs typeface="+mn-cs"/>
                </a:rPr>
                <a:t>结束阶段</a:t>
              </a:r>
            </a:p>
          </p:txBody>
        </p:sp>
      </p:grpSp>
      <p:sp>
        <p:nvSpPr>
          <p:cNvPr id="779275" name="Text Box 11"/>
          <p:cNvSpPr txBox="1">
            <a:spLocks noChangeArrowheads="1"/>
          </p:cNvSpPr>
          <p:nvPr/>
        </p:nvSpPr>
        <p:spPr bwMode="auto">
          <a:xfrm>
            <a:off x="7902575" y="98425"/>
            <a:ext cx="9445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caller</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0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帧底</a:t>
            </a:r>
          </a:p>
        </p:txBody>
      </p:sp>
      <p:sp>
        <p:nvSpPr>
          <p:cNvPr id="779276" name="Text Box 12"/>
          <p:cNvSpPr txBox="1">
            <a:spLocks noChangeArrowheads="1"/>
          </p:cNvSpPr>
          <p:nvPr/>
        </p:nvSpPr>
        <p:spPr bwMode="auto">
          <a:xfrm>
            <a:off x="115888" y="46038"/>
            <a:ext cx="3286125" cy="2573337"/>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int add ( int x, int y ) {</a:t>
            </a:r>
          </a:p>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return x+y;</a:t>
            </a:r>
          </a:p>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int	 caller ( ) {	</a:t>
            </a:r>
          </a:p>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int	t1 = 125;</a:t>
            </a:r>
          </a:p>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int 	t2 = 80;</a:t>
            </a:r>
          </a:p>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int	sum = </a:t>
            </a: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add (t1, t2)</a:t>
            </a:r>
            <a:r>
              <a:rPr kumimoji="0" lang="en-US"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return sum;</a:t>
            </a: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79277" name="Text Box 13"/>
          <p:cNvSpPr txBox="1">
            <a:spLocks noChangeArrowheads="1"/>
          </p:cNvSpPr>
          <p:nvPr/>
        </p:nvSpPr>
        <p:spPr bwMode="auto">
          <a:xfrm>
            <a:off x="7858125" y="3024188"/>
            <a:ext cx="10795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20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ESP+4</a:t>
            </a:r>
          </a:p>
        </p:txBody>
      </p:sp>
      <p:grpSp>
        <p:nvGrpSpPr>
          <p:cNvPr id="779278" name="Group 14"/>
          <p:cNvGrpSpPr>
            <a:grpSpLocks/>
          </p:cNvGrpSpPr>
          <p:nvPr/>
        </p:nvGrpSpPr>
        <p:grpSpPr bwMode="auto">
          <a:xfrm>
            <a:off x="2771775" y="3789363"/>
            <a:ext cx="1125538" cy="641350"/>
            <a:chOff x="1746" y="2387"/>
            <a:chExt cx="709" cy="404"/>
          </a:xfrm>
        </p:grpSpPr>
        <p:sp>
          <p:nvSpPr>
            <p:cNvPr id="84008" name="AutoShape 15"/>
            <p:cNvSpPr>
              <a:spLocks/>
            </p:cNvSpPr>
            <p:nvPr/>
          </p:nvSpPr>
          <p:spPr bwMode="auto">
            <a:xfrm>
              <a:off x="1746" y="2443"/>
              <a:ext cx="170" cy="306"/>
            </a:xfrm>
            <a:prstGeom prst="rightBrace">
              <a:avLst>
                <a:gd name="adj1" fmla="val 15000"/>
                <a:gd name="adj2" fmla="val 50000"/>
              </a:avLst>
            </a:prstGeom>
            <a:noFill/>
            <a:ln w="2857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zh-CN" altLang="en-US" sz="1800" b="0" i="0" u="none" strike="noStrike" kern="1200" cap="none" spc="0" normalizeH="0" baseline="0" noProof="0">
                <a:ln>
                  <a:noFill/>
                </a:ln>
                <a:solidFill>
                  <a:srgbClr val="FF3300"/>
                </a:solidFill>
                <a:effectLst/>
                <a:uLnTx/>
                <a:uFillTx/>
                <a:latin typeface="Arial" panose="020B0604020202020204" pitchFamily="34" charset="0"/>
                <a:ea typeface="宋体" panose="02010600030101010101" pitchFamily="2" charset="-122"/>
                <a:cs typeface="+mn-cs"/>
              </a:endParaRPr>
            </a:p>
          </p:txBody>
        </p:sp>
        <p:sp>
          <p:nvSpPr>
            <p:cNvPr id="84009" name="Text Box 16"/>
            <p:cNvSpPr txBox="1">
              <a:spLocks noChangeArrowheads="1"/>
            </p:cNvSpPr>
            <p:nvPr/>
          </p:nvSpPr>
          <p:spPr bwMode="auto">
            <a:xfrm>
              <a:off x="1888" y="2387"/>
              <a:ext cx="56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a:ln>
                    <a:noFill/>
                  </a:ln>
                  <a:solidFill>
                    <a:srgbClr val="FF3300"/>
                  </a:solidFill>
                  <a:effectLst/>
                  <a:uLnTx/>
                  <a:uFillTx/>
                  <a:latin typeface="Arial" panose="020B0604020202020204" pitchFamily="34" charset="0"/>
                  <a:ea typeface="微软雅黑" panose="020B0503020204020204" pitchFamily="34" charset="-122"/>
                  <a:cs typeface="+mn-cs"/>
                </a:rPr>
                <a:t>分配局部变量</a:t>
              </a:r>
            </a:p>
          </p:txBody>
        </p:sp>
      </p:grpSp>
      <p:grpSp>
        <p:nvGrpSpPr>
          <p:cNvPr id="779281" name="Group 17"/>
          <p:cNvGrpSpPr>
            <a:grpSpLocks/>
          </p:cNvGrpSpPr>
          <p:nvPr/>
        </p:nvGrpSpPr>
        <p:grpSpPr bwMode="auto">
          <a:xfrm>
            <a:off x="2771775" y="4464050"/>
            <a:ext cx="1125538" cy="927100"/>
            <a:chOff x="1746" y="2812"/>
            <a:chExt cx="709" cy="584"/>
          </a:xfrm>
        </p:grpSpPr>
        <p:sp>
          <p:nvSpPr>
            <p:cNvPr id="84006" name="AutoShape 18"/>
            <p:cNvSpPr>
              <a:spLocks/>
            </p:cNvSpPr>
            <p:nvPr/>
          </p:nvSpPr>
          <p:spPr bwMode="auto">
            <a:xfrm>
              <a:off x="1746" y="2812"/>
              <a:ext cx="170" cy="584"/>
            </a:xfrm>
            <a:prstGeom prst="rightBrace">
              <a:avLst>
                <a:gd name="adj1" fmla="val 28627"/>
                <a:gd name="adj2" fmla="val 50000"/>
              </a:avLst>
            </a:prstGeom>
            <a:noFill/>
            <a:ln w="2857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zh-CN" altLang="en-US" sz="1800" b="0" i="0" u="none" strike="noStrike" kern="1200" cap="none" spc="0" normalizeH="0" baseline="0" noProof="0">
                <a:ln>
                  <a:noFill/>
                </a:ln>
                <a:solidFill>
                  <a:srgbClr val="FF3300"/>
                </a:solidFill>
                <a:effectLst/>
                <a:uLnTx/>
                <a:uFillTx/>
                <a:latin typeface="Arial" panose="020B0604020202020204" pitchFamily="34" charset="0"/>
                <a:ea typeface="宋体" panose="02010600030101010101" pitchFamily="2" charset="-122"/>
                <a:cs typeface="+mn-cs"/>
              </a:endParaRPr>
            </a:p>
          </p:txBody>
        </p:sp>
        <p:sp>
          <p:nvSpPr>
            <p:cNvPr id="84007" name="Text Box 19"/>
            <p:cNvSpPr txBox="1">
              <a:spLocks noChangeArrowheads="1"/>
            </p:cNvSpPr>
            <p:nvPr/>
          </p:nvSpPr>
          <p:spPr bwMode="auto">
            <a:xfrm>
              <a:off x="1888" y="2897"/>
              <a:ext cx="56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a:ln>
                    <a:noFill/>
                  </a:ln>
                  <a:solidFill>
                    <a:srgbClr val="FF3300"/>
                  </a:solidFill>
                  <a:effectLst/>
                  <a:uLnTx/>
                  <a:uFillTx/>
                  <a:latin typeface="Arial" panose="020B0604020202020204" pitchFamily="34" charset="0"/>
                  <a:ea typeface="微软雅黑" panose="020B0503020204020204" pitchFamily="34" charset="-122"/>
                  <a:cs typeface="+mn-cs"/>
                </a:rPr>
                <a:t>准备入口参数</a:t>
              </a:r>
            </a:p>
          </p:txBody>
        </p:sp>
      </p:grpSp>
      <p:grpSp>
        <p:nvGrpSpPr>
          <p:cNvPr id="779284" name="Group 20"/>
          <p:cNvGrpSpPr>
            <a:grpSpLocks/>
          </p:cNvGrpSpPr>
          <p:nvPr/>
        </p:nvGrpSpPr>
        <p:grpSpPr bwMode="auto">
          <a:xfrm>
            <a:off x="4706938" y="765175"/>
            <a:ext cx="809625" cy="2746375"/>
            <a:chOff x="2965" y="482"/>
            <a:chExt cx="510" cy="1730"/>
          </a:xfrm>
        </p:grpSpPr>
        <p:sp>
          <p:nvSpPr>
            <p:cNvPr id="84001" name="Text Box 21"/>
            <p:cNvSpPr txBox="1">
              <a:spLocks noChangeArrowheads="1"/>
            </p:cNvSpPr>
            <p:nvPr/>
          </p:nvSpPr>
          <p:spPr bwMode="auto">
            <a:xfrm>
              <a:off x="3050" y="482"/>
              <a:ext cx="397"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20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-4</a:t>
              </a:r>
            </a:p>
          </p:txBody>
        </p:sp>
        <p:sp>
          <p:nvSpPr>
            <p:cNvPr id="84002" name="Text Box 22"/>
            <p:cNvSpPr txBox="1">
              <a:spLocks noChangeArrowheads="1"/>
            </p:cNvSpPr>
            <p:nvPr/>
          </p:nvSpPr>
          <p:spPr bwMode="auto">
            <a:xfrm>
              <a:off x="3050" y="794"/>
              <a:ext cx="397"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20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-8</a:t>
              </a:r>
            </a:p>
          </p:txBody>
        </p:sp>
        <p:sp>
          <p:nvSpPr>
            <p:cNvPr id="84003" name="Text Box 23"/>
            <p:cNvSpPr txBox="1">
              <a:spLocks noChangeArrowheads="1"/>
            </p:cNvSpPr>
            <p:nvPr/>
          </p:nvSpPr>
          <p:spPr bwMode="auto">
            <a:xfrm>
              <a:off x="2965" y="1219"/>
              <a:ext cx="482"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20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-12</a:t>
              </a:r>
            </a:p>
          </p:txBody>
        </p:sp>
        <p:sp>
          <p:nvSpPr>
            <p:cNvPr id="84004" name="Text Box 24"/>
            <p:cNvSpPr txBox="1">
              <a:spLocks noChangeArrowheads="1"/>
            </p:cNvSpPr>
            <p:nvPr/>
          </p:nvSpPr>
          <p:spPr bwMode="auto">
            <a:xfrm>
              <a:off x="2965" y="1565"/>
              <a:ext cx="482"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20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-16</a:t>
              </a:r>
            </a:p>
          </p:txBody>
        </p:sp>
        <p:sp>
          <p:nvSpPr>
            <p:cNvPr id="84005" name="Text Box 25"/>
            <p:cNvSpPr txBox="1">
              <a:spLocks noChangeArrowheads="1"/>
            </p:cNvSpPr>
            <p:nvPr/>
          </p:nvSpPr>
          <p:spPr bwMode="auto">
            <a:xfrm>
              <a:off x="2993" y="1962"/>
              <a:ext cx="482"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20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-20</a:t>
              </a:r>
            </a:p>
          </p:txBody>
        </p:sp>
      </p:grpSp>
      <p:grpSp>
        <p:nvGrpSpPr>
          <p:cNvPr id="779290" name="Group 26"/>
          <p:cNvGrpSpPr>
            <a:grpSpLocks/>
          </p:cNvGrpSpPr>
          <p:nvPr/>
        </p:nvGrpSpPr>
        <p:grpSpPr bwMode="auto">
          <a:xfrm>
            <a:off x="1781175" y="5454650"/>
            <a:ext cx="3060700" cy="366713"/>
            <a:chOff x="1122" y="3436"/>
            <a:chExt cx="1928" cy="231"/>
          </a:xfrm>
        </p:grpSpPr>
        <p:sp>
          <p:nvSpPr>
            <p:cNvPr id="83999" name="Text Box 27"/>
            <p:cNvSpPr txBox="1">
              <a:spLocks noChangeArrowheads="1"/>
            </p:cNvSpPr>
            <p:nvPr/>
          </p:nvSpPr>
          <p:spPr bwMode="auto">
            <a:xfrm>
              <a:off x="1377" y="3436"/>
              <a:ext cx="1673"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返回参数总在</a:t>
              </a: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EAX</a:t>
              </a: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中</a:t>
              </a:r>
            </a:p>
          </p:txBody>
        </p:sp>
        <p:sp>
          <p:nvSpPr>
            <p:cNvPr id="84000" name="Line 28"/>
            <p:cNvSpPr>
              <a:spLocks noChangeShapeType="1"/>
            </p:cNvSpPr>
            <p:nvPr/>
          </p:nvSpPr>
          <p:spPr bwMode="auto">
            <a:xfrm flipH="1">
              <a:off x="1122" y="3549"/>
              <a:ext cx="284" cy="0"/>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grpSp>
      <p:grpSp>
        <p:nvGrpSpPr>
          <p:cNvPr id="779293" name="Group 29"/>
          <p:cNvGrpSpPr>
            <a:grpSpLocks/>
          </p:cNvGrpSpPr>
          <p:nvPr/>
        </p:nvGrpSpPr>
        <p:grpSpPr bwMode="auto">
          <a:xfrm>
            <a:off x="2771775" y="5768975"/>
            <a:ext cx="1125538" cy="641350"/>
            <a:chOff x="1746" y="3634"/>
            <a:chExt cx="709" cy="404"/>
          </a:xfrm>
        </p:grpSpPr>
        <p:sp>
          <p:nvSpPr>
            <p:cNvPr id="83997" name="AutoShape 30"/>
            <p:cNvSpPr>
              <a:spLocks/>
            </p:cNvSpPr>
            <p:nvPr/>
          </p:nvSpPr>
          <p:spPr bwMode="auto">
            <a:xfrm>
              <a:off x="1746" y="3677"/>
              <a:ext cx="142" cy="269"/>
            </a:xfrm>
            <a:prstGeom prst="rightBrace">
              <a:avLst>
                <a:gd name="adj1" fmla="val 15786"/>
                <a:gd name="adj2" fmla="val 50000"/>
              </a:avLst>
            </a:prstGeom>
            <a:noFill/>
            <a:ln w="2857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zh-CN" altLang="en-US" sz="1800" b="0" i="0" u="none" strike="noStrike" kern="1200" cap="none" spc="0" normalizeH="0" baseline="0" noProof="0">
                <a:ln>
                  <a:noFill/>
                </a:ln>
                <a:solidFill>
                  <a:srgbClr val="FF3300"/>
                </a:solidFill>
                <a:effectLst/>
                <a:uLnTx/>
                <a:uFillTx/>
                <a:latin typeface="Arial" panose="020B0604020202020204" pitchFamily="34" charset="0"/>
                <a:ea typeface="宋体" panose="02010600030101010101" pitchFamily="2" charset="-122"/>
                <a:cs typeface="+mn-cs"/>
              </a:endParaRPr>
            </a:p>
          </p:txBody>
        </p:sp>
        <p:sp>
          <p:nvSpPr>
            <p:cNvPr id="83998" name="Text Box 31"/>
            <p:cNvSpPr txBox="1">
              <a:spLocks noChangeArrowheads="1"/>
            </p:cNvSpPr>
            <p:nvPr/>
          </p:nvSpPr>
          <p:spPr bwMode="auto">
            <a:xfrm>
              <a:off x="1888" y="3634"/>
              <a:ext cx="56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a:ln>
                    <a:noFill/>
                  </a:ln>
                  <a:solidFill>
                    <a:srgbClr val="FF3300"/>
                  </a:solidFill>
                  <a:effectLst/>
                  <a:uLnTx/>
                  <a:uFillTx/>
                  <a:latin typeface="Arial" panose="020B0604020202020204" pitchFamily="34" charset="0"/>
                  <a:ea typeface="微软雅黑" panose="020B0503020204020204" pitchFamily="34" charset="-122"/>
                  <a:cs typeface="+mn-cs"/>
                </a:rPr>
                <a:t>准备返回参数</a:t>
              </a:r>
            </a:p>
          </p:txBody>
        </p:sp>
      </p:grpSp>
      <p:sp>
        <p:nvSpPr>
          <p:cNvPr id="779296" name="Text Box 32"/>
          <p:cNvSpPr txBox="1">
            <a:spLocks noChangeArrowheads="1"/>
          </p:cNvSpPr>
          <p:nvPr/>
        </p:nvSpPr>
        <p:spPr bwMode="auto">
          <a:xfrm>
            <a:off x="6372225" y="5770563"/>
            <a:ext cx="2744788" cy="9445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
              </a:spcBef>
              <a:spcAft>
                <a:spcPts val="0"/>
              </a:spcAft>
              <a:buClrTx/>
              <a:buSzTx/>
              <a:buFontTx/>
              <a:buNone/>
              <a:tabLst/>
              <a:defRPr/>
            </a:pP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add</a:t>
            </a:r>
            <a:r>
              <a:rPr kumimoji="0" lang="zh-CN" altLang="en-US"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函数开始是什么？</a:t>
            </a:r>
          </a:p>
          <a:p>
            <a:pPr marL="342900" marR="0" lvl="0" indent="-342900" algn="l" defTabSz="914400" rtl="0" eaLnBrk="1" fontAlgn="auto" latinLnBrk="0" hangingPunct="1">
              <a:lnSpc>
                <a:spcPct val="100000"/>
              </a:lnSpc>
              <a:spcBef>
                <a:spcPct val="5000"/>
              </a:spcBef>
              <a:spcAft>
                <a:spcPts val="0"/>
              </a:spcAft>
              <a:buClrTx/>
              <a:buSzTx/>
              <a:buFontTx/>
              <a:buNone/>
              <a:tabLst/>
              <a:defRPr/>
            </a:pP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pushl   %ebp</a:t>
            </a:r>
          </a:p>
          <a:p>
            <a:pPr marL="342900" marR="0" lvl="0" indent="-342900" algn="l" defTabSz="914400" rtl="0" eaLnBrk="1" fontAlgn="auto" latinLnBrk="0" hangingPunct="1">
              <a:lnSpc>
                <a:spcPct val="100000"/>
              </a:lnSpc>
              <a:spcBef>
                <a:spcPct val="5000"/>
              </a:spcBef>
              <a:spcAft>
                <a:spcPts val="0"/>
              </a:spcAft>
              <a:buClrTx/>
              <a:buSzTx/>
              <a:buFontTx/>
              <a:buNone/>
              <a:tabLst/>
              <a:defRPr/>
            </a:pP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movl   %esp, %ebp</a:t>
            </a:r>
          </a:p>
        </p:txBody>
      </p:sp>
      <p:sp>
        <p:nvSpPr>
          <p:cNvPr id="779297" name="Line 33"/>
          <p:cNvSpPr>
            <a:spLocks noChangeShapeType="1"/>
          </p:cNvSpPr>
          <p:nvPr/>
        </p:nvSpPr>
        <p:spPr bwMode="auto">
          <a:xfrm flipH="1" flipV="1">
            <a:off x="5786438" y="5003800"/>
            <a:ext cx="1711325" cy="1169988"/>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779301" name="Line 37"/>
          <p:cNvSpPr>
            <a:spLocks noChangeShapeType="1"/>
          </p:cNvSpPr>
          <p:nvPr/>
        </p:nvSpPr>
        <p:spPr bwMode="auto">
          <a:xfrm>
            <a:off x="2185988" y="3698875"/>
            <a:ext cx="2341562" cy="90488"/>
          </a:xfrm>
          <a:prstGeom prst="line">
            <a:avLst/>
          </a:prstGeom>
          <a:noFill/>
          <a:ln w="952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779302" name="Line 38"/>
          <p:cNvSpPr>
            <a:spLocks noChangeShapeType="1"/>
          </p:cNvSpPr>
          <p:nvPr/>
        </p:nvSpPr>
        <p:spPr bwMode="auto">
          <a:xfrm flipV="1">
            <a:off x="2727325" y="2214563"/>
            <a:ext cx="2565400" cy="1663700"/>
          </a:xfrm>
          <a:prstGeom prst="line">
            <a:avLst/>
          </a:prstGeom>
          <a:noFill/>
          <a:ln w="952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779303" name="Line 39"/>
          <p:cNvSpPr>
            <a:spLocks noChangeShapeType="1"/>
          </p:cNvSpPr>
          <p:nvPr/>
        </p:nvSpPr>
        <p:spPr bwMode="auto">
          <a:xfrm flipV="1">
            <a:off x="2501900" y="1538288"/>
            <a:ext cx="2835275" cy="2746375"/>
          </a:xfrm>
          <a:prstGeom prst="line">
            <a:avLst/>
          </a:prstGeom>
          <a:noFill/>
          <a:ln w="952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779304" name="Line 40"/>
          <p:cNvSpPr>
            <a:spLocks noChangeShapeType="1"/>
          </p:cNvSpPr>
          <p:nvPr/>
        </p:nvSpPr>
        <p:spPr bwMode="auto">
          <a:xfrm flipV="1">
            <a:off x="2592388" y="3294063"/>
            <a:ext cx="2789237" cy="1484312"/>
          </a:xfrm>
          <a:prstGeom prst="line">
            <a:avLst/>
          </a:prstGeom>
          <a:noFill/>
          <a:ln w="952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779305" name="Line 41"/>
          <p:cNvSpPr>
            <a:spLocks noChangeShapeType="1"/>
          </p:cNvSpPr>
          <p:nvPr/>
        </p:nvSpPr>
        <p:spPr bwMode="auto">
          <a:xfrm flipV="1">
            <a:off x="2501900" y="3924300"/>
            <a:ext cx="2835275" cy="1439863"/>
          </a:xfrm>
          <a:prstGeom prst="line">
            <a:avLst/>
          </a:prstGeom>
          <a:noFill/>
          <a:ln w="952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779306" name="Rectangle 42"/>
          <p:cNvSpPr>
            <a:spLocks noChangeArrowheads="1"/>
          </p:cNvSpPr>
          <p:nvPr/>
        </p:nvSpPr>
        <p:spPr bwMode="auto">
          <a:xfrm>
            <a:off x="3402013" y="6345238"/>
            <a:ext cx="2493962" cy="4667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tIns="0" bIns="0" anchor="ctr">
            <a:spAutoFit/>
          </a:bodyPr>
          <a:lstStyle>
            <a:lvl1pPr indent="269875">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269875" algn="l" defTabSz="914400" rtl="0" eaLnBrk="1" fontAlgn="auto" latinLnBrk="0" hangingPunct="1">
              <a:lnSpc>
                <a:spcPct val="85000"/>
              </a:lnSpc>
              <a:spcBef>
                <a:spcPct val="0"/>
              </a:spcBef>
              <a:spcAft>
                <a:spcPts val="0"/>
              </a:spcAft>
              <a:buClrTx/>
              <a:buSzTx/>
              <a:buFontTx/>
              <a:buNone/>
              <a:tabLst/>
              <a:defRPr/>
            </a:pP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movl 	%ebp, %esp</a:t>
            </a:r>
          </a:p>
          <a:p>
            <a:pPr marL="0" marR="0" lvl="0" indent="269875" algn="l" defTabSz="914400" rtl="0" eaLnBrk="1" fontAlgn="auto" latinLnBrk="0" hangingPunct="1">
              <a:lnSpc>
                <a:spcPct val="85000"/>
              </a:lnSpc>
              <a:spcBef>
                <a:spcPct val="0"/>
              </a:spcBef>
              <a:spcAft>
                <a:spcPts val="0"/>
              </a:spcAft>
              <a:buClrTx/>
              <a:buSzTx/>
              <a:buFontTx/>
              <a:buNone/>
              <a:tabLst/>
              <a:defRPr/>
            </a:pP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popl	%ebp</a:t>
            </a:r>
          </a:p>
        </p:txBody>
      </p:sp>
      <p:sp>
        <p:nvSpPr>
          <p:cNvPr id="779307" name="Line 43"/>
          <p:cNvSpPr>
            <a:spLocks noChangeShapeType="1"/>
          </p:cNvSpPr>
          <p:nvPr/>
        </p:nvSpPr>
        <p:spPr bwMode="auto">
          <a:xfrm>
            <a:off x="746125" y="6489700"/>
            <a:ext cx="2925763" cy="44450"/>
          </a:xfrm>
          <a:prstGeom prst="line">
            <a:avLst/>
          </a:prstGeom>
          <a:noFill/>
          <a:ln w="952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grpSp>
        <p:nvGrpSpPr>
          <p:cNvPr id="779309" name="Group 45"/>
          <p:cNvGrpSpPr>
            <a:grpSpLocks/>
          </p:cNvGrpSpPr>
          <p:nvPr/>
        </p:nvGrpSpPr>
        <p:grpSpPr bwMode="auto">
          <a:xfrm>
            <a:off x="3446463" y="188913"/>
            <a:ext cx="1125537" cy="1738312"/>
            <a:chOff x="2171" y="119"/>
            <a:chExt cx="681" cy="1095"/>
          </a:xfrm>
        </p:grpSpPr>
        <p:sp>
          <p:nvSpPr>
            <p:cNvPr id="83994" name="Text Box 35"/>
            <p:cNvSpPr txBox="1">
              <a:spLocks noChangeArrowheads="1"/>
            </p:cNvSpPr>
            <p:nvPr/>
          </p:nvSpPr>
          <p:spPr bwMode="auto">
            <a:xfrm>
              <a:off x="2171" y="119"/>
              <a:ext cx="681" cy="1095"/>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2500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add</a:t>
              </a:r>
            </a:p>
            <a:p>
              <a:pPr marL="342900" marR="0" lvl="0" indent="-342900" algn="l" defTabSz="914400" rtl="0" eaLnBrk="1" fontAlgn="auto" latinLnBrk="0" hangingPunct="1">
                <a:lnSpc>
                  <a:spcPct val="100000"/>
                </a:lnSpc>
                <a:spcBef>
                  <a:spcPct val="25000"/>
                </a:spcBef>
                <a:spcAft>
                  <a:spcPts val="0"/>
                </a:spcAft>
                <a:buClrTx/>
                <a:buSzTx/>
                <a:buFontTx/>
                <a:buNone/>
                <a:tabLst/>
                <a:defRPr/>
              </a:pPr>
              <a:endPar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5000"/>
                </a:spcBef>
                <a:spcAft>
                  <a:spcPts val="0"/>
                </a:spcAft>
                <a:buClrTx/>
                <a:buSzTx/>
                <a:buFontTx/>
                <a:buNone/>
                <a:tabLst/>
                <a:defRPr/>
              </a:pP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caller</a:t>
              </a:r>
            </a:p>
            <a:p>
              <a:pPr marL="342900" marR="0" lvl="0" indent="-342900" algn="l" defTabSz="914400" rtl="0" eaLnBrk="1" fontAlgn="auto" latinLnBrk="0" hangingPunct="1">
                <a:lnSpc>
                  <a:spcPct val="100000"/>
                </a:lnSpc>
                <a:spcBef>
                  <a:spcPct val="25000"/>
                </a:spcBef>
                <a:spcAft>
                  <a:spcPts val="0"/>
                </a:spcAft>
                <a:buClrTx/>
                <a:buSzTx/>
                <a:buFontTx/>
                <a:buNone/>
                <a:tabLst/>
                <a:defRPr/>
              </a:pPr>
              <a:endPar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500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P</a:t>
              </a:r>
            </a:p>
          </p:txBody>
        </p:sp>
        <p:sp>
          <p:nvSpPr>
            <p:cNvPr id="83995" name="Line 36"/>
            <p:cNvSpPr>
              <a:spLocks noChangeShapeType="1"/>
            </p:cNvSpPr>
            <p:nvPr/>
          </p:nvSpPr>
          <p:spPr bwMode="auto">
            <a:xfrm flipV="1">
              <a:off x="2398" y="289"/>
              <a:ext cx="0" cy="283"/>
            </a:xfrm>
            <a:prstGeom prst="line">
              <a:avLst/>
            </a:prstGeom>
            <a:noFill/>
            <a:ln w="38100">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83996" name="Line 44"/>
            <p:cNvSpPr>
              <a:spLocks noChangeShapeType="1"/>
            </p:cNvSpPr>
            <p:nvPr/>
          </p:nvSpPr>
          <p:spPr bwMode="auto">
            <a:xfrm flipV="1">
              <a:off x="2398" y="714"/>
              <a:ext cx="0" cy="283"/>
            </a:xfrm>
            <a:prstGeom prst="line">
              <a:avLst/>
            </a:prstGeom>
            <a:noFill/>
            <a:ln w="38100">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grpSp>
      <p:sp>
        <p:nvSpPr>
          <p:cNvPr id="779310" name="Line 46"/>
          <p:cNvSpPr>
            <a:spLocks noChangeShapeType="1"/>
          </p:cNvSpPr>
          <p:nvPr/>
        </p:nvSpPr>
        <p:spPr bwMode="auto">
          <a:xfrm flipV="1">
            <a:off x="1646238" y="549275"/>
            <a:ext cx="3600450" cy="2519363"/>
          </a:xfrm>
          <a:prstGeom prst="line">
            <a:avLst/>
          </a:prstGeom>
          <a:noFill/>
          <a:ln w="952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Tree>
    <p:extLst>
      <p:ext uri="{BB962C8B-B14F-4D97-AF65-F5344CB8AC3E}">
        <p14:creationId xmlns:p14="http://schemas.microsoft.com/office/powerpoint/2010/main" val="23013772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chemeClr val="accent6">
                    <a:lumMod val="50000"/>
                  </a:schemeClr>
                </a:solidFill>
              </a:rPr>
              <a:t>提纲</a:t>
            </a:r>
          </a:p>
        </p:txBody>
      </p:sp>
      <p:sp>
        <p:nvSpPr>
          <p:cNvPr id="3" name="内容占位符 2"/>
          <p:cNvSpPr>
            <a:spLocks noGrp="1"/>
          </p:cNvSpPr>
          <p:nvPr>
            <p:ph idx="1"/>
          </p:nvPr>
        </p:nvSpPr>
        <p:spPr>
          <a:xfrm>
            <a:off x="457200" y="1844824"/>
            <a:ext cx="8229600" cy="3816424"/>
          </a:xfrm>
        </p:spPr>
        <p:txBody>
          <a:bodyPr>
            <a:normAutofit/>
          </a:bodyPr>
          <a:lstStyle/>
          <a:p>
            <a:pPr indent="-540000">
              <a:lnSpc>
                <a:spcPct val="150000"/>
              </a:lnSpc>
              <a:buFont typeface="Wingdings" panose="05000000000000000000" pitchFamily="2" charset="2"/>
              <a:buChar char="Ø"/>
            </a:pPr>
            <a:r>
              <a:rPr lang="zh-CN" altLang="en-US" dirty="0"/>
              <a:t>过程调用的机器级表示</a:t>
            </a:r>
            <a:endParaRPr lang="en-US" altLang="zh-CN" dirty="0"/>
          </a:p>
          <a:p>
            <a:pPr lvl="1" indent="-540000">
              <a:lnSpc>
                <a:spcPct val="150000"/>
              </a:lnSpc>
              <a:buFont typeface="Arial" panose="020B0604020202020204" pitchFamily="34" charset="0"/>
              <a:buChar char="•"/>
            </a:pPr>
            <a:r>
              <a:rPr lang="zh-CN" altLang="en-US" dirty="0"/>
              <a:t>过程调用概述</a:t>
            </a:r>
            <a:endParaRPr lang="en-US" altLang="zh-CN" dirty="0"/>
          </a:p>
          <a:p>
            <a:pPr lvl="1" indent="-540000">
              <a:lnSpc>
                <a:spcPct val="150000"/>
              </a:lnSpc>
              <a:buFont typeface="Arial" panose="020B0604020202020204" pitchFamily="34" charset="0"/>
              <a:buChar char="•"/>
            </a:pPr>
            <a:r>
              <a:rPr lang="zh-CN" altLang="en-US" dirty="0"/>
              <a:t>过程调用的栈和栈桢</a:t>
            </a:r>
            <a:endParaRPr lang="en-US" altLang="zh-CN" dirty="0"/>
          </a:p>
          <a:p>
            <a:pPr lvl="1" indent="-540000">
              <a:lnSpc>
                <a:spcPct val="150000"/>
              </a:lnSpc>
              <a:buFont typeface="Arial" panose="020B0604020202020204" pitchFamily="34" charset="0"/>
              <a:buChar char="•"/>
            </a:pPr>
            <a:r>
              <a:rPr lang="zh-CN" altLang="en-US" dirty="0">
                <a:solidFill>
                  <a:srgbClr val="FF0000"/>
                </a:solidFill>
              </a:rPr>
              <a:t>过程调用的参数传递</a:t>
            </a:r>
            <a:endParaRPr lang="en-US" altLang="zh-CN" dirty="0">
              <a:solidFill>
                <a:srgbClr val="FF0000"/>
              </a:solidFill>
            </a:endParaRPr>
          </a:p>
        </p:txBody>
      </p:sp>
    </p:spTree>
    <p:extLst>
      <p:ext uri="{BB962C8B-B14F-4D97-AF65-F5344CB8AC3E}">
        <p14:creationId xmlns:p14="http://schemas.microsoft.com/office/powerpoint/2010/main" val="3236544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457200" y="98425"/>
            <a:ext cx="8229600" cy="561975"/>
          </a:xfrm>
        </p:spPr>
        <p:txBody>
          <a:bodyPr>
            <a:normAutofit fontScale="90000"/>
          </a:bodyPr>
          <a:lstStyle/>
          <a:p>
            <a:r>
              <a:rPr lang="zh-CN" altLang="en-US" sz="3600"/>
              <a:t>过程调用参数传递举例</a:t>
            </a:r>
          </a:p>
        </p:txBody>
      </p:sp>
      <p:sp>
        <p:nvSpPr>
          <p:cNvPr id="782339" name="Text Box 3"/>
          <p:cNvSpPr txBox="1">
            <a:spLocks noChangeArrowheads="1"/>
          </p:cNvSpPr>
          <p:nvPr/>
        </p:nvSpPr>
        <p:spPr bwMode="auto">
          <a:xfrm>
            <a:off x="746125" y="5753100"/>
            <a:ext cx="2338388" cy="871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just" defTabSz="914400" rtl="0" eaLnBrk="1" fontAlgn="auto" latinLnBrk="0" hangingPunct="1">
              <a:lnSpc>
                <a:spcPct val="100000"/>
              </a:lnSpc>
              <a:spcBef>
                <a:spcPct val="0"/>
              </a:spcBef>
              <a:spcAft>
                <a:spcPts val="0"/>
              </a:spcAft>
              <a:buClrTx/>
              <a:buSzTx/>
              <a:buFontTx/>
              <a:buNone/>
              <a:tabLst/>
              <a:defRPr/>
            </a:pPr>
            <a:r>
              <a:rPr kumimoji="0" lang="zh-CN" altLang="en-US"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程序一的输出：</a:t>
            </a:r>
          </a:p>
          <a:p>
            <a:pPr marL="0" marR="0" lvl="0" indent="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a=15	b=22</a:t>
            </a:r>
          </a:p>
          <a:p>
            <a:pPr marL="0" marR="0" lvl="0" indent="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a=22	b=15</a:t>
            </a:r>
          </a:p>
        </p:txBody>
      </p:sp>
      <p:sp>
        <p:nvSpPr>
          <p:cNvPr id="782340" name="Text Box 4"/>
          <p:cNvSpPr txBox="1">
            <a:spLocks noChangeArrowheads="1"/>
          </p:cNvSpPr>
          <p:nvPr/>
        </p:nvSpPr>
        <p:spPr bwMode="auto">
          <a:xfrm>
            <a:off x="5697538" y="5724525"/>
            <a:ext cx="2212975" cy="900113"/>
          </a:xfrm>
          <a:prstGeom prst="rect">
            <a:avLst/>
          </a:prstGeom>
          <a:solidFill>
            <a:schemeClr val="bg1"/>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just" defTabSz="914400" rtl="0" eaLnBrk="1" fontAlgn="auto" latinLnBrk="0" hangingPunct="1">
              <a:lnSpc>
                <a:spcPct val="100000"/>
              </a:lnSpc>
              <a:spcBef>
                <a:spcPct val="0"/>
              </a:spcBef>
              <a:spcAft>
                <a:spcPts val="0"/>
              </a:spcAft>
              <a:buClrTx/>
              <a:buSzTx/>
              <a:buFontTx/>
              <a:buNone/>
              <a:tabLst/>
              <a:defRPr/>
            </a:pPr>
            <a:r>
              <a:rPr kumimoji="0" lang="zh-CN" altLang="en-US"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程序二的输出：</a:t>
            </a:r>
          </a:p>
          <a:p>
            <a:pPr marL="0" marR="0" lvl="0" indent="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a=15	b=22</a:t>
            </a:r>
          </a:p>
          <a:p>
            <a:pPr marL="0" marR="0" lvl="0" indent="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a=15	b=22</a:t>
            </a:r>
          </a:p>
        </p:txBody>
      </p:sp>
      <p:sp>
        <p:nvSpPr>
          <p:cNvPr id="87045" name="Text Box 5"/>
          <p:cNvSpPr txBox="1">
            <a:spLocks noChangeArrowheads="1"/>
          </p:cNvSpPr>
          <p:nvPr/>
        </p:nvSpPr>
        <p:spPr bwMode="auto">
          <a:xfrm>
            <a:off x="161925" y="908050"/>
            <a:ext cx="4184650" cy="4724400"/>
          </a:xfrm>
          <a:prstGeom prst="rect">
            <a:avLst/>
          </a:prstGeom>
          <a:noFill/>
          <a:ln w="9525" algn="ctr">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zh-CN" altLang="en-US"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程序一</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#include &lt;stdio.h&gt;</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main ( )</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 </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   int a=15, b=22;</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   printf (“a=%d\tb=%d\n”, a, b);</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   </a:t>
            </a:r>
            <a:r>
              <a:rPr kumimoji="0" lang="en-US" altLang="zh-CN" sz="2000" b="1" i="0" u="none" strike="noStrike" kern="1200" cap="none" spc="0" normalizeH="0" baseline="0" noProof="0">
                <a:ln>
                  <a:noFill/>
                </a:ln>
                <a:solidFill>
                  <a:srgbClr val="FF3300"/>
                </a:solidFill>
                <a:effectLst/>
                <a:uLnTx/>
                <a:uFillTx/>
                <a:latin typeface="Arial" panose="020B0604020202020204" pitchFamily="34" charset="0"/>
                <a:ea typeface="微软雅黑" panose="020B0503020204020204" pitchFamily="34" charset="-122"/>
                <a:cs typeface="+mn-cs"/>
              </a:rPr>
              <a:t>swap (&amp;a, &amp;b);</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   printf (“a=%d\tb=%d\n”, a, b);</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swap (int *x, int *y )</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	int t=*x;</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	*x=*y;</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	*y=t;</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a:t>
            </a:r>
          </a:p>
          <a:p>
            <a:pPr marL="342900" marR="0" lvl="0" indent="-342900" algn="l" defTabSz="914400" rtl="0" eaLnBrk="1" fontAlgn="auto" latinLnBrk="0" hangingPunct="1">
              <a:lnSpc>
                <a:spcPct val="100000"/>
              </a:lnSpc>
              <a:spcBef>
                <a:spcPct val="0"/>
              </a:spcBef>
              <a:spcAft>
                <a:spcPts val="0"/>
              </a:spcAft>
              <a:buClrTx/>
              <a:buSzTx/>
              <a:buFontTx/>
              <a:buNone/>
              <a:tabLst/>
              <a:defRPr/>
            </a:pPr>
            <a:endPar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endParaRPr>
          </a:p>
        </p:txBody>
      </p:sp>
      <p:sp>
        <p:nvSpPr>
          <p:cNvPr id="87046" name="Text Box 6"/>
          <p:cNvSpPr txBox="1">
            <a:spLocks noChangeArrowheads="1"/>
          </p:cNvSpPr>
          <p:nvPr/>
        </p:nvSpPr>
        <p:spPr bwMode="auto">
          <a:xfrm>
            <a:off x="4751388" y="909638"/>
            <a:ext cx="4186237" cy="4724400"/>
          </a:xfrm>
          <a:prstGeom prst="rect">
            <a:avLst/>
          </a:prstGeom>
          <a:noFill/>
          <a:ln w="9525" algn="ctr">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zh-CN" altLang="en-US"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程序二</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#include &lt;stdio.h&gt;</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main ( )</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 </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   int a=15, b=22;</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   printf (“a=%d\tb=%d\n”, a, b);</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   </a:t>
            </a:r>
            <a:r>
              <a:rPr kumimoji="0" lang="en-US" altLang="zh-CN" sz="2000" b="1" i="0" u="none" strike="noStrike" kern="1200" cap="none" spc="0" normalizeH="0" baseline="0" noProof="0">
                <a:ln>
                  <a:noFill/>
                </a:ln>
                <a:solidFill>
                  <a:srgbClr val="FF3300"/>
                </a:solidFill>
                <a:effectLst/>
                <a:uLnTx/>
                <a:uFillTx/>
                <a:latin typeface="Arial" panose="020B0604020202020204" pitchFamily="34" charset="0"/>
                <a:ea typeface="微软雅黑" panose="020B0503020204020204" pitchFamily="34" charset="-122"/>
                <a:cs typeface="+mn-cs"/>
              </a:rPr>
              <a:t>swap (a, b);</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   printf (“a=%d\tb=%d\n”, a, b);</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swap (int x, int y )</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	int t=x;</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	x=y;</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	y=t;</a:t>
            </a:r>
          </a:p>
          <a:p>
            <a:pPr marL="342900" marR="0" lvl="0" indent="-342900" algn="just"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a:t>
            </a:r>
          </a:p>
        </p:txBody>
      </p:sp>
      <p:sp>
        <p:nvSpPr>
          <p:cNvPr id="782343" name="Rectangle 7"/>
          <p:cNvSpPr>
            <a:spLocks noChangeArrowheads="1"/>
          </p:cNvSpPr>
          <p:nvPr/>
        </p:nvSpPr>
        <p:spPr bwMode="auto">
          <a:xfrm>
            <a:off x="1827213" y="4508500"/>
            <a:ext cx="2139950" cy="4270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zh-CN" altLang="en-US" sz="22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按地址传递参数</a:t>
            </a:r>
          </a:p>
        </p:txBody>
      </p:sp>
      <p:sp>
        <p:nvSpPr>
          <p:cNvPr id="782344" name="Rectangle 8"/>
          <p:cNvSpPr>
            <a:spLocks noChangeArrowheads="1"/>
          </p:cNvSpPr>
          <p:nvPr/>
        </p:nvSpPr>
        <p:spPr bwMode="auto">
          <a:xfrm>
            <a:off x="6597650" y="4554538"/>
            <a:ext cx="1860550" cy="4270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zh-CN" altLang="en-US" sz="22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按值传递参数</a:t>
            </a:r>
          </a:p>
        </p:txBody>
      </p:sp>
      <p:sp>
        <p:nvSpPr>
          <p:cNvPr id="782345" name="Text Box 9"/>
          <p:cNvSpPr txBox="1">
            <a:spLocks noChangeArrowheads="1"/>
          </p:cNvSpPr>
          <p:nvPr/>
        </p:nvSpPr>
        <p:spPr bwMode="auto">
          <a:xfrm>
            <a:off x="1692275" y="5138738"/>
            <a:ext cx="2700338" cy="4270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zh-CN" altLang="en-US" sz="22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执行结果？为什么？</a:t>
            </a:r>
          </a:p>
        </p:txBody>
      </p:sp>
    </p:spTree>
    <p:extLst>
      <p:ext uri="{BB962C8B-B14F-4D97-AF65-F5344CB8AC3E}">
        <p14:creationId xmlns:p14="http://schemas.microsoft.com/office/powerpoint/2010/main" val="127598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82343"/>
                                        </p:tgtEl>
                                        <p:attrNameLst>
                                          <p:attrName>style.visibility</p:attrName>
                                        </p:attrNameLst>
                                      </p:cBhvr>
                                      <p:to>
                                        <p:strVal val="visible"/>
                                      </p:to>
                                    </p:set>
                                    <p:animEffect transition="in" filter="blinds(horizontal)">
                                      <p:cBhvr>
                                        <p:cTn id="7" dur="500"/>
                                        <p:tgtEl>
                                          <p:spTgt spid="7823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82344">
                                            <p:txEl>
                                              <p:pRg st="0" end="0"/>
                                            </p:txEl>
                                          </p:spTgt>
                                        </p:tgtEl>
                                        <p:attrNameLst>
                                          <p:attrName>style.visibility</p:attrName>
                                        </p:attrNameLst>
                                      </p:cBhvr>
                                      <p:to>
                                        <p:strVal val="visible"/>
                                      </p:to>
                                    </p:set>
                                    <p:animEffect transition="in" filter="blinds(horizontal)">
                                      <p:cBhvr>
                                        <p:cTn id="12" dur="500"/>
                                        <p:tgtEl>
                                          <p:spTgt spid="78234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82345"/>
                                        </p:tgtEl>
                                        <p:attrNameLst>
                                          <p:attrName>style.visibility</p:attrName>
                                        </p:attrNameLst>
                                      </p:cBhvr>
                                      <p:to>
                                        <p:strVal val="visible"/>
                                      </p:to>
                                    </p:set>
                                    <p:animEffect transition="in" filter="blinds(horizontal)">
                                      <p:cBhvr>
                                        <p:cTn id="17" dur="500"/>
                                        <p:tgtEl>
                                          <p:spTgt spid="78234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82339"/>
                                        </p:tgtEl>
                                        <p:attrNameLst>
                                          <p:attrName>style.visibility</p:attrName>
                                        </p:attrNameLst>
                                      </p:cBhvr>
                                      <p:to>
                                        <p:strVal val="visible"/>
                                      </p:to>
                                    </p:set>
                                    <p:animEffect transition="in" filter="blinds(horizontal)">
                                      <p:cBhvr>
                                        <p:cTn id="22" dur="500"/>
                                        <p:tgtEl>
                                          <p:spTgt spid="7823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82340"/>
                                        </p:tgtEl>
                                        <p:attrNameLst>
                                          <p:attrName>style.visibility</p:attrName>
                                        </p:attrNameLst>
                                      </p:cBhvr>
                                      <p:to>
                                        <p:strVal val="visible"/>
                                      </p:to>
                                    </p:set>
                                    <p:animEffect transition="in" filter="blinds(horizontal)">
                                      <p:cBhvr>
                                        <p:cTn id="27" dur="500"/>
                                        <p:tgtEl>
                                          <p:spTgt spid="782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2339" grpId="0"/>
      <p:bldP spid="782340" grpId="0" animBg="1"/>
      <p:bldP spid="782343" grpId="0"/>
      <p:bldP spid="78234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6325" y="863600"/>
            <a:ext cx="3825875" cy="423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Rectangle 3"/>
          <p:cNvSpPr>
            <a:spLocks noGrp="1" noChangeArrowheads="1"/>
          </p:cNvSpPr>
          <p:nvPr>
            <p:ph type="title"/>
          </p:nvPr>
        </p:nvSpPr>
        <p:spPr>
          <a:xfrm>
            <a:off x="457200" y="76200"/>
            <a:ext cx="8229600" cy="561975"/>
          </a:xfrm>
        </p:spPr>
        <p:txBody>
          <a:bodyPr>
            <a:normAutofit fontScale="90000"/>
          </a:bodyPr>
          <a:lstStyle/>
          <a:p>
            <a:r>
              <a:rPr lang="zh-CN" altLang="en-US" sz="3600"/>
              <a:t>过程调用参数传递举例</a:t>
            </a:r>
          </a:p>
        </p:txBody>
      </p:sp>
      <p:pic>
        <p:nvPicPr>
          <p:cNvPr id="880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838" y="638175"/>
            <a:ext cx="4662487" cy="603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83365" name="Group 5"/>
          <p:cNvGrpSpPr>
            <a:grpSpLocks/>
          </p:cNvGrpSpPr>
          <p:nvPr/>
        </p:nvGrpSpPr>
        <p:grpSpPr bwMode="auto">
          <a:xfrm>
            <a:off x="5607050" y="3783013"/>
            <a:ext cx="2249488" cy="320675"/>
            <a:chOff x="3674" y="2752"/>
            <a:chExt cx="1417" cy="202"/>
          </a:xfrm>
        </p:grpSpPr>
        <p:sp>
          <p:nvSpPr>
            <p:cNvPr id="88094" name="Line 6"/>
            <p:cNvSpPr>
              <a:spLocks noChangeShapeType="1"/>
            </p:cNvSpPr>
            <p:nvPr/>
          </p:nvSpPr>
          <p:spPr bwMode="auto">
            <a:xfrm>
              <a:off x="3674" y="2954"/>
              <a:ext cx="141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88095" name="Text Box 7"/>
            <p:cNvSpPr txBox="1">
              <a:spLocks noChangeArrowheads="1"/>
            </p:cNvSpPr>
            <p:nvPr/>
          </p:nvSpPr>
          <p:spPr bwMode="auto">
            <a:xfrm>
              <a:off x="4042" y="2752"/>
              <a:ext cx="709" cy="17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返回地址</a:t>
              </a:r>
            </a:p>
          </p:txBody>
        </p:sp>
      </p:grpSp>
      <p:grpSp>
        <p:nvGrpSpPr>
          <p:cNvPr id="783368" name="Group 8"/>
          <p:cNvGrpSpPr>
            <a:grpSpLocks/>
          </p:cNvGrpSpPr>
          <p:nvPr/>
        </p:nvGrpSpPr>
        <p:grpSpPr bwMode="auto">
          <a:xfrm>
            <a:off x="5607050" y="4149725"/>
            <a:ext cx="2249488" cy="320675"/>
            <a:chOff x="3674" y="2979"/>
            <a:chExt cx="1417" cy="202"/>
          </a:xfrm>
        </p:grpSpPr>
        <p:sp>
          <p:nvSpPr>
            <p:cNvPr id="88092" name="Line 9"/>
            <p:cNvSpPr>
              <a:spLocks noChangeShapeType="1"/>
            </p:cNvSpPr>
            <p:nvPr/>
          </p:nvSpPr>
          <p:spPr bwMode="auto">
            <a:xfrm>
              <a:off x="3674" y="3181"/>
              <a:ext cx="141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88093" name="Text Box 10"/>
            <p:cNvSpPr txBox="1">
              <a:spLocks noChangeArrowheads="1"/>
            </p:cNvSpPr>
            <p:nvPr/>
          </p:nvSpPr>
          <p:spPr bwMode="auto">
            <a:xfrm>
              <a:off x="3730" y="2979"/>
              <a:ext cx="1333" cy="17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EBP</a:t>
              </a: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在</a:t>
              </a: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main</a:t>
              </a: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中的值</a:t>
              </a:r>
            </a:p>
          </p:txBody>
        </p:sp>
      </p:grpSp>
      <p:grpSp>
        <p:nvGrpSpPr>
          <p:cNvPr id="783371" name="Group 11"/>
          <p:cNvGrpSpPr>
            <a:grpSpLocks/>
          </p:cNvGrpSpPr>
          <p:nvPr/>
        </p:nvGrpSpPr>
        <p:grpSpPr bwMode="auto">
          <a:xfrm>
            <a:off x="4706938" y="4149725"/>
            <a:ext cx="854075" cy="366713"/>
            <a:chOff x="3334" y="3861"/>
            <a:chExt cx="538" cy="231"/>
          </a:xfrm>
        </p:grpSpPr>
        <p:sp>
          <p:nvSpPr>
            <p:cNvPr id="88090" name="Text Box 12"/>
            <p:cNvSpPr txBox="1">
              <a:spLocks noChangeArrowheads="1"/>
            </p:cNvSpPr>
            <p:nvPr/>
          </p:nvSpPr>
          <p:spPr bwMode="auto">
            <a:xfrm>
              <a:off x="3334" y="3861"/>
              <a:ext cx="453"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EBP</a:t>
              </a:r>
            </a:p>
          </p:txBody>
        </p:sp>
        <p:sp>
          <p:nvSpPr>
            <p:cNvPr id="88091" name="Line 13"/>
            <p:cNvSpPr>
              <a:spLocks noChangeShapeType="1"/>
            </p:cNvSpPr>
            <p:nvPr/>
          </p:nvSpPr>
          <p:spPr bwMode="auto">
            <a:xfrm>
              <a:off x="3702" y="3974"/>
              <a:ext cx="170"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grpSp>
      <p:sp>
        <p:nvSpPr>
          <p:cNvPr id="783374" name="Line 14"/>
          <p:cNvSpPr>
            <a:spLocks noChangeShapeType="1"/>
          </p:cNvSpPr>
          <p:nvPr/>
        </p:nvSpPr>
        <p:spPr bwMode="auto">
          <a:xfrm>
            <a:off x="2906713" y="4329113"/>
            <a:ext cx="1844675"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783375" name="Text Box 15"/>
          <p:cNvSpPr txBox="1">
            <a:spLocks noChangeArrowheads="1"/>
          </p:cNvSpPr>
          <p:nvPr/>
        </p:nvSpPr>
        <p:spPr bwMode="auto">
          <a:xfrm>
            <a:off x="7829550" y="3376613"/>
            <a:ext cx="10350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EBP+8</a:t>
            </a:r>
          </a:p>
        </p:txBody>
      </p:sp>
      <p:sp>
        <p:nvSpPr>
          <p:cNvPr id="783376" name="Text Box 16"/>
          <p:cNvSpPr txBox="1">
            <a:spLocks noChangeArrowheads="1"/>
          </p:cNvSpPr>
          <p:nvPr/>
        </p:nvSpPr>
        <p:spPr bwMode="auto">
          <a:xfrm>
            <a:off x="7812088" y="2881313"/>
            <a:ext cx="11239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EBP+12</a:t>
            </a:r>
          </a:p>
        </p:txBody>
      </p:sp>
      <p:grpSp>
        <p:nvGrpSpPr>
          <p:cNvPr id="783377" name="Group 17"/>
          <p:cNvGrpSpPr>
            <a:grpSpLocks/>
          </p:cNvGrpSpPr>
          <p:nvPr/>
        </p:nvGrpSpPr>
        <p:grpSpPr bwMode="auto">
          <a:xfrm>
            <a:off x="5607050" y="4503738"/>
            <a:ext cx="2249488" cy="320675"/>
            <a:chOff x="3674" y="2979"/>
            <a:chExt cx="1417" cy="202"/>
          </a:xfrm>
        </p:grpSpPr>
        <p:sp>
          <p:nvSpPr>
            <p:cNvPr id="88088" name="Line 18"/>
            <p:cNvSpPr>
              <a:spLocks noChangeShapeType="1"/>
            </p:cNvSpPr>
            <p:nvPr/>
          </p:nvSpPr>
          <p:spPr bwMode="auto">
            <a:xfrm>
              <a:off x="3674" y="3181"/>
              <a:ext cx="141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88089" name="Text Box 19"/>
            <p:cNvSpPr txBox="1">
              <a:spLocks noChangeArrowheads="1"/>
            </p:cNvSpPr>
            <p:nvPr/>
          </p:nvSpPr>
          <p:spPr bwMode="auto">
            <a:xfrm>
              <a:off x="3730" y="2979"/>
              <a:ext cx="1333" cy="17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EBX</a:t>
              </a: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在</a:t>
              </a: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main</a:t>
              </a: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中的值</a:t>
              </a:r>
            </a:p>
          </p:txBody>
        </p:sp>
      </p:grpSp>
      <p:sp>
        <p:nvSpPr>
          <p:cNvPr id="783380" name="Text Box 20"/>
          <p:cNvSpPr txBox="1">
            <a:spLocks noChangeArrowheads="1"/>
          </p:cNvSpPr>
          <p:nvPr/>
        </p:nvSpPr>
        <p:spPr bwMode="auto">
          <a:xfrm>
            <a:off x="3446463" y="5003800"/>
            <a:ext cx="283527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R[ecx]</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←M[&amp;a]=</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15</a:t>
            </a:r>
          </a:p>
        </p:txBody>
      </p:sp>
      <p:sp>
        <p:nvSpPr>
          <p:cNvPr id="783381" name="Text Box 21"/>
          <p:cNvSpPr txBox="1">
            <a:spLocks noChangeArrowheads="1"/>
          </p:cNvSpPr>
          <p:nvPr/>
        </p:nvSpPr>
        <p:spPr bwMode="auto">
          <a:xfrm>
            <a:off x="3627438" y="5543550"/>
            <a:ext cx="3779837"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R[ebx]</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←M[&amp;b]=22</a:t>
            </a:r>
            <a:endPar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endParaRPr>
          </a:p>
        </p:txBody>
      </p:sp>
      <p:sp>
        <p:nvSpPr>
          <p:cNvPr id="783382" name="Text Box 22"/>
          <p:cNvSpPr txBox="1">
            <a:spLocks noChangeArrowheads="1"/>
          </p:cNvSpPr>
          <p:nvPr/>
        </p:nvSpPr>
        <p:spPr bwMode="auto">
          <a:xfrm>
            <a:off x="3446463" y="5949950"/>
            <a:ext cx="3735387"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M[&amp;a] ←</a:t>
            </a:r>
            <a:r>
              <a:rPr kumimoji="0" lang="en-US"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R[ebx] </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22</a:t>
            </a:r>
          </a:p>
        </p:txBody>
      </p:sp>
      <p:sp>
        <p:nvSpPr>
          <p:cNvPr id="783383" name="Text Box 23"/>
          <p:cNvSpPr txBox="1">
            <a:spLocks noChangeArrowheads="1"/>
          </p:cNvSpPr>
          <p:nvPr/>
        </p:nvSpPr>
        <p:spPr bwMode="auto">
          <a:xfrm>
            <a:off x="3446463" y="6348413"/>
            <a:ext cx="3735387"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M[&amp;b] ←</a:t>
            </a:r>
            <a:r>
              <a:rPr kumimoji="0" lang="en-US"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R[ecx] </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15</a:t>
            </a:r>
          </a:p>
        </p:txBody>
      </p:sp>
      <p:sp>
        <p:nvSpPr>
          <p:cNvPr id="88080" name="AutoShape 24"/>
          <p:cNvSpPr>
            <a:spLocks/>
          </p:cNvSpPr>
          <p:nvPr/>
        </p:nvSpPr>
        <p:spPr bwMode="auto">
          <a:xfrm>
            <a:off x="3222625" y="4914900"/>
            <a:ext cx="223838" cy="493713"/>
          </a:xfrm>
          <a:prstGeom prst="rightBrace">
            <a:avLst>
              <a:gd name="adj1" fmla="val 18381"/>
              <a:gd name="adj2" fmla="val 50000"/>
            </a:avLst>
          </a:prstGeom>
          <a:noFill/>
          <a:ln w="28575">
            <a:solidFill>
              <a:srgbClr val="3333CC"/>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8081" name="AutoShape 25"/>
          <p:cNvSpPr>
            <a:spLocks/>
          </p:cNvSpPr>
          <p:nvPr/>
        </p:nvSpPr>
        <p:spPr bwMode="auto">
          <a:xfrm>
            <a:off x="3267075" y="5499100"/>
            <a:ext cx="225425" cy="450850"/>
          </a:xfrm>
          <a:prstGeom prst="rightBrace">
            <a:avLst>
              <a:gd name="adj1" fmla="val 16667"/>
              <a:gd name="adj2" fmla="val 50000"/>
            </a:avLst>
          </a:prstGeom>
          <a:noFill/>
          <a:ln w="28575">
            <a:solidFill>
              <a:srgbClr val="3333CC"/>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83386" name="Text Box 26"/>
          <p:cNvSpPr txBox="1">
            <a:spLocks noChangeArrowheads="1"/>
          </p:cNvSpPr>
          <p:nvPr/>
        </p:nvSpPr>
        <p:spPr bwMode="auto">
          <a:xfrm>
            <a:off x="6686550" y="1444625"/>
            <a:ext cx="314325" cy="274638"/>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22</a:t>
            </a:r>
          </a:p>
        </p:txBody>
      </p:sp>
      <p:sp>
        <p:nvSpPr>
          <p:cNvPr id="783387" name="Text Box 27"/>
          <p:cNvSpPr txBox="1">
            <a:spLocks noChangeArrowheads="1"/>
          </p:cNvSpPr>
          <p:nvPr/>
        </p:nvSpPr>
        <p:spPr bwMode="auto">
          <a:xfrm>
            <a:off x="6686550" y="1854200"/>
            <a:ext cx="314325" cy="274638"/>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15</a:t>
            </a:r>
          </a:p>
        </p:txBody>
      </p:sp>
      <p:sp>
        <p:nvSpPr>
          <p:cNvPr id="783388" name="Text Box 28"/>
          <p:cNvSpPr txBox="1">
            <a:spLocks noChangeArrowheads="1"/>
          </p:cNvSpPr>
          <p:nvPr/>
        </p:nvSpPr>
        <p:spPr bwMode="auto">
          <a:xfrm>
            <a:off x="6281738" y="5184775"/>
            <a:ext cx="2205037" cy="7016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zh-CN" altLang="en-US"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局部变量</a:t>
            </a:r>
            <a:r>
              <a:rPr kumimoji="0" lang="en-US" altLang="zh-CN"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a:t>
            </a:r>
            <a:r>
              <a:rPr kumimoji="0" lang="zh-CN" altLang="en-US"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和</a:t>
            </a:r>
            <a:r>
              <a:rPr kumimoji="0" lang="en-US" altLang="zh-CN"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b</a:t>
            </a:r>
            <a:r>
              <a:rPr kumimoji="0" lang="zh-CN" altLang="en-US"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进行了交换</a:t>
            </a:r>
          </a:p>
        </p:txBody>
      </p:sp>
      <p:sp>
        <p:nvSpPr>
          <p:cNvPr id="88085" name="Line 29"/>
          <p:cNvSpPr>
            <a:spLocks noChangeShapeType="1"/>
          </p:cNvSpPr>
          <p:nvPr/>
        </p:nvSpPr>
        <p:spPr bwMode="auto">
          <a:xfrm>
            <a:off x="3222625" y="1854200"/>
            <a:ext cx="2384425" cy="1260475"/>
          </a:xfrm>
          <a:prstGeom prst="line">
            <a:avLst/>
          </a:prstGeom>
          <a:noFill/>
          <a:ln w="952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88086" name="Line 30"/>
          <p:cNvSpPr>
            <a:spLocks noChangeShapeType="1"/>
          </p:cNvSpPr>
          <p:nvPr/>
        </p:nvSpPr>
        <p:spPr bwMode="auto">
          <a:xfrm>
            <a:off x="3041650" y="2484438"/>
            <a:ext cx="2520950" cy="1079500"/>
          </a:xfrm>
          <a:prstGeom prst="line">
            <a:avLst/>
          </a:prstGeom>
          <a:noFill/>
          <a:ln w="952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88087" name="Line 31"/>
          <p:cNvSpPr>
            <a:spLocks noChangeShapeType="1"/>
          </p:cNvSpPr>
          <p:nvPr/>
        </p:nvSpPr>
        <p:spPr bwMode="auto">
          <a:xfrm>
            <a:off x="2322513" y="2798763"/>
            <a:ext cx="3240087" cy="1035050"/>
          </a:xfrm>
          <a:prstGeom prst="line">
            <a:avLst/>
          </a:prstGeom>
          <a:noFill/>
          <a:ln w="12700">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Tree>
    <p:extLst>
      <p:ext uri="{BB962C8B-B14F-4D97-AF65-F5344CB8AC3E}">
        <p14:creationId xmlns:p14="http://schemas.microsoft.com/office/powerpoint/2010/main" val="21460782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83365"/>
                                        </p:tgtEl>
                                        <p:attrNameLst>
                                          <p:attrName>style.visibility</p:attrName>
                                        </p:attrNameLst>
                                      </p:cBhvr>
                                      <p:to>
                                        <p:strVal val="visible"/>
                                      </p:to>
                                    </p:set>
                                    <p:animEffect transition="in" filter="blinds(horizontal)">
                                      <p:cBhvr>
                                        <p:cTn id="7" dur="500"/>
                                        <p:tgtEl>
                                          <p:spTgt spid="7833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83368"/>
                                        </p:tgtEl>
                                        <p:attrNameLst>
                                          <p:attrName>style.visibility</p:attrName>
                                        </p:attrNameLst>
                                      </p:cBhvr>
                                      <p:to>
                                        <p:strVal val="visible"/>
                                      </p:to>
                                    </p:set>
                                    <p:animEffect transition="in" filter="blinds(horizontal)">
                                      <p:cBhvr>
                                        <p:cTn id="12" dur="500"/>
                                        <p:tgtEl>
                                          <p:spTgt spid="78336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83371"/>
                                        </p:tgtEl>
                                        <p:attrNameLst>
                                          <p:attrName>style.visibility</p:attrName>
                                        </p:attrNameLst>
                                      </p:cBhvr>
                                      <p:to>
                                        <p:strVal val="visible"/>
                                      </p:to>
                                    </p:set>
                                    <p:animEffect transition="in" filter="blinds(horizontal)">
                                      <p:cBhvr>
                                        <p:cTn id="17" dur="500"/>
                                        <p:tgtEl>
                                          <p:spTgt spid="78337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83374"/>
                                        </p:tgtEl>
                                        <p:attrNameLst>
                                          <p:attrName>style.visibility</p:attrName>
                                        </p:attrNameLst>
                                      </p:cBhvr>
                                      <p:to>
                                        <p:strVal val="visible"/>
                                      </p:to>
                                    </p:set>
                                    <p:animEffect transition="in" filter="blinds(horizontal)">
                                      <p:cBhvr>
                                        <p:cTn id="22" dur="500"/>
                                        <p:tgtEl>
                                          <p:spTgt spid="78337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83375"/>
                                        </p:tgtEl>
                                        <p:attrNameLst>
                                          <p:attrName>style.visibility</p:attrName>
                                        </p:attrNameLst>
                                      </p:cBhvr>
                                      <p:to>
                                        <p:strVal val="visible"/>
                                      </p:to>
                                    </p:set>
                                    <p:animEffect transition="in" filter="blinds(horizontal)">
                                      <p:cBhvr>
                                        <p:cTn id="27" dur="500"/>
                                        <p:tgtEl>
                                          <p:spTgt spid="78337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83376"/>
                                        </p:tgtEl>
                                        <p:attrNameLst>
                                          <p:attrName>style.visibility</p:attrName>
                                        </p:attrNameLst>
                                      </p:cBhvr>
                                      <p:to>
                                        <p:strVal val="visible"/>
                                      </p:to>
                                    </p:set>
                                    <p:animEffect transition="in" filter="blinds(horizontal)">
                                      <p:cBhvr>
                                        <p:cTn id="32" dur="500"/>
                                        <p:tgtEl>
                                          <p:spTgt spid="78337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783377"/>
                                        </p:tgtEl>
                                        <p:attrNameLst>
                                          <p:attrName>style.visibility</p:attrName>
                                        </p:attrNameLst>
                                      </p:cBhvr>
                                      <p:to>
                                        <p:strVal val="visible"/>
                                      </p:to>
                                    </p:set>
                                    <p:animEffect transition="in" filter="blinds(horizontal)">
                                      <p:cBhvr>
                                        <p:cTn id="37" dur="500"/>
                                        <p:tgtEl>
                                          <p:spTgt spid="78337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83380"/>
                                        </p:tgtEl>
                                        <p:attrNameLst>
                                          <p:attrName>style.visibility</p:attrName>
                                        </p:attrNameLst>
                                      </p:cBhvr>
                                      <p:to>
                                        <p:strVal val="visible"/>
                                      </p:to>
                                    </p:set>
                                    <p:animEffect transition="in" filter="blinds(horizontal)">
                                      <p:cBhvr>
                                        <p:cTn id="42" dur="500"/>
                                        <p:tgtEl>
                                          <p:spTgt spid="78338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783381"/>
                                        </p:tgtEl>
                                        <p:attrNameLst>
                                          <p:attrName>style.visibility</p:attrName>
                                        </p:attrNameLst>
                                      </p:cBhvr>
                                      <p:to>
                                        <p:strVal val="visible"/>
                                      </p:to>
                                    </p:set>
                                    <p:animEffect transition="in" filter="blinds(horizontal)">
                                      <p:cBhvr>
                                        <p:cTn id="47" dur="500"/>
                                        <p:tgtEl>
                                          <p:spTgt spid="78338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783382"/>
                                        </p:tgtEl>
                                        <p:attrNameLst>
                                          <p:attrName>style.visibility</p:attrName>
                                        </p:attrNameLst>
                                      </p:cBhvr>
                                      <p:to>
                                        <p:strVal val="visible"/>
                                      </p:to>
                                    </p:set>
                                    <p:animEffect transition="in" filter="blinds(horizontal)">
                                      <p:cBhvr>
                                        <p:cTn id="52" dur="500"/>
                                        <p:tgtEl>
                                          <p:spTgt spid="78338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783386"/>
                                        </p:tgtEl>
                                        <p:attrNameLst>
                                          <p:attrName>style.visibility</p:attrName>
                                        </p:attrNameLst>
                                      </p:cBhvr>
                                      <p:to>
                                        <p:strVal val="visible"/>
                                      </p:to>
                                    </p:set>
                                    <p:animEffect transition="in" filter="blinds(horizontal)">
                                      <p:cBhvr>
                                        <p:cTn id="57" dur="500"/>
                                        <p:tgtEl>
                                          <p:spTgt spid="78338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783383"/>
                                        </p:tgtEl>
                                        <p:attrNameLst>
                                          <p:attrName>style.visibility</p:attrName>
                                        </p:attrNameLst>
                                      </p:cBhvr>
                                      <p:to>
                                        <p:strVal val="visible"/>
                                      </p:to>
                                    </p:set>
                                    <p:animEffect transition="in" filter="blinds(horizontal)">
                                      <p:cBhvr>
                                        <p:cTn id="62" dur="500"/>
                                        <p:tgtEl>
                                          <p:spTgt spid="78338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783387"/>
                                        </p:tgtEl>
                                        <p:attrNameLst>
                                          <p:attrName>style.visibility</p:attrName>
                                        </p:attrNameLst>
                                      </p:cBhvr>
                                      <p:to>
                                        <p:strVal val="visible"/>
                                      </p:to>
                                    </p:set>
                                    <p:animEffect transition="in" filter="blinds(horizontal)">
                                      <p:cBhvr>
                                        <p:cTn id="67" dur="500"/>
                                        <p:tgtEl>
                                          <p:spTgt spid="78338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783388"/>
                                        </p:tgtEl>
                                        <p:attrNameLst>
                                          <p:attrName>style.visibility</p:attrName>
                                        </p:attrNameLst>
                                      </p:cBhvr>
                                      <p:to>
                                        <p:strVal val="visible"/>
                                      </p:to>
                                    </p:set>
                                    <p:animEffect transition="in" filter="blinds(horizontal)">
                                      <p:cBhvr>
                                        <p:cTn id="72" dur="500"/>
                                        <p:tgtEl>
                                          <p:spTgt spid="783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3375" grpId="0"/>
      <p:bldP spid="783376" grpId="0"/>
      <p:bldP spid="783380" grpId="0"/>
      <p:bldP spid="783381" grpId="0"/>
      <p:bldP spid="783382" grpId="0"/>
      <p:bldP spid="783383" grpId="0"/>
      <p:bldP spid="783386" grpId="0" animBg="1"/>
      <p:bldP spid="783387" grpId="0" animBg="1"/>
      <p:bldP spid="78338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6813" y="773113"/>
            <a:ext cx="3871912" cy="441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1" name="Rectangle 3"/>
          <p:cNvSpPr>
            <a:spLocks noGrp="1" noChangeArrowheads="1"/>
          </p:cNvSpPr>
          <p:nvPr>
            <p:ph type="title"/>
          </p:nvPr>
        </p:nvSpPr>
        <p:spPr>
          <a:xfrm>
            <a:off x="457200" y="98425"/>
            <a:ext cx="8229600" cy="561975"/>
          </a:xfrm>
        </p:spPr>
        <p:txBody>
          <a:bodyPr>
            <a:normAutofit fontScale="90000"/>
          </a:bodyPr>
          <a:lstStyle/>
          <a:p>
            <a:r>
              <a:rPr lang="zh-CN" altLang="en-US" sz="3600"/>
              <a:t>过程调用参数传递举例</a:t>
            </a:r>
          </a:p>
        </p:txBody>
      </p:sp>
      <p:pic>
        <p:nvPicPr>
          <p:cNvPr id="890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 y="819150"/>
            <a:ext cx="4365625" cy="584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84389" name="Group 5"/>
          <p:cNvGrpSpPr>
            <a:grpSpLocks/>
          </p:cNvGrpSpPr>
          <p:nvPr/>
        </p:nvGrpSpPr>
        <p:grpSpPr bwMode="auto">
          <a:xfrm>
            <a:off x="5741988" y="4192588"/>
            <a:ext cx="2249487" cy="320675"/>
            <a:chOff x="3674" y="2752"/>
            <a:chExt cx="1417" cy="202"/>
          </a:xfrm>
        </p:grpSpPr>
        <p:sp>
          <p:nvSpPr>
            <p:cNvPr id="89112" name="Line 6"/>
            <p:cNvSpPr>
              <a:spLocks noChangeShapeType="1"/>
            </p:cNvSpPr>
            <p:nvPr/>
          </p:nvSpPr>
          <p:spPr bwMode="auto">
            <a:xfrm>
              <a:off x="3674" y="2954"/>
              <a:ext cx="141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89113" name="Text Box 7"/>
            <p:cNvSpPr txBox="1">
              <a:spLocks noChangeArrowheads="1"/>
            </p:cNvSpPr>
            <p:nvPr/>
          </p:nvSpPr>
          <p:spPr bwMode="auto">
            <a:xfrm>
              <a:off x="4042" y="2752"/>
              <a:ext cx="709" cy="17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返回地址</a:t>
              </a:r>
            </a:p>
          </p:txBody>
        </p:sp>
      </p:grpSp>
      <p:grpSp>
        <p:nvGrpSpPr>
          <p:cNvPr id="784392" name="Group 8"/>
          <p:cNvGrpSpPr>
            <a:grpSpLocks/>
          </p:cNvGrpSpPr>
          <p:nvPr/>
        </p:nvGrpSpPr>
        <p:grpSpPr bwMode="auto">
          <a:xfrm>
            <a:off x="5741988" y="4552950"/>
            <a:ext cx="2249487" cy="320675"/>
            <a:chOff x="3674" y="2979"/>
            <a:chExt cx="1417" cy="202"/>
          </a:xfrm>
        </p:grpSpPr>
        <p:sp>
          <p:nvSpPr>
            <p:cNvPr id="89110" name="Line 9"/>
            <p:cNvSpPr>
              <a:spLocks noChangeShapeType="1"/>
            </p:cNvSpPr>
            <p:nvPr/>
          </p:nvSpPr>
          <p:spPr bwMode="auto">
            <a:xfrm>
              <a:off x="3674" y="3181"/>
              <a:ext cx="141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89111" name="Text Box 10"/>
            <p:cNvSpPr txBox="1">
              <a:spLocks noChangeArrowheads="1"/>
            </p:cNvSpPr>
            <p:nvPr/>
          </p:nvSpPr>
          <p:spPr bwMode="auto">
            <a:xfrm>
              <a:off x="3730" y="2979"/>
              <a:ext cx="1333" cy="17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EBP</a:t>
              </a: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在</a:t>
              </a: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main</a:t>
              </a: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中的值</a:t>
              </a:r>
            </a:p>
          </p:txBody>
        </p:sp>
      </p:grpSp>
      <p:grpSp>
        <p:nvGrpSpPr>
          <p:cNvPr id="784395" name="Group 11"/>
          <p:cNvGrpSpPr>
            <a:grpSpLocks/>
          </p:cNvGrpSpPr>
          <p:nvPr/>
        </p:nvGrpSpPr>
        <p:grpSpPr bwMode="auto">
          <a:xfrm>
            <a:off x="4841875" y="4508500"/>
            <a:ext cx="854075" cy="366713"/>
            <a:chOff x="3334" y="3861"/>
            <a:chExt cx="538" cy="231"/>
          </a:xfrm>
        </p:grpSpPr>
        <p:sp>
          <p:nvSpPr>
            <p:cNvPr id="89108" name="Text Box 12"/>
            <p:cNvSpPr txBox="1">
              <a:spLocks noChangeArrowheads="1"/>
            </p:cNvSpPr>
            <p:nvPr/>
          </p:nvSpPr>
          <p:spPr bwMode="auto">
            <a:xfrm>
              <a:off x="3334" y="3861"/>
              <a:ext cx="453"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EBP</a:t>
              </a:r>
            </a:p>
          </p:txBody>
        </p:sp>
        <p:sp>
          <p:nvSpPr>
            <p:cNvPr id="89109" name="Line 13"/>
            <p:cNvSpPr>
              <a:spLocks noChangeShapeType="1"/>
            </p:cNvSpPr>
            <p:nvPr/>
          </p:nvSpPr>
          <p:spPr bwMode="auto">
            <a:xfrm>
              <a:off x="3702" y="3974"/>
              <a:ext cx="170"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grpSp>
      <p:sp>
        <p:nvSpPr>
          <p:cNvPr id="784398" name="Text Box 14"/>
          <p:cNvSpPr txBox="1">
            <a:spLocks noChangeArrowheads="1"/>
          </p:cNvSpPr>
          <p:nvPr/>
        </p:nvSpPr>
        <p:spPr bwMode="auto">
          <a:xfrm>
            <a:off x="8010525" y="3697288"/>
            <a:ext cx="10350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EBP+8</a:t>
            </a:r>
          </a:p>
        </p:txBody>
      </p:sp>
      <p:sp>
        <p:nvSpPr>
          <p:cNvPr id="784399" name="Text Box 15"/>
          <p:cNvSpPr txBox="1">
            <a:spLocks noChangeArrowheads="1"/>
          </p:cNvSpPr>
          <p:nvPr/>
        </p:nvSpPr>
        <p:spPr bwMode="auto">
          <a:xfrm>
            <a:off x="7993063" y="3203575"/>
            <a:ext cx="11239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EBP+12</a:t>
            </a:r>
          </a:p>
        </p:txBody>
      </p:sp>
      <p:sp>
        <p:nvSpPr>
          <p:cNvPr id="784400" name="Line 16"/>
          <p:cNvSpPr>
            <a:spLocks noChangeShapeType="1"/>
          </p:cNvSpPr>
          <p:nvPr/>
        </p:nvSpPr>
        <p:spPr bwMode="auto">
          <a:xfrm flipV="1">
            <a:off x="3492500" y="4914900"/>
            <a:ext cx="1304925" cy="134938"/>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784401" name="Text Box 17"/>
          <p:cNvSpPr txBox="1">
            <a:spLocks noChangeArrowheads="1"/>
          </p:cNvSpPr>
          <p:nvPr/>
        </p:nvSpPr>
        <p:spPr bwMode="auto">
          <a:xfrm>
            <a:off x="3986213" y="5184775"/>
            <a:ext cx="184467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R[edx]</a:t>
            </a:r>
            <a:r>
              <a:rPr kumimoji="0" lang="en-US" altLang="zh-CN" sz="1800" b="1" i="0" u="none" strike="noStrike" kern="1200" cap="none" spc="0" normalizeH="0" baseline="0" noProof="0">
                <a:ln>
                  <a:noFill/>
                </a:ln>
                <a:solidFill>
                  <a:srgbClr val="3333CC"/>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15</a:t>
            </a:r>
          </a:p>
        </p:txBody>
      </p:sp>
      <p:sp>
        <p:nvSpPr>
          <p:cNvPr id="784402" name="Text Box 18"/>
          <p:cNvSpPr txBox="1">
            <a:spLocks noChangeArrowheads="1"/>
          </p:cNvSpPr>
          <p:nvPr/>
        </p:nvSpPr>
        <p:spPr bwMode="auto">
          <a:xfrm>
            <a:off x="4122738" y="5543550"/>
            <a:ext cx="184467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R[eax]</a:t>
            </a:r>
            <a:r>
              <a:rPr kumimoji="0" lang="en-US" altLang="zh-CN" sz="1800" b="1" i="0" u="none" strike="noStrike" kern="1200" cap="none" spc="0" normalizeH="0" baseline="0" noProof="0">
                <a:ln>
                  <a:noFill/>
                </a:ln>
                <a:solidFill>
                  <a:srgbClr val="3333CC"/>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22</a:t>
            </a:r>
          </a:p>
        </p:txBody>
      </p:sp>
      <p:sp>
        <p:nvSpPr>
          <p:cNvPr id="784403" name="Text Box 19"/>
          <p:cNvSpPr txBox="1">
            <a:spLocks noChangeArrowheads="1"/>
          </p:cNvSpPr>
          <p:nvPr/>
        </p:nvSpPr>
        <p:spPr bwMode="auto">
          <a:xfrm>
            <a:off x="6642100" y="3743325"/>
            <a:ext cx="676275" cy="36671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22</a:t>
            </a:r>
          </a:p>
        </p:txBody>
      </p:sp>
      <p:sp>
        <p:nvSpPr>
          <p:cNvPr id="784404" name="Text Box 20"/>
          <p:cNvSpPr txBox="1">
            <a:spLocks noChangeArrowheads="1"/>
          </p:cNvSpPr>
          <p:nvPr/>
        </p:nvSpPr>
        <p:spPr bwMode="auto">
          <a:xfrm>
            <a:off x="6643688" y="3248025"/>
            <a:ext cx="676275" cy="36671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15</a:t>
            </a:r>
          </a:p>
        </p:txBody>
      </p:sp>
      <p:sp>
        <p:nvSpPr>
          <p:cNvPr id="784405" name="Text Box 21"/>
          <p:cNvSpPr txBox="1">
            <a:spLocks noChangeArrowheads="1"/>
          </p:cNvSpPr>
          <p:nvPr/>
        </p:nvSpPr>
        <p:spPr bwMode="auto">
          <a:xfrm>
            <a:off x="4527550" y="5859463"/>
            <a:ext cx="3735388"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M[R[ebp]+8] ←</a:t>
            </a:r>
            <a:r>
              <a:rPr kumimoji="0" lang="en-US"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R[eax] </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22</a:t>
            </a:r>
          </a:p>
        </p:txBody>
      </p:sp>
      <p:sp>
        <p:nvSpPr>
          <p:cNvPr id="784406" name="Text Box 22"/>
          <p:cNvSpPr txBox="1">
            <a:spLocks noChangeArrowheads="1"/>
          </p:cNvSpPr>
          <p:nvPr/>
        </p:nvSpPr>
        <p:spPr bwMode="auto">
          <a:xfrm>
            <a:off x="4481513" y="6264275"/>
            <a:ext cx="3735387"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M[R[ebp]+12] ←</a:t>
            </a:r>
            <a:r>
              <a:rPr kumimoji="0" lang="en-US"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R[edx] </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15</a:t>
            </a:r>
          </a:p>
        </p:txBody>
      </p:sp>
      <p:sp>
        <p:nvSpPr>
          <p:cNvPr id="784407" name="Text Box 23"/>
          <p:cNvSpPr txBox="1">
            <a:spLocks noChangeArrowheads="1"/>
          </p:cNvSpPr>
          <p:nvPr/>
        </p:nvSpPr>
        <p:spPr bwMode="auto">
          <a:xfrm>
            <a:off x="5516563" y="5094288"/>
            <a:ext cx="3421062" cy="7016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局部变量</a:t>
            </a:r>
            <a:r>
              <a:rPr kumimoji="0" lang="en-US" altLang="zh-CN"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a:t>
            </a:r>
            <a:r>
              <a:rPr kumimoji="0" lang="zh-CN" altLang="en-US"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和</a:t>
            </a:r>
            <a:r>
              <a:rPr kumimoji="0" lang="en-US" altLang="zh-CN"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b</a:t>
            </a:r>
            <a:r>
              <a:rPr kumimoji="0" lang="zh-CN" altLang="en-US"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没有交换，交换的仅是入口参数</a:t>
            </a:r>
          </a:p>
        </p:txBody>
      </p:sp>
      <p:sp>
        <p:nvSpPr>
          <p:cNvPr id="89106" name="Line 24"/>
          <p:cNvSpPr>
            <a:spLocks noChangeShapeType="1"/>
          </p:cNvSpPr>
          <p:nvPr/>
        </p:nvSpPr>
        <p:spPr bwMode="auto">
          <a:xfrm>
            <a:off x="3627438" y="2079625"/>
            <a:ext cx="2159000" cy="1304925"/>
          </a:xfrm>
          <a:prstGeom prst="line">
            <a:avLst/>
          </a:prstGeom>
          <a:noFill/>
          <a:ln w="952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89107" name="Line 25"/>
          <p:cNvSpPr>
            <a:spLocks noChangeShapeType="1"/>
          </p:cNvSpPr>
          <p:nvPr/>
        </p:nvSpPr>
        <p:spPr bwMode="auto">
          <a:xfrm>
            <a:off x="3446463" y="2708275"/>
            <a:ext cx="2251075" cy="1125538"/>
          </a:xfrm>
          <a:prstGeom prst="line">
            <a:avLst/>
          </a:prstGeom>
          <a:noFill/>
          <a:ln w="952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Tree>
    <p:extLst>
      <p:ext uri="{BB962C8B-B14F-4D97-AF65-F5344CB8AC3E}">
        <p14:creationId xmlns:p14="http://schemas.microsoft.com/office/powerpoint/2010/main" val="11772466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84389"/>
                                        </p:tgtEl>
                                        <p:attrNameLst>
                                          <p:attrName>style.visibility</p:attrName>
                                        </p:attrNameLst>
                                      </p:cBhvr>
                                      <p:to>
                                        <p:strVal val="visible"/>
                                      </p:to>
                                    </p:set>
                                    <p:animEffect transition="in" filter="blinds(horizontal)">
                                      <p:cBhvr>
                                        <p:cTn id="7" dur="500"/>
                                        <p:tgtEl>
                                          <p:spTgt spid="7843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84392"/>
                                        </p:tgtEl>
                                        <p:attrNameLst>
                                          <p:attrName>style.visibility</p:attrName>
                                        </p:attrNameLst>
                                      </p:cBhvr>
                                      <p:to>
                                        <p:strVal val="visible"/>
                                      </p:to>
                                    </p:set>
                                    <p:animEffect transition="in" filter="blinds(horizontal)">
                                      <p:cBhvr>
                                        <p:cTn id="12" dur="500"/>
                                        <p:tgtEl>
                                          <p:spTgt spid="7843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84395"/>
                                        </p:tgtEl>
                                        <p:attrNameLst>
                                          <p:attrName>style.visibility</p:attrName>
                                        </p:attrNameLst>
                                      </p:cBhvr>
                                      <p:to>
                                        <p:strVal val="visible"/>
                                      </p:to>
                                    </p:set>
                                    <p:animEffect transition="in" filter="blinds(horizontal)">
                                      <p:cBhvr>
                                        <p:cTn id="17" dur="500"/>
                                        <p:tgtEl>
                                          <p:spTgt spid="78439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84400"/>
                                        </p:tgtEl>
                                        <p:attrNameLst>
                                          <p:attrName>style.visibility</p:attrName>
                                        </p:attrNameLst>
                                      </p:cBhvr>
                                      <p:to>
                                        <p:strVal val="visible"/>
                                      </p:to>
                                    </p:set>
                                    <p:animEffect transition="in" filter="blinds(horizontal)">
                                      <p:cBhvr>
                                        <p:cTn id="22" dur="500"/>
                                        <p:tgtEl>
                                          <p:spTgt spid="78440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84398"/>
                                        </p:tgtEl>
                                        <p:attrNameLst>
                                          <p:attrName>style.visibility</p:attrName>
                                        </p:attrNameLst>
                                      </p:cBhvr>
                                      <p:to>
                                        <p:strVal val="visible"/>
                                      </p:to>
                                    </p:set>
                                    <p:animEffect transition="in" filter="blinds(horizontal)">
                                      <p:cBhvr>
                                        <p:cTn id="27" dur="500"/>
                                        <p:tgtEl>
                                          <p:spTgt spid="78439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84399"/>
                                        </p:tgtEl>
                                        <p:attrNameLst>
                                          <p:attrName>style.visibility</p:attrName>
                                        </p:attrNameLst>
                                      </p:cBhvr>
                                      <p:to>
                                        <p:strVal val="visible"/>
                                      </p:to>
                                    </p:set>
                                    <p:animEffect transition="in" filter="blinds(horizontal)">
                                      <p:cBhvr>
                                        <p:cTn id="32" dur="500"/>
                                        <p:tgtEl>
                                          <p:spTgt spid="78439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84401"/>
                                        </p:tgtEl>
                                        <p:attrNameLst>
                                          <p:attrName>style.visibility</p:attrName>
                                        </p:attrNameLst>
                                      </p:cBhvr>
                                      <p:to>
                                        <p:strVal val="visible"/>
                                      </p:to>
                                    </p:set>
                                    <p:animEffect transition="in" filter="blinds(horizontal)">
                                      <p:cBhvr>
                                        <p:cTn id="37" dur="500"/>
                                        <p:tgtEl>
                                          <p:spTgt spid="78440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84402"/>
                                        </p:tgtEl>
                                        <p:attrNameLst>
                                          <p:attrName>style.visibility</p:attrName>
                                        </p:attrNameLst>
                                      </p:cBhvr>
                                      <p:to>
                                        <p:strVal val="visible"/>
                                      </p:to>
                                    </p:set>
                                    <p:animEffect transition="in" filter="blinds(horizontal)">
                                      <p:cBhvr>
                                        <p:cTn id="42" dur="500"/>
                                        <p:tgtEl>
                                          <p:spTgt spid="78440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784405"/>
                                        </p:tgtEl>
                                        <p:attrNameLst>
                                          <p:attrName>style.visibility</p:attrName>
                                        </p:attrNameLst>
                                      </p:cBhvr>
                                      <p:to>
                                        <p:strVal val="visible"/>
                                      </p:to>
                                    </p:set>
                                    <p:animEffect transition="in" filter="blinds(horizontal)">
                                      <p:cBhvr>
                                        <p:cTn id="47" dur="500"/>
                                        <p:tgtEl>
                                          <p:spTgt spid="78440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784403"/>
                                        </p:tgtEl>
                                        <p:attrNameLst>
                                          <p:attrName>style.visibility</p:attrName>
                                        </p:attrNameLst>
                                      </p:cBhvr>
                                      <p:to>
                                        <p:strVal val="visible"/>
                                      </p:to>
                                    </p:set>
                                    <p:animEffect transition="in" filter="blinds(horizontal)">
                                      <p:cBhvr>
                                        <p:cTn id="52" dur="500"/>
                                        <p:tgtEl>
                                          <p:spTgt spid="78440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784406"/>
                                        </p:tgtEl>
                                        <p:attrNameLst>
                                          <p:attrName>style.visibility</p:attrName>
                                        </p:attrNameLst>
                                      </p:cBhvr>
                                      <p:to>
                                        <p:strVal val="visible"/>
                                      </p:to>
                                    </p:set>
                                    <p:animEffect transition="in" filter="blinds(horizontal)">
                                      <p:cBhvr>
                                        <p:cTn id="57" dur="500"/>
                                        <p:tgtEl>
                                          <p:spTgt spid="78440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784404"/>
                                        </p:tgtEl>
                                        <p:attrNameLst>
                                          <p:attrName>style.visibility</p:attrName>
                                        </p:attrNameLst>
                                      </p:cBhvr>
                                      <p:to>
                                        <p:strVal val="visible"/>
                                      </p:to>
                                    </p:set>
                                    <p:animEffect transition="in" filter="blinds(horizontal)">
                                      <p:cBhvr>
                                        <p:cTn id="62" dur="500"/>
                                        <p:tgtEl>
                                          <p:spTgt spid="78440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784407"/>
                                        </p:tgtEl>
                                        <p:attrNameLst>
                                          <p:attrName>style.visibility</p:attrName>
                                        </p:attrNameLst>
                                      </p:cBhvr>
                                      <p:to>
                                        <p:strVal val="visible"/>
                                      </p:to>
                                    </p:set>
                                    <p:animEffect transition="in" filter="blinds(horizontal)">
                                      <p:cBhvr>
                                        <p:cTn id="67" dur="500"/>
                                        <p:tgtEl>
                                          <p:spTgt spid="7844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4398" grpId="0"/>
      <p:bldP spid="784399" grpId="0"/>
      <p:bldP spid="784401" grpId="0"/>
      <p:bldP spid="784402" grpId="0"/>
      <p:bldP spid="784403" grpId="0" animBg="1"/>
      <p:bldP spid="784404" grpId="0" animBg="1"/>
      <p:bldP spid="784405" grpId="0"/>
      <p:bldP spid="784406" grpId="0"/>
      <p:bldP spid="78440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457200" y="98425"/>
            <a:ext cx="8229600" cy="561975"/>
          </a:xfrm>
        </p:spPr>
        <p:txBody>
          <a:bodyPr>
            <a:normAutofit fontScale="90000"/>
          </a:bodyPr>
          <a:lstStyle/>
          <a:p>
            <a:pPr algn="l"/>
            <a:r>
              <a:rPr lang="zh-CN" altLang="en-US" sz="3600" dirty="0"/>
              <a:t>例</a:t>
            </a:r>
            <a:r>
              <a:rPr lang="en-US" altLang="zh-CN" sz="3600" dirty="0"/>
              <a:t>3.9</a:t>
            </a:r>
            <a:endParaRPr lang="zh-CN" altLang="en-US" sz="3600" dirty="0"/>
          </a:p>
        </p:txBody>
      </p:sp>
      <p:sp>
        <p:nvSpPr>
          <p:cNvPr id="90115" name="Rectangle 3"/>
          <p:cNvSpPr>
            <a:spLocks noGrp="1" noChangeArrowheads="1"/>
          </p:cNvSpPr>
          <p:nvPr>
            <p:ph idx="1"/>
          </p:nvPr>
        </p:nvSpPr>
        <p:spPr>
          <a:xfrm>
            <a:off x="206375" y="728663"/>
            <a:ext cx="8559800" cy="5986462"/>
          </a:xfrm>
        </p:spPr>
        <p:txBody>
          <a:bodyPr/>
          <a:lstStyle/>
          <a:p>
            <a:pPr>
              <a:lnSpc>
                <a:spcPct val="90000"/>
              </a:lnSpc>
              <a:spcBef>
                <a:spcPct val="0"/>
              </a:spcBef>
              <a:buFontTx/>
              <a:buNone/>
            </a:pPr>
            <a:r>
              <a:rPr lang="en-US" altLang="zh-CN" sz="1800">
                <a:latin typeface="微软雅黑" panose="020B0503020204020204" pitchFamily="34" charset="-122"/>
                <a:ea typeface="微软雅黑" panose="020B0503020204020204" pitchFamily="34" charset="-122"/>
              </a:rPr>
              <a:t>1  void test ( int x, int *ptr ) </a:t>
            </a:r>
          </a:p>
          <a:p>
            <a:pPr>
              <a:lnSpc>
                <a:spcPct val="90000"/>
              </a:lnSpc>
              <a:spcBef>
                <a:spcPct val="0"/>
              </a:spcBef>
              <a:buFontTx/>
              <a:buNone/>
            </a:pPr>
            <a:r>
              <a:rPr lang="en-US" altLang="zh-CN" sz="1800">
                <a:latin typeface="微软雅黑" panose="020B0503020204020204" pitchFamily="34" charset="-122"/>
                <a:ea typeface="微软雅黑" panose="020B0503020204020204" pitchFamily="34" charset="-122"/>
              </a:rPr>
              <a:t>2  {  </a:t>
            </a:r>
          </a:p>
          <a:p>
            <a:pPr>
              <a:lnSpc>
                <a:spcPct val="90000"/>
              </a:lnSpc>
              <a:spcBef>
                <a:spcPct val="0"/>
              </a:spcBef>
              <a:buFontTx/>
              <a:buNone/>
            </a:pPr>
            <a:r>
              <a:rPr lang="en-US" altLang="zh-CN" sz="1800">
                <a:latin typeface="微软雅黑" panose="020B0503020204020204" pitchFamily="34" charset="-122"/>
                <a:ea typeface="微软雅黑" panose="020B0503020204020204" pitchFamily="34" charset="-122"/>
              </a:rPr>
              <a:t>3 	     if  ( x&gt;0 &amp;&amp; *ptr&gt;0 )  </a:t>
            </a:r>
          </a:p>
          <a:p>
            <a:pPr>
              <a:lnSpc>
                <a:spcPct val="90000"/>
              </a:lnSpc>
              <a:spcBef>
                <a:spcPct val="0"/>
              </a:spcBef>
              <a:buFontTx/>
              <a:buNone/>
            </a:pPr>
            <a:r>
              <a:rPr lang="en-US" altLang="zh-CN" sz="1800">
                <a:latin typeface="微软雅黑" panose="020B0503020204020204" pitchFamily="34" charset="-122"/>
                <a:ea typeface="微软雅黑" panose="020B0503020204020204" pitchFamily="34" charset="-122"/>
              </a:rPr>
              <a:t>4	     *ptr+=x;</a:t>
            </a:r>
          </a:p>
          <a:p>
            <a:pPr>
              <a:lnSpc>
                <a:spcPct val="90000"/>
              </a:lnSpc>
              <a:spcBef>
                <a:spcPct val="0"/>
              </a:spcBef>
              <a:buFontTx/>
              <a:buNone/>
            </a:pPr>
            <a:r>
              <a:rPr lang="en-US" altLang="zh-CN" sz="1800">
                <a:latin typeface="微软雅黑" panose="020B0503020204020204" pitchFamily="34" charset="-122"/>
                <a:ea typeface="微软雅黑" panose="020B0503020204020204" pitchFamily="34" charset="-122"/>
              </a:rPr>
              <a:t>5	}	</a:t>
            </a:r>
          </a:p>
          <a:p>
            <a:pPr>
              <a:lnSpc>
                <a:spcPct val="90000"/>
              </a:lnSpc>
              <a:spcBef>
                <a:spcPct val="0"/>
              </a:spcBef>
              <a:buFontTx/>
              <a:buNone/>
            </a:pPr>
            <a:r>
              <a:rPr lang="en-US" altLang="zh-CN" sz="1800">
                <a:latin typeface="微软雅黑" panose="020B0503020204020204" pitchFamily="34" charset="-122"/>
                <a:ea typeface="微软雅黑" panose="020B0503020204020204" pitchFamily="34" charset="-122"/>
              </a:rPr>
              <a:t>6				  </a:t>
            </a:r>
          </a:p>
          <a:p>
            <a:pPr>
              <a:lnSpc>
                <a:spcPct val="90000"/>
              </a:lnSpc>
              <a:spcBef>
                <a:spcPct val="0"/>
              </a:spcBef>
              <a:buFontTx/>
              <a:buNone/>
            </a:pPr>
            <a:r>
              <a:rPr lang="en-US" altLang="zh-CN" sz="1800">
                <a:latin typeface="微软雅黑" panose="020B0503020204020204" pitchFamily="34" charset="-122"/>
                <a:ea typeface="微软雅黑" panose="020B0503020204020204" pitchFamily="34" charset="-122"/>
              </a:rPr>
              <a:t>7  void caller (int a, int y )</a:t>
            </a:r>
          </a:p>
          <a:p>
            <a:pPr>
              <a:lnSpc>
                <a:spcPct val="90000"/>
              </a:lnSpc>
              <a:spcBef>
                <a:spcPct val="0"/>
              </a:spcBef>
              <a:buFontTx/>
              <a:buNone/>
            </a:pPr>
            <a:r>
              <a:rPr lang="en-US" altLang="zh-CN" sz="1800">
                <a:latin typeface="微软雅黑" panose="020B0503020204020204" pitchFamily="34" charset="-122"/>
                <a:ea typeface="微软雅黑" panose="020B0503020204020204" pitchFamily="34" charset="-122"/>
              </a:rPr>
              <a:t>8  {</a:t>
            </a:r>
          </a:p>
          <a:p>
            <a:pPr>
              <a:lnSpc>
                <a:spcPct val="90000"/>
              </a:lnSpc>
              <a:spcBef>
                <a:spcPct val="0"/>
              </a:spcBef>
              <a:buFontTx/>
              <a:buNone/>
            </a:pPr>
            <a:r>
              <a:rPr lang="en-US" altLang="zh-CN" sz="1800">
                <a:latin typeface="微软雅黑" panose="020B0503020204020204" pitchFamily="34" charset="-122"/>
                <a:ea typeface="微软雅黑" panose="020B0503020204020204" pitchFamily="34" charset="-122"/>
              </a:rPr>
              <a:t>9         int x = a&gt;0 ? a : a+100;  </a:t>
            </a:r>
          </a:p>
          <a:p>
            <a:pPr>
              <a:lnSpc>
                <a:spcPct val="90000"/>
              </a:lnSpc>
              <a:spcBef>
                <a:spcPct val="0"/>
              </a:spcBef>
              <a:buFontTx/>
              <a:buNone/>
            </a:pPr>
            <a:r>
              <a:rPr lang="en-US" altLang="zh-CN" sz="1800">
                <a:latin typeface="微软雅黑" panose="020B0503020204020204" pitchFamily="34" charset="-122"/>
                <a:ea typeface="微软雅黑" panose="020B0503020204020204" pitchFamily="34" charset="-122"/>
              </a:rPr>
              <a:t>10	      </a:t>
            </a:r>
            <a:r>
              <a:rPr lang="en-US" altLang="zh-CN" sz="1800">
                <a:solidFill>
                  <a:srgbClr val="FF3300"/>
                </a:solidFill>
                <a:latin typeface="微软雅黑" panose="020B0503020204020204" pitchFamily="34" charset="-122"/>
                <a:ea typeface="微软雅黑" panose="020B0503020204020204" pitchFamily="34" charset="-122"/>
              </a:rPr>
              <a:t>test (x, &amp;y)</a:t>
            </a:r>
            <a:r>
              <a:rPr lang="zh-CN" altLang="en-US" sz="1800">
                <a:solidFill>
                  <a:srgbClr val="FF3300"/>
                </a:solidFill>
                <a:latin typeface="微软雅黑" panose="020B0503020204020204" pitchFamily="34" charset="-122"/>
                <a:ea typeface="微软雅黑" panose="020B0503020204020204" pitchFamily="34" charset="-122"/>
              </a:rPr>
              <a:t>；</a:t>
            </a:r>
          </a:p>
          <a:p>
            <a:pPr>
              <a:lnSpc>
                <a:spcPct val="90000"/>
              </a:lnSpc>
              <a:spcBef>
                <a:spcPct val="0"/>
              </a:spcBef>
              <a:buFontTx/>
              <a:buNone/>
            </a:pPr>
            <a:r>
              <a:rPr lang="en-US" altLang="zh-CN" sz="1800">
                <a:latin typeface="微软雅黑" panose="020B0503020204020204" pitchFamily="34" charset="-122"/>
                <a:ea typeface="微软雅黑" panose="020B0503020204020204" pitchFamily="34" charset="-122"/>
              </a:rPr>
              <a:t>11  }</a:t>
            </a:r>
          </a:p>
          <a:p>
            <a:pPr>
              <a:lnSpc>
                <a:spcPct val="120000"/>
              </a:lnSpc>
              <a:buFontTx/>
              <a:buNone/>
            </a:pPr>
            <a:r>
              <a:rPr lang="zh-CN" altLang="en-US" sz="1800">
                <a:latin typeface="微软雅黑" panose="020B0503020204020204" pitchFamily="34" charset="-122"/>
                <a:ea typeface="微软雅黑" panose="020B0503020204020204" pitchFamily="34" charset="-122"/>
              </a:rPr>
              <a:t>     调用</a:t>
            </a:r>
            <a:r>
              <a:rPr lang="en-US" altLang="zh-CN" sz="1800">
                <a:latin typeface="微软雅黑" panose="020B0503020204020204" pitchFamily="34" charset="-122"/>
                <a:ea typeface="微软雅黑" panose="020B0503020204020204" pitchFamily="34" charset="-122"/>
              </a:rPr>
              <a:t>caller</a:t>
            </a:r>
            <a:r>
              <a:rPr lang="zh-CN" altLang="en-US" sz="1800">
                <a:latin typeface="微软雅黑" panose="020B0503020204020204" pitchFamily="34" charset="-122"/>
                <a:ea typeface="微软雅黑" panose="020B0503020204020204" pitchFamily="34" charset="-122"/>
              </a:rPr>
              <a:t>的过程为</a:t>
            </a:r>
            <a:r>
              <a:rPr lang="en-US" altLang="zh-CN" sz="1800">
                <a:latin typeface="微软雅黑" panose="020B0503020204020204" pitchFamily="34" charset="-122"/>
                <a:ea typeface="微软雅黑" panose="020B0503020204020204" pitchFamily="34" charset="-122"/>
              </a:rPr>
              <a:t>P</a:t>
            </a:r>
            <a:r>
              <a:rPr lang="zh-CN" altLang="en-US" sz="1800">
                <a:latin typeface="微软雅黑" panose="020B0503020204020204" pitchFamily="34" charset="-122"/>
                <a:ea typeface="微软雅黑" panose="020B0503020204020204" pitchFamily="34" charset="-122"/>
              </a:rPr>
              <a:t>，</a:t>
            </a:r>
            <a:r>
              <a:rPr lang="en-US" altLang="zh-CN" sz="1800">
                <a:latin typeface="微软雅黑" panose="020B0503020204020204" pitchFamily="34" charset="-122"/>
                <a:ea typeface="微软雅黑" panose="020B0503020204020204" pitchFamily="34" charset="-122"/>
              </a:rPr>
              <a:t>P</a:t>
            </a:r>
            <a:r>
              <a:rPr lang="zh-CN" altLang="en-US" sz="1800">
                <a:latin typeface="微软雅黑" panose="020B0503020204020204" pitchFamily="34" charset="-122"/>
                <a:ea typeface="微软雅黑" panose="020B0503020204020204" pitchFamily="34" charset="-122"/>
              </a:rPr>
              <a:t>中给出形参</a:t>
            </a:r>
            <a:r>
              <a:rPr lang="en-US" altLang="zh-CN" sz="1800">
                <a:latin typeface="微软雅黑" panose="020B0503020204020204" pitchFamily="34" charset="-122"/>
                <a:ea typeface="微软雅黑" panose="020B0503020204020204" pitchFamily="34" charset="-122"/>
              </a:rPr>
              <a:t>a</a:t>
            </a:r>
            <a:r>
              <a:rPr lang="zh-CN" altLang="en-US" sz="1800">
                <a:latin typeface="微软雅黑" panose="020B0503020204020204" pitchFamily="34" charset="-122"/>
                <a:ea typeface="微软雅黑" panose="020B0503020204020204" pitchFamily="34" charset="-122"/>
              </a:rPr>
              <a:t>和</a:t>
            </a:r>
            <a:r>
              <a:rPr lang="en-US" altLang="zh-CN" sz="1800">
                <a:latin typeface="微软雅黑" panose="020B0503020204020204" pitchFamily="34" charset="-122"/>
                <a:ea typeface="微软雅黑" panose="020B0503020204020204" pitchFamily="34" charset="-122"/>
              </a:rPr>
              <a:t>y</a:t>
            </a:r>
            <a:r>
              <a:rPr lang="zh-CN" altLang="en-US" sz="1800">
                <a:latin typeface="微软雅黑" panose="020B0503020204020204" pitchFamily="34" charset="-122"/>
                <a:ea typeface="微软雅黑" panose="020B0503020204020204" pitchFamily="34" charset="-122"/>
              </a:rPr>
              <a:t>的</a:t>
            </a:r>
          </a:p>
          <a:p>
            <a:pPr>
              <a:lnSpc>
                <a:spcPct val="120000"/>
              </a:lnSpc>
              <a:buFontTx/>
              <a:buNone/>
            </a:pPr>
            <a:r>
              <a:rPr lang="zh-CN" altLang="en-US" sz="1800">
                <a:latin typeface="微软雅黑" panose="020B0503020204020204" pitchFamily="34" charset="-122"/>
                <a:ea typeface="微软雅黑" panose="020B0503020204020204" pitchFamily="34" charset="-122"/>
              </a:rPr>
              <a:t>实参分别是</a:t>
            </a:r>
            <a:r>
              <a:rPr lang="en-US" altLang="zh-CN" sz="1800">
                <a:latin typeface="微软雅黑" panose="020B0503020204020204" pitchFamily="34" charset="-122"/>
                <a:ea typeface="微软雅黑" panose="020B0503020204020204" pitchFamily="34" charset="-122"/>
              </a:rPr>
              <a:t>100</a:t>
            </a:r>
            <a:r>
              <a:rPr lang="zh-CN" altLang="en-US" sz="1800">
                <a:latin typeface="微软雅黑" panose="020B0503020204020204" pitchFamily="34" charset="-122"/>
                <a:ea typeface="微软雅黑" panose="020B0503020204020204" pitchFamily="34" charset="-122"/>
              </a:rPr>
              <a:t>和</a:t>
            </a:r>
            <a:r>
              <a:rPr lang="en-US" altLang="zh-CN" sz="1800">
                <a:latin typeface="微软雅黑" panose="020B0503020204020204" pitchFamily="34" charset="-122"/>
                <a:ea typeface="微软雅黑" panose="020B0503020204020204" pitchFamily="34" charset="-122"/>
              </a:rPr>
              <a:t>200</a:t>
            </a:r>
            <a:r>
              <a:rPr lang="zh-CN" altLang="en-US" sz="1800">
                <a:latin typeface="微软雅黑" panose="020B0503020204020204" pitchFamily="34" charset="-122"/>
                <a:ea typeface="微软雅黑" panose="020B0503020204020204" pitchFamily="34" charset="-122"/>
              </a:rPr>
              <a:t>，画出相应栈帧中的状态，并回答下列问题。</a:t>
            </a:r>
          </a:p>
          <a:p>
            <a:pPr>
              <a:lnSpc>
                <a:spcPct val="120000"/>
              </a:lnSpc>
              <a:buFontTx/>
              <a:buNone/>
            </a:pPr>
            <a:r>
              <a:rPr lang="zh-CN" altLang="en-US" sz="1800">
                <a:latin typeface="微软雅黑" panose="020B0503020204020204" pitchFamily="34" charset="-122"/>
                <a:ea typeface="微软雅黑" panose="020B0503020204020204" pitchFamily="34" charset="-122"/>
              </a:rPr>
              <a:t>（</a:t>
            </a:r>
            <a:r>
              <a:rPr lang="en-US" altLang="zh-CN" sz="1800">
                <a:latin typeface="微软雅黑" panose="020B0503020204020204" pitchFamily="34" charset="-122"/>
                <a:ea typeface="微软雅黑" panose="020B0503020204020204" pitchFamily="34" charset="-122"/>
              </a:rPr>
              <a:t>1</a:t>
            </a:r>
            <a:r>
              <a:rPr lang="zh-CN" altLang="en-US" sz="1800">
                <a:latin typeface="微软雅黑" panose="020B0503020204020204" pitchFamily="34" charset="-122"/>
                <a:ea typeface="微软雅黑" panose="020B0503020204020204" pitchFamily="34" charset="-122"/>
              </a:rPr>
              <a:t>）</a:t>
            </a:r>
            <a:r>
              <a:rPr lang="en-US" altLang="zh-CN" sz="1800">
                <a:latin typeface="微软雅黑" panose="020B0503020204020204" pitchFamily="34" charset="-122"/>
                <a:ea typeface="微软雅黑" panose="020B0503020204020204" pitchFamily="34" charset="-122"/>
              </a:rPr>
              <a:t>test</a:t>
            </a:r>
            <a:r>
              <a:rPr lang="zh-CN" altLang="en-US" sz="1800">
                <a:latin typeface="微软雅黑" panose="020B0503020204020204" pitchFamily="34" charset="-122"/>
                <a:ea typeface="微软雅黑" panose="020B0503020204020204" pitchFamily="34" charset="-122"/>
              </a:rPr>
              <a:t>的形参是按值传递还是按地址传递？</a:t>
            </a:r>
            <a:r>
              <a:rPr lang="en-US" altLang="zh-CN" sz="1800">
                <a:latin typeface="微软雅黑" panose="020B0503020204020204" pitchFamily="34" charset="-122"/>
                <a:ea typeface="微软雅黑" panose="020B0503020204020204" pitchFamily="34" charset="-122"/>
              </a:rPr>
              <a:t>test</a:t>
            </a:r>
            <a:r>
              <a:rPr lang="zh-CN" altLang="en-US" sz="1800">
                <a:latin typeface="微软雅黑" panose="020B0503020204020204" pitchFamily="34" charset="-122"/>
                <a:ea typeface="微软雅黑" panose="020B0503020204020204" pitchFamily="34" charset="-122"/>
              </a:rPr>
              <a:t>的形参</a:t>
            </a:r>
            <a:r>
              <a:rPr lang="en-US" altLang="zh-CN" sz="1800">
                <a:latin typeface="微软雅黑" panose="020B0503020204020204" pitchFamily="34" charset="-122"/>
                <a:ea typeface="微软雅黑" panose="020B0503020204020204" pitchFamily="34" charset="-122"/>
              </a:rPr>
              <a:t>ptr</a:t>
            </a:r>
            <a:r>
              <a:rPr lang="zh-CN" altLang="en-US" sz="1800">
                <a:latin typeface="微软雅黑" panose="020B0503020204020204" pitchFamily="34" charset="-122"/>
                <a:ea typeface="微软雅黑" panose="020B0503020204020204" pitchFamily="34" charset="-122"/>
              </a:rPr>
              <a:t>对应的实参是一个 </a:t>
            </a:r>
          </a:p>
          <a:p>
            <a:pPr>
              <a:lnSpc>
                <a:spcPct val="120000"/>
              </a:lnSpc>
              <a:buFontTx/>
              <a:buNone/>
            </a:pPr>
            <a:r>
              <a:rPr lang="zh-CN" altLang="en-US" sz="1800">
                <a:latin typeface="微软雅黑" panose="020B0503020204020204" pitchFamily="34" charset="-122"/>
                <a:ea typeface="微软雅黑" panose="020B0503020204020204" pitchFamily="34" charset="-122"/>
              </a:rPr>
              <a:t>         什么类型的值？</a:t>
            </a:r>
          </a:p>
          <a:p>
            <a:pPr>
              <a:lnSpc>
                <a:spcPct val="120000"/>
              </a:lnSpc>
              <a:buFontTx/>
              <a:buNone/>
            </a:pPr>
            <a:r>
              <a:rPr lang="zh-CN" altLang="en-US" sz="1800">
                <a:latin typeface="微软雅黑" panose="020B0503020204020204" pitchFamily="34" charset="-122"/>
                <a:ea typeface="微软雅黑" panose="020B0503020204020204" pitchFamily="34" charset="-122"/>
              </a:rPr>
              <a:t>（</a:t>
            </a:r>
            <a:r>
              <a:rPr lang="en-US" altLang="zh-CN" sz="1800">
                <a:latin typeface="微软雅黑" panose="020B0503020204020204" pitchFamily="34" charset="-122"/>
                <a:ea typeface="微软雅黑" panose="020B0503020204020204" pitchFamily="34" charset="-122"/>
              </a:rPr>
              <a:t>2</a:t>
            </a:r>
            <a:r>
              <a:rPr lang="zh-CN" altLang="en-US" sz="1800">
                <a:latin typeface="微软雅黑" panose="020B0503020204020204" pitchFamily="34" charset="-122"/>
                <a:ea typeface="微软雅黑" panose="020B0503020204020204" pitchFamily="34" charset="-122"/>
              </a:rPr>
              <a:t>）</a:t>
            </a:r>
            <a:r>
              <a:rPr lang="en-US" altLang="zh-CN" sz="1800">
                <a:latin typeface="微软雅黑" panose="020B0503020204020204" pitchFamily="34" charset="-122"/>
                <a:ea typeface="微软雅黑" panose="020B0503020204020204" pitchFamily="34" charset="-122"/>
              </a:rPr>
              <a:t>test</a:t>
            </a:r>
            <a:r>
              <a:rPr lang="zh-CN" altLang="en-US" sz="1800">
                <a:latin typeface="微软雅黑" panose="020B0503020204020204" pitchFamily="34" charset="-122"/>
                <a:ea typeface="微软雅黑" panose="020B0503020204020204" pitchFamily="34" charset="-122"/>
              </a:rPr>
              <a:t>中被改变的*</a:t>
            </a:r>
            <a:r>
              <a:rPr lang="en-US" altLang="zh-CN" sz="1800">
                <a:latin typeface="微软雅黑" panose="020B0503020204020204" pitchFamily="34" charset="-122"/>
                <a:ea typeface="微软雅黑" panose="020B0503020204020204" pitchFamily="34" charset="-122"/>
              </a:rPr>
              <a:t>ptr</a:t>
            </a:r>
            <a:r>
              <a:rPr lang="zh-CN" altLang="en-US" sz="1800">
                <a:latin typeface="微软雅黑" panose="020B0503020204020204" pitchFamily="34" charset="-122"/>
                <a:ea typeface="微软雅黑" panose="020B0503020204020204" pitchFamily="34" charset="-122"/>
              </a:rPr>
              <a:t>的结果如何返回给它的调用过程</a:t>
            </a:r>
            <a:r>
              <a:rPr lang="en-US" altLang="zh-CN" sz="1800">
                <a:latin typeface="微软雅黑" panose="020B0503020204020204" pitchFamily="34" charset="-122"/>
                <a:ea typeface="微软雅黑" panose="020B0503020204020204" pitchFamily="34" charset="-122"/>
              </a:rPr>
              <a:t>caller</a:t>
            </a:r>
            <a:r>
              <a:rPr lang="zh-CN" altLang="en-US" sz="1800">
                <a:latin typeface="微软雅黑" panose="020B0503020204020204" pitchFamily="34" charset="-122"/>
                <a:ea typeface="微软雅黑" panose="020B0503020204020204" pitchFamily="34" charset="-122"/>
              </a:rPr>
              <a:t>？</a:t>
            </a:r>
          </a:p>
          <a:p>
            <a:pPr>
              <a:lnSpc>
                <a:spcPct val="120000"/>
              </a:lnSpc>
              <a:buFontTx/>
              <a:buNone/>
            </a:pPr>
            <a:endParaRPr lang="zh-CN" altLang="en-US" sz="1800">
              <a:latin typeface="微软雅黑" panose="020B0503020204020204" pitchFamily="34" charset="-122"/>
              <a:ea typeface="微软雅黑" panose="020B0503020204020204" pitchFamily="34" charset="-122"/>
            </a:endParaRPr>
          </a:p>
          <a:p>
            <a:pPr>
              <a:lnSpc>
                <a:spcPct val="120000"/>
              </a:lnSpc>
              <a:buFontTx/>
              <a:buNone/>
            </a:pPr>
            <a:r>
              <a:rPr lang="zh-CN" altLang="en-US" sz="1800">
                <a:latin typeface="微软雅黑" panose="020B0503020204020204" pitchFamily="34" charset="-122"/>
                <a:ea typeface="微软雅黑" panose="020B0503020204020204" pitchFamily="34" charset="-122"/>
              </a:rPr>
              <a:t>（</a:t>
            </a:r>
            <a:r>
              <a:rPr lang="en-US" altLang="zh-CN" sz="1800">
                <a:latin typeface="微软雅黑" panose="020B0503020204020204" pitchFamily="34" charset="-122"/>
                <a:ea typeface="微软雅黑" panose="020B0503020204020204" pitchFamily="34" charset="-122"/>
              </a:rPr>
              <a:t>3</a:t>
            </a:r>
            <a:r>
              <a:rPr lang="zh-CN" altLang="en-US" sz="1800">
                <a:latin typeface="微软雅黑" panose="020B0503020204020204" pitchFamily="34" charset="-122"/>
                <a:ea typeface="微软雅黑" panose="020B0503020204020204" pitchFamily="34" charset="-122"/>
              </a:rPr>
              <a:t>）</a:t>
            </a:r>
            <a:r>
              <a:rPr lang="en-US" altLang="zh-CN" sz="1800">
                <a:latin typeface="微软雅黑" panose="020B0503020204020204" pitchFamily="34" charset="-122"/>
                <a:ea typeface="微软雅黑" panose="020B0503020204020204" pitchFamily="34" charset="-122"/>
              </a:rPr>
              <a:t>caller</a:t>
            </a:r>
            <a:r>
              <a:rPr lang="zh-CN" altLang="en-US" sz="1800">
                <a:latin typeface="微软雅黑" panose="020B0503020204020204" pitchFamily="34" charset="-122"/>
                <a:ea typeface="微软雅黑" panose="020B0503020204020204" pitchFamily="34" charset="-122"/>
              </a:rPr>
              <a:t>中被改变的</a:t>
            </a:r>
            <a:r>
              <a:rPr lang="en-US" altLang="zh-CN" sz="1800">
                <a:latin typeface="微软雅黑" panose="020B0503020204020204" pitchFamily="34" charset="-122"/>
                <a:ea typeface="微软雅黑" panose="020B0503020204020204" pitchFamily="34" charset="-122"/>
              </a:rPr>
              <a:t>y</a:t>
            </a:r>
            <a:r>
              <a:rPr lang="zh-CN" altLang="en-US" sz="1800">
                <a:latin typeface="微软雅黑" panose="020B0503020204020204" pitchFamily="34" charset="-122"/>
                <a:ea typeface="微软雅黑" panose="020B0503020204020204" pitchFamily="34" charset="-122"/>
              </a:rPr>
              <a:t>的结果能否返回给过程</a:t>
            </a:r>
            <a:r>
              <a:rPr lang="en-US" altLang="zh-CN" sz="1800">
                <a:latin typeface="微软雅黑" panose="020B0503020204020204" pitchFamily="34" charset="-122"/>
                <a:ea typeface="微软雅黑" panose="020B0503020204020204" pitchFamily="34" charset="-122"/>
              </a:rPr>
              <a:t>P</a:t>
            </a:r>
            <a:r>
              <a:rPr lang="zh-CN" altLang="en-US" sz="1800">
                <a:latin typeface="微软雅黑" panose="020B0503020204020204" pitchFamily="34" charset="-122"/>
                <a:ea typeface="微软雅黑" panose="020B0503020204020204" pitchFamily="34" charset="-122"/>
              </a:rPr>
              <a:t>？为什么？</a:t>
            </a:r>
          </a:p>
        </p:txBody>
      </p:sp>
      <p:grpSp>
        <p:nvGrpSpPr>
          <p:cNvPr id="785412" name="Group 4"/>
          <p:cNvGrpSpPr>
            <a:grpSpLocks/>
          </p:cNvGrpSpPr>
          <p:nvPr/>
        </p:nvGrpSpPr>
        <p:grpSpPr bwMode="auto">
          <a:xfrm>
            <a:off x="4076700" y="998538"/>
            <a:ext cx="1081088" cy="2151062"/>
            <a:chOff x="2171" y="119"/>
            <a:chExt cx="681" cy="1355"/>
          </a:xfrm>
        </p:grpSpPr>
        <p:sp>
          <p:nvSpPr>
            <p:cNvPr id="90141" name="Text Box 5"/>
            <p:cNvSpPr txBox="1">
              <a:spLocks noChangeArrowheads="1"/>
            </p:cNvSpPr>
            <p:nvPr/>
          </p:nvSpPr>
          <p:spPr bwMode="auto">
            <a:xfrm>
              <a:off x="2171" y="119"/>
              <a:ext cx="681" cy="1355"/>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2500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test</a:t>
              </a:r>
            </a:p>
            <a:p>
              <a:pPr marL="342900" marR="0" lvl="0" indent="-342900" algn="l" defTabSz="914400" rtl="0" eaLnBrk="1" fontAlgn="auto" latinLnBrk="0" hangingPunct="1">
                <a:lnSpc>
                  <a:spcPct val="100000"/>
                </a:lnSpc>
                <a:spcBef>
                  <a:spcPct val="25000"/>
                </a:spcBef>
                <a:spcAft>
                  <a:spcPts val="0"/>
                </a:spcAft>
                <a:buClrTx/>
                <a:buSzTx/>
                <a:buFontTx/>
                <a:buNone/>
                <a:tabLst/>
                <a:defRPr/>
              </a:pPr>
              <a:endPar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5000"/>
                </a:spcBef>
                <a:spcAft>
                  <a:spcPts val="0"/>
                </a:spcAft>
                <a:buClrTx/>
                <a:buSzTx/>
                <a:buFontTx/>
                <a:buNone/>
                <a:tabLst/>
                <a:defRPr/>
              </a:pP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caller</a:t>
              </a:r>
            </a:p>
            <a:p>
              <a:pPr marL="342900" marR="0" lvl="0" indent="-342900" algn="l" defTabSz="914400" rtl="0" eaLnBrk="1" fontAlgn="auto" latinLnBrk="0" hangingPunct="1">
                <a:lnSpc>
                  <a:spcPct val="100000"/>
                </a:lnSpc>
                <a:spcBef>
                  <a:spcPct val="25000"/>
                </a:spcBef>
                <a:spcAft>
                  <a:spcPts val="0"/>
                </a:spcAft>
                <a:buClrTx/>
                <a:buSzTx/>
                <a:buFontTx/>
                <a:buNone/>
                <a:tabLst/>
                <a:defRPr/>
              </a:pPr>
              <a:endPar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5000"/>
                </a:spcBef>
                <a:spcAft>
                  <a:spcPts val="0"/>
                </a:spcAft>
                <a:buClrTx/>
                <a:buSzTx/>
                <a:buFontTx/>
                <a:buNone/>
                <a:tabLst/>
                <a:defRPr/>
              </a:pP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  P</a:t>
              </a:r>
            </a:p>
            <a:p>
              <a:pPr marL="342900" marR="0" lvl="0" indent="-342900" algn="l" defTabSz="914400" rtl="0" eaLnBrk="1" fontAlgn="auto" latinLnBrk="0" hangingPunct="1">
                <a:lnSpc>
                  <a:spcPct val="100000"/>
                </a:lnSpc>
                <a:spcBef>
                  <a:spcPct val="50000"/>
                </a:spcBef>
                <a:spcAft>
                  <a:spcPts val="0"/>
                </a:spcAft>
                <a:buClrTx/>
                <a:buSzTx/>
                <a:buFontTx/>
                <a:buNone/>
                <a:tabLst/>
                <a:defRPr/>
              </a:pPr>
              <a:endParaRPr kumimoji="0" lang="en-US"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0142" name="Line 6"/>
            <p:cNvSpPr>
              <a:spLocks noChangeShapeType="1"/>
            </p:cNvSpPr>
            <p:nvPr/>
          </p:nvSpPr>
          <p:spPr bwMode="auto">
            <a:xfrm flipV="1">
              <a:off x="2370" y="743"/>
              <a:ext cx="0" cy="283"/>
            </a:xfrm>
            <a:prstGeom prst="line">
              <a:avLst/>
            </a:prstGeom>
            <a:noFill/>
            <a:ln w="38100">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90143" name="Line 7"/>
            <p:cNvSpPr>
              <a:spLocks noChangeShapeType="1"/>
            </p:cNvSpPr>
            <p:nvPr/>
          </p:nvSpPr>
          <p:spPr bwMode="auto">
            <a:xfrm flipV="1">
              <a:off x="2370" y="289"/>
              <a:ext cx="0" cy="283"/>
            </a:xfrm>
            <a:prstGeom prst="line">
              <a:avLst/>
            </a:prstGeom>
            <a:noFill/>
            <a:ln w="38100">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grpSp>
      <p:pic>
        <p:nvPicPr>
          <p:cNvPr id="78541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854075"/>
            <a:ext cx="3375025" cy="265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5417" name="Text Box 9"/>
          <p:cNvSpPr txBox="1">
            <a:spLocks noChangeArrowheads="1"/>
          </p:cNvSpPr>
          <p:nvPr/>
        </p:nvSpPr>
        <p:spPr bwMode="auto">
          <a:xfrm>
            <a:off x="5876925" y="2789238"/>
            <a:ext cx="2971800" cy="915987"/>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     </a:t>
            </a: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caller</a:t>
            </a: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执行过程中，在进入</a:t>
            </a: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test</a:t>
            </a: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之前一刻栈中的状态如何？</a:t>
            </a:r>
          </a:p>
        </p:txBody>
      </p:sp>
      <p:pic>
        <p:nvPicPr>
          <p:cNvPr id="785418"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725" y="134938"/>
            <a:ext cx="3644900" cy="394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5419" name="Text Box 11"/>
          <p:cNvSpPr txBox="1">
            <a:spLocks noChangeArrowheads="1"/>
          </p:cNvSpPr>
          <p:nvPr/>
        </p:nvSpPr>
        <p:spPr bwMode="auto">
          <a:xfrm>
            <a:off x="5697538" y="3375025"/>
            <a:ext cx="2835275" cy="641350"/>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     进入</a:t>
            </a: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test</a:t>
            </a: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并生成其栈帧后，栈中状态如何？</a:t>
            </a:r>
          </a:p>
        </p:txBody>
      </p:sp>
      <p:pic>
        <p:nvPicPr>
          <p:cNvPr id="785420"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1750" y="179388"/>
            <a:ext cx="3781425" cy="405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85421" name="Group 13"/>
          <p:cNvGrpSpPr>
            <a:grpSpLocks/>
          </p:cNvGrpSpPr>
          <p:nvPr/>
        </p:nvGrpSpPr>
        <p:grpSpPr bwMode="auto">
          <a:xfrm>
            <a:off x="5832475" y="584200"/>
            <a:ext cx="674688" cy="720725"/>
            <a:chOff x="3617" y="402"/>
            <a:chExt cx="425" cy="454"/>
          </a:xfrm>
        </p:grpSpPr>
        <p:sp>
          <p:nvSpPr>
            <p:cNvPr id="90139" name="Text Box 14"/>
            <p:cNvSpPr txBox="1">
              <a:spLocks noChangeArrowheads="1"/>
            </p:cNvSpPr>
            <p:nvPr/>
          </p:nvSpPr>
          <p:spPr bwMode="auto">
            <a:xfrm>
              <a:off x="3617" y="402"/>
              <a:ext cx="425"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&amp;y:</a:t>
              </a:r>
            </a:p>
          </p:txBody>
        </p:sp>
        <p:sp>
          <p:nvSpPr>
            <p:cNvPr id="90140" name="Text Box 15"/>
            <p:cNvSpPr txBox="1">
              <a:spLocks noChangeArrowheads="1"/>
            </p:cNvSpPr>
            <p:nvPr/>
          </p:nvSpPr>
          <p:spPr bwMode="auto">
            <a:xfrm>
              <a:off x="3617" y="625"/>
              <a:ext cx="425"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&amp;a:</a:t>
              </a:r>
            </a:p>
          </p:txBody>
        </p:sp>
      </p:grpSp>
      <p:grpSp>
        <p:nvGrpSpPr>
          <p:cNvPr id="785424" name="Group 16"/>
          <p:cNvGrpSpPr>
            <a:grpSpLocks/>
          </p:cNvGrpSpPr>
          <p:nvPr/>
        </p:nvGrpSpPr>
        <p:grpSpPr bwMode="auto">
          <a:xfrm>
            <a:off x="8488363" y="539750"/>
            <a:ext cx="539750" cy="1079500"/>
            <a:chOff x="5290" y="374"/>
            <a:chExt cx="340" cy="680"/>
          </a:xfrm>
        </p:grpSpPr>
        <p:sp>
          <p:nvSpPr>
            <p:cNvPr id="90137" name="AutoShape 17"/>
            <p:cNvSpPr>
              <a:spLocks/>
            </p:cNvSpPr>
            <p:nvPr/>
          </p:nvSpPr>
          <p:spPr bwMode="auto">
            <a:xfrm>
              <a:off x="5290" y="374"/>
              <a:ext cx="113" cy="680"/>
            </a:xfrm>
            <a:prstGeom prst="rightBrace">
              <a:avLst>
                <a:gd name="adj1" fmla="val 50147"/>
                <a:gd name="adj2" fmla="val 50000"/>
              </a:avLst>
            </a:prstGeom>
            <a:noFill/>
            <a:ln w="28575">
              <a:solidFill>
                <a:srgbClr val="FF33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0138" name="Text Box 18"/>
            <p:cNvSpPr txBox="1">
              <a:spLocks noChangeArrowheads="1"/>
            </p:cNvSpPr>
            <p:nvPr/>
          </p:nvSpPr>
          <p:spPr bwMode="auto">
            <a:xfrm>
              <a:off x="5403" y="601"/>
              <a:ext cx="22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P</a:t>
              </a:r>
            </a:p>
          </p:txBody>
        </p:sp>
      </p:grpSp>
      <p:grpSp>
        <p:nvGrpSpPr>
          <p:cNvPr id="785427" name="Group 19"/>
          <p:cNvGrpSpPr>
            <a:grpSpLocks/>
          </p:cNvGrpSpPr>
          <p:nvPr/>
        </p:nvGrpSpPr>
        <p:grpSpPr bwMode="auto">
          <a:xfrm>
            <a:off x="8488363" y="1754188"/>
            <a:ext cx="539750" cy="1371600"/>
            <a:chOff x="5290" y="1139"/>
            <a:chExt cx="340" cy="864"/>
          </a:xfrm>
        </p:grpSpPr>
        <p:sp>
          <p:nvSpPr>
            <p:cNvPr id="90135" name="AutoShape 20"/>
            <p:cNvSpPr>
              <a:spLocks/>
            </p:cNvSpPr>
            <p:nvPr/>
          </p:nvSpPr>
          <p:spPr bwMode="auto">
            <a:xfrm>
              <a:off x="5290" y="1139"/>
              <a:ext cx="113" cy="794"/>
            </a:xfrm>
            <a:prstGeom prst="rightBrace">
              <a:avLst>
                <a:gd name="adj1" fmla="val 58555"/>
                <a:gd name="adj2" fmla="val 50000"/>
              </a:avLst>
            </a:prstGeom>
            <a:noFill/>
            <a:ln w="28575">
              <a:solidFill>
                <a:srgbClr val="FF33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0136" name="Text Box 21"/>
            <p:cNvSpPr txBox="1">
              <a:spLocks noChangeArrowheads="1"/>
            </p:cNvSpPr>
            <p:nvPr/>
          </p:nvSpPr>
          <p:spPr bwMode="auto">
            <a:xfrm>
              <a:off x="5341" y="1253"/>
              <a:ext cx="289" cy="7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caller</a:t>
              </a:r>
            </a:p>
          </p:txBody>
        </p:sp>
      </p:grpSp>
      <p:sp>
        <p:nvSpPr>
          <p:cNvPr id="785430" name="Text Box 22"/>
          <p:cNvSpPr txBox="1">
            <a:spLocks noChangeArrowheads="1"/>
          </p:cNvSpPr>
          <p:nvPr/>
        </p:nvSpPr>
        <p:spPr bwMode="auto">
          <a:xfrm>
            <a:off x="1827213" y="1943100"/>
            <a:ext cx="1304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100   200</a:t>
            </a:r>
          </a:p>
        </p:txBody>
      </p:sp>
      <p:sp>
        <p:nvSpPr>
          <p:cNvPr id="785431" name="Text Box 23"/>
          <p:cNvSpPr txBox="1">
            <a:spLocks noChangeArrowheads="1"/>
          </p:cNvSpPr>
          <p:nvPr/>
        </p:nvSpPr>
        <p:spPr bwMode="auto">
          <a:xfrm>
            <a:off x="7048500" y="630238"/>
            <a:ext cx="809625" cy="274637"/>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300</a:t>
            </a:r>
          </a:p>
        </p:txBody>
      </p:sp>
      <p:sp>
        <p:nvSpPr>
          <p:cNvPr id="785432" name="Line 24"/>
          <p:cNvSpPr>
            <a:spLocks noChangeShapeType="1"/>
          </p:cNvSpPr>
          <p:nvPr/>
        </p:nvSpPr>
        <p:spPr bwMode="auto">
          <a:xfrm flipV="1">
            <a:off x="2097088" y="819150"/>
            <a:ext cx="4995862" cy="854075"/>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sp>
        <p:nvSpPr>
          <p:cNvPr id="785433" name="Rectangle 25"/>
          <p:cNvSpPr>
            <a:spLocks noChangeArrowheads="1"/>
          </p:cNvSpPr>
          <p:nvPr/>
        </p:nvSpPr>
        <p:spPr bwMode="auto">
          <a:xfrm>
            <a:off x="2862263" y="4689475"/>
            <a:ext cx="42989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前者按值、后者按地址。一定是一个地址</a:t>
            </a:r>
          </a:p>
        </p:txBody>
      </p:sp>
      <p:sp>
        <p:nvSpPr>
          <p:cNvPr id="785434" name="Rectangle 26"/>
          <p:cNvSpPr>
            <a:spLocks noChangeArrowheads="1"/>
          </p:cNvSpPr>
          <p:nvPr/>
        </p:nvSpPr>
        <p:spPr bwMode="auto">
          <a:xfrm>
            <a:off x="566738" y="5499100"/>
            <a:ext cx="81470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第</a:t>
            </a: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10</a:t>
            </a: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行执行后，</a:t>
            </a: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P</a:t>
            </a: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帧中</a:t>
            </a: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200</a:t>
            </a: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变成</a:t>
            </a: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300</a:t>
            </a: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a:t>
            </a: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test</a:t>
            </a: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退帧后，</a:t>
            </a: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caller</a:t>
            </a: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中通过</a:t>
            </a: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y</a:t>
            </a: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引用该值</a:t>
            </a: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300</a:t>
            </a:r>
          </a:p>
        </p:txBody>
      </p:sp>
      <p:sp>
        <p:nvSpPr>
          <p:cNvPr id="785435" name="Rectangle 27"/>
          <p:cNvSpPr>
            <a:spLocks noChangeArrowheads="1"/>
          </p:cNvSpPr>
          <p:nvPr/>
        </p:nvSpPr>
        <p:spPr bwMode="auto">
          <a:xfrm>
            <a:off x="522288" y="6257925"/>
            <a:ext cx="8415337"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第</a:t>
            </a: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11</a:t>
            </a: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行执行后</a:t>
            </a: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caller</a:t>
            </a: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退帧并返回</a:t>
            </a: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P</a:t>
            </a: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，因</a:t>
            </a: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P</a:t>
            </a:r>
            <a:r>
              <a:rPr kumimoji="0" lang="zh-CN" altLang="en-US"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中无变量与之对应，故无法引用该值</a:t>
            </a:r>
            <a:r>
              <a:rPr kumimoji="0" lang="en-US" altLang="zh-CN" sz="1800" b="1" i="0" u="none"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300</a:t>
            </a:r>
          </a:p>
        </p:txBody>
      </p:sp>
      <p:grpSp>
        <p:nvGrpSpPr>
          <p:cNvPr id="785436" name="Group 28"/>
          <p:cNvGrpSpPr>
            <a:grpSpLocks/>
          </p:cNvGrpSpPr>
          <p:nvPr/>
        </p:nvGrpSpPr>
        <p:grpSpPr bwMode="auto">
          <a:xfrm>
            <a:off x="2501900" y="3114675"/>
            <a:ext cx="4679950" cy="2428875"/>
            <a:chOff x="1718" y="1962"/>
            <a:chExt cx="2806" cy="1530"/>
          </a:xfrm>
        </p:grpSpPr>
        <p:sp>
          <p:nvSpPr>
            <p:cNvPr id="90133" name="Text Box 29"/>
            <p:cNvSpPr txBox="1">
              <a:spLocks noChangeArrowheads="1"/>
            </p:cNvSpPr>
            <p:nvPr/>
          </p:nvSpPr>
          <p:spPr bwMode="auto">
            <a:xfrm>
              <a:off x="1718" y="1962"/>
              <a:ext cx="1162"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若</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return x+y</a:t>
              </a:r>
              <a:r>
                <a:rPr kumimoji="0" lang="zh-CN" altLang="en-US"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a:t>
              </a:r>
            </a:p>
          </p:txBody>
        </p:sp>
        <p:sp>
          <p:nvSpPr>
            <p:cNvPr id="90134" name="Line 30"/>
            <p:cNvSpPr>
              <a:spLocks noChangeShapeType="1"/>
            </p:cNvSpPr>
            <p:nvPr/>
          </p:nvSpPr>
          <p:spPr bwMode="auto">
            <a:xfrm flipH="1" flipV="1">
              <a:off x="2228" y="2160"/>
              <a:ext cx="2296" cy="1332"/>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a:ea typeface="幼圆" panose="02010509060101010101" pitchFamily="49" charset="-122"/>
                <a:cs typeface="+mn-cs"/>
              </a:endParaRPr>
            </a:p>
          </p:txBody>
        </p:sp>
      </p:grpSp>
      <p:sp>
        <p:nvSpPr>
          <p:cNvPr id="785439" name="Text Box 31"/>
          <p:cNvSpPr txBox="1">
            <a:spLocks noChangeArrowheads="1"/>
          </p:cNvSpPr>
          <p:nvPr/>
        </p:nvSpPr>
        <p:spPr bwMode="auto">
          <a:xfrm>
            <a:off x="4122738" y="2889250"/>
            <a:ext cx="1754187"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50000"/>
              </a:spcBef>
              <a:spcAft>
                <a:spcPts val="0"/>
              </a:spcAft>
              <a:buClrTx/>
              <a:buSzTx/>
              <a:buFontTx/>
              <a:buNone/>
              <a:tabLst/>
              <a:defRPr/>
            </a:pPr>
            <a:r>
              <a:rPr kumimoji="0" lang="zh-CN" altLang="en-US"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则函数返回</a:t>
            </a:r>
            <a:r>
              <a:rPr kumimoji="0" lang="en-US" altLang="zh-CN" sz="1800" b="1" i="0" u="none" strike="noStrike" kern="120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cs typeface="+mn-cs"/>
              </a:rPr>
              <a:t>400</a:t>
            </a:r>
          </a:p>
        </p:txBody>
      </p:sp>
    </p:spTree>
    <p:extLst>
      <p:ext uri="{BB962C8B-B14F-4D97-AF65-F5344CB8AC3E}">
        <p14:creationId xmlns:p14="http://schemas.microsoft.com/office/powerpoint/2010/main" val="35050864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85412"/>
                                        </p:tgtEl>
                                        <p:attrNameLst>
                                          <p:attrName>style.visibility</p:attrName>
                                        </p:attrNameLst>
                                      </p:cBhvr>
                                      <p:to>
                                        <p:strVal val="visible"/>
                                      </p:to>
                                    </p:set>
                                    <p:animEffect transition="in" filter="blinds(horizontal)">
                                      <p:cBhvr>
                                        <p:cTn id="7" dur="500"/>
                                        <p:tgtEl>
                                          <p:spTgt spid="7854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85430"/>
                                        </p:tgtEl>
                                        <p:attrNameLst>
                                          <p:attrName>style.visibility</p:attrName>
                                        </p:attrNameLst>
                                      </p:cBhvr>
                                      <p:to>
                                        <p:strVal val="visible"/>
                                      </p:to>
                                    </p:set>
                                    <p:animEffect transition="in" filter="blinds(horizontal)">
                                      <p:cBhvr>
                                        <p:cTn id="12" dur="500"/>
                                        <p:tgtEl>
                                          <p:spTgt spid="7854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85433"/>
                                        </p:tgtEl>
                                        <p:attrNameLst>
                                          <p:attrName>style.visibility</p:attrName>
                                        </p:attrNameLst>
                                      </p:cBhvr>
                                      <p:to>
                                        <p:strVal val="visible"/>
                                      </p:to>
                                    </p:set>
                                    <p:animEffect transition="in" filter="blinds(horizontal)">
                                      <p:cBhvr>
                                        <p:cTn id="17" dur="500"/>
                                        <p:tgtEl>
                                          <p:spTgt spid="78543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85416"/>
                                        </p:tgtEl>
                                        <p:attrNameLst>
                                          <p:attrName>style.visibility</p:attrName>
                                        </p:attrNameLst>
                                      </p:cBhvr>
                                      <p:to>
                                        <p:strVal val="visible"/>
                                      </p:to>
                                    </p:set>
                                    <p:animEffect transition="in" filter="blinds(horizontal)">
                                      <p:cBhvr>
                                        <p:cTn id="22" dur="500"/>
                                        <p:tgtEl>
                                          <p:spTgt spid="78541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85417"/>
                                        </p:tgtEl>
                                        <p:attrNameLst>
                                          <p:attrName>style.visibility</p:attrName>
                                        </p:attrNameLst>
                                      </p:cBhvr>
                                      <p:to>
                                        <p:strVal val="visible"/>
                                      </p:to>
                                    </p:set>
                                    <p:animEffect transition="in" filter="blinds(horizontal)">
                                      <p:cBhvr>
                                        <p:cTn id="27" dur="500"/>
                                        <p:tgtEl>
                                          <p:spTgt spid="78541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85418"/>
                                        </p:tgtEl>
                                        <p:attrNameLst>
                                          <p:attrName>style.visibility</p:attrName>
                                        </p:attrNameLst>
                                      </p:cBhvr>
                                      <p:to>
                                        <p:strVal val="visible"/>
                                      </p:to>
                                    </p:set>
                                    <p:animEffect transition="in" filter="blinds(horizontal)">
                                      <p:cBhvr>
                                        <p:cTn id="32" dur="500"/>
                                        <p:tgtEl>
                                          <p:spTgt spid="78541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85419"/>
                                        </p:tgtEl>
                                        <p:attrNameLst>
                                          <p:attrName>style.visibility</p:attrName>
                                        </p:attrNameLst>
                                      </p:cBhvr>
                                      <p:to>
                                        <p:strVal val="visible"/>
                                      </p:to>
                                    </p:set>
                                    <p:animEffect transition="in" filter="blinds(horizontal)">
                                      <p:cBhvr>
                                        <p:cTn id="37" dur="500"/>
                                        <p:tgtEl>
                                          <p:spTgt spid="78541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785420"/>
                                        </p:tgtEl>
                                        <p:attrNameLst>
                                          <p:attrName>style.visibility</p:attrName>
                                        </p:attrNameLst>
                                      </p:cBhvr>
                                      <p:to>
                                        <p:strVal val="visible"/>
                                      </p:to>
                                    </p:set>
                                    <p:animEffect transition="in" filter="blinds(horizontal)">
                                      <p:cBhvr>
                                        <p:cTn id="42" dur="500"/>
                                        <p:tgtEl>
                                          <p:spTgt spid="78542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785424"/>
                                        </p:tgtEl>
                                        <p:attrNameLst>
                                          <p:attrName>style.visibility</p:attrName>
                                        </p:attrNameLst>
                                      </p:cBhvr>
                                      <p:to>
                                        <p:strVal val="visible"/>
                                      </p:to>
                                    </p:set>
                                    <p:animEffect transition="in" filter="blinds(horizontal)">
                                      <p:cBhvr>
                                        <p:cTn id="47" dur="500"/>
                                        <p:tgtEl>
                                          <p:spTgt spid="78542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785421"/>
                                        </p:tgtEl>
                                        <p:attrNameLst>
                                          <p:attrName>style.visibility</p:attrName>
                                        </p:attrNameLst>
                                      </p:cBhvr>
                                      <p:to>
                                        <p:strVal val="visible"/>
                                      </p:to>
                                    </p:set>
                                    <p:animEffect transition="in" filter="blinds(horizontal)">
                                      <p:cBhvr>
                                        <p:cTn id="52" dur="500"/>
                                        <p:tgtEl>
                                          <p:spTgt spid="78542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785427"/>
                                        </p:tgtEl>
                                        <p:attrNameLst>
                                          <p:attrName>style.visibility</p:attrName>
                                        </p:attrNameLst>
                                      </p:cBhvr>
                                      <p:to>
                                        <p:strVal val="visible"/>
                                      </p:to>
                                    </p:set>
                                    <p:animEffect transition="in" filter="blinds(horizontal)">
                                      <p:cBhvr>
                                        <p:cTn id="57" dur="500"/>
                                        <p:tgtEl>
                                          <p:spTgt spid="78542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785431"/>
                                        </p:tgtEl>
                                        <p:attrNameLst>
                                          <p:attrName>style.visibility</p:attrName>
                                        </p:attrNameLst>
                                      </p:cBhvr>
                                      <p:to>
                                        <p:strVal val="visible"/>
                                      </p:to>
                                    </p:set>
                                    <p:animEffect transition="in" filter="blinds(horizontal)">
                                      <p:cBhvr>
                                        <p:cTn id="62" dur="500"/>
                                        <p:tgtEl>
                                          <p:spTgt spid="78543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785432"/>
                                        </p:tgtEl>
                                        <p:attrNameLst>
                                          <p:attrName>style.visibility</p:attrName>
                                        </p:attrNameLst>
                                      </p:cBhvr>
                                      <p:to>
                                        <p:strVal val="visible"/>
                                      </p:to>
                                    </p:set>
                                    <p:animEffect transition="in" filter="blinds(horizontal)">
                                      <p:cBhvr>
                                        <p:cTn id="67" dur="500"/>
                                        <p:tgtEl>
                                          <p:spTgt spid="785432"/>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785434"/>
                                        </p:tgtEl>
                                        <p:attrNameLst>
                                          <p:attrName>style.visibility</p:attrName>
                                        </p:attrNameLst>
                                      </p:cBhvr>
                                      <p:to>
                                        <p:strVal val="visible"/>
                                      </p:to>
                                    </p:set>
                                    <p:animEffect transition="in" filter="blinds(horizontal)">
                                      <p:cBhvr>
                                        <p:cTn id="72" dur="500"/>
                                        <p:tgtEl>
                                          <p:spTgt spid="78543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nodeType="clickEffect">
                                  <p:stCondLst>
                                    <p:cond delay="0"/>
                                  </p:stCondLst>
                                  <p:childTnLst>
                                    <p:set>
                                      <p:cBhvr>
                                        <p:cTn id="76" dur="1" fill="hold">
                                          <p:stCondLst>
                                            <p:cond delay="0"/>
                                          </p:stCondLst>
                                        </p:cTn>
                                        <p:tgtEl>
                                          <p:spTgt spid="785436"/>
                                        </p:tgtEl>
                                        <p:attrNameLst>
                                          <p:attrName>style.visibility</p:attrName>
                                        </p:attrNameLst>
                                      </p:cBhvr>
                                      <p:to>
                                        <p:strVal val="visible"/>
                                      </p:to>
                                    </p:set>
                                    <p:animEffect transition="in" filter="blinds(horizontal)">
                                      <p:cBhvr>
                                        <p:cTn id="77" dur="500"/>
                                        <p:tgtEl>
                                          <p:spTgt spid="78543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785439"/>
                                        </p:tgtEl>
                                        <p:attrNameLst>
                                          <p:attrName>style.visibility</p:attrName>
                                        </p:attrNameLst>
                                      </p:cBhvr>
                                      <p:to>
                                        <p:strVal val="visible"/>
                                      </p:to>
                                    </p:set>
                                    <p:animEffect transition="in" filter="blinds(horizontal)">
                                      <p:cBhvr>
                                        <p:cTn id="82" dur="500"/>
                                        <p:tgtEl>
                                          <p:spTgt spid="785439"/>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785435"/>
                                        </p:tgtEl>
                                        <p:attrNameLst>
                                          <p:attrName>style.visibility</p:attrName>
                                        </p:attrNameLst>
                                      </p:cBhvr>
                                      <p:to>
                                        <p:strVal val="visible"/>
                                      </p:to>
                                    </p:set>
                                    <p:animEffect transition="in" filter="blinds(horizontal)">
                                      <p:cBhvr>
                                        <p:cTn id="87" dur="500"/>
                                        <p:tgtEl>
                                          <p:spTgt spid="785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5417" grpId="0" animBg="1"/>
      <p:bldP spid="785419" grpId="0" animBg="1"/>
      <p:bldP spid="785430" grpId="0"/>
      <p:bldP spid="785431" grpId="0" animBg="1"/>
      <p:bldP spid="785433" grpId="0"/>
      <p:bldP spid="785434" grpId="0"/>
      <p:bldP spid="785435" grpId="0"/>
      <p:bldP spid="785439"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以下是有关</a:t>
            </a:r>
            <a:r>
              <a:rPr kumimoji="0" lang="en-US" altLang="zh-CN"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IA-32/Linux</a:t>
            </a: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的过程调用的叙述，错误的是（ ）。</a:t>
            </a:r>
          </a:p>
        </p:txBody>
      </p:sp>
      <p:sp>
        <p:nvSpPr>
          <p:cNvPr id="4" name="文本框 3"/>
          <p:cNvSpPr txBox="1"/>
          <p:nvPr>
            <p:custDataLst>
              <p:tags r:id="rId3"/>
            </p:custDataLst>
          </p:nvPr>
        </p:nvSpPr>
        <p:spPr>
          <a:xfrm>
            <a:off x="1828800" y="278606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每进行一次过程调用，用户栈从高地址向低地址增长出一个栈帧</a:t>
            </a:r>
          </a:p>
        </p:txBody>
      </p:sp>
      <p:sp>
        <p:nvSpPr>
          <p:cNvPr id="5" name="文本框 4"/>
          <p:cNvSpPr txBox="1"/>
          <p:nvPr>
            <p:custDataLst>
              <p:tags r:id="rId4"/>
            </p:custDataLst>
          </p:nvPr>
        </p:nvSpPr>
        <p:spPr>
          <a:xfrm>
            <a:off x="1828800" y="364331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从被调用过程返回调用过程之前，被调用过程会释放自己的栈帧</a:t>
            </a:r>
          </a:p>
        </p:txBody>
      </p:sp>
      <p:sp>
        <p:nvSpPr>
          <p:cNvPr id="6" name="文本框 5"/>
          <p:cNvSpPr txBox="1"/>
          <p:nvPr>
            <p:custDataLst>
              <p:tags r:id="rId5"/>
            </p:custDataLst>
          </p:nvPr>
        </p:nvSpPr>
        <p:spPr>
          <a:xfrm>
            <a:off x="1828800" y="450056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只能通过将栈指针</a:t>
            </a:r>
            <a:r>
              <a:rPr kumimoji="0" lang="en-US" altLang="zh-CN"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ESP</a:t>
            </a:r>
            <a:r>
              <a:rPr kumimoji="0" lang="zh-CN" altLang="en-US"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作为基址寄存器来访问用户栈中的数据</a:t>
            </a:r>
            <a:endPar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7" name="文本框 6"/>
          <p:cNvSpPr txBox="1"/>
          <p:nvPr>
            <p:custDataLst>
              <p:tags r:id="rId6"/>
            </p:custDataLst>
          </p:nvPr>
        </p:nvSpPr>
        <p:spPr>
          <a:xfrm>
            <a:off x="1828800" y="5357813"/>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过程嵌套调用深度越深，栈中栈帧个数越多，严重时会发生栈溢出</a:t>
            </a:r>
            <a:endPar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8" name="椭圆 7"/>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9" name="椭圆 8"/>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1600" b="0"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0" name="椭圆 9"/>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圆角矩形 11"/>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p>
        </p:txBody>
      </p:sp>
      <p:grpSp>
        <p:nvGrpSpPr>
          <p:cNvPr id="17" name="组合 16"/>
          <p:cNvGrpSpPr/>
          <p:nvPr>
            <p:custDataLst>
              <p:tags r:id="rId12"/>
            </p:custDataLst>
          </p:nvPr>
        </p:nvGrpSpPr>
        <p:grpSpPr>
          <a:xfrm>
            <a:off x="0" y="0"/>
            <a:ext cx="9144000" cy="635000"/>
            <a:chOff x="0" y="0"/>
            <a:chExt cx="9144000" cy="635000"/>
          </a:xfrm>
        </p:grpSpPr>
        <p:sp>
          <p:nvSpPr>
            <p:cNvPr id="13" name="TitleBackground"/>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entury Gothic"/>
                <a:ea typeface="幼圆" panose="02010509060101010101" pitchFamily="49" charset="-122"/>
                <a:cs typeface="+mn-cs"/>
              </a:endParaRPr>
            </a:p>
          </p:txBody>
        </p:sp>
        <p:sp>
          <p:nvSpPr>
            <p:cNvPr id="14"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entury Gothic"/>
                <a:ea typeface="幼圆" panose="02010509060101010101" pitchFamily="49" charset="-122"/>
                <a:cs typeface="+mn-cs"/>
              </a:endParaRPr>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10</a:t>
              </a:r>
              <a:r>
                <a:rPr kumimoji="0" lang="zh-CN" altLang="en-US"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854795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0" nodeType="clickEffect">
                                  <p:stCondLst>
                                    <p:cond delay="0"/>
                                  </p:stCondLst>
                                  <p:childTnLst>
                                    <p:animClr clrSpc="rgb" dir="cw">
                                      <p:cBhvr override="childStyle">
                                        <p:cTn id="6" dur="500" fill="hold"/>
                                        <p:tgtEl>
                                          <p:spTgt spid="10"/>
                                        </p:tgtEl>
                                        <p:attrNameLst>
                                          <p:attrName>style.color</p:attrName>
                                        </p:attrNameLst>
                                      </p:cBhvr>
                                      <p:to>
                                        <a:srgbClr val="FF0000"/>
                                      </p:to>
                                    </p:animClr>
                                    <p:animClr clrSpc="rgb" dir="cw">
                                      <p:cBhvr>
                                        <p:cTn id="7" dur="500" fill="hold"/>
                                        <p:tgtEl>
                                          <p:spTgt spid="10"/>
                                        </p:tgtEl>
                                        <p:attrNameLst>
                                          <p:attrName>fillcolor</p:attrName>
                                        </p:attrNameLst>
                                      </p:cBhvr>
                                      <p:to>
                                        <a:srgbClr val="FF0000"/>
                                      </p:to>
                                    </p:animClr>
                                    <p:set>
                                      <p:cBhvr>
                                        <p:cTn id="8" dur="500" fill="hold"/>
                                        <p:tgtEl>
                                          <p:spTgt spid="10"/>
                                        </p:tgtEl>
                                        <p:attrNameLst>
                                          <p:attrName>fill.type</p:attrName>
                                        </p:attrNameLst>
                                      </p:cBhvr>
                                      <p:to>
                                        <p:strVal val="solid"/>
                                      </p:to>
                                    </p:set>
                                    <p:set>
                                      <p:cBhvr>
                                        <p:cTn id="9" dur="500" fill="hold"/>
                                        <p:tgtEl>
                                          <p:spTgt spid="10"/>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chemeClr val="accent6">
                    <a:lumMod val="50000"/>
                  </a:schemeClr>
                </a:solidFill>
              </a:rPr>
              <a:t>总结</a:t>
            </a:r>
          </a:p>
        </p:txBody>
      </p:sp>
      <p:sp>
        <p:nvSpPr>
          <p:cNvPr id="3" name="内容占位符 2"/>
          <p:cNvSpPr>
            <a:spLocks noGrp="1"/>
          </p:cNvSpPr>
          <p:nvPr>
            <p:ph idx="1"/>
          </p:nvPr>
        </p:nvSpPr>
        <p:spPr>
          <a:xfrm>
            <a:off x="457200" y="1484784"/>
            <a:ext cx="8229600" cy="5112568"/>
          </a:xfrm>
        </p:spPr>
        <p:txBody>
          <a:bodyPr>
            <a:normAutofit lnSpcReduction="10000"/>
          </a:bodyPr>
          <a:lstStyle/>
          <a:p>
            <a:pPr indent="-540000">
              <a:lnSpc>
                <a:spcPct val="150000"/>
              </a:lnSpc>
              <a:buFont typeface="Wingdings" panose="05000000000000000000" pitchFamily="2" charset="2"/>
              <a:buChar char="Ø"/>
            </a:pPr>
            <a:r>
              <a:rPr lang="zh-CN" altLang="en-US" dirty="0"/>
              <a:t>按位运算指令</a:t>
            </a:r>
            <a:endParaRPr lang="en-US" altLang="zh-CN" dirty="0"/>
          </a:p>
          <a:p>
            <a:pPr indent="-540000">
              <a:lnSpc>
                <a:spcPct val="150000"/>
              </a:lnSpc>
              <a:buFont typeface="Wingdings" panose="05000000000000000000" pitchFamily="2" charset="2"/>
              <a:buChar char="Ø"/>
            </a:pPr>
            <a:r>
              <a:rPr lang="zh-CN" altLang="en-US" dirty="0"/>
              <a:t>控制转移指令</a:t>
            </a:r>
            <a:endParaRPr lang="en-US" altLang="zh-CN" dirty="0"/>
          </a:p>
          <a:p>
            <a:pPr indent="-540000">
              <a:lnSpc>
                <a:spcPct val="150000"/>
              </a:lnSpc>
              <a:buFont typeface="Wingdings" panose="05000000000000000000" pitchFamily="2" charset="2"/>
              <a:buChar char="Ø"/>
            </a:pPr>
            <a:r>
              <a:rPr lang="zh-CN" altLang="en-US" dirty="0"/>
              <a:t>过程调用的机器级表示</a:t>
            </a:r>
            <a:endParaRPr lang="en-US" altLang="zh-CN" dirty="0"/>
          </a:p>
          <a:p>
            <a:pPr lvl="1" indent="-540000">
              <a:lnSpc>
                <a:spcPct val="150000"/>
              </a:lnSpc>
              <a:buFont typeface="Arial" panose="020B0604020202020204" pitchFamily="34" charset="0"/>
              <a:buChar char="•"/>
            </a:pPr>
            <a:r>
              <a:rPr lang="zh-CN" altLang="en-US" dirty="0"/>
              <a:t>过程调用概述</a:t>
            </a:r>
            <a:endParaRPr lang="en-US" altLang="zh-CN" dirty="0"/>
          </a:p>
          <a:p>
            <a:pPr lvl="1" indent="-540000">
              <a:lnSpc>
                <a:spcPct val="150000"/>
              </a:lnSpc>
              <a:buFont typeface="Arial" panose="020B0604020202020204" pitchFamily="34" charset="0"/>
              <a:buChar char="•"/>
            </a:pPr>
            <a:r>
              <a:rPr lang="zh-CN" altLang="en-US" dirty="0"/>
              <a:t>过程调用的栈和栈桢</a:t>
            </a:r>
            <a:endParaRPr lang="en-US" altLang="zh-CN" dirty="0"/>
          </a:p>
          <a:p>
            <a:pPr lvl="1" indent="-540000">
              <a:lnSpc>
                <a:spcPct val="150000"/>
              </a:lnSpc>
              <a:buFont typeface="Arial" panose="020B0604020202020204" pitchFamily="34" charset="0"/>
              <a:buChar char="•"/>
            </a:pPr>
            <a:r>
              <a:rPr lang="zh-CN" altLang="en-US" dirty="0"/>
              <a:t>过程调用的参数传递</a:t>
            </a:r>
            <a:endParaRPr lang="en-US" altLang="zh-CN" dirty="0"/>
          </a:p>
          <a:p>
            <a:pPr marL="342900" lvl="1" indent="-540000">
              <a:lnSpc>
                <a:spcPct val="150000"/>
              </a:lnSpc>
              <a:buFont typeface="Wingdings" panose="05000000000000000000" pitchFamily="2" charset="2"/>
              <a:buChar char="Ø"/>
            </a:pPr>
            <a:r>
              <a:rPr lang="zh-CN" altLang="en-US" dirty="0">
                <a:solidFill>
                  <a:srgbClr val="FF0000"/>
                </a:solidFill>
              </a:rPr>
              <a:t>完成</a:t>
            </a:r>
            <a:r>
              <a:rPr lang="en-US" altLang="zh-CN" dirty="0">
                <a:solidFill>
                  <a:srgbClr val="FF0000"/>
                </a:solidFill>
              </a:rPr>
              <a:t>SPOC</a:t>
            </a:r>
            <a:r>
              <a:rPr lang="zh-CN" altLang="en-US" dirty="0">
                <a:solidFill>
                  <a:srgbClr val="FF0000"/>
                </a:solidFill>
              </a:rPr>
              <a:t>作业</a:t>
            </a:r>
            <a:endParaRPr lang="en-US" altLang="zh-CN" dirty="0">
              <a:solidFill>
                <a:srgbClr val="FF0000"/>
              </a:solidFill>
            </a:endParaRPr>
          </a:p>
          <a:p>
            <a:pPr indent="-540000">
              <a:lnSpc>
                <a:spcPct val="150000"/>
              </a:lnSpc>
              <a:buFont typeface="Wingdings" panose="05000000000000000000" pitchFamily="2" charset="2"/>
              <a:buChar char="Ø"/>
            </a:pPr>
            <a:endParaRPr lang="en-US" altLang="zh-CN" dirty="0"/>
          </a:p>
        </p:txBody>
      </p:sp>
    </p:spTree>
    <p:extLst>
      <p:ext uri="{BB962C8B-B14F-4D97-AF65-F5344CB8AC3E}">
        <p14:creationId xmlns:p14="http://schemas.microsoft.com/office/powerpoint/2010/main" val="234604783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HASREMARK" val="True"/>
  <p:tag name="PROBLEMSCORE" val="10.0"/>
  <p:tag name="PROBLEMREMARK" val="FF70H&lt;&lt;2&#10;=1111111101110000B&lt;&lt;2&#10;=1111110111000000B&#10;=FDC0H&#10;=-1001000000B&#10;=-576"/>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13.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14.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1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0"/>
  <p:tag name="PROBLEMHASREMARK" val="True"/>
  <p:tag name="PROBLEMREMARK" val="A表示的是j&lt;=i，相当于i&lt;j取反，且按带符号整数比较，因此正确&#10;B表示i&lt;j，且按带符号整数比较，因此正确&#10;C表示j&gt;i，相当于i&lt;j，但是按无符号整数比较，因此不正确&#10;D表示j&gt;i，且按带符号整数比较，因此正确"/>
</p:tagLst>
</file>

<file path=ppt/tags/tag2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9.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40.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41.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4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0"/>
</p:tagLst>
</file>

<file path=ppt/tags/tag5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6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0"/>
</p:tagLst>
</file>

<file path=ppt/tags/tag7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8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0"/>
</p:tagLst>
</file>

<file path=ppt/tags/tag9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6.xml><?xml version="1.0" encoding="utf-8"?>
<p:tagLst xmlns:a="http://schemas.openxmlformats.org/drawingml/2006/main" xmlns:r="http://schemas.openxmlformats.org/officeDocument/2006/relationships" xmlns:p="http://schemas.openxmlformats.org/presentationml/2006/main">
  <p:tag name="RAINPROBLEM" val="MultipleChoice"/>
  <p:tag name="PROBLEMSCORE" val="10.0"/>
</p:tagLst>
</file>

<file path=ppt/tags/tag10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奥斯汀">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主题​​">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奥斯汀">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bwMode="auto">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a:spAutoFit/>
      </a:bodyPr>
      <a:lstStyle>
        <a:defPPr>
          <a:lnSpc>
            <a:spcPct val="100000"/>
          </a:lnSpc>
          <a:spcBef>
            <a:spcPct val="50000"/>
          </a:spcBef>
          <a:buFontTx/>
          <a:buNone/>
          <a:defRPr sz="1800" dirty="0">
            <a:solidFill>
              <a:srgbClr val="FF3300"/>
            </a:solidFill>
            <a:latin typeface="微软雅黑" panose="020B0503020204020204" pitchFamily="34" charset="-122"/>
            <a:ea typeface="微软雅黑" panose="020B0503020204020204" pitchFamily="34" charset="-122"/>
          </a:defRPr>
        </a:defPPr>
      </a:lstStyle>
    </a:txDef>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7012</TotalTime>
  <Words>9317</Words>
  <Application>Microsoft Office PowerPoint</Application>
  <PresentationFormat>全屏显示(4:3)</PresentationFormat>
  <Paragraphs>1116</Paragraphs>
  <Slides>72</Slides>
  <Notes>9</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72</vt:i4>
      </vt:variant>
    </vt:vector>
  </HeadingPairs>
  <TitlesOfParts>
    <vt:vector size="85" baseType="lpstr">
      <vt:lpstr>黑体</vt:lpstr>
      <vt:lpstr>宋体</vt:lpstr>
      <vt:lpstr>Microsoft Yahei</vt:lpstr>
      <vt:lpstr>Microsoft Yahei</vt:lpstr>
      <vt:lpstr>Arial</vt:lpstr>
      <vt:lpstr>Arial Black</vt:lpstr>
      <vt:lpstr>Arial Narrow</vt:lpstr>
      <vt:lpstr>Calibri</vt:lpstr>
      <vt:lpstr>Century Gothic</vt:lpstr>
      <vt:lpstr>Times New Roman</vt:lpstr>
      <vt:lpstr>Wingdings</vt:lpstr>
      <vt:lpstr>Office 主题​​</vt:lpstr>
      <vt:lpstr>1_Office 主题​​</vt:lpstr>
      <vt:lpstr>课程回顾</vt:lpstr>
      <vt:lpstr>寄存器组织和寻址方式：指令操作数</vt:lpstr>
      <vt:lpstr>寄存器组织和寻址方式：定点寄存器组</vt:lpstr>
      <vt:lpstr>常用标志</vt:lpstr>
      <vt:lpstr>寄存器组织和寻址方式：保护模式寻址</vt:lpstr>
      <vt:lpstr>课程回顾：通用数据传送指令</vt:lpstr>
      <vt:lpstr>课程回顾：“入栈”和“出栈”操作</vt:lpstr>
      <vt:lpstr>课程回顾：地址传送指令</vt:lpstr>
      <vt:lpstr>课程回顾：定点算术运算指令</vt:lpstr>
      <vt:lpstr>课程回顾：整数乘法指令</vt:lpstr>
      <vt:lpstr>第三章 程序的转换与机器级表示 第3课 IA-32常用指令类型及其操作（下）</vt:lpstr>
      <vt:lpstr>提纲</vt:lpstr>
      <vt:lpstr>按位运算指令</vt:lpstr>
      <vt:lpstr>例3.6</vt:lpstr>
      <vt:lpstr>移位指令举例</vt:lpstr>
      <vt:lpstr>PowerPoint 演示文稿</vt:lpstr>
      <vt:lpstr>提纲</vt:lpstr>
      <vt:lpstr>控制转移指令</vt:lpstr>
      <vt:lpstr>条件转移指令</vt:lpstr>
      <vt:lpstr>标志信息是干什么的？</vt:lpstr>
      <vt:lpstr>条件设置指令</vt:lpstr>
      <vt:lpstr>例子：C表达式类型转换顺序</vt:lpstr>
      <vt:lpstr>PowerPoint 演示文稿</vt:lpstr>
      <vt:lpstr>条件传送指令</vt:lpstr>
      <vt:lpstr>例子：程序的机器级表示与执行</vt:lpstr>
      <vt:lpstr>subl $1, %edx指令的执行结果</vt:lpstr>
      <vt:lpstr>cpml %edx,%eax指令的执行结果</vt:lpstr>
      <vt:lpstr>jbe .L3指令的执行结果</vt:lpstr>
      <vt:lpstr>例子：程序的机器级表示与执行</vt:lpstr>
      <vt:lpstr>jle .L3指令的执行结果</vt:lpstr>
      <vt:lpstr>PowerPoint 演示文稿</vt:lpstr>
      <vt:lpstr>调用和返回指令</vt:lpstr>
      <vt:lpstr>转移地址计算</vt:lpstr>
      <vt:lpstr>提纲</vt:lpstr>
      <vt:lpstr>X87浮点指令、MMX和SSE指令 </vt:lpstr>
      <vt:lpstr>IA-32中通用寄存器中的编号</vt:lpstr>
      <vt:lpstr>SSE指令（SIMD操作）</vt:lpstr>
      <vt:lpstr>SSE指令（SIMD操作）</vt:lpstr>
      <vt:lpstr>浮点操作与SIMD指令</vt:lpstr>
      <vt:lpstr>X87 FPU指令</vt:lpstr>
      <vt:lpstr>X87 FPU指令</vt:lpstr>
      <vt:lpstr>X87 FPU指令</vt:lpstr>
      <vt:lpstr>X87 FPU指令</vt:lpstr>
      <vt:lpstr>IA-32浮点操作举例</vt:lpstr>
      <vt:lpstr>IA-32浮点操作举例</vt:lpstr>
      <vt:lpstr>IA-32浮点操作举例</vt:lpstr>
      <vt:lpstr>IA-32浮点操作举例</vt:lpstr>
      <vt:lpstr>IA-32浮点操作举例</vt:lpstr>
      <vt:lpstr>总结</vt:lpstr>
      <vt:lpstr>第三章 程序的转换与机器级表示 第4课 C语言程序的机器级表示（上）</vt:lpstr>
      <vt:lpstr>提纲</vt:lpstr>
      <vt:lpstr>过程调用</vt:lpstr>
      <vt:lpstr>过程调用的机器级表示</vt:lpstr>
      <vt:lpstr>可执行文件的存储器映像</vt:lpstr>
      <vt:lpstr>过程调用的机器级表示</vt:lpstr>
      <vt:lpstr>PowerPoint 演示文稿</vt:lpstr>
      <vt:lpstr>PowerPoint 演示文稿</vt:lpstr>
      <vt:lpstr>提纲</vt:lpstr>
      <vt:lpstr>i386 System V ABI规范约定 </vt:lpstr>
      <vt:lpstr>栈和栈帧</vt:lpstr>
      <vt:lpstr>过程调用过程中栈和栈帧的变化</vt:lpstr>
      <vt:lpstr>一个简单的过程调用例子</vt:lpstr>
      <vt:lpstr>PowerPoint 演示文稿</vt:lpstr>
      <vt:lpstr>过程（函数）的结构</vt:lpstr>
      <vt:lpstr>一个简单的过程调用例子</vt:lpstr>
      <vt:lpstr>提纲</vt:lpstr>
      <vt:lpstr>过程调用参数传递举例</vt:lpstr>
      <vt:lpstr>过程调用参数传递举例</vt:lpstr>
      <vt:lpstr>过程调用参数传递举例</vt:lpstr>
      <vt:lpstr>例3.9</vt:lpstr>
      <vt:lpstr>PowerPoint 演示文稿</vt:lpstr>
      <vt:lpstr>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yxu</dc:creator>
  <cp:lastModifiedBy>湘 郑</cp:lastModifiedBy>
  <cp:revision>293</cp:revision>
  <dcterms:created xsi:type="dcterms:W3CDTF">2015-12-25T12:42:28Z</dcterms:created>
  <dcterms:modified xsi:type="dcterms:W3CDTF">2026-10-20T06:55:22Z</dcterms:modified>
</cp:coreProperties>
</file>